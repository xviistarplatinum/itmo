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2"/>
  </p:notesMasterIdLst>
  <p:sldIdLst>
    <p:sldId id="695" r:id="rId3"/>
    <p:sldId id="257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693" r:id="rId12"/>
    <p:sldId id="694" r:id="rId13"/>
    <p:sldId id="271" r:id="rId14"/>
    <p:sldId id="272" r:id="rId15"/>
    <p:sldId id="273" r:id="rId16"/>
    <p:sldId id="274" r:id="rId17"/>
    <p:sldId id="259" r:id="rId18"/>
    <p:sldId id="260" r:id="rId19"/>
    <p:sldId id="261" r:id="rId20"/>
    <p:sldId id="262" r:id="rId21"/>
    <p:sldId id="263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670" r:id="rId37"/>
    <p:sldId id="289" r:id="rId38"/>
    <p:sldId id="671" r:id="rId39"/>
    <p:sldId id="672" r:id="rId40"/>
    <p:sldId id="673" r:id="rId41"/>
    <p:sldId id="674" r:id="rId42"/>
    <p:sldId id="675" r:id="rId43"/>
    <p:sldId id="676" r:id="rId44"/>
    <p:sldId id="677" r:id="rId45"/>
    <p:sldId id="678" r:id="rId46"/>
    <p:sldId id="679" r:id="rId47"/>
    <p:sldId id="680" r:id="rId48"/>
    <p:sldId id="688" r:id="rId49"/>
    <p:sldId id="689" r:id="rId50"/>
    <p:sldId id="690" r:id="rId51"/>
    <p:sldId id="691" r:id="rId52"/>
    <p:sldId id="692" r:id="rId53"/>
    <p:sldId id="681" r:id="rId54"/>
    <p:sldId id="683" r:id="rId55"/>
    <p:sldId id="684" r:id="rId56"/>
    <p:sldId id="685" r:id="rId57"/>
    <p:sldId id="686" r:id="rId58"/>
    <p:sldId id="687" r:id="rId59"/>
    <p:sldId id="682" r:id="rId60"/>
    <p:sldId id="696" r:id="rId6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70291" autoAdjust="0"/>
  </p:normalViewPr>
  <p:slideViewPr>
    <p:cSldViewPr snapToGrid="0">
      <p:cViewPr varScale="1">
        <p:scale>
          <a:sx n="77" d="100"/>
          <a:sy n="77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084D7-2B7C-4495-AC76-2CD09ADF8DA8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509AD-7E5E-4013-BBAC-50AA8BC60A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554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inux.die.net/man/2/clon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4y.ru/cloud-services/kubernetes-as-a-service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guard.com/blog/docker-vs-vmware-how-do-they-stack-up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Прародителем контейнеризации была технология виртуализации. Это возможность запуска нескольких операционных систем на одном физическом устройстве. Виртуализация использует ресурсы устройства (память, процессор, устройство ввода и вывода), но при этом работает как отдельный компьютер со своей операционной системой. Чтобы создать на компьютере или сервере виртуальную среду, нужно установить программу — виртуальную машину. Примерами таких программ являются </a:t>
            </a:r>
            <a:r>
              <a:rPr lang="en-US" dirty="0" err="1"/>
              <a:t>VmWare</a:t>
            </a:r>
            <a:r>
              <a:rPr lang="en-US" dirty="0"/>
              <a:t>…, </a:t>
            </a:r>
            <a:r>
              <a:rPr lang="ru-RU" dirty="0" err="1"/>
              <a:t>VirtualBox</a:t>
            </a:r>
            <a:r>
              <a:rPr lang="ru-RU" dirty="0"/>
              <a:t>, </a:t>
            </a:r>
            <a:r>
              <a:rPr lang="ru-RU" dirty="0" err="1"/>
              <a:t>Parallels</a:t>
            </a:r>
            <a:r>
              <a:rPr lang="ru-RU" dirty="0"/>
              <a:t> Desktop, Microsoft Hyper-V. </a:t>
            </a:r>
          </a:p>
          <a:p>
            <a:r>
              <a:rPr lang="ru-RU" b="1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Контейнеризация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- это виртуализация, которая работает на уровне операционной системы, в ядре. </a:t>
            </a:r>
            <a:r>
              <a:rPr lang="ru-RU" b="1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Ядро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 — центральная часть ОС, которая координирует ресурсы компьютера (процессорное время, память, внешнее аппаратное обеспечение, внешнее устройство ввода и вывода информации) для приложений. Также ядро предоставляет файловую систему и сетевые протоколы. При контейнеризации ядро операционной системы поддерживает несколько изолированных </a:t>
            </a:r>
            <a:r>
              <a:rPr lang="ru-RU" b="1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экземпляров пространства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 вместо одного. Эти экземпляры пространств называют контейнерами.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131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Все инструменты контейнеризации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Docker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 LXC или </a:t>
            </a:r>
            <a:r>
              <a:rPr lang="en-US" b="0" i="0" u="none" strike="noStrike" dirty="0">
                <a:solidFill>
                  <a:srgbClr val="EB4247"/>
                </a:solidFill>
                <a:effectLst/>
                <a:latin typeface="Manrope"/>
              </a:rPr>
              <a:t>Sy</a:t>
            </a:r>
            <a:r>
              <a:rPr lang="ru-RU" b="0" i="0" u="none" strike="noStrike" dirty="0" err="1">
                <a:solidFill>
                  <a:srgbClr val="EB4247"/>
                </a:solidFill>
                <a:effectLst/>
                <a:latin typeface="Manrope"/>
              </a:rPr>
              <a:t>stemd-nspawn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,— основываются на двух подсистемах ядра Linux: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и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cgroups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. </a:t>
            </a:r>
            <a:endParaRPr lang="en-US" b="0" i="0" dirty="0">
              <a:solidFill>
                <a:srgbClr val="092433"/>
              </a:solidFill>
              <a:effectLst/>
              <a:latin typeface="Manrope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76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Название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chroot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представляет собой сокращение от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change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root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 что дословно переводится как «изменить корень». С помощью системного вызова </a:t>
            </a:r>
            <a:r>
              <a:rPr lang="ru-RU" b="0" i="0" u="none" strike="noStrike" dirty="0" err="1">
                <a:solidFill>
                  <a:srgbClr val="EB4247"/>
                </a:solidFill>
                <a:effectLst/>
                <a:latin typeface="Manrope"/>
              </a:rPr>
              <a:t>chroot</a:t>
            </a:r>
            <a:r>
              <a:rPr lang="ru-RU" b="0" i="0" u="none" strike="noStrike" dirty="0">
                <a:solidFill>
                  <a:srgbClr val="EB4247"/>
                </a:solidFill>
                <a:effectLst/>
                <a:latin typeface="Manrope"/>
              </a:rPr>
              <a:t>()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 и соответствующей команды можно изменить корневой каталог. Программе, запущенной с изменённым корневым каталогом, будут доступны только файлы, находящиеся в этом каталоге.</a:t>
            </a:r>
            <a:endParaRPr lang="en-US" b="0" i="0" dirty="0">
              <a:solidFill>
                <a:srgbClr val="092433"/>
              </a:solidFill>
              <a:effectLst/>
              <a:latin typeface="Manrope"/>
            </a:endParaRPr>
          </a:p>
          <a:p>
            <a:endParaRPr lang="en-US" b="0" i="0" dirty="0">
              <a:solidFill>
                <a:srgbClr val="092433"/>
              </a:solidFill>
              <a:effectLst/>
              <a:latin typeface="Manrope"/>
            </a:endParaRP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Системный вызов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chroot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описан в файле </a:t>
            </a:r>
            <a:r>
              <a:rPr lang="ru-RU" b="0" i="0" u="none" strike="noStrike" dirty="0" err="1">
                <a:solidFill>
                  <a:srgbClr val="EB4247"/>
                </a:solidFill>
                <a:effectLst/>
                <a:latin typeface="Manrope"/>
              </a:rPr>
              <a:t>vfs_syscall.c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031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Пространство имён (англ.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) — это механизм ядра Linux, обеспечивающий изоляцию процессов друг от друга. Работа по его реализации была начата в версии ядра 2.4.19.</a:t>
            </a: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На текущий момент в Linux поддерживается шесть типов пространств имён</a:t>
            </a: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Все эти типы используются современными системами контейнеризации (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Docker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 LXC и другими) при запуске программ.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552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Исторически в ядре Linux поддерживалось только одно дерево процессов. Дерево процессов представляет собой иерархическую структуру, подобную дереву каталогов файловой системы.</a:t>
            </a:r>
            <a:br>
              <a:rPr lang="ru-RU" b="0" i="0" dirty="0">
                <a:solidFill>
                  <a:srgbClr val="092433"/>
                </a:solidFill>
                <a:effectLst/>
                <a:latin typeface="Manrope"/>
              </a:rPr>
            </a:b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 появлением механизма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стала возможной поддержка нескольких деревьев процессов, полностью изолированных друг от друга.</a:t>
            </a: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При загрузке в Linux сначала запускается процесс с идентификационным номером (PID) 1. В дереве процессов он является корневым. Он запускает другие процессы и службы. Механизм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позволяет создавать отдельное ответвление дерева процессов с собственным PID 1. Процесс, который создаёт такое ответвление, являются частью основного дерева, но его дочерний процесс уже будет корневым в новом дереве.</a:t>
            </a: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Процессы в новом дереве никак не взаимодействуют с родительским процессом и даже не «видят» его. В то же время процессам в основном дереве доступны все процессы дочернего дерева. Наглядно это показано на следующей схеме</a:t>
            </a:r>
          </a:p>
          <a:p>
            <a:endParaRPr lang="ru-RU" dirty="0"/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Можно создавать несколько вложенных пространств имён PID: один процесс запускает дочерний процесс в новом пространстве имён PID, a тот в свою очередь порождает новый процесс в новом пространстве и т.п.</a:t>
            </a: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Один и тот же процесс может иметь несколько идентификаторов PID (отдельный идентификатор для отдельного пространства имён).</a:t>
            </a: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Для создания новых пространств имён PID используется системный вызов </a:t>
            </a:r>
            <a:r>
              <a:rPr lang="ru-RU" b="0" i="0" u="none" strike="noStrike" dirty="0" err="1">
                <a:solidFill>
                  <a:srgbClr val="EB4247"/>
                </a:solidFill>
                <a:effectLst/>
                <a:latin typeface="Manrope"/>
                <a:hlinkClick r:id="rId3"/>
              </a:rPr>
              <a:t>clone</a:t>
            </a:r>
            <a:r>
              <a:rPr lang="ru-RU" b="0" i="0" u="none" strike="noStrike" dirty="0">
                <a:solidFill>
                  <a:srgbClr val="EB4247"/>
                </a:solidFill>
                <a:effectLst/>
                <a:latin typeface="Manrope"/>
                <a:hlinkClick r:id="rId3"/>
              </a:rPr>
              <a:t>()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 c флагом CLONE_NEWPID.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Существует да системных вызова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fork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и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clone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(), но между ними есть существенное отличие.</a:t>
            </a: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Функция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clone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создает новый процесс, клонировав текущий, и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начает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его выполнение. При этом она отделяет новый процесс от основного дерева и создает для него отдельное дерево процессов.</a:t>
            </a:r>
          </a:p>
          <a:p>
            <a:pPr algn="l" fontAlgn="base"/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Fork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создаёт дочерний процесс, который представляет копию родительского. Родительский процесс копируется вместе со всем контекстом исполнения: выделенной памятью, открытыми файлами и т.п.</a:t>
            </a:r>
          </a:p>
          <a:p>
            <a:pPr algn="l" fontAlgn="base"/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pPr algn="l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В отличие от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fork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вызов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clone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не просто создаёт копию, но позволяет разделять элементы контекста выполнения между дочерним и родительским процессами.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51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Благодаря пространству имён NET мы можем выделять для изолированных процессов собственные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сeтевые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интерфейсы. Даже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loopback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-интерфейс для каждого пространства имён будет отдельным.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Сетевые пространства имён можно создавать с помощью системного вызова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clone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с флагом CLONE_NEWNET.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267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Изоляция на уровне файловой системы</a:t>
            </a: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 помощью же пространств имён MOUNT можно создавать полностью независимые файловые системы, ассоциируемые с различными процессами</a:t>
            </a:r>
          </a:p>
          <a:p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Для изоляции файловой системы используется системный вызов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clone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() c флагом CLONE_NEWNS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14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33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Одна из целей механизма — предоставить единый программный интерфейс к целому спектру средств управления процессами, начиная с контроля единичного процесса (таких как, например, утилита </a:t>
            </a:r>
            <a:r>
              <a:rPr lang="ru-RU" dirty="0" err="1"/>
              <a:t>nice</a:t>
            </a:r>
            <a:r>
              <a:rPr lang="ru-RU" dirty="0"/>
              <a:t>) вплоть до полной виртуализации на уровне системы (как у </a:t>
            </a:r>
            <a:r>
              <a:rPr lang="ru-RU" dirty="0" err="1"/>
              <a:t>OpenVZ</a:t>
            </a:r>
            <a:r>
              <a:rPr lang="ru-RU" dirty="0"/>
              <a:t>, Linux-</a:t>
            </a:r>
            <a:r>
              <a:rPr lang="ru-RU" dirty="0" err="1"/>
              <a:t>VServer</a:t>
            </a:r>
            <a:r>
              <a:rPr lang="ru-RU" dirty="0"/>
              <a:t>[</a:t>
            </a:r>
            <a:r>
              <a:rPr lang="ru-RU" dirty="0" err="1"/>
              <a:t>en</a:t>
            </a:r>
            <a:r>
              <a:rPr lang="ru-RU" dirty="0"/>
              <a:t>], LXC). Механизм </a:t>
            </a:r>
            <a:r>
              <a:rPr lang="en-US" dirty="0" err="1"/>
              <a:t>Cgroups</a:t>
            </a:r>
            <a:r>
              <a:rPr lang="ru-RU" dirty="0"/>
              <a:t> предоставляет следующие возможности: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080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Название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systemd-nspawn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представляет собой сокращение от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. Уже из этого названия следует, что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systemd-nspawn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управляет только изоляцией процессов, но при этом не может изолировать ресурсы (однако это можно сделать средствами самого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)</a:t>
            </a: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С помощью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systemd-nspawn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можно создать полностью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изолированое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окружение, в котором автоматически будут смонтированы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псевдофайловые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системы /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proc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и /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 а также созданы изолированный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loopback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-интерфейс и отдельное пространство имён для идентификаторов процессов (PID), внутри которого можно запускать ОС, основанную на ядре Linux.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755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Главное отличие ― способ работы. При виртуализации создается полностью отдельная операционная система. При контейнеризации используется ядро операционной системы той машины, на которой открывается контейнер.</a:t>
            </a:r>
          </a:p>
          <a:p>
            <a:endParaRPr lang="ru-RU" dirty="0"/>
          </a:p>
          <a:p>
            <a:r>
              <a:rPr lang="ru-RU" dirty="0"/>
              <a:t>Ещё одно значимое отличие ― размер и скорость работы. Размер виртуальной машины может составлять несколько гигабайт. Также для загрузки операционной системы и запуска приложений, которые в них размещены, требуется много времени. Контейнеры более лёгкие — их размер измеряется в мегабайтах. По сравнению с виртуальными машинами, контейнеры могут запускаться намного быстрее.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547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Удобная работа с кодом при создании нового продукта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. Некоторые разработчики работают удалённо на локальных компьютерах. Нередко им приходится пересылать код программы. Чтобы упростить процесс, весь код можно собрать в один контейнер. Далее из этого контейнера будет не только легко получить программу, но и протестировать её на компьютере без ущерба для основной ОС.</a:t>
            </a:r>
          </a:p>
          <a:p>
            <a:pPr algn="l"/>
            <a:r>
              <a:rPr lang="ru-RU" b="1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Быстрая передача продукта пользователям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. Часто при работе со сложными программами приходится устанавливать дополнительные настройки, скачивать библиотеки и другие вспомогательные элементы. При использовании контейнера можно сэкономить время — всё, что нужно для установки, уже содержится в нём. Пользователю достаточно ввести только одну команду для запуска. Это удобно и для разработчиков, так как пользователи меньше обращаются в техническую поддержку.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641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Скорость создания. Контейнер можно создать быстрее, чем ВМ. При этом среда контейнеризации для некоторых задач даёт больше возможностей.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Экономичность. Контейнер занимает меньше места в хранилище, что уменьшает накладные расходы.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Высокая производительность. Отсутствие межсетевых зависимостей и конфликтов повышает производительность разработки. Каждый контейнер фактически представляет собой </a:t>
            </a:r>
            <a:r>
              <a:rPr lang="ru-RU" b="0" i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микросервис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, который можно независимо обновлять, не задаваясь вопросом синхронизации.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Управление версиями. Можно мониторить версионность контейнеров, следить за различиями между ними.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Возможность миграции среды вычислений. Все зависимости приложений и ОС, необходимые для работы приложения, инкапсулируются. Это позволяет без труда переносить образ контейнера из одной среды в другую. Так, один образ можно запускать в среде Windows и Linux или </a:t>
            </a:r>
            <a:r>
              <a:rPr lang="ru-RU" b="0" i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dev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ru-RU" b="0" i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test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ru-RU" b="0" i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stage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Стандартизация. Как правило, контейнеры создаются на основе открытых стандартов. Поэтому с ними можно работать в большинстве дистрибутивов Linux, Microsoft, </a:t>
            </a:r>
            <a:r>
              <a:rPr lang="ru-RU" b="0" i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MacOS</a:t>
            </a: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Безопасность. Контейнеры изолированы друг от друга и базовой инфраструктуры. Изменение/обновление/удаление одного контейнера не влияет на другой.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59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Высокая сложность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. Рост количества контейнеров, работающих с приложением, влияет на сложность управления ими. В производственной среде для работы с множеством контейнеров стоит использовать оркестраторы. Например, </a:t>
            </a:r>
            <a:r>
              <a:rPr lang="ru-RU" b="0" i="0" u="none" strike="noStrike" dirty="0" err="1">
                <a:solidFill>
                  <a:srgbClr val="337AB7"/>
                </a:solidFill>
                <a:effectLst/>
                <a:latin typeface="IBM Plex Sans" panose="020B0503050203000203" pitchFamily="34" charset="0"/>
                <a:hlinkClick r:id="rId3"/>
              </a:rPr>
              <a:t>Kubernetes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 и </a:t>
            </a:r>
            <a:r>
              <a:rPr lang="ru-RU" b="0" i="0" dirty="0" err="1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Mesos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Разрастание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. Нередко в контейнеры упаковывается гораздо больше ресурсов, чем реально требуется. Из-за этого образ разрастается, занимая больше места на диске.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Поддержка </a:t>
            </a:r>
            <a:r>
              <a:rPr lang="ru-RU" b="1" i="0" dirty="0" err="1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Native</a:t>
            </a:r>
            <a:r>
              <a:rPr lang="ru-RU" b="1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 Linux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. </a:t>
            </a:r>
            <a:r>
              <a:rPr lang="ru-RU" b="0" i="0" dirty="0" err="1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Docker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 и многие другие контейнерные технологии основаны на Linux-контейнерах (LXC). Из-за этого запуск контейнеров в Windows-среде не всегда удобен, а ежедневное использование сложнее, чем при работе в Linux.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Недостаточная зрелость</a:t>
            </a:r>
            <a:r>
              <a:rPr lang="ru-RU" b="0" i="0" dirty="0">
                <a:solidFill>
                  <a:srgbClr val="0F1B46"/>
                </a:solidFill>
                <a:effectLst/>
                <a:latin typeface="IBM Plex Sans" panose="020B0503050203000203" pitchFamily="34" charset="0"/>
              </a:rPr>
              <a:t>. Технологии контейнеризации приложений появились на рынке сравнительно недавно. Не всегда удаётся сразу решить возникшую проблемы. Иногда требуется время на поиск решения.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95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4A5078"/>
                </a:solidFill>
                <a:effectLst/>
                <a:latin typeface="Inter"/>
              </a:rPr>
              <a:t>Docker</a:t>
            </a:r>
            <a:r>
              <a:rPr lang="ru-RU" b="0" i="0" dirty="0">
                <a:solidFill>
                  <a:srgbClr val="4A5078"/>
                </a:solidFill>
                <a:effectLst/>
                <a:latin typeface="Inter"/>
              </a:rPr>
              <a:t>, ранее называвшийся </a:t>
            </a:r>
            <a:r>
              <a:rPr lang="ru-RU" b="0" i="0" dirty="0" err="1">
                <a:solidFill>
                  <a:srgbClr val="4A5078"/>
                </a:solidFill>
                <a:effectLst/>
                <a:latin typeface="Inter"/>
              </a:rPr>
              <a:t>dotCloud</a:t>
            </a:r>
            <a:r>
              <a:rPr lang="ru-RU" b="0" i="0" dirty="0">
                <a:solidFill>
                  <a:srgbClr val="4A5078"/>
                </a:solidFill>
                <a:effectLst/>
                <a:latin typeface="Inter"/>
              </a:rPr>
              <a:t>, был запущен как побочный проект, и его исходный код был открыт только в 2013 году. Это действительно расширение возможностей LXC. Это достигается с помощью высокоуровневого API, который предоставляет легкое решение виртуализации для изолированного запуска процессов. </a:t>
            </a:r>
            <a:r>
              <a:rPr lang="ru-RU" b="0" i="0" dirty="0" err="1">
                <a:solidFill>
                  <a:srgbClr val="4A5078"/>
                </a:solidFill>
                <a:effectLst/>
                <a:latin typeface="Inter"/>
                <a:hlinkClick r:id="rId3"/>
              </a:rPr>
              <a:t>Docker</a:t>
            </a:r>
            <a:r>
              <a:rPr lang="ru-RU" b="0" i="0" dirty="0">
                <a:solidFill>
                  <a:srgbClr val="4A5078"/>
                </a:solidFill>
                <a:effectLst/>
                <a:latin typeface="Inter"/>
              </a:rPr>
              <a:t>  разработан на языке Go и использует LXC, </a:t>
            </a:r>
            <a:r>
              <a:rPr lang="ru-RU" b="0" i="0" dirty="0" err="1">
                <a:solidFill>
                  <a:srgbClr val="4A5078"/>
                </a:solidFill>
                <a:effectLst/>
                <a:latin typeface="Inter"/>
              </a:rPr>
              <a:t>cgroups</a:t>
            </a:r>
            <a:r>
              <a:rPr lang="ru-RU" b="0" i="0" dirty="0">
                <a:solidFill>
                  <a:srgbClr val="4A5078"/>
                </a:solidFill>
                <a:effectLst/>
                <a:latin typeface="Inter"/>
              </a:rPr>
              <a:t> и само ядро ​​Linux.</a:t>
            </a:r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LXD — инструмент относительно новый: первая версия вышла в свет в 2014 году, когда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Docker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уже получил широкое распространение и хорошо зарекомендовал себя на практике.</a:t>
            </a: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Как и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Docker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, LXD функционирует на базе LXC.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514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Контейнеры LXC часто рассматриваются как нечто среднее между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Ubuntu"/>
              </a:rPr>
              <a:t>chroot</a:t>
            </a:r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 и полноценной виртуальной машиной. Цель LXC - создать среду, максимально приближенную к стандартной установке Linux, но без необходимости в отдельном ядре.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306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Контейнеры приложений (например, </a:t>
            </a:r>
            <a:r>
              <a:rPr lang="ru-RU" dirty="0" err="1"/>
              <a:t>Docker</a:t>
            </a:r>
            <a:r>
              <a:rPr lang="ru-RU" dirty="0"/>
              <a:t> или </a:t>
            </a:r>
            <a:r>
              <a:rPr lang="ru-RU" dirty="0" err="1"/>
              <a:t>Kubernetes</a:t>
            </a:r>
            <a:r>
              <a:rPr lang="ru-RU" dirty="0"/>
              <a:t>) упаковывают один процесс или приложение. С другой стороны, системные контейнеры имитируют полную операционную систему и позволяют запускать несколько процессов одновременно.</a:t>
            </a:r>
          </a:p>
          <a:p>
            <a:endParaRPr lang="ru-RU" dirty="0"/>
          </a:p>
          <a:p>
            <a:r>
              <a:rPr lang="ru-RU" dirty="0"/>
              <a:t>Таким образом, контейнеры приложений подходят для предоставления отдельных компонентов, в то время как системные контейнеры предоставляют полное решение, включающее библиотеки, приложения, базы данных и так далее. Кроме того, вы можете использовать системные контейнеры для создания различных пользовательских пространств и изоляции всех процессов, принадлежащих каждому пользовательскому пространству, что не является тем, для чего предназначены контейнеры приложений.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570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Разработана для устранения недостатков </a:t>
            </a:r>
            <a:r>
              <a:rPr lang="ru-RU" dirty="0" err="1"/>
              <a:t>procfs</a:t>
            </a:r>
            <a:r>
              <a:rPr lang="ru-RU" dirty="0"/>
              <a:t>, </a:t>
            </a:r>
            <a:r>
              <a:rPr lang="ru-RU" dirty="0" err="1"/>
              <a:t>sysfs</a:t>
            </a:r>
            <a:r>
              <a:rPr lang="ru-RU" dirty="0"/>
              <a:t> и </a:t>
            </a:r>
            <a:r>
              <a:rPr lang="ru-RU" dirty="0" err="1"/>
              <a:t>cgroupfs</a:t>
            </a:r>
            <a:r>
              <a:rPr lang="ru-RU" dirty="0"/>
              <a:t> путем экспорта файлов, которые соответствуют ожиданиям пользователя системного контейнера.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097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367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281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-образ — это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read-only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шаблон. Например, образ может содержать операционку Ubuntu c Apache и приложением на ней. Образы используются для создания контейнеров.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позволяет легко создавать новые образы, обновлять существующие, или вы можете скачать образы созданные другими людьми. Образы — это компонента сборки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-а.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-реестр хранит образы. Есть публичные и приватные реестры, из которых можно скачать либо загрузить образы. Публичный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-реестр — это </a:t>
            </a:r>
            <a:r>
              <a:rPr lang="ru-RU" b="0" i="0" u="none" strike="noStrike" dirty="0" err="1">
                <a:solidFill>
                  <a:srgbClr val="548EAA"/>
                </a:solidFill>
                <a:effectLst/>
                <a:latin typeface="-apple-system"/>
              </a:rPr>
              <a:t>Docker</a:t>
            </a:r>
            <a:r>
              <a:rPr lang="ru-RU" b="0" i="0" u="none" strike="noStrike" dirty="0">
                <a:solidFill>
                  <a:srgbClr val="548EAA"/>
                </a:solidFill>
                <a:effectLst/>
                <a:latin typeface="-apple-system"/>
              </a:rPr>
              <a:t> </a:t>
            </a:r>
            <a:r>
              <a:rPr lang="ru-RU" b="0" i="0" u="none" strike="noStrike" dirty="0" err="1">
                <a:solidFill>
                  <a:srgbClr val="548EAA"/>
                </a:solidFill>
                <a:effectLst/>
                <a:latin typeface="-apple-system"/>
              </a:rPr>
              <a:t>Hub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Там хранится огромная коллекция образов. Как вы знаете, образы могут быть созданы вами или вы можете использовать образы созданные другими. Реестры — это компонента распространения.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Контейнеры похожи на директории. В контейнерах содержится все, что нужно для работы приложения. Каждый контейнер создается из образа. Контейнеры могут быть созданы, запущены, остановлены, перенесены или удалены. Каждый контейнер изолирован и является безопасной платформой для приложения. Контейнеры — это компонента работы.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547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Список некоторых пространств имен, которые использует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 smtClean="0">
                <a:solidFill>
                  <a:srgbClr val="111111"/>
                </a:solidFill>
                <a:effectLst/>
                <a:latin typeface="-apple-system"/>
              </a:rPr>
              <a:t>:</a:t>
            </a:r>
            <a:endParaRPr lang="en-US" b="0" i="0" dirty="0" smtClean="0">
              <a:solidFill>
                <a:srgbClr val="111111"/>
              </a:solidFill>
              <a:effectLst/>
              <a:latin typeface="-apple-system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1" i="0" dirty="0" err="1" smtClean="0">
                <a:solidFill>
                  <a:srgbClr val="111111"/>
                </a:solidFill>
                <a:effectLst/>
                <a:latin typeface="-apple-system"/>
              </a:rPr>
              <a:t>pid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для изоляции процесса;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net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для управления сетевыми интерфейсами;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ipc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для управления IPC ресурсами. (ICP: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InterProccess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Communication);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mnt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для управления точками монтирования;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utc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для изолирования ядра и контроля генерации версий(UTC: Unix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timesharing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system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).</a:t>
            </a:r>
          </a:p>
          <a:p>
            <a:pPr algn="l"/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Control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groups</a:t>
            </a: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 (контрольные группы)</a:t>
            </a:r>
          </a:p>
          <a:p>
            <a:pPr algn="l"/>
            <a:r>
              <a:rPr lang="ru-RU" dirty="0"/>
              <a:t/>
            </a:r>
            <a:br>
              <a:rPr lang="ru-RU" dirty="0"/>
            </a:b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также использует технологию </a:t>
            </a:r>
            <a:r>
              <a:rPr lang="ru-RU" dirty="0" err="1"/>
              <a:t>cgroups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или контрольные группы. Ключ к работе приложения в изоляции, предоставление приложению только тех ресурсов, которые вы хотите предоставить. Это гарантирует, что контейнеры будут хорошими соседями. Контрольные группы позволяют разделять доступные ресурсы железа и если необходимо, устанавливать пределы и ограничения. Например, ограничить возможное количество памяти контейнеру.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Union File System</a:t>
            </a:r>
          </a:p>
          <a:p>
            <a:r>
              <a:rPr lang="ru-RU" dirty="0"/>
              <a:t/>
            </a: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Union File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Sysem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или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UnionFS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— это файловая система, которая работает создавая уровни, делая ее очень легковесной и быстрой.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использует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UnionFS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для создания блоков, из которых строится контейнер.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может использовать несколько вариантов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UnionFS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включая: AUFS,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btrfs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vfs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DeviceMapper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9576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Мониторинг сервисов и распределение нагрузки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обнаружить контейнер, используя имя DNS или собственный IP-адрес. Если трафик в контейнере высокий,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сбалансировать нагрузку и распределить сетевой трафик, чтобы развертывание было стабильным.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Оркестрация</a:t>
            </a: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хранилища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позволяет вам автоматически смонтировать систему хранения по вашему выбору, такую как локальное хранилище, провайдеры общедоступного облака и многое другое.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Автоматическое развертывание и откаты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Используя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можно описать желаемое состояние развернутых контейнеров и изменить фактическое состояние на желаемое. Например, вы можете автоматизировать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на создание новых контейнеров для развертывания, удаления существующих контейнеров и распределения всех их ресурсов в новый контейнер.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Автоматическое распределение нагрузки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Вы предоставляете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кластер узлов, который он может использовать для запуска контейнерных задач. Вы указываете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, сколько ЦП и памяти (ОЗУ) требуется каждому контейнеру.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разместить контейнеры на ваших узлах так, чтобы наиболее эффективно использовать ресурсы.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Самоконтроль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перезапускает отказавшие контейнеры, заменяет и завершает работу контейнеров, которые не проходят определенную пользователем проверку работоспособности, и не показывает их клиентам, пока они не будут готовы к обслуживанию.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Управление конфиденциальной информацией и конфигурацией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хранить и управлять конфиденциальной информацией, такой как пароли,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OAuth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-токены и ключи SSH. Вы можете развертывать и обновлять конфиденциальную информацию и конфигурацию приложения без изменений образов контейнеров и не раскрывая конфиденциальную информацию в конфигурации стека.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509AD-7E5E-4013-BBAC-50AA8BC60A0A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73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BEF7B-97C6-4E97-8280-D23AE2C0D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E4B01-AC7A-4B50-B02A-3F76D89E1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2F63B4-B3B3-41E4-AC71-B7045044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399D5F-9108-4F9D-94BE-69B42B43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34C530-1A66-4D43-98B5-0CEC72EE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23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0ADFB-23A9-4486-B7C6-91C5B65A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EB496-D614-4374-862E-3B5A78B0E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50D95B-CA3C-4839-912C-9B98DB66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CB842-52AD-479B-B00E-536C836F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AFB4ED-2982-44CE-A313-CA83FAF4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33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9896E-6834-47EC-9E51-E0BDE443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A06FA6-BBE0-486C-9F7F-51A505023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6E046A-B887-4596-89D8-989210C5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AE69F4-240E-48EE-B215-A12DF2C0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ACED7-106A-4147-BD77-B4709CFC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9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37F3C-8E8C-40A2-9201-41354B55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1158E-7A3E-4112-A5BA-888CEC301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043412-ACE0-4AF4-839E-0CEE688CB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48066-69EA-46B1-A6D3-93E14B83F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119463-68FB-46A9-B477-1E46B277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FEC0DB-AE8B-48C8-B808-463C1729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45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4798B-2767-437C-BB80-21738C72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BC7CB2-4334-4BC7-AD4D-D0D22178E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907AD6-3B0B-4BDE-B749-01842FC13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A665C6-62FE-4106-878A-719B13D7A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EE8BCF-3347-4946-AF5C-223576E08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4872C6-E2BA-44E3-851C-A85281C4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B1E837F-6864-4C4F-B9F6-4119D69D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A43315-3F23-4B0A-BB9C-5BBF5E43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376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6C052-3048-40B8-9F01-EB45B49B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3D9169-E541-4B87-BAA3-37DE32FB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90F52D-0C79-4232-AA7B-B3822EBF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D8EDFE-F877-4F87-83C6-B879F360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10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71B65E0-4C29-4009-A9A8-9CA4D072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423820-4320-4A33-B40E-B9A572C6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E7808C-C9F0-48BF-969D-D04720C0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10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D7185-A095-438F-8986-C97E1A58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1D2C7-6013-4C88-8F44-8FDBE29A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02F5D8-F82E-433C-AE33-08B760C4E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9486D2-1F26-4513-A4CC-2EF89E0B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763EFD-0E96-4F5F-AA27-A8D78F5E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4BBE64-7CC1-4C7A-9CA4-A560A25A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1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D70DB-01C5-4307-857F-1C108DF5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FB1A55-06B7-4E65-8FF9-534F06318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BB280B-4355-4C21-9850-CD0C5DFD2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7D721E-5508-4380-8219-D006D8CF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53B758-7FED-412F-B737-15A45863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1D86FF-40A9-42CA-A54A-556B5DAA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7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C037F-E3BD-47B1-AD67-20D4D63A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F91635-7A07-4387-85A8-9479CA2C7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85CAFD-DBB4-41B9-97E3-AF6B0B9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50921-518F-438F-8AFC-BEE1FD18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61FDF-FC92-4B52-939C-469BAB50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86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96F533-35F4-4C3E-B4D3-65532C6DF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CE6BE9-59B2-4DE3-8143-98F5C4B75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80A33E-498B-4F84-8EC9-82DD7A93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4A153B-CD52-44B2-B165-FDC0AD12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3862B6-E0A6-4EB5-A1C2-86606B35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289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4"/>
            <a:ext cx="11119104" cy="4511040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>
            <a:lvl1pPr marL="173712" marR="0" indent="-173712" algn="l" defTabSz="457131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867" baseline="0">
                <a:solidFill>
                  <a:schemeClr val="tx1"/>
                </a:solidFill>
              </a:defRPr>
            </a:lvl1pPr>
            <a:lvl2pPr marL="742839" indent="-285710">
              <a:lnSpc>
                <a:spcPct val="120000"/>
              </a:lnSpc>
              <a:buClr>
                <a:schemeClr val="tx1"/>
              </a:buClr>
              <a:buSzPct val="100000"/>
              <a:buFont typeface="Lucida Grande"/>
              <a:buChar char="–"/>
              <a:defRPr sz="1600" baseline="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sz="1467" baseline="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bulleted list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  <a:br>
              <a:rPr lang="en-US"/>
            </a:br>
            <a:endParaRPr lang="en-US"/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>
            <a:lvl1pPr>
              <a:defRPr lang="en-US" sz="3200" cap="all" baseline="0" dirty="0">
                <a:latin typeface="+mj-lt"/>
                <a:ea typeface="+mj-ea"/>
                <a:cs typeface="Arial Black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5359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881069" y="5696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7881069" y="5696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667" baseline="0"/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r>
              <a:rPr lang="ru-RU" sz="26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667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427913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15925"/>
            <a:ext cx="9956800" cy="459619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67" baseline="0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r>
              <a:rPr lang="ru-RU" sz="3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32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6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156000805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867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69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379075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737110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89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20188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189830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748496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66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92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7546268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6854635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133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75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9733601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1083007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6571" y="1257611"/>
            <a:ext cx="7368420" cy="5167381"/>
          </a:xfrm>
        </p:spPr>
        <p:txBody>
          <a:bodyPr>
            <a:normAutofit/>
          </a:bodyPr>
          <a:lstStyle>
            <a:lvl1pPr marL="0" indent="0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1257612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3914294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611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12429"/>
            <a:ext cx="5196115" cy="2312904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3" y="4141116"/>
            <a:ext cx="5196112" cy="2187113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6286" y="1412430"/>
            <a:ext cx="4842935" cy="4915799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865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2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4279273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7959739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1" y="4383771"/>
            <a:ext cx="3451844" cy="1860731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76335" y="4399437"/>
            <a:ext cx="3455221" cy="1860731"/>
          </a:xfrm>
        </p:spPr>
        <p:txBody>
          <a:bodyPr>
            <a:noAutofit/>
          </a:bodyPr>
          <a:lstStyle>
            <a:lvl1pPr marL="0" indent="0">
              <a:buNone/>
              <a:defRPr sz="1600" baseline="0"/>
            </a:lvl1pPr>
            <a:lvl2pPr>
              <a:defRPr sz="1600" baseline="0"/>
            </a:lvl2pPr>
            <a:lvl3pPr>
              <a:defRPr sz="16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7956800" y="4399437"/>
            <a:ext cx="3455221" cy="1860731"/>
          </a:xfrm>
        </p:spPr>
        <p:txBody>
          <a:bodyPr>
            <a:noAutofit/>
          </a:bodyPr>
          <a:lstStyle>
            <a:lvl1pPr marL="0" indent="0">
              <a:buNone/>
              <a:defRPr sz="1600" baseline="0"/>
            </a:lvl1pPr>
            <a:lvl2pPr>
              <a:defRPr sz="1600" baseline="0"/>
            </a:lvl2pPr>
            <a:lvl3pPr>
              <a:defRPr sz="16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442" y="1259285"/>
            <a:ext cx="343600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95556" y="1259284"/>
            <a:ext cx="3436001" cy="2510697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74254" y="1259285"/>
            <a:ext cx="3436001" cy="2510697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193121"/>
      </p:ext>
    </p:extLst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44191" y="1265773"/>
            <a:ext cx="3860800" cy="5194299"/>
          </a:xfrm>
        </p:spPr>
        <p:txBody>
          <a:bodyPr>
            <a:normAutofit/>
          </a:bodyPr>
          <a:lstStyle>
            <a:lvl1pPr marL="0" indent="0">
              <a:buNone/>
              <a:defRPr sz="1867" b="0" i="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1265773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6895" y="1265772"/>
            <a:ext cx="3376992" cy="2510697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26895" y="3949376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3949376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24402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284530"/>
            <a:ext cx="3376992" cy="2510697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26895" y="1284530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44188" y="1289238"/>
            <a:ext cx="3376992" cy="2510697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44188" y="3938724"/>
            <a:ext cx="3376992" cy="2510697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26895" y="3947086"/>
            <a:ext cx="3376992" cy="2510697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" y="3947086"/>
            <a:ext cx="3376992" cy="2510697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957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2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4367759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8114275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5401" y="1270143"/>
            <a:ext cx="3452284" cy="1739059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67758" y="1270143"/>
            <a:ext cx="3452284" cy="1739059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19719" y="1270143"/>
            <a:ext cx="3452284" cy="1739059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3803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71961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8477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09602" y="3821811"/>
            <a:ext cx="3452284" cy="1739059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371959" y="3821811"/>
            <a:ext cx="3452284" cy="1739059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123921" y="3821811"/>
            <a:ext cx="3452284" cy="1739059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19546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42570-AA76-4354-A5CF-EC1CEB77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E5F0A6-0179-4136-8C71-B9109A1B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B0D10C-DD06-4742-8B7D-208579A5C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7DF80-044F-434A-A12A-BB724D258AD4}" type="datetimeFigureOut">
              <a:rPr lang="ru-RU" smtClean="0"/>
              <a:t>22.11.2022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48F74-1A08-4633-A5E5-4B23DCDEB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F2678B-96AD-4735-A8EF-69C7492D7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B776F-82F2-4560-87CC-6DF20C8A84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19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08579"/>
            <a:ext cx="10972800" cy="827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95884"/>
            <a:ext cx="10972800" cy="386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5466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hf sldNum="0" hd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667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990575" indent="-380990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523962" indent="-304792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2133547" indent="-304792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2438339" indent="0" algn="l" defTabSz="609585" rtl="0" eaLnBrk="1" latinLnBrk="0" hangingPunct="1">
        <a:spcBef>
          <a:spcPct val="200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ker.ru/docs/docker-engine/engine-reference/command-line-reference/info/" TargetMode="External"/><Relationship Id="rId2" Type="http://schemas.openxmlformats.org/officeDocument/2006/relationships/hyperlink" Target="https://dker.ru/docs/docker-engine/engine-reference/command-line-reference/dockerd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hyperlink" Target="https://dker.ru/docs/docker-engine/engine-reference/command-line-reference/version/" TargetMode="External"/><Relationship Id="rId4" Type="http://schemas.openxmlformats.org/officeDocument/2006/relationships/hyperlink" Target="https://dker.ru/docs/docker-engine/engine-reference/command-line-reference/inspect/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dker.ru/docs/docker-engine/engine-reference/command-line-reference/rmi/" TargetMode="External"/><Relationship Id="rId3" Type="http://schemas.openxmlformats.org/officeDocument/2006/relationships/hyperlink" Target="https://dker.ru/docs/docker-engine/engine-reference/command-line-reference/commit/" TargetMode="External"/><Relationship Id="rId7" Type="http://schemas.openxmlformats.org/officeDocument/2006/relationships/hyperlink" Target="https://dker.ru/docs/docker-engine/engine-reference/command-line-reference/load/" TargetMode="External"/><Relationship Id="rId2" Type="http://schemas.openxmlformats.org/officeDocument/2006/relationships/hyperlink" Target="https://dker.ru/docs/docker-engine/engine-reference/command-line-reference/buil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ker.ru/docs/docker-engine/engine-reference/command-line-reference/import/" TargetMode="External"/><Relationship Id="rId11" Type="http://schemas.openxmlformats.org/officeDocument/2006/relationships/image" Target="../media/image35.png"/><Relationship Id="rId5" Type="http://schemas.openxmlformats.org/officeDocument/2006/relationships/hyperlink" Target="https://dker.ru/docs/docker-engine/engine-reference/command-line-reference/images/" TargetMode="External"/><Relationship Id="rId10" Type="http://schemas.openxmlformats.org/officeDocument/2006/relationships/hyperlink" Target="https://dker.ru/docs/docker-engine/engine-reference/command-line-reference/tag/" TargetMode="External"/><Relationship Id="rId4" Type="http://schemas.openxmlformats.org/officeDocument/2006/relationships/hyperlink" Target="https://dker.ru/docs/docker-engine/engine-reference/command-line-reference/history/" TargetMode="External"/><Relationship Id="rId9" Type="http://schemas.openxmlformats.org/officeDocument/2006/relationships/hyperlink" Target="https://dker.ru/docs/docker-engine/engine-reference/command-line-reference/save/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dker.ru/docs/docker-engine/engine-reference/command-line-reference/export/" TargetMode="External"/><Relationship Id="rId13" Type="http://schemas.openxmlformats.org/officeDocument/2006/relationships/image" Target="../media/image35.png"/><Relationship Id="rId3" Type="http://schemas.openxmlformats.org/officeDocument/2006/relationships/hyperlink" Target="https://dker.ru/docs/docker-engine/engine-reference/command-line-reference/cp/" TargetMode="External"/><Relationship Id="rId7" Type="http://schemas.openxmlformats.org/officeDocument/2006/relationships/hyperlink" Target="https://dker.ru/docs/docker-engine/engine-reference/command-line-reference/exec/" TargetMode="External"/><Relationship Id="rId12" Type="http://schemas.openxmlformats.org/officeDocument/2006/relationships/hyperlink" Target="https://dker.ru/docs/docker-engine/engine-reference/command-line-reference/port/" TargetMode="External"/><Relationship Id="rId2" Type="http://schemas.openxmlformats.org/officeDocument/2006/relationships/hyperlink" Target="https://dker.ru/docs/docker-engine/engine-reference/command-line-reference/attac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ker.ru/docs/docker-engine/engine-reference/command-line-reference/events/" TargetMode="External"/><Relationship Id="rId11" Type="http://schemas.openxmlformats.org/officeDocument/2006/relationships/hyperlink" Target="https://dker.ru/docs/docker-engine/engine-reference/command-line-reference/pause/" TargetMode="External"/><Relationship Id="rId5" Type="http://schemas.openxmlformats.org/officeDocument/2006/relationships/hyperlink" Target="https://dker.ru/docs/docker-engine/engine-reference/command-line-reference/diff/" TargetMode="External"/><Relationship Id="rId10" Type="http://schemas.openxmlformats.org/officeDocument/2006/relationships/hyperlink" Target="https://dker.ru/docs/docker-engine/engine-reference/command-line-reference/logs/" TargetMode="External"/><Relationship Id="rId4" Type="http://schemas.openxmlformats.org/officeDocument/2006/relationships/hyperlink" Target="https://dker.ru/docs/docker-engine/engine-reference/command-line-reference/create/" TargetMode="External"/><Relationship Id="rId9" Type="http://schemas.openxmlformats.org/officeDocument/2006/relationships/hyperlink" Target="https://dker.ru/docs/docker-engine/engine-reference/command-line-reference/kill/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dker.ru/docs/docker-engine/engine-reference/command-line-reference/stats/" TargetMode="External"/><Relationship Id="rId13" Type="http://schemas.openxmlformats.org/officeDocument/2006/relationships/image" Target="../media/image35.png"/><Relationship Id="rId3" Type="http://schemas.openxmlformats.org/officeDocument/2006/relationships/hyperlink" Target="https://dker.ru/docs/docker-engine/engine-reference/command-line-reference/rename/" TargetMode="External"/><Relationship Id="rId7" Type="http://schemas.openxmlformats.org/officeDocument/2006/relationships/hyperlink" Target="https://dker.ru/docs/docker-engine/engine-reference/command-line-reference/start/" TargetMode="External"/><Relationship Id="rId12" Type="http://schemas.openxmlformats.org/officeDocument/2006/relationships/hyperlink" Target="https://dker.ru/docs/docker-engine/engine-reference/command-line-reference/update/" TargetMode="External"/><Relationship Id="rId2" Type="http://schemas.openxmlformats.org/officeDocument/2006/relationships/hyperlink" Target="https://dker.ru/docs/docker-engine/engine-reference/command-line-reference/p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ker.ru/docs/docker-engine/engine-reference/command-line-reference/run/" TargetMode="External"/><Relationship Id="rId11" Type="http://schemas.openxmlformats.org/officeDocument/2006/relationships/hyperlink" Target="https://dker.ru/docs/docker-engine/engine-reference/command-line-reference/unpause/" TargetMode="External"/><Relationship Id="rId5" Type="http://schemas.openxmlformats.org/officeDocument/2006/relationships/hyperlink" Target="https://dker.ru/docs/docker-engine/engine-reference/command-line-reference/rm/" TargetMode="External"/><Relationship Id="rId10" Type="http://schemas.openxmlformats.org/officeDocument/2006/relationships/hyperlink" Target="https://dker.ru/docs/docker-engine/engine-reference/command-line-reference/top/" TargetMode="External"/><Relationship Id="rId4" Type="http://schemas.openxmlformats.org/officeDocument/2006/relationships/hyperlink" Target="https://dker.ru/docs/docker-engine/engine-reference/command-line-reference/restart/" TargetMode="External"/><Relationship Id="rId9" Type="http://schemas.openxmlformats.org/officeDocument/2006/relationships/hyperlink" Target="https://dker.ru/docs/docker-engine/engine-reference/command-line-reference/stop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ker.ru/docs/docker-engine/engine-reference/command-line-reference/logout/" TargetMode="External"/><Relationship Id="rId7" Type="http://schemas.openxmlformats.org/officeDocument/2006/relationships/image" Target="../media/image35.png"/><Relationship Id="rId2" Type="http://schemas.openxmlformats.org/officeDocument/2006/relationships/hyperlink" Target="https://dker.ru/docs/docker-engine/engine-reference/command-line-reference/log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ker.ru/docs/docker-engine/engine-reference/command-line-reference/search/" TargetMode="External"/><Relationship Id="rId5" Type="http://schemas.openxmlformats.org/officeDocument/2006/relationships/hyperlink" Target="https://dker.ru/docs/docker-engine/engine-reference/command-line-reference/push/" TargetMode="External"/><Relationship Id="rId4" Type="http://schemas.openxmlformats.org/officeDocument/2006/relationships/hyperlink" Target="https://dker.ru/docs/docker-engine/engine-reference/command-line-reference/pull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kubernetes.io/ru/docs/concepts/overview/what-is-kubernetes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03539" y="2993721"/>
            <a:ext cx="8534400" cy="1440807"/>
          </a:xfrm>
        </p:spPr>
        <p:txBody>
          <a:bodyPr>
            <a:noAutofit/>
          </a:bodyPr>
          <a:lstStyle/>
          <a:p>
            <a:pPr algn="ctr"/>
            <a:r>
              <a:rPr lang="ru-RU" sz="5867" dirty="0" smtClean="0">
                <a:solidFill>
                  <a:schemeClr val="bg1"/>
                </a:solidFill>
              </a:rPr>
              <a:t>Контейнеризация</a:t>
            </a:r>
            <a:endParaRPr lang="en-US" sz="58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36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7952A-C39B-4B9A-92C8-B6CEBC9F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ctr">
            <a:normAutofit/>
          </a:bodyPr>
          <a:lstStyle/>
          <a:p>
            <a:pPr defTabSz="609585"/>
            <a:r>
              <a:rPr lang="ru-RU" sz="3200" b="1" dirty="0">
                <a:latin typeface="ALS Gorizont Bold Expanded" panose="00000805000000000000" pitchFamily="50" charset="0"/>
              </a:rPr>
              <a:t>Контейнеризация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6922B0-3C14-4080-8DE9-163A7C477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25933" cy="4351338"/>
          </a:xfrm>
        </p:spPr>
        <p:txBody>
          <a:bodyPr>
            <a:normAutofit fontScale="92500"/>
          </a:bodyPr>
          <a:lstStyle/>
          <a:p>
            <a:r>
              <a:rPr lang="ru-RU" b="1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Контейнер</a:t>
            </a:r>
            <a:r>
              <a:rPr lang="ru-RU" b="0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 ― это помещенный на виртуальный диск файл, в который упаковывается приложение со всеми необходимыми для его работы зависимостями: кодом приложения, средой запуска, системными инструментами, библиотеками и настройками. Он запускается при помощи </a:t>
            </a:r>
            <a:r>
              <a:rPr lang="ru-RU" b="1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контейнерного движка</a:t>
            </a:r>
            <a:r>
              <a:rPr lang="ru-RU" b="0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 (</a:t>
            </a:r>
            <a:r>
              <a:rPr lang="ru-RU" b="0" i="0" kern="0" dirty="0" err="1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Docker</a:t>
            </a:r>
            <a:r>
              <a:rPr lang="ru-RU" b="0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, CRI-O, LXC).</a:t>
            </a:r>
          </a:p>
          <a:p>
            <a:r>
              <a:rPr lang="ru-RU" b="1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Контейнерный движок</a:t>
            </a:r>
            <a:r>
              <a:rPr lang="ru-RU" b="0" i="0" kern="0" dirty="0">
                <a:solidFill>
                  <a:srgbClr val="4F4F4F"/>
                </a:solidFill>
                <a:effectLst/>
                <a:latin typeface="Roboto" panose="02000000000000000000" pitchFamily="2" charset="0"/>
              </a:rPr>
              <a:t> ― это программное обеспечение, которое принимает запросы пользователя, скачивает контейнеры и запускает их. Запуск контейнера происходит при помощи API-обращений.</a:t>
            </a:r>
            <a:endParaRPr lang="ru-RU" kern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C0E53F-6514-4D42-890B-A78C53C8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431" y="365125"/>
            <a:ext cx="2688569" cy="17984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D05E00-AE31-4508-88E5-0368C91DD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133" y="2163601"/>
            <a:ext cx="2688569" cy="10226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AAA5EF-961D-4EDE-B398-186F30953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520" y="3489164"/>
            <a:ext cx="2493480" cy="11278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1B6507-3D66-48AB-ACD8-EC2A6B322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7129" y="4919911"/>
            <a:ext cx="1390008" cy="13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8F766-E901-45D9-8E10-EEFC842A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Инструменты контейнеризации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F149A-3587-4182-AFC6-4C567A409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92433"/>
                </a:solidFill>
                <a:effectLst/>
                <a:latin typeface="Manrope"/>
              </a:rPr>
              <a:t>chroot()</a:t>
            </a:r>
          </a:p>
          <a:p>
            <a:r>
              <a:rPr lang="en-US" b="0" i="0" dirty="0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(механизм пространств имён)</a:t>
            </a:r>
            <a:r>
              <a:rPr lang="en-US" b="0" i="0" dirty="0">
                <a:solidFill>
                  <a:srgbClr val="092433"/>
                </a:solidFill>
                <a:effectLst/>
                <a:latin typeface="Manrope"/>
              </a:rPr>
              <a:t> </a:t>
            </a:r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  <a:p>
            <a:r>
              <a:rPr lang="en-US" b="0" i="0" dirty="0" err="1">
                <a:solidFill>
                  <a:srgbClr val="092433"/>
                </a:solidFill>
                <a:effectLst/>
                <a:latin typeface="Manrope"/>
              </a:rPr>
              <a:t>Cgroups</a:t>
            </a:r>
            <a:endParaRPr lang="ru-RU" b="0" i="0" dirty="0">
              <a:solidFill>
                <a:srgbClr val="092433"/>
              </a:solidFill>
              <a:effectLst/>
              <a:latin typeface="Manrope"/>
            </a:endParaRPr>
          </a:p>
        </p:txBody>
      </p:sp>
      <p:pic>
        <p:nvPicPr>
          <p:cNvPr id="2050" name="Picture 2" descr="Механизмы контейнеризации: namespaces">
            <a:extLst>
              <a:ext uri="{FF2B5EF4-FFF2-40B4-BE49-F238E27FC236}">
                <a16:creationId xmlns:a16="http://schemas.microsoft.com/office/drawing/2014/main" id="{3EC403F1-F15A-4679-B777-C639E9B5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133" y="2908300"/>
            <a:ext cx="68072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10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F91F3-9A1C-4D4F-AC68-AEE9CEA4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Chroot(): </a:t>
            </a:r>
            <a:r>
              <a:rPr lang="ru-RU" dirty="0"/>
              <a:t>первая изоляции</a:t>
            </a:r>
          </a:p>
        </p:txBody>
      </p:sp>
      <p:pic>
        <p:nvPicPr>
          <p:cNvPr id="3074" name="Picture 2" descr="I&amp;#39;m in Chroot Jail, Get Me Out of Here! – Security Queens">
            <a:extLst>
              <a:ext uri="{FF2B5EF4-FFF2-40B4-BE49-F238E27FC236}">
                <a16:creationId xmlns:a16="http://schemas.microsoft.com/office/drawing/2014/main" id="{1553BD59-BF3D-4C55-8E1F-3C057077C2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000" y="1570461"/>
            <a:ext cx="7097999" cy="492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52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6923C-3F44-45EF-8329-AC3359B7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–</a:t>
            </a:r>
            <a:r>
              <a:rPr lang="ru-RU" dirty="0"/>
              <a:t> механизм пространств имён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0DB5133-171D-4E8E-AEF9-49CE57706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547852"/>
              </p:ext>
            </p:extLst>
          </p:nvPr>
        </p:nvGraphicFramePr>
        <p:xfrm>
          <a:off x="1295400" y="1690688"/>
          <a:ext cx="9601200" cy="44930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1090967678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228801371"/>
                    </a:ext>
                  </a:extLst>
                </a:gridCol>
              </a:tblGrid>
              <a:tr h="546279"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400" b="1" dirty="0">
                          <a:effectLst/>
                        </a:rPr>
                        <a:t>Пространство имён</a:t>
                      </a:r>
                      <a:endParaRPr lang="ru-RU" sz="2400" b="1" dirty="0">
                        <a:effectLst/>
                        <a:latin typeface="inherit"/>
                      </a:endParaRPr>
                    </a:p>
                  </a:txBody>
                  <a:tcPr marL="182880" marR="60960" marT="121920" marB="12192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400" b="1" dirty="0">
                          <a:effectLst/>
                        </a:rPr>
                        <a:t>Что изолирует</a:t>
                      </a:r>
                      <a:endParaRPr lang="ru-RU" sz="2400" b="1" dirty="0">
                        <a:effectLst/>
                        <a:latin typeface="inherit"/>
                      </a:endParaRPr>
                    </a:p>
                  </a:txBody>
                  <a:tcPr marL="60960" marR="182880" marT="121920" marB="12192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07258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PID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PID </a:t>
                      </a:r>
                      <a:r>
                        <a:rPr lang="ru-RU" sz="2400">
                          <a:effectLst/>
                        </a:rPr>
                        <a:t>процессов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1465603035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NETWORK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400">
                          <a:effectLst/>
                        </a:rPr>
                        <a:t>Сетевые устройства, стеки, порты и т.п.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2986707388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USER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</a:rPr>
                        <a:t>ID </a:t>
                      </a:r>
                      <a:r>
                        <a:rPr lang="ru-RU" sz="2400" dirty="0">
                          <a:effectLst/>
                        </a:rPr>
                        <a:t>пользователей и групп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675086001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MOUNT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400">
                          <a:effectLst/>
                        </a:rPr>
                        <a:t>Точки монтирования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1567726473"/>
                  </a:ext>
                </a:extLst>
              </a:tr>
              <a:tr h="835485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</a:rPr>
                        <a:t>IPC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400" dirty="0" err="1">
                          <a:effectLst/>
                        </a:rPr>
                        <a:t>SystemV</a:t>
                      </a:r>
                      <a:r>
                        <a:rPr lang="ru-RU" sz="2400" dirty="0">
                          <a:effectLst/>
                        </a:rPr>
                        <a:t> IPC, очереди сообщений POSIX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3551316844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</a:rPr>
                        <a:t>UTS</a:t>
                      </a:r>
                    </a:p>
                  </a:txBody>
                  <a:tcPr marL="182880" marT="121920" marB="121920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2400" dirty="0">
                          <a:effectLst/>
                        </a:rPr>
                        <a:t>Имя хоста и доменное имя NIS</a:t>
                      </a:r>
                    </a:p>
                  </a:txBody>
                  <a:tcPr marR="182880" marT="121920" marB="121920" anchor="ctr"/>
                </a:tc>
                <a:extLst>
                  <a:ext uri="{0D108BD9-81ED-4DB2-BD59-A6C34878D82A}">
                    <a16:rowId xmlns:a16="http://schemas.microsoft.com/office/drawing/2014/main" val="2002489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52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BF0F5-9A0E-4C74-B59F-C38E841E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PID: </a:t>
            </a:r>
            <a:r>
              <a:rPr lang="ru-RU" dirty="0"/>
              <a:t>изоляция </a:t>
            </a:r>
            <a:r>
              <a:rPr lang="en-US" dirty="0"/>
              <a:t>PID </a:t>
            </a:r>
            <a:r>
              <a:rPr lang="ru-RU" dirty="0"/>
              <a:t>процессов</a:t>
            </a:r>
          </a:p>
        </p:txBody>
      </p:sp>
      <p:pic>
        <p:nvPicPr>
          <p:cNvPr id="5122" name="Picture 2" descr="PID Namespace">
            <a:extLst>
              <a:ext uri="{FF2B5EF4-FFF2-40B4-BE49-F238E27FC236}">
                <a16:creationId xmlns:a16="http://schemas.microsoft.com/office/drawing/2014/main" id="{283A2AD7-0F07-40DB-AA19-8DF3ECEC25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550" y="1786943"/>
            <a:ext cx="5416900" cy="470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23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3473C-F86C-4B29-9B9C-4875AFE1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NET: </a:t>
            </a:r>
            <a:r>
              <a:rPr lang="ru-RU" dirty="0"/>
              <a:t>изоляция сетей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1561C-951B-4FC0-81C9-D9B23CDD5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Сетевое пространство имен логически является еще одной копией сетевого стека</a:t>
            </a:r>
            <a:r>
              <a:rPr lang="en-US" dirty="0"/>
              <a:t> </a:t>
            </a:r>
            <a:r>
              <a:rPr lang="ru-RU" dirty="0"/>
              <a:t>со своими собственными маршрутами</a:t>
            </a:r>
            <a:r>
              <a:rPr lang="en-US" dirty="0"/>
              <a:t> (routes)</a:t>
            </a:r>
            <a:r>
              <a:rPr lang="ru-RU" dirty="0"/>
              <a:t>, правилами брандмауэра </a:t>
            </a:r>
            <a:r>
              <a:rPr lang="en-US" dirty="0"/>
              <a:t>(firewall) </a:t>
            </a:r>
            <a:r>
              <a:rPr lang="ru-RU" dirty="0"/>
              <a:t>и сетевыми интерфейсами</a:t>
            </a:r>
            <a:r>
              <a:rPr lang="en-US" dirty="0"/>
              <a:t> (network interface)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Пространство имен сети представлено </a:t>
            </a:r>
            <a:r>
              <a:rPr lang="en-US" b="1" dirty="0"/>
              <a:t>Struct</a:t>
            </a:r>
            <a:r>
              <a:rPr lang="ru-RU" b="1" dirty="0"/>
              <a:t> </a:t>
            </a:r>
            <a:r>
              <a:rPr lang="ru-RU" b="1" dirty="0" err="1"/>
              <a:t>net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i="1" dirty="0"/>
              <a:t>Struct</a:t>
            </a:r>
            <a:r>
              <a:rPr lang="ru-RU" b="1" i="1" dirty="0"/>
              <a:t> </a:t>
            </a:r>
            <a:r>
              <a:rPr lang="ru-RU" b="1" i="1" dirty="0" err="1"/>
              <a:t>net</a:t>
            </a:r>
            <a:r>
              <a:rPr lang="ru-RU" b="1" i="1" dirty="0"/>
              <a:t> </a:t>
            </a:r>
            <a:r>
              <a:rPr lang="ru-RU" dirty="0"/>
              <a:t>включает в себя все компоненты сетевого стека, такие как: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Устройство </a:t>
            </a:r>
            <a:r>
              <a:rPr lang="en-US" dirty="0"/>
              <a:t>loopback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Статистика SNMP. (</a:t>
            </a:r>
            <a:r>
              <a:rPr lang="ru-RU" dirty="0" err="1"/>
              <a:t>netns_mib</a:t>
            </a:r>
            <a:r>
              <a:rPr lang="ru-RU" dirty="0"/>
              <a:t>)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Все сетевые таблицы: </a:t>
            </a:r>
            <a:r>
              <a:rPr lang="en-US" dirty="0"/>
              <a:t>routing</a:t>
            </a:r>
            <a:r>
              <a:rPr lang="ru-RU" dirty="0"/>
              <a:t>, </a:t>
            </a:r>
            <a:r>
              <a:rPr lang="en-US" dirty="0"/>
              <a:t>neighboring</a:t>
            </a:r>
            <a:r>
              <a:rPr lang="ru-RU" dirty="0"/>
              <a:t> и т.д.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Все </a:t>
            </a:r>
            <a:r>
              <a:rPr lang="en-US" dirty="0"/>
              <a:t>sockets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Записи в /</a:t>
            </a:r>
            <a:r>
              <a:rPr lang="ru-RU" dirty="0" err="1"/>
              <a:t>proc</a:t>
            </a:r>
            <a:r>
              <a:rPr lang="ru-RU" dirty="0"/>
              <a:t> и /</a:t>
            </a:r>
            <a:r>
              <a:rPr lang="ru-RU" dirty="0" err="1"/>
              <a:t>sys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46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7248C-4AED-4FAD-9165-790ACD6D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MOUNT: </a:t>
            </a:r>
            <a:r>
              <a:rPr lang="ru-RU" dirty="0"/>
              <a:t>изоляция файловой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9C5AF8-4341-46DD-AD37-40E65F02D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Изоляция на уровне файловой систем</a:t>
            </a:r>
            <a:endParaRPr lang="ru-RU" dirty="0"/>
          </a:p>
        </p:txBody>
      </p:sp>
      <p:pic>
        <p:nvPicPr>
          <p:cNvPr id="6146" name="Picture 2" descr="MOUNT namespace">
            <a:extLst>
              <a:ext uri="{FF2B5EF4-FFF2-40B4-BE49-F238E27FC236}">
                <a16:creationId xmlns:a16="http://schemas.microsoft.com/office/drawing/2014/main" id="{7D0B9CCB-467F-47A9-941E-1653947DC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333" y="1373802"/>
            <a:ext cx="3843338" cy="533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24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E4351-696D-45FA-AAEC-41FF0FAF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UTS</a:t>
            </a:r>
            <a:r>
              <a:rPr lang="ru-RU" dirty="0"/>
              <a:t> - </a:t>
            </a:r>
            <a:r>
              <a:rPr lang="ru-RU" sz="4400" dirty="0">
                <a:effectLst/>
              </a:rPr>
              <a:t>имя хоста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B7540-A951-401C-A18C-F3C450EB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UTS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Time Sharing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изоляции двух конкретных элементов системы, относящихся к системному вызову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характеризуется системным вызовом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возвращает структуру: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Domainname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5130522"/>
            <a:ext cx="11200182" cy="40011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из них только два элемента изменяются во время выполнения, 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domainname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5853797"/>
            <a:ext cx="108736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контейнеризации функция пространства имен UTS позволяет каждому контейнеру иметь свое имя хоста и имя домена.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430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IPC</a:t>
            </a:r>
            <a:r>
              <a:rPr lang="ru-RU" dirty="0"/>
              <a:t> - </a:t>
            </a:r>
            <a:r>
              <a:rPr lang="ru-RU" dirty="0" err="1"/>
              <a:t>Межпроцессное</a:t>
            </a:r>
            <a:r>
              <a:rPr lang="ru-RU" dirty="0"/>
              <a:t> взаимодействие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 err="1"/>
              <a:t>System</a:t>
            </a:r>
            <a:r>
              <a:rPr lang="ru-RU" dirty="0"/>
              <a:t> V IPC включает в себя семафоры, разделяемую память и очереди </a:t>
            </a:r>
            <a:r>
              <a:rPr lang="ru-RU" dirty="0" smtClean="0"/>
              <a:t>сообщений. </a:t>
            </a:r>
            <a:r>
              <a:rPr lang="ru-RU" dirty="0"/>
              <a:t>Каждый ресурс </a:t>
            </a:r>
            <a:r>
              <a:rPr lang="ru-RU" dirty="0" err="1"/>
              <a:t>межпроцессного</a:t>
            </a:r>
            <a:r>
              <a:rPr lang="ru-RU" dirty="0"/>
              <a:t> взаимодействия должен иметь свой уникальный идентификатор (ID</a:t>
            </a:r>
            <a:r>
              <a:rPr lang="ru-RU" dirty="0" smtClean="0"/>
              <a:t>). </a:t>
            </a:r>
            <a:r>
              <a:rPr lang="ru-RU" dirty="0"/>
              <a:t>Это позволяет процессам, взаимодействующим между собой, обращаться к общему ресурсу. И для изоляции таких ресурсов было создано пространство имён IPC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Каждое пространство имён IPC имеет свой собственный набор идентификаторов </a:t>
            </a:r>
            <a:r>
              <a:rPr lang="ru-RU" dirty="0" err="1"/>
              <a:t>System</a:t>
            </a:r>
            <a:r>
              <a:rPr lang="ru-RU" dirty="0"/>
              <a:t> V IPC и свою собственную систему очередей сообщений </a:t>
            </a:r>
            <a:r>
              <a:rPr lang="ru-RU" dirty="0" smtClean="0"/>
              <a:t>POSIX. </a:t>
            </a:r>
            <a:r>
              <a:rPr lang="ru-RU" dirty="0"/>
              <a:t>Объекты, созданные в этом пространстве имён, видны всем процессам, состоящим в этом пространстве, и не видны всем остальным процессам в других пространствах </a:t>
            </a:r>
            <a:r>
              <a:rPr lang="ru-RU" dirty="0" smtClean="0"/>
              <a:t>имён.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61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</a:t>
            </a:r>
            <a:r>
              <a:rPr lang="ru-RU" dirty="0"/>
              <a:t> - Пользовательские </a:t>
            </a:r>
            <a:r>
              <a:rPr lang="en-US" dirty="0"/>
              <a:t>ID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Пространства имён пользователей изолируют ID пользователей и групп, корневой каталог, ключи и </a:t>
            </a:r>
            <a:r>
              <a:rPr lang="ru-RU" dirty="0" err="1"/>
              <a:t>capabilities</a:t>
            </a:r>
            <a:r>
              <a:rPr lang="ru-RU" dirty="0"/>
              <a:t>. Идентификаторы пользователя и группы процесса могут отличаться внутри и вне пространства имён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1928012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A204F-D8D9-48E9-9C48-E7E4B454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Cgroups</a:t>
            </a:r>
            <a:r>
              <a:rPr lang="en-US" dirty="0"/>
              <a:t> </a:t>
            </a:r>
            <a:r>
              <a:rPr lang="ru-RU" dirty="0"/>
              <a:t>Контрольные группы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13C07E-8713-4A2D-8E3C-B214A5D0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Контрольная группа — группа процессов в Linux, для которой механизмами ядра наложена изоляция и установлены ограничения на некоторые вычислительные ресурсы (процессорные, сетевые, ресурсы памяти, ресурсы ввода-вывода). Механизм позволяет образовывать иерархические группы процессов с заданными ресурсными свойствами и обеспечивает программное управление ими.</a:t>
            </a:r>
          </a:p>
        </p:txBody>
      </p:sp>
    </p:spTree>
    <p:extLst>
      <p:ext uri="{BB962C8B-B14F-4D97-AF65-F5344CB8AC3E}">
        <p14:creationId xmlns:p14="http://schemas.microsoft.com/office/powerpoint/2010/main" val="2304698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EC9FB-7E9A-4DE7-9D8B-38D15BF6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 </a:t>
            </a:r>
            <a:r>
              <a:rPr lang="en-US" dirty="0" err="1"/>
              <a:t>Cgroups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85BAC-7DAB-4C8E-B8FD-D9A311AF7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Цель механизма — предоставить единый программный интерфейс к целому спектру средств управления процессами, начиная с контроля единичного процесса (таких как, например, утилита </a:t>
            </a:r>
            <a:r>
              <a:rPr lang="ru-RU" dirty="0" err="1"/>
              <a:t>nice</a:t>
            </a:r>
            <a:r>
              <a:rPr lang="ru-RU" dirty="0"/>
              <a:t>) вплоть до полной виртуализации на уровне системы (как у </a:t>
            </a:r>
            <a:r>
              <a:rPr lang="ru-RU" dirty="0" err="1"/>
              <a:t>OpenVZ</a:t>
            </a:r>
            <a:r>
              <a:rPr lang="ru-RU" dirty="0"/>
              <a:t>, Linux-</a:t>
            </a:r>
            <a:r>
              <a:rPr lang="ru-RU" dirty="0" err="1"/>
              <a:t>VServer</a:t>
            </a:r>
            <a:r>
              <a:rPr lang="ru-RU" dirty="0"/>
              <a:t>[</a:t>
            </a:r>
            <a:r>
              <a:rPr lang="ru-RU" dirty="0" err="1"/>
              <a:t>en</a:t>
            </a:r>
            <a:r>
              <a:rPr lang="ru-RU" dirty="0"/>
              <a:t>], LXC).</a:t>
            </a:r>
          </a:p>
          <a:p>
            <a:pPr marL="0" indent="0">
              <a:buNone/>
            </a:pPr>
            <a:r>
              <a:rPr lang="en-US" dirty="0" err="1"/>
              <a:t>Cgroups</a:t>
            </a:r>
            <a:r>
              <a:rPr lang="en-US" dirty="0"/>
              <a:t> </a:t>
            </a:r>
            <a:r>
              <a:rPr lang="ru-RU" dirty="0"/>
              <a:t>предоставляет следующие возможности: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100" b="1" dirty="0">
                <a:solidFill>
                  <a:srgbClr val="FF0000"/>
                </a:solidFill>
              </a:rPr>
              <a:t>ограничение ресурсов</a:t>
            </a:r>
            <a:r>
              <a:rPr lang="ru-RU" sz="2100" dirty="0"/>
              <a:t>: использование памяти, в том числе виртуальной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2100" b="1" dirty="0" err="1">
                <a:solidFill>
                  <a:srgbClr val="FF0000"/>
                </a:solidFill>
              </a:rPr>
              <a:t>приоритизацию</a:t>
            </a:r>
            <a:r>
              <a:rPr lang="ru-RU" sz="2100" dirty="0"/>
              <a:t>: разным группам можно выделить разное количество процессорного ресурса и пропускной способности подсистемы ввода-вывода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100" b="1" dirty="0">
                <a:solidFill>
                  <a:srgbClr val="FF0000"/>
                </a:solidFill>
              </a:rPr>
              <a:t>учёт</a:t>
            </a:r>
            <a:r>
              <a:rPr lang="ru-RU" sz="2100" dirty="0"/>
              <a:t>: подсчёт затрат тех либо иных ресурсов группой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100" b="1" dirty="0">
                <a:solidFill>
                  <a:srgbClr val="FF0000"/>
                </a:solidFill>
              </a:rPr>
              <a:t>изоляцию</a:t>
            </a:r>
            <a:r>
              <a:rPr lang="ru-RU" sz="2100" dirty="0"/>
              <a:t>: разделение пространств имён для групп таким образом, что одной группе недоступны процессы, сетевые соединения и файлы другой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100" b="1" dirty="0">
                <a:solidFill>
                  <a:srgbClr val="FF0000"/>
                </a:solidFill>
              </a:rPr>
              <a:t>управление</a:t>
            </a:r>
            <a:r>
              <a:rPr lang="ru-RU" sz="2100" dirty="0"/>
              <a:t>: приостановку (</a:t>
            </a:r>
            <a:r>
              <a:rPr lang="ru-RU" sz="2100" dirty="0" err="1"/>
              <a:t>freezing</a:t>
            </a:r>
            <a:r>
              <a:rPr lang="ru-RU" sz="2100" dirty="0"/>
              <a:t>) групп, создание контрольных точек (</a:t>
            </a:r>
            <a:r>
              <a:rPr lang="ru-RU" sz="2100" dirty="0" err="1"/>
              <a:t>checkpointing</a:t>
            </a:r>
            <a:r>
              <a:rPr lang="ru-RU" sz="2100" dirty="0"/>
              <a:t>) и их перезагрузку</a:t>
            </a:r>
          </a:p>
        </p:txBody>
      </p:sp>
    </p:spTree>
    <p:extLst>
      <p:ext uri="{BB962C8B-B14F-4D97-AF65-F5344CB8AC3E}">
        <p14:creationId xmlns:p14="http://schemas.microsoft.com/office/powerpoint/2010/main" val="258807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A1EBD-0E0A-4392-B14E-4A5C269B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контрольными группами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A521D7-20EC-4A30-BD0C-CA18C4A8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через доступ к виртуальной файловой системе </a:t>
            </a:r>
            <a:r>
              <a:rPr lang="ru-RU" dirty="0" err="1"/>
              <a:t>cgroup</a:t>
            </a:r>
            <a:r>
              <a:rPr lang="ru-RU" dirty="0"/>
              <a:t> (по типу /</a:t>
            </a:r>
            <a:r>
              <a:rPr lang="ru-RU" dirty="0" err="1"/>
              <a:t>proc</a:t>
            </a:r>
            <a:r>
              <a:rPr lang="ru-RU" dirty="0"/>
              <a:t>) напрямую;</a:t>
            </a:r>
          </a:p>
          <a:p>
            <a:r>
              <a:rPr lang="ru-RU" dirty="0"/>
              <a:t>утилитами </a:t>
            </a:r>
            <a:r>
              <a:rPr lang="ru-RU" dirty="0" err="1"/>
              <a:t>cgcreate</a:t>
            </a:r>
            <a:r>
              <a:rPr lang="ru-RU" dirty="0"/>
              <a:t>, </a:t>
            </a:r>
            <a:r>
              <a:rPr lang="ru-RU" dirty="0" err="1"/>
              <a:t>cgexec</a:t>
            </a:r>
            <a:r>
              <a:rPr lang="ru-RU" dirty="0"/>
              <a:t>, </a:t>
            </a:r>
            <a:r>
              <a:rPr lang="ru-RU" dirty="0" err="1"/>
              <a:t>cgclassify</a:t>
            </a:r>
            <a:r>
              <a:rPr lang="ru-RU" dirty="0"/>
              <a:t> (из </a:t>
            </a:r>
            <a:r>
              <a:rPr lang="ru-RU" dirty="0" err="1"/>
              <a:t>libcgroup</a:t>
            </a:r>
            <a:r>
              <a:rPr lang="ru-RU" dirty="0"/>
              <a:t>);</a:t>
            </a:r>
          </a:p>
          <a:p>
            <a:r>
              <a:rPr lang="ru-RU" dirty="0"/>
              <a:t>используя демон механизма правил (англ. </a:t>
            </a:r>
            <a:r>
              <a:rPr lang="ru-RU" dirty="0" err="1"/>
              <a:t>rules</a:t>
            </a:r>
            <a:r>
              <a:rPr lang="ru-RU" dirty="0"/>
              <a:t> </a:t>
            </a:r>
            <a:r>
              <a:rPr lang="ru-RU" dirty="0" err="1"/>
              <a:t>engine</a:t>
            </a:r>
            <a:r>
              <a:rPr lang="ru-RU" dirty="0"/>
              <a:t> </a:t>
            </a:r>
            <a:r>
              <a:rPr lang="ru-RU" dirty="0" err="1"/>
              <a:t>daemon</a:t>
            </a:r>
            <a:r>
              <a:rPr lang="ru-RU" dirty="0"/>
              <a:t>), который автоматически перемещает процессы определённых пользователей, групп или команд в </a:t>
            </a:r>
            <a:r>
              <a:rPr lang="ru-RU" dirty="0" err="1"/>
              <a:t>cgroups</a:t>
            </a:r>
            <a:r>
              <a:rPr lang="ru-RU" dirty="0"/>
              <a:t> согласно конфигурации;</a:t>
            </a:r>
          </a:p>
          <a:p>
            <a:r>
              <a:rPr lang="ru-RU" dirty="0"/>
              <a:t>косвенно через другие программные средства, использующие контрольные группы, например, через системы контейнеризации LXC и </a:t>
            </a:r>
            <a:r>
              <a:rPr lang="ru-RU" dirty="0" err="1"/>
              <a:t>Docker</a:t>
            </a:r>
            <a:r>
              <a:rPr lang="ru-RU" dirty="0"/>
              <a:t>, библиотеку </a:t>
            </a:r>
            <a:r>
              <a:rPr lang="ru-RU" dirty="0" err="1"/>
              <a:t>libvirt</a:t>
            </a:r>
            <a:r>
              <a:rPr lang="ru-RU" dirty="0"/>
              <a:t>, технологию инициализации </a:t>
            </a:r>
            <a:r>
              <a:rPr lang="ru-RU" dirty="0" err="1"/>
              <a:t>systemd</a:t>
            </a:r>
            <a:r>
              <a:rPr lang="ru-RU" dirty="0"/>
              <a:t>, кластерное управляющее программное обеспечение Grid Engine.</a:t>
            </a:r>
          </a:p>
        </p:txBody>
      </p:sp>
    </p:spTree>
    <p:extLst>
      <p:ext uri="{BB962C8B-B14F-4D97-AF65-F5344CB8AC3E}">
        <p14:creationId xmlns:p14="http://schemas.microsoft.com/office/powerpoint/2010/main" val="166045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7C432-B4A0-4E2C-8F93-EDEDED76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Systemd-nspawn</a:t>
            </a:r>
            <a:r>
              <a:rPr lang="en-US" dirty="0"/>
              <a:t>: </a:t>
            </a:r>
            <a:r>
              <a:rPr lang="ru-RU" dirty="0"/>
              <a:t>общая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28F9C-CFE2-4489-89D3-FCFA6D120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Название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systemd-nspawn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представляет собой сокращение от 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namespaces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spawn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. Управляет изоляцией процессов, но при этом не может изолировать ресурсы.</a:t>
            </a:r>
          </a:p>
          <a:p>
            <a:pPr marL="0" indent="0" algn="l" fontAlgn="base">
              <a:buNone/>
            </a:pP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В числе его несомненных плюсов стоит выделить:</a:t>
            </a:r>
          </a:p>
          <a:p>
            <a:pPr lvl="1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тесную интеграцию с другими компонентами </a:t>
            </a:r>
            <a:r>
              <a:rPr lang="ru-RU" b="0" i="0" dirty="0" err="1">
                <a:solidFill>
                  <a:srgbClr val="092433"/>
                </a:solidFill>
                <a:effectLst/>
                <a:latin typeface="Manrope"/>
              </a:rPr>
              <a:t>systemd</a:t>
            </a:r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;</a:t>
            </a:r>
          </a:p>
          <a:p>
            <a:pPr lvl="1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возможность работы с образами в разных форматах;</a:t>
            </a:r>
          </a:p>
          <a:p>
            <a:pPr lvl="1" fontAlgn="base"/>
            <a:r>
              <a:rPr lang="ru-RU" b="0" i="0" dirty="0">
                <a:solidFill>
                  <a:srgbClr val="092433"/>
                </a:solidFill>
                <a:effectLst/>
                <a:latin typeface="Manrope"/>
              </a:rPr>
              <a:t>отсутствие необходимости устанавливать какие-либо дополнительные пакеты или накладывать патчи на ядро.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729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334CA-D63E-4D3D-9969-73006D2A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0584" cy="1325563"/>
          </a:xfrm>
        </p:spPr>
        <p:txBody>
          <a:bodyPr/>
          <a:lstStyle/>
          <a:p>
            <a:r>
              <a:rPr lang="ru-RU" dirty="0"/>
              <a:t>Отличие виртуальной машины от контейнера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25E6850-70ED-4C82-AE63-EE55BDFF6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690688"/>
            <a:ext cx="5862784" cy="43513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EB8977-DDFF-47D3-BC4B-A4652AADC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16" y="1690688"/>
            <a:ext cx="5862784" cy="442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62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6E366-CCB2-48BC-9B03-D4C0C6ED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нужны контейнеры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DC3A38-C80B-40BC-9C49-590649523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Удобная работа с кодом при создании нового продукта</a:t>
            </a:r>
          </a:p>
          <a:p>
            <a:r>
              <a:rPr lang="ru-RU" dirty="0"/>
              <a:t>Быстрая передача продукта пользователям</a:t>
            </a:r>
          </a:p>
        </p:txBody>
      </p:sp>
    </p:spTree>
    <p:extLst>
      <p:ext uri="{BB962C8B-B14F-4D97-AF65-F5344CB8AC3E}">
        <p14:creationId xmlns:p14="http://schemas.microsoft.com/office/powerpoint/2010/main" val="432255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8B053-B426-4916-A401-48E25E72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7400" cy="1325563"/>
          </a:xfrm>
        </p:spPr>
        <p:txBody>
          <a:bodyPr/>
          <a:lstStyle/>
          <a:p>
            <a:r>
              <a:rPr lang="ru-RU" dirty="0"/>
              <a:t>Преимущества контейнерной виртуализации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83DCE5-E118-443C-BD13-3470B4F2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Скорость создания</a:t>
            </a:r>
          </a:p>
          <a:p>
            <a:r>
              <a:rPr lang="ru-RU" dirty="0"/>
              <a:t>Экономичность</a:t>
            </a:r>
          </a:p>
          <a:p>
            <a:r>
              <a:rPr lang="ru-RU" dirty="0"/>
              <a:t>Высокая производительность</a:t>
            </a:r>
          </a:p>
          <a:p>
            <a:r>
              <a:rPr lang="ru-RU" dirty="0"/>
              <a:t>Управление версиями</a:t>
            </a:r>
          </a:p>
          <a:p>
            <a:r>
              <a:rPr lang="ru-RU" dirty="0"/>
              <a:t>Возможность миграции среды вычислений.</a:t>
            </a:r>
          </a:p>
          <a:p>
            <a:r>
              <a:rPr lang="ru-RU" dirty="0"/>
              <a:t>Стандартизация</a:t>
            </a:r>
          </a:p>
          <a:p>
            <a:r>
              <a:rPr lang="ru-RU" dirty="0"/>
              <a:t>Безопасность</a:t>
            </a:r>
          </a:p>
        </p:txBody>
      </p:sp>
    </p:spTree>
    <p:extLst>
      <p:ext uri="{BB962C8B-B14F-4D97-AF65-F5344CB8AC3E}">
        <p14:creationId xmlns:p14="http://schemas.microsoft.com/office/powerpoint/2010/main" val="1619558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BFE77-9B01-4BE5-B1F6-3058F7A3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контейнерной виртуализации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73FDA4-3DA1-4A4B-A3DB-1F9E54A9F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Высокая сложность</a:t>
            </a:r>
          </a:p>
          <a:p>
            <a:r>
              <a:rPr lang="ru-RU" dirty="0"/>
              <a:t>Разрастание</a:t>
            </a:r>
          </a:p>
          <a:p>
            <a:r>
              <a:rPr lang="ru-RU" dirty="0"/>
              <a:t>Поддержка </a:t>
            </a:r>
            <a:r>
              <a:rPr lang="en-US" dirty="0"/>
              <a:t>Native Linux</a:t>
            </a:r>
            <a:endParaRPr lang="ru-RU" dirty="0"/>
          </a:p>
          <a:p>
            <a:r>
              <a:rPr lang="ru-RU" dirty="0"/>
              <a:t>Недостаточная зрелость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2996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0FD68-D271-49A0-95F2-39581FCB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A8364DC-2A5C-4844-BAEA-747DACCF9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09" y="1690688"/>
            <a:ext cx="11931782" cy="4376210"/>
          </a:xfrm>
        </p:spPr>
      </p:pic>
    </p:spTree>
    <p:extLst>
      <p:ext uri="{BB962C8B-B14F-4D97-AF65-F5344CB8AC3E}">
        <p14:creationId xmlns:p14="http://schemas.microsoft.com/office/powerpoint/2010/main" val="3037097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61B53-A939-42DF-B8AD-BD7D2CE2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LXD </a:t>
            </a:r>
            <a:r>
              <a:rPr lang="ru-RU" dirty="0"/>
              <a:t>и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8FF022-A3C2-4754-9E7E-0FB3CEEBF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LXC (Linux </a:t>
            </a:r>
            <a:r>
              <a:rPr lang="ru-RU" b="1" dirty="0" err="1">
                <a:solidFill>
                  <a:srgbClr val="FF0000"/>
                </a:solidFill>
              </a:rPr>
              <a:t>Containers</a:t>
            </a:r>
            <a:r>
              <a:rPr lang="ru-RU" b="1" dirty="0">
                <a:solidFill>
                  <a:srgbClr val="FF0000"/>
                </a:solidFill>
              </a:rPr>
              <a:t>)</a:t>
            </a:r>
            <a:r>
              <a:rPr lang="ru-RU" dirty="0"/>
              <a:t> — механизм виртуализации на уровне операционной системы, позволяющий исполнять множество изолированных Linux-систем (контейнеров) в одной системе.</a:t>
            </a:r>
          </a:p>
          <a:p>
            <a:pPr marL="0" indent="0"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Aft>
                <a:spcPts val="0"/>
              </a:spcAft>
              <a:buNone/>
            </a:pPr>
            <a:r>
              <a:rPr lang="en-US" dirty="0"/>
              <a:t>Docker, </a:t>
            </a:r>
            <a:r>
              <a:rPr lang="ru-RU" dirty="0"/>
              <a:t>ранее назывался </a:t>
            </a:r>
            <a:r>
              <a:rPr lang="en-US" dirty="0" err="1"/>
              <a:t>dotCloud</a:t>
            </a:r>
            <a:endParaRPr lang="ru-RU" dirty="0"/>
          </a:p>
          <a:p>
            <a:pPr marL="0" indent="0">
              <a:spcAft>
                <a:spcPts val="0"/>
              </a:spcAft>
              <a:buNone/>
            </a:pPr>
            <a:r>
              <a:rPr lang="ru-RU" dirty="0"/>
              <a:t>Благодаря </a:t>
            </a:r>
            <a:r>
              <a:rPr lang="ru-RU" dirty="0" err="1"/>
              <a:t>Docker</a:t>
            </a:r>
            <a:r>
              <a:rPr lang="ru-RU" dirty="0"/>
              <a:t> пользователи могут быстро развертывать и масштабировать свои приложения в любой среде и сохранять уверенность в том, что код будет работать.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b="1" dirty="0" err="1"/>
              <a:t>Docker</a:t>
            </a:r>
            <a:r>
              <a:rPr lang="ru-RU" dirty="0"/>
              <a:t> — это инструмент, предоставляющий удобный 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dirty="0"/>
              <a:t>интерфейс для работы с LXC.</a:t>
            </a:r>
          </a:p>
          <a:p>
            <a:endParaRPr lang="ru-RU" dirty="0"/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91F1A790-96B4-4F70-92F9-80F675AB2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0070" y="365125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9">
            <a:extLst>
              <a:ext uri="{FF2B5EF4-FFF2-40B4-BE49-F238E27FC236}">
                <a16:creationId xmlns:a16="http://schemas.microsoft.com/office/drawing/2014/main" id="{1227E3CE-5F4A-4C5E-A422-91337CAF0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969" y="4722125"/>
            <a:ext cx="2543031" cy="1988188"/>
          </a:xfrm>
          <a:prstGeom prst="rect">
            <a:avLst/>
          </a:prstGeom>
        </p:spPr>
      </p:pic>
      <p:pic>
        <p:nvPicPr>
          <p:cNvPr id="6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556A7FCD-633B-4D6B-979A-38C96110C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722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F3482-2ACA-4409-A530-9CE148CD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Ubuntu"/>
              </a:rPr>
              <a:t>LXC</a:t>
            </a:r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 – </a:t>
            </a:r>
            <a:r>
              <a:rPr lang="en-US" b="0" i="0" dirty="0">
                <a:solidFill>
                  <a:srgbClr val="111111"/>
                </a:solidFill>
                <a:effectLst/>
                <a:latin typeface="Ubuntu"/>
              </a:rPr>
              <a:t>Linux</a:t>
            </a:r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latin typeface="Ubuntu"/>
              </a:rPr>
              <a:t>Container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4D75DC-F57B-4748-8CA2-0FA249515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LXC - это интерфейс пользовательского пространства для функций локализации ядра Linux. Благодаря мощному API и простым инструментам он позволяет пользователям Linux легко создавать и управлять контейнерами системы или приложений.</a:t>
            </a:r>
          </a:p>
          <a:p>
            <a:pPr marL="0" indent="0">
              <a:buNone/>
            </a:pPr>
            <a:r>
              <a:rPr lang="en-US" dirty="0"/>
              <a:t>LXC </a:t>
            </a:r>
            <a:r>
              <a:rPr lang="ru-RU" dirty="0"/>
              <a:t>использует следующие функции ядра для хранения процессов: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Пространства имен ядра (</a:t>
            </a:r>
            <a:r>
              <a:rPr lang="en-US" dirty="0" err="1"/>
              <a:t>ipc</a:t>
            </a:r>
            <a:r>
              <a:rPr lang="en-US" dirty="0"/>
              <a:t>, </a:t>
            </a:r>
            <a:r>
              <a:rPr lang="en-US" dirty="0" err="1"/>
              <a:t>uts</a:t>
            </a:r>
            <a:r>
              <a:rPr lang="en-US" dirty="0"/>
              <a:t>, mount, </a:t>
            </a:r>
            <a:r>
              <a:rPr lang="en-US" dirty="0" err="1"/>
              <a:t>pid</a:t>
            </a:r>
            <a:r>
              <a:rPr lang="en-US" dirty="0"/>
              <a:t>, network </a:t>
            </a:r>
            <a:r>
              <a:rPr lang="ru-RU" dirty="0"/>
              <a:t>и </a:t>
            </a:r>
            <a:r>
              <a:rPr lang="en-US" dirty="0"/>
              <a:t>user)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Профили </a:t>
            </a:r>
            <a:r>
              <a:rPr lang="en-US" dirty="0" err="1"/>
              <a:t>Apparmor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SELinux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Политики </a:t>
            </a:r>
            <a:r>
              <a:rPr lang="en-US" dirty="0"/>
              <a:t>Seccomp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Chroots (</a:t>
            </a:r>
            <a:r>
              <a:rPr lang="ru-RU" dirty="0"/>
              <a:t>с использованием </a:t>
            </a:r>
            <a:r>
              <a:rPr lang="en-US" dirty="0" err="1"/>
              <a:t>pivot_root</a:t>
            </a:r>
            <a:r>
              <a:rPr lang="en-US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Возможности ядра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CGroups</a:t>
            </a:r>
            <a:r>
              <a:rPr lang="en-US" dirty="0"/>
              <a:t> (</a:t>
            </a:r>
            <a:r>
              <a:rPr lang="ru-RU" dirty="0"/>
              <a:t>контрольные группы)</a:t>
            </a: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28FFC820-C5C1-4984-A542-0BBB82B53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846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AF18A-B747-4211-85A6-97AC9945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Ubuntu"/>
              </a:rPr>
              <a:t>Компоненты </a:t>
            </a:r>
            <a:r>
              <a:rPr lang="en-US" b="0" i="0" dirty="0">
                <a:solidFill>
                  <a:srgbClr val="111111"/>
                </a:solidFill>
                <a:effectLst/>
                <a:latin typeface="Ubuntu"/>
              </a:rPr>
              <a:t>LXC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4195B7-5FBF-477B-B8CB-ACE7095C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Библиотека </a:t>
            </a:r>
            <a:r>
              <a:rPr lang="ru-RU" dirty="0" err="1"/>
              <a:t>liblxc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Несколько языковых привязок для API: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python3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lua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Go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ruby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Haskell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Набор стандартных инструментов для управления контейнерами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Шаблоны контейнеров</a:t>
            </a: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5B04CA8F-92FF-478E-83C0-83942024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458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AD550-D202-40B9-865E-5CA9FAC4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LXD – Linux Container Daemon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5116E-4ED5-4604-ADCC-19F9D383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LXD - это системный контейнер нового поколения и менеджер виртуальных машин. Он предлагает унифицированный пользовательский интерфейс для полных систем Linux, работающих внутри контейнеров или виртуальных машин.</a:t>
            </a: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EA5296BC-E54D-483F-A615-FB422448C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342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AE449-76CB-437C-9497-5BA1CDCE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и виртуальные машины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9C3025C-919A-4807-8645-711C795CF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39624" y="1868109"/>
            <a:ext cx="9312751" cy="4381520"/>
          </a:xfrm>
          <a:prstGeom prst="rect">
            <a:avLst/>
          </a:prstGeom>
        </p:spPr>
      </p:pic>
      <p:pic>
        <p:nvPicPr>
          <p:cNvPr id="5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6797862E-E26F-4709-9EAC-EA7AB27E6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878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71986-3949-4BB0-A311-FB7E92A2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машины </a:t>
            </a:r>
            <a:r>
              <a:rPr lang="en-US" dirty="0"/>
              <a:t>vs</a:t>
            </a:r>
            <a:r>
              <a:rPr lang="ru-RU" dirty="0"/>
              <a:t> системных контейнеров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D53361E-F480-491B-AE6F-FD3FE3316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803" y="1840815"/>
            <a:ext cx="9166393" cy="4359626"/>
          </a:xfrm>
          <a:prstGeom prst="rect">
            <a:avLst/>
          </a:prstGeom>
        </p:spPr>
      </p:pic>
      <p:pic>
        <p:nvPicPr>
          <p:cNvPr id="5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3A7A6DC7-0B2A-428F-B7A3-1DF7A1245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337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EC741-9A9E-45EB-8C0C-AE1DAB8D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LXD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0B7766-FD72-496F-B8B4-85BD0CF56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205" y="1605424"/>
            <a:ext cx="11464120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API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Безопасный дизайн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(за счет непривилегированных контейнеров, ограничений ресурсов, аутентификации и т. д.)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понятный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(с простым, понятным API и четкой командной строкой)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(от контейнеров на вашем ноутбуке до кластеров из тысяч вычислительных узлов)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событий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(обеспечение регистрации, операций и событий жизненного цикла)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Удаленное использование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(тот же API, что и для локального и сетевого доступа)</a:t>
            </a:r>
          </a:p>
          <a:p>
            <a:pPr marL="285750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проекта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(как способ разделения наборов изображений и профилей)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Экземпляры и профили</a:t>
            </a:r>
          </a:p>
          <a:p>
            <a:pPr marL="2857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</a:t>
            </a:r>
            <a:r>
              <a:rPr lang="en-US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(с образами для самых разных дистрибутивов Linux, публикуются ежедневно)</a:t>
            </a:r>
          </a:p>
          <a:p>
            <a:pPr marL="2857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(наиболее полная реализация экземпляров LXD)</a:t>
            </a:r>
          </a:p>
          <a:p>
            <a:pPr marL="2857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Виртуальные машины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(реализовано с помощью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qemu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ru-RU" altLang="ru-RU" sz="1800" dirty="0">
                <a:solidFill>
                  <a:srgbClr val="007A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Настраивается с помощью профилей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(применимо как к контейнерам, так и к виртуальным машинам)</a:t>
            </a:r>
          </a:p>
        </p:txBody>
      </p:sp>
      <p:pic>
        <p:nvPicPr>
          <p:cNvPr id="5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5C9C1806-E721-4E91-B77B-B964D0288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209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EC741-9A9E-45EB-8C0C-AE1DAB8D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LXD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0B7766-FD72-496F-B8B4-85BD0CF56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153" y="2110403"/>
            <a:ext cx="11464120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и экспорт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 и восстановление (для всех объектов, управляемых LXD)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(для сохранения и восстановления состояния экземпляра)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контейнеров и образов (между разными хостами с использованием образов)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Живая миграция (с использованием CRIU)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Конфигурируемость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бэкэндов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хранения (с настраиваемыми пулами хранения и томами хранения)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сетью (включая создание и настройку моста, туннели между хостами, ...)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Расширенное управление ресурсами (ЦП, память, сетевой ввод-вывод, блочный ввод-вывод, использование диска и ресурсы ядра)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Сквозная передача устройств (USB, GPU, символьные и блочные устройства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сетевые карты, диски и пути)</a:t>
            </a:r>
          </a:p>
        </p:txBody>
      </p:sp>
      <p:pic>
        <p:nvPicPr>
          <p:cNvPr id="5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592A273C-FF48-4AB4-A301-3116A8861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66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903BC-9336-4A16-8894-F01077DD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LXCFS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DA7239-CC35-4806-8A38-57212E8D7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LXCFS - это файловая система пользовательского пространства (FUSE), которая предлагает: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Наложение файлов для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Ubuntu"/>
              </a:rPr>
              <a:t>cpuinfo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,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Ubuntu"/>
              </a:rPr>
              <a:t>meminfo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,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Ubuntu"/>
              </a:rPr>
              <a:t>stat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 и </a:t>
            </a:r>
            <a:r>
              <a:rPr lang="en-US" sz="2000" b="0" i="0" dirty="0">
                <a:solidFill>
                  <a:srgbClr val="111111"/>
                </a:solidFill>
                <a:effectLst/>
                <a:latin typeface="Ubuntu"/>
              </a:rPr>
              <a:t>uptime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Дерево, совместимое с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Ubuntu"/>
              </a:rPr>
              <a:t>cgroupfs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Ubuntu"/>
              </a:rPr>
              <a:t>, допускающее непривилегированную запись.</a:t>
            </a:r>
          </a:p>
          <a:p>
            <a:endParaRPr lang="ru-RU" sz="2000" dirty="0"/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357B5B27-2124-426C-994A-E3C8043F9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507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BAAAB-199E-4A58-9D83-F2A30D21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F4623-9247-4E6F-A104-F83CE0AF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06" y="1598802"/>
            <a:ext cx="10780594" cy="4894073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lxc-create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создать новый контейнер LXC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lxc-start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запустить контейнер LXC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fontAlgn="auto">
              <a:lnSpc>
                <a:spcPct val="17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None/>
              <a:tabLst/>
              <a:defRPr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lxc-console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подключиться к консоли указанного контейнера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1813" marR="0" lvl="0" indent="-531813" fontAlgn="auto">
              <a:lnSpc>
                <a:spcPct val="17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None/>
              <a:tabLst/>
              <a:defRPr/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-attach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запустить указанную программу внутри контейнера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(NOT SUPPORTED) Run a command in a running container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lxc-destroy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уничтожения контейнера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fontAlgn="auto">
              <a:lnSpc>
                <a:spcPct val="17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None/>
              <a:tabLst/>
              <a:defRPr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lxc-stop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остановить процесс, работающий внутри контейнера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lxc-execute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выполнить указанную команду внутри контейнера (в чём отличие от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lxc-attach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lxc-monitor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мониторить состояние контейнеров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fontAlgn="auto">
              <a:lnSpc>
                <a:spcPct val="170000"/>
              </a:lnSpc>
              <a:spcBef>
                <a:spcPts val="0"/>
              </a:spcBef>
              <a:spcAft>
                <a:spcPts val="120"/>
              </a:spcAft>
              <a:buClrTx/>
              <a:buSz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C2BE0A16-3761-443F-B41C-127D61D2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93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BAAAB-199E-4A58-9D83-F2A30D21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F4623-9247-4E6F-A104-F83CE0AF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06" y="1598802"/>
            <a:ext cx="10780594" cy="48940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lxc-wait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ждать определённого состояния контейнера; завершаться, когда состояние достигнуто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lxc-cgroup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cgroup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-группами контейнера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"/>
              </a:spcAft>
              <a:buNone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lxc-ls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показать список контейнеров в системе</a:t>
            </a:r>
          </a:p>
          <a:p>
            <a:pPr marL="0" indent="0">
              <a:lnSpc>
                <a:spcPct val="150000"/>
              </a:lnSpc>
              <a:spcAft>
                <a:spcPts val="120"/>
              </a:spcAft>
              <a:buNone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lxc-ps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показать список процессов внутри определённого контейнера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120"/>
              </a:spcAft>
              <a:buNone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lxc-info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показать информацию о заданном контейнере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120"/>
              </a:spcAft>
              <a:buNone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lxc-freeze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заморозить все процессы указанного контейнера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120"/>
              </a:spcAft>
              <a:buNone/>
            </a:pP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lxc-unfreeze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разморозить все процессы указанного контейнера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450215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20"/>
              </a:spcAft>
              <a:buClrTx/>
              <a:buSzTx/>
              <a:buFontTx/>
              <a:buNone/>
              <a:tabLst/>
              <a:defRPr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89036C34-C78F-4BC3-BAC3-B29CD8EBE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388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AE6AD-98EA-4EA7-9F6D-8390C92B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директорий, используемых механизмом LXC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5C0EF6-DCB8-426E-B3D0-3ED81891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ru-RU" sz="2000" dirty="0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000" b="0" i="0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ля привилегированного пользователя (</a:t>
            </a:r>
            <a:r>
              <a:rPr lang="en-US" sz="2000" b="0" i="0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/var/lib/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директория где хранятся контейнеры и их настройки;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/default/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-net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сетевой подсистемы;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var/cache/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скачиваемые образы файловых систем ОС;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var/lib/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lxcsnaps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хранятся </a:t>
            </a:r>
            <a:r>
              <a:rPr lang="ru-RU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снапшоты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var/log/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/share/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/templates/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шаблоны.</a:t>
            </a:r>
          </a:p>
          <a:p>
            <a:pPr algn="l"/>
            <a:r>
              <a:rPr lang="ru-RU" sz="2000" b="0" i="0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НЕ привилегированного пользователя: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~/.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local/share/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директория где хранятся контейнеры и их настройки;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~/.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 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~/.cache/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скачиваемые образы файловых систем ОС;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~/.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local/share/</a:t>
            </a:r>
            <a:r>
              <a:rPr lang="en-US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lxcsnaps</a:t>
            </a:r>
            <a:r>
              <a:rPr lang="en-US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тут хранятся </a:t>
            </a:r>
            <a:r>
              <a:rPr lang="ru-RU" sz="2000" b="0" i="0" dirty="0" err="1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снапшоты</a:t>
            </a:r>
            <a:r>
              <a:rPr lang="ru-RU" sz="2000" b="0" i="0" dirty="0">
                <a:solidFill>
                  <a:srgbClr val="004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6D6309F4-5E31-4A14-AF2B-06A6BFBA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597" y="230188"/>
            <a:ext cx="2491709" cy="112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680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8CEE1-305C-4E87-AD8E-951CEBB1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Конфигурационный файл контейнера </a:t>
            </a:r>
            <a:br>
              <a:rPr lang="ru-RU" dirty="0"/>
            </a:br>
            <a:r>
              <a:rPr lang="ru-RU" dirty="0"/>
              <a:t>и его опции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649216-F52A-40B7-A08D-846C0B8B4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Конфигурационные файлы контейнеров носят имя '</a:t>
            </a:r>
            <a:r>
              <a:rPr lang="ru-RU" b="0" i="0" dirty="0" err="1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ru-RU" b="0" i="0" dirty="0">
                <a:solidFill>
                  <a:srgbClr val="0E0E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 и хранятся в директориях соответствующих контейнеров. Например, путь к конфигурационному файлу контейнера 'container1' для привилегированного пользователя - </a:t>
            </a:r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'/</a:t>
            </a:r>
            <a:r>
              <a:rPr lang="ru-RU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lxc</a:t>
            </a:r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/container1/</a:t>
            </a:r>
            <a:r>
              <a:rPr lang="ru-RU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ru-RU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  <a:endParaRPr lang="ru-RU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ÐÐ°ÑÑÐ¸Ð½ÐºÐ¸ Ð¿Ð¾ Ð·Ð°Ð¿ÑÐ¾ÑÑ LXD">
            <a:extLst>
              <a:ext uri="{FF2B5EF4-FFF2-40B4-BE49-F238E27FC236}">
                <a16:creationId xmlns:a16="http://schemas.microsoft.com/office/drawing/2014/main" id="{67565136-0ACB-4457-A273-82F65773F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638" y="4490835"/>
            <a:ext cx="3723292" cy="168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103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732D5-88EC-4EF5-BBF1-0886857B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EC0E7-E58D-4EF2-91CF-55A6A383A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Docker</a:t>
            </a:r>
            <a:r>
              <a:rPr lang="ru-RU" dirty="0"/>
              <a:t> — программное обеспечение для автоматизации развёртывания и управления приложениями в средах с поддержкой контейнеризации, </a:t>
            </a:r>
            <a:r>
              <a:rPr lang="ru-RU" dirty="0" err="1"/>
              <a:t>контейнеризатор</a:t>
            </a:r>
            <a:r>
              <a:rPr lang="ru-RU" dirty="0"/>
              <a:t> приложений.</a:t>
            </a:r>
          </a:p>
          <a:p>
            <a:pPr marL="0" indent="355600" algn="just">
              <a:buNone/>
            </a:pPr>
            <a:r>
              <a:rPr lang="ru-RU" dirty="0"/>
              <a:t>Позволяет «упаковать» приложение со всем его окружением и зависимостями в контейнер, который может быть развёрнут на любой Linux-системе с поддержкой </a:t>
            </a:r>
            <a:r>
              <a:rPr lang="ru-RU" dirty="0" err="1"/>
              <a:t>cgroups</a:t>
            </a:r>
            <a:r>
              <a:rPr lang="ru-RU" dirty="0"/>
              <a:t> в ядре, а также предоставляет набор команд для управления этими контейнерами.</a:t>
            </a:r>
          </a:p>
          <a:p>
            <a:pPr marL="0" indent="355600" algn="just">
              <a:buNone/>
            </a:pPr>
            <a:r>
              <a:rPr lang="ru-RU" dirty="0"/>
              <a:t>Изначально использовал возможности LXC, с 2015 года начал использовать собственную библиотеку, абстрагирующую </a:t>
            </a:r>
            <a:r>
              <a:rPr lang="ru-RU" dirty="0" err="1"/>
              <a:t>виртуализационные</a:t>
            </a:r>
            <a:r>
              <a:rPr lang="ru-RU" dirty="0"/>
              <a:t> возможности ядра Linux — </a:t>
            </a:r>
            <a:r>
              <a:rPr lang="ru-RU" dirty="0" err="1"/>
              <a:t>libcontainer</a:t>
            </a:r>
            <a:r>
              <a:rPr lang="ru-RU" dirty="0"/>
              <a:t>. С появлением Open </a:t>
            </a:r>
            <a:r>
              <a:rPr lang="ru-RU" dirty="0" err="1"/>
              <a:t>Container</a:t>
            </a:r>
            <a:r>
              <a:rPr lang="ru-RU" dirty="0"/>
              <a:t> Initiative начался переход от монолитной к модульной архитектуре.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A7693E-9601-4DAA-B834-D1777B51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32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36945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431371" y="1415891"/>
            <a:ext cx="7613420" cy="501732"/>
            <a:chOff x="448467" y="1348196"/>
            <a:chExt cx="7613419" cy="501731"/>
          </a:xfrm>
        </p:grpSpPr>
        <p:sp>
          <p:nvSpPr>
            <p:cNvPr id="5" name="TextBox 4"/>
            <p:cNvSpPr txBox="1"/>
            <p:nvPr/>
          </p:nvSpPr>
          <p:spPr>
            <a:xfrm>
              <a:off x="1061200" y="1348196"/>
              <a:ext cx="7000686" cy="437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04792">
                <a:lnSpc>
                  <a:spcPct val="115000"/>
                </a:lnSpc>
                <a:buClr>
                  <a:schemeClr val="lt2"/>
                </a:buClr>
                <a:buSzPct val="25000"/>
              </a:pPr>
              <a:r>
                <a:rPr lang="ru-RU" sz="2133" dirty="0"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Быстрая доставка приложений</a:t>
              </a:r>
              <a:endParaRPr lang="en" sz="2133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48467" y="1385345"/>
              <a:ext cx="464582" cy="464582"/>
              <a:chOff x="448467" y="1385718"/>
              <a:chExt cx="464582" cy="46458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48467" y="1385718"/>
                <a:ext cx="464582" cy="464582"/>
              </a:xfrm>
              <a:prstGeom prst="ellipse">
                <a:avLst/>
              </a:prstGeom>
              <a:solidFill>
                <a:srgbClr val="2FC2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10609" y="1427190"/>
                <a:ext cx="336952" cy="411330"/>
              </a:xfrm>
              <a:prstGeom prst="rect">
                <a:avLst/>
              </a:prstGeom>
              <a:noFill/>
            </p:spPr>
            <p:txBody>
              <a:bodyPr wrap="none" tIns="36576" rtlCol="0">
                <a:spAutoFit/>
              </a:bodyPr>
              <a:lstStyle/>
              <a:p>
                <a:pPr algn="ctr"/>
                <a:r>
                  <a:rPr lang="en-US" sz="2133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431370" y="2285681"/>
            <a:ext cx="8256495" cy="491819"/>
            <a:chOff x="448467" y="1358109"/>
            <a:chExt cx="7544036" cy="491818"/>
          </a:xfrm>
        </p:grpSpPr>
        <p:sp>
          <p:nvSpPr>
            <p:cNvPr id="10" name="TextBox 9"/>
            <p:cNvSpPr txBox="1"/>
            <p:nvPr/>
          </p:nvSpPr>
          <p:spPr>
            <a:xfrm>
              <a:off x="1061202" y="1358109"/>
              <a:ext cx="6931301" cy="43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04792">
                <a:lnSpc>
                  <a:spcPct val="115000"/>
                </a:lnSpc>
                <a:spcBef>
                  <a:spcPts val="2133"/>
                </a:spcBef>
                <a:buClr>
                  <a:schemeClr val="lt2"/>
                </a:buClr>
                <a:buSzPct val="25000"/>
              </a:pPr>
              <a:r>
                <a:rPr lang="ru-RU" sz="2133" dirty="0"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Простое развертывание и масштабирование приложений</a:t>
              </a:r>
              <a:endParaRPr lang="en" sz="2133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48467" y="1385345"/>
              <a:ext cx="464582" cy="464582"/>
              <a:chOff x="448467" y="1385718"/>
              <a:chExt cx="464582" cy="464582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448467" y="1385718"/>
                <a:ext cx="464582" cy="464582"/>
              </a:xfrm>
              <a:prstGeom prst="ellipse">
                <a:avLst/>
              </a:prstGeom>
              <a:solidFill>
                <a:srgbClr val="2FC2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25147" y="1427189"/>
                <a:ext cx="307876" cy="411330"/>
              </a:xfrm>
              <a:prstGeom prst="rect">
                <a:avLst/>
              </a:prstGeom>
              <a:noFill/>
            </p:spPr>
            <p:txBody>
              <a:bodyPr wrap="none" tIns="36576" rtlCol="0">
                <a:spAutoFit/>
              </a:bodyPr>
              <a:lstStyle/>
              <a:p>
                <a:pPr algn="ctr"/>
                <a:r>
                  <a:rPr lang="en-US" sz="2133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453343" y="3172791"/>
            <a:ext cx="7544037" cy="491820"/>
            <a:chOff x="448467" y="1358108"/>
            <a:chExt cx="7544035" cy="491819"/>
          </a:xfrm>
        </p:grpSpPr>
        <p:sp>
          <p:nvSpPr>
            <p:cNvPr id="15" name="TextBox 14"/>
            <p:cNvSpPr txBox="1"/>
            <p:nvPr/>
          </p:nvSpPr>
          <p:spPr>
            <a:xfrm>
              <a:off x="1061201" y="1358108"/>
              <a:ext cx="6931301" cy="420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133" dirty="0">
                  <a:latin typeface="Arial" panose="020B0604020202020204" pitchFamily="34" charset="0"/>
                  <a:cs typeface="Arial" panose="020B0604020202020204" pitchFamily="34" charset="0"/>
                </a:rPr>
                <a:t>Абстрагирование приложение от хоста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448467" y="1385345"/>
              <a:ext cx="464582" cy="464582"/>
              <a:chOff x="448467" y="1385718"/>
              <a:chExt cx="464582" cy="464582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8467" y="1385718"/>
                <a:ext cx="464582" cy="464582"/>
              </a:xfrm>
              <a:prstGeom prst="ellipse">
                <a:avLst/>
              </a:prstGeom>
              <a:solidFill>
                <a:srgbClr val="2FC2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10609" y="1427189"/>
                <a:ext cx="336952" cy="411330"/>
              </a:xfrm>
              <a:prstGeom prst="rect">
                <a:avLst/>
              </a:prstGeom>
              <a:noFill/>
            </p:spPr>
            <p:txBody>
              <a:bodyPr wrap="none" tIns="36576" rtlCol="0">
                <a:spAutoFit/>
              </a:bodyPr>
              <a:lstStyle/>
              <a:p>
                <a:pPr algn="ctr"/>
                <a:r>
                  <a:rPr lang="ru-RU" sz="2133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2133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8" y="2973593"/>
            <a:ext cx="4381979" cy="3425911"/>
          </a:xfrm>
          <a:prstGeom prst="rect">
            <a:avLst/>
          </a:prstGeom>
        </p:spPr>
      </p:pic>
      <p:grpSp>
        <p:nvGrpSpPr>
          <p:cNvPr id="21" name="Group 13">
            <a:extLst>
              <a:ext uri="{FF2B5EF4-FFF2-40B4-BE49-F238E27FC236}">
                <a16:creationId xmlns:a16="http://schemas.microsoft.com/office/drawing/2014/main" id="{DE69DE43-406B-43A1-951D-A1C280B8796D}"/>
              </a:ext>
            </a:extLst>
          </p:cNvPr>
          <p:cNvGrpSpPr/>
          <p:nvPr/>
        </p:nvGrpSpPr>
        <p:grpSpPr>
          <a:xfrm>
            <a:off x="475356" y="3925804"/>
            <a:ext cx="7544037" cy="491820"/>
            <a:chOff x="448467" y="1358108"/>
            <a:chExt cx="7544036" cy="49181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1E07EA-6C39-487C-9896-F889EFFDFFBE}"/>
                </a:ext>
              </a:extLst>
            </p:cNvPr>
            <p:cNvSpPr txBox="1"/>
            <p:nvPr/>
          </p:nvSpPr>
          <p:spPr>
            <a:xfrm>
              <a:off x="1061202" y="1358108"/>
              <a:ext cx="6931301" cy="437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04792">
                <a:lnSpc>
                  <a:spcPct val="115000"/>
                </a:lnSpc>
                <a:spcBef>
                  <a:spcPts val="2133"/>
                </a:spcBef>
                <a:buClr>
                  <a:schemeClr val="lt2"/>
                </a:buClr>
                <a:buSzPct val="25000"/>
              </a:pPr>
              <a:r>
                <a:rPr lang="ru-RU" sz="2133" dirty="0"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Унифицированный </a:t>
              </a:r>
              <a:r>
                <a:rPr lang="ru-RU" sz="2133" dirty="0" err="1">
                  <a:latin typeface="Arial" panose="020B0604020202020204" pitchFamily="34" charset="0"/>
                  <a:ea typeface="Arial"/>
                  <a:cs typeface="Arial" panose="020B0604020202020204" pitchFamily="34" charset="0"/>
                  <a:sym typeface="Arial"/>
                </a:rPr>
                <a:t>деплой</a:t>
              </a:r>
              <a:endParaRPr lang="en" sz="2133" dirty="0"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grpSp>
          <p:nvGrpSpPr>
            <p:cNvPr id="23" name="Group 15">
              <a:extLst>
                <a:ext uri="{FF2B5EF4-FFF2-40B4-BE49-F238E27FC236}">
                  <a16:creationId xmlns:a16="http://schemas.microsoft.com/office/drawing/2014/main" id="{83503D50-4CAA-4AD6-BE48-000B364D3CD3}"/>
                </a:ext>
              </a:extLst>
            </p:cNvPr>
            <p:cNvGrpSpPr/>
            <p:nvPr/>
          </p:nvGrpSpPr>
          <p:grpSpPr>
            <a:xfrm>
              <a:off x="448467" y="1385345"/>
              <a:ext cx="464582" cy="464582"/>
              <a:chOff x="448467" y="1385718"/>
              <a:chExt cx="464582" cy="464582"/>
            </a:xfrm>
          </p:grpSpPr>
          <p:sp>
            <p:nvSpPr>
              <p:cNvPr id="24" name="Oval 17">
                <a:extLst>
                  <a:ext uri="{FF2B5EF4-FFF2-40B4-BE49-F238E27FC236}">
                    <a16:creationId xmlns:a16="http://schemas.microsoft.com/office/drawing/2014/main" id="{2F5640AD-683D-4382-8FA8-43F29A30EA9A}"/>
                  </a:ext>
                </a:extLst>
              </p:cNvPr>
              <p:cNvSpPr/>
              <p:nvPr/>
            </p:nvSpPr>
            <p:spPr>
              <a:xfrm>
                <a:off x="448467" y="1385718"/>
                <a:ext cx="464582" cy="464582"/>
              </a:xfrm>
              <a:prstGeom prst="ellipse">
                <a:avLst/>
              </a:prstGeom>
              <a:solidFill>
                <a:srgbClr val="2FC2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670E79E-9ED6-46FC-86E7-9288563FF1A6}"/>
                  </a:ext>
                </a:extLst>
              </p:cNvPr>
              <p:cNvSpPr txBox="1"/>
              <p:nvPr/>
            </p:nvSpPr>
            <p:spPr>
              <a:xfrm>
                <a:off x="510609" y="1427190"/>
                <a:ext cx="336952" cy="411330"/>
              </a:xfrm>
              <a:prstGeom prst="rect">
                <a:avLst/>
              </a:prstGeom>
              <a:noFill/>
            </p:spPr>
            <p:txBody>
              <a:bodyPr wrap="none" tIns="36576" rtlCol="0">
                <a:spAutoFit/>
              </a:bodyPr>
              <a:lstStyle/>
              <a:p>
                <a:pPr algn="ctr"/>
                <a:r>
                  <a:rPr lang="en-US" sz="2133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sp>
        <p:nvSpPr>
          <p:cNvPr id="28" name="Rectangle 27"/>
          <p:cNvSpPr/>
          <p:nvPr/>
        </p:nvSpPr>
        <p:spPr>
          <a:xfrm>
            <a:off x="0" y="6424653"/>
            <a:ext cx="1166192" cy="43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Прямоугольник 25"/>
          <p:cNvSpPr/>
          <p:nvPr/>
        </p:nvSpPr>
        <p:spPr>
          <a:xfrm>
            <a:off x="5129485" y="3244334"/>
            <a:ext cx="1933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Контейнеризация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5129485" y="3244334"/>
            <a:ext cx="1933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Контейнеризация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73666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EF244-AAFD-42C5-9068-3F2EBA9C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Главные компоненты 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Docker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B9C042-7121-4F27-9128-C868B26F1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  <p:pic>
        <p:nvPicPr>
          <p:cNvPr id="2050" name="Picture 2" descr="Компоненты Dock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676399"/>
            <a:ext cx="8153400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782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6C1FA-F522-4224-AB2B-90351F79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VM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67D946-46EA-4B0B-82AA-5CDE84872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контейнер может быть перемещен на любую ОС с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-службой на борту и контейнер будет работать. </a:t>
            </a:r>
          </a:p>
          <a:p>
            <a:endParaRPr lang="ru-RU" sz="2400" b="0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самодостаточность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контейнер будет выполнять свои функции в любом месте, где бы его не запустили.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0A0540-77D4-41A2-AF37-AF318A69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34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181CD-047A-47D3-9418-E2E69BAE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в контейнерах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8479C-D2A5-4BFF-831B-B3895908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 живет, пока живет процесс, вокруг которого рождается контейнер.</a:t>
            </a:r>
          </a:p>
          <a:p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контейнера этот процесс имеет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  <a:p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Рядом с процессом с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 можно порождать сколько угодно других процессов (в пределах возможностей ОС), но убив (перезапустив) именно процесс с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=1, контейнер выходит. </a:t>
            </a:r>
          </a:p>
          <a:p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контейнера увидите привычное согласно стандартам FHS расположение директорий. Расположение это идентично исходному дистрибутиву (с которого взят контейнер).</a:t>
            </a:r>
          </a:p>
          <a:p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Данные, создаваемые внутри контейнера остаются в контейнере и нигде более не сохраняются.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C8B3E5-3ED2-46F9-B131-424301C8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68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6FE89-F8C0-4A8C-8DDC-08349A02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AE1A7C-42E3-428B-BCEC-82558E7C7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образы (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images)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реестр (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registries)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контейнеры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362F73-3D03-4D37-B3C1-E047E073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859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61347-ACDD-4BF8-AC4D-9F98AFDD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/>
              <a:t>Docker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6EA038-36A3-4784-8A53-AF28A742D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Создавать образы, в которых находятся приложения;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Создавать контейнеры из образов, для запуска приложений;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Распространять образы через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Hub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или другой реестр образов.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E5076F-288C-4693-83DD-E9C3F1D27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91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6F736-9CCE-4D7D-BBAF-1741EF85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D97CB6-BAA2-4641-9668-430A56A1E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Пространство имен(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namespaces)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Control groups (</a:t>
            </a: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контрольные группы)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Union File System</a:t>
            </a:r>
          </a:p>
          <a:p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Форматы контейнеров 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LXC</a:t>
            </a:r>
            <a:endParaRPr lang="ru-RU" b="0" i="0" dirty="0">
              <a:solidFill>
                <a:srgbClr val="111111"/>
              </a:solidFill>
              <a:effectLst/>
              <a:latin typeface="Fira Sans" panose="020B0503050000020004" pitchFamily="34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725B65-DB99-4A99-9E08-2841FEC4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87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9E47B-3F23-469B-9829-BEB6C3A7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5C17C-6543-49F3-8361-6700D6535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В файлах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Dockerfile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содержатся инструкции по созданию образа.</a:t>
            </a:r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endParaRPr lang="en-US" dirty="0">
              <a:solidFill>
                <a:srgbClr val="111111"/>
              </a:solidFill>
              <a:latin typeface="-apple-system"/>
            </a:endParaRP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python:3.7.2-alpine3.8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maintainer=“myemail@mail.org"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 ADMIN=“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&amp;&amp;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upgrade &amp;&amp;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bash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. ./app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https://itmo.ru/file/pages/220/Ustav_ITMO_No_1358_28.12.2018.pdf \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my_app_directory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["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a_directory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pPr marL="914400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 ["python", "./my_script.py"]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6E0661-4D7F-4432-B670-742928C88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58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2BE2DA-ABFD-4AAC-A3FB-1FBBE738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</a:t>
            </a:r>
            <a:r>
              <a:rPr lang="en-US" dirty="0" err="1"/>
              <a:t>Dockerfile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B11B73-929A-46B5-9C3F-18DF542A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44284" cy="5032375"/>
          </a:xfrm>
        </p:spPr>
        <p:txBody>
          <a:bodyPr>
            <a:norm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— задаёт базовый (родительский) образ.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— описывает метаданные. Например — сведения о том, кто создал и поддерживает образ.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 — устанавливает постоянные переменные среды.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— выполняет команду и создаёт слой образа. Используется для установки в контейнер пакетов.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— копирует в контейнер файлы и папки.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— копирует файлы и папки в контейнер, может распаковывать локальные .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-файлы.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 — описывает команду с аргументами, которую нужно выполнить когда контейнер будет запущен. Аргументы могут быть переопределены при запуске контейнера. В файле может присутствовать лишь одна инструкция CMD.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WORKDIR — задаёт рабочую директорию для следующей инструкции.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 — задаёт переменные для передачи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 время сборки образа.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ENTRYPOINT — предоставляет команду с аргументами для вызова во время выполнения контейнера. Аргументы не переопределяются.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 — указывает на необходимость открыть порт.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— создаёт точку монтирования для работы с постоянным хранилищем.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B10B41-3089-420F-9CF9-B32136415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2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21FCE-66E5-457D-A4B0-14E10C81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A205D-DBA5-424A-B6C1-367DBAE9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400" b="0" i="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средство, разработанное для помощи в определении и совместном использовании </a:t>
            </a:r>
            <a:r>
              <a:rPr lang="ru-RU" sz="2400" b="0" i="0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многоконтейнерных</a:t>
            </a:r>
            <a:r>
              <a:rPr lang="ru-RU" sz="2400" b="0" i="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приложений. С помощью средства </a:t>
            </a:r>
            <a:r>
              <a:rPr lang="ru-RU" sz="2400" b="0" i="0" dirty="0" err="1">
                <a:solidFill>
                  <a:srgbClr val="1717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400" b="0" i="0" dirty="0">
                <a:solidFill>
                  <a:srgbClr val="1717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можно создать файл YAML для определения служб и с помощью одной команды запускать и останавливать все, что нужно.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30AAC9-3335-40F5-9104-A04DA072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26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5D3FB-433E-4BB6-830A-60A00DCF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C4A1D-1AC0-40FA-BE6B-1E1391381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4776"/>
            <a:ext cx="10762398" cy="53226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version: "3.7"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app: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image: node:12-alpine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command: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-c "yarn install &amp;&amp; yarn run dev"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ports: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- 3000:3000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working_dir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/app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volumes: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./:/app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environment: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MYSQL_HOST: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MYSQL_USER: root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MYSQL_PASSWORD: secret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MYSQL_DB: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todos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068B6D-4E69-4E1A-BA36-B7A72BDC7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16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667E7-7440-4072-A092-79283358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Тенденция внедрения Контейнеров</a:t>
            </a:r>
          </a:p>
        </p:txBody>
      </p:sp>
      <p:pic>
        <p:nvPicPr>
          <p:cNvPr id="11266" name="Picture 2" descr="Image title">
            <a:extLst>
              <a:ext uri="{FF2B5EF4-FFF2-40B4-BE49-F238E27FC236}">
                <a16:creationId xmlns:a16="http://schemas.microsoft.com/office/drawing/2014/main" id="{1F7C5F7F-1293-45AA-8912-A1335B61EE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546" y="1929317"/>
            <a:ext cx="8468907" cy="414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E9713E-5513-4C4E-B997-9CFE90D0C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31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7C7A0-4D6A-4FF5-B765-AD2E5E69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управления </a:t>
            </a:r>
            <a:r>
              <a:rPr lang="en-US" dirty="0"/>
              <a:t>Docker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3338BC9-938C-4B97-A46F-61483B7C8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946304"/>
              </p:ext>
            </p:extLst>
          </p:nvPr>
        </p:nvGraphicFramePr>
        <p:xfrm>
          <a:off x="1517176" y="2019638"/>
          <a:ext cx="9157648" cy="3350698"/>
        </p:xfrm>
        <a:graphic>
          <a:graphicData uri="http://schemas.openxmlformats.org/drawingml/2006/table">
            <a:tbl>
              <a:tblPr/>
              <a:tblGrid>
                <a:gridCol w="2662269">
                  <a:extLst>
                    <a:ext uri="{9D8B030D-6E8A-4147-A177-3AD203B41FA5}">
                      <a16:colId xmlns:a16="http://schemas.microsoft.com/office/drawing/2014/main" val="2408818887"/>
                    </a:ext>
                  </a:extLst>
                </a:gridCol>
                <a:gridCol w="6495379">
                  <a:extLst>
                    <a:ext uri="{9D8B030D-6E8A-4147-A177-3AD203B41FA5}">
                      <a16:colId xmlns:a16="http://schemas.microsoft.com/office/drawing/2014/main" val="82333098"/>
                    </a:ext>
                  </a:extLst>
                </a:gridCol>
              </a:tblGrid>
              <a:tr h="406050"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23352"/>
                  </a:ext>
                </a:extLst>
              </a:tr>
              <a:tr h="406050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dockerd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Запускает демона </a:t>
                      </a: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947487"/>
                  </a:ext>
                </a:extLst>
              </a:tr>
              <a:tr h="71058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info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Отображение информации о системе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071402"/>
                  </a:ext>
                </a:extLst>
              </a:tr>
              <a:tr h="1015124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inspect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Возвращает информацию низкого уровня о контейнере или образе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48319"/>
                  </a:ext>
                </a:extLst>
              </a:tr>
              <a:tr h="71058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version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Показывает информацию о версии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46318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E83090-A2F1-4EAA-8B7E-B96C684B4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731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8619A-0060-41BE-A91A-F9D08000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4B7413C-1180-4A7A-BCC4-6CC4CCE9F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814667"/>
              </p:ext>
            </p:extLst>
          </p:nvPr>
        </p:nvGraphicFramePr>
        <p:xfrm>
          <a:off x="1078174" y="1329122"/>
          <a:ext cx="9553432" cy="5163753"/>
        </p:xfrm>
        <a:graphic>
          <a:graphicData uri="http://schemas.openxmlformats.org/drawingml/2006/table">
            <a:tbl>
              <a:tblPr/>
              <a:tblGrid>
                <a:gridCol w="2893325">
                  <a:extLst>
                    <a:ext uri="{9D8B030D-6E8A-4147-A177-3AD203B41FA5}">
                      <a16:colId xmlns:a16="http://schemas.microsoft.com/office/drawing/2014/main" val="3563934992"/>
                    </a:ext>
                  </a:extLst>
                </a:gridCol>
                <a:gridCol w="6660107">
                  <a:extLst>
                    <a:ext uri="{9D8B030D-6E8A-4147-A177-3AD203B41FA5}">
                      <a16:colId xmlns:a16="http://schemas.microsoft.com/office/drawing/2014/main" val="2699897782"/>
                    </a:ext>
                  </a:extLst>
                </a:gridCol>
              </a:tblGrid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739778"/>
                  </a:ext>
                </a:extLst>
              </a:tr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build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Собирает образ из </a:t>
                      </a: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Dockerfile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783356"/>
                  </a:ext>
                </a:extLst>
              </a:tr>
              <a:tr h="56128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commit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Создает новый образ из измененного контейнера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937964"/>
                  </a:ext>
                </a:extLst>
              </a:tr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history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Отображает историю образа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696360"/>
                  </a:ext>
                </a:extLst>
              </a:tr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images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Список образов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937313"/>
                  </a:ext>
                </a:extLst>
              </a:tr>
              <a:tr h="80275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import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Импортировать содержимое из архива, чтобы создать образ файловой системы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051099"/>
                  </a:ext>
                </a:extLst>
              </a:tr>
              <a:tr h="56128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load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Загрузить образ из архива или STDIN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524538"/>
                  </a:ext>
                </a:extLst>
              </a:tr>
              <a:tr h="56128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rmi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Удаляет один или несколько образов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968223"/>
                  </a:ext>
                </a:extLst>
              </a:tr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save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Сохраняет образ в архив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82130"/>
                  </a:ext>
                </a:extLst>
              </a:tr>
              <a:tr h="31981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tag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Указать тег для образа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123369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CD40C3-1D73-4026-9737-FC941B00F0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44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AF7A0-ADB9-43CA-A9D8-ADAE2B66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777"/>
            <a:ext cx="10515600" cy="1325563"/>
          </a:xfrm>
        </p:spPr>
        <p:txBody>
          <a:bodyPr/>
          <a:lstStyle/>
          <a:p>
            <a:r>
              <a:rPr lang="ru-RU" dirty="0"/>
              <a:t>Контейнеры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2437352-02A4-4321-9165-12CE820B9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60113"/>
              </p:ext>
            </p:extLst>
          </p:nvPr>
        </p:nvGraphicFramePr>
        <p:xfrm>
          <a:off x="1141862" y="1123056"/>
          <a:ext cx="10854520" cy="5734944"/>
        </p:xfrm>
        <a:graphic>
          <a:graphicData uri="http://schemas.openxmlformats.org/drawingml/2006/table">
            <a:tbl>
              <a:tblPr/>
              <a:tblGrid>
                <a:gridCol w="2227720">
                  <a:extLst>
                    <a:ext uri="{9D8B030D-6E8A-4147-A177-3AD203B41FA5}">
                      <a16:colId xmlns:a16="http://schemas.microsoft.com/office/drawing/2014/main" val="2345281657"/>
                    </a:ext>
                  </a:extLst>
                </a:gridCol>
                <a:gridCol w="8626800">
                  <a:extLst>
                    <a:ext uri="{9D8B030D-6E8A-4147-A177-3AD203B41FA5}">
                      <a16:colId xmlns:a16="http://schemas.microsoft.com/office/drawing/2014/main" val="3538356334"/>
                    </a:ext>
                  </a:extLst>
                </a:gridCol>
              </a:tblGrid>
              <a:tr h="204769">
                <a:tc>
                  <a:txBody>
                    <a:bodyPr/>
                    <a:lstStyle/>
                    <a:p>
                      <a:pPr algn="l"/>
                      <a:r>
                        <a:rPr lang="ru-RU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943534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attach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Подключиться к запущенному контейнеру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1114624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cp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Копирует файлы/каталоги из контейнера в HOSTDIR или STDOUT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179707"/>
                  </a:ext>
                </a:extLst>
              </a:tr>
              <a:tr h="204769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create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Создает новый контейнер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604241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diff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проверяет изменения в файловой системе контейнера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5511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events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Получает события сервера в режиме реального времени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437900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exec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Выполняет команду в запущенном контейнере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767542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export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Экспортирует файловую систему контейнера в tar архив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85118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kill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Грубое завершение запущенного контейнера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50622"/>
                  </a:ext>
                </a:extLst>
              </a:tr>
              <a:tr h="204769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logs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Отображает логи контейнера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191733"/>
                  </a:ext>
                </a:extLst>
              </a:tr>
              <a:tr h="35834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pause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Ставит на паузу все процессы контейнера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082758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/>
                        </a:rPr>
                        <a:t>port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Отображение общего списка портов или для конкретного контейнера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94979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3287233-CEAF-4022-A9DC-1444CED0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30337F-4398-4A68-9BD0-D223FDFAC3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441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F2FB1-3039-46E7-8D57-5A09DEDB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F35614E-4A59-411C-8F8C-C49D8EDD2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552879"/>
              </p:ext>
            </p:extLst>
          </p:nvPr>
        </p:nvGraphicFramePr>
        <p:xfrm>
          <a:off x="924067" y="1400073"/>
          <a:ext cx="10343866" cy="5401702"/>
        </p:xfrm>
        <a:graphic>
          <a:graphicData uri="http://schemas.openxmlformats.org/drawingml/2006/table">
            <a:tbl>
              <a:tblPr/>
              <a:tblGrid>
                <a:gridCol w="2292824">
                  <a:extLst>
                    <a:ext uri="{9D8B030D-6E8A-4147-A177-3AD203B41FA5}">
                      <a16:colId xmlns:a16="http://schemas.microsoft.com/office/drawing/2014/main" val="1890086637"/>
                    </a:ext>
                  </a:extLst>
                </a:gridCol>
                <a:gridCol w="8051042">
                  <a:extLst>
                    <a:ext uri="{9D8B030D-6E8A-4147-A177-3AD203B41FA5}">
                      <a16:colId xmlns:a16="http://schemas.microsoft.com/office/drawing/2014/main" val="2533245571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ps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Список контейнеров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95316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rename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Переименовать контейнер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697077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restart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Перезапускает запущенный контейнер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01382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rm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Удаляет один или несколько контейнеров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388535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run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Выполняет команду в новом контейнере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758735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start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Запускает один или несколько остановленных контейнеров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538462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stats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Выводит в реальном времени информацию о потребляемых контейнером ресурсах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19883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stop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Останавливает контейнер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0322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top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Отображает запущенные в контейнере процессы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01365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unpause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Снимает с паузы все процессы контейнера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37284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/>
                        </a:rPr>
                        <a:t>update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Обновляет конфигурацию одного или нескольких контейнеров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555214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1CCE3D-207C-4257-9EB3-8F5356C6EA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600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DE586-4EF4-41FA-BA9F-60A8895D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для хаба и реестра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E2F0F62-14A9-4E63-AC17-76224BAD3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021770"/>
              </p:ext>
            </p:extLst>
          </p:nvPr>
        </p:nvGraphicFramePr>
        <p:xfrm>
          <a:off x="838199" y="1690688"/>
          <a:ext cx="10515600" cy="4009285"/>
        </p:xfrm>
        <a:graphic>
          <a:graphicData uri="http://schemas.openxmlformats.org/drawingml/2006/table">
            <a:tbl>
              <a:tblPr/>
              <a:tblGrid>
                <a:gridCol w="2096070">
                  <a:extLst>
                    <a:ext uri="{9D8B030D-6E8A-4147-A177-3AD203B41FA5}">
                      <a16:colId xmlns:a16="http://schemas.microsoft.com/office/drawing/2014/main" val="1359567274"/>
                    </a:ext>
                  </a:extLst>
                </a:gridCol>
                <a:gridCol w="8419530">
                  <a:extLst>
                    <a:ext uri="{9D8B030D-6E8A-4147-A177-3AD203B41FA5}">
                      <a16:colId xmlns:a16="http://schemas.microsoft.com/office/drawing/2014/main" val="3045329979"/>
                    </a:ext>
                  </a:extLst>
                </a:gridCol>
              </a:tblGrid>
              <a:tr h="439614"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684764"/>
                  </a:ext>
                </a:extLst>
              </a:tr>
              <a:tr h="769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login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Зарегистрироваться или войти в систему реестра 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175777"/>
                  </a:ext>
                </a:extLst>
              </a:tr>
              <a:tr h="439614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logout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Выйти из реестра </a:t>
                      </a: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489689"/>
                  </a:ext>
                </a:extLst>
              </a:tr>
              <a:tr h="109903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pull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Загрузить (pull) образ или репозиторий из реестра Docker registry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145034"/>
                  </a:ext>
                </a:extLst>
              </a:tr>
              <a:tr h="769325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push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Выгрузить (push) образ или репозиторий в реестр 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786920"/>
                  </a:ext>
                </a:extLst>
              </a:tr>
              <a:tr h="439614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>
                          <a:solidFill>
                            <a:srgbClr val="1779B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search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образов в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Hub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83212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7DBF26-8751-4B91-B9F3-F0E6640B4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230" y="33560"/>
            <a:ext cx="2010770" cy="15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135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29372-D9C3-4D7B-965D-C328291F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AF24A8-0032-4422-8873-E8A4FEEA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2522" cy="4351338"/>
          </a:xfrm>
        </p:spPr>
        <p:txBody>
          <a:bodyPr>
            <a:normAutofit/>
          </a:bodyPr>
          <a:lstStyle/>
          <a:p>
            <a:pPr algn="l"/>
            <a:r>
              <a:rPr lang="ru-RU" b="0" i="0" u="none" strike="noStrike" dirty="0" err="1">
                <a:solidFill>
                  <a:srgbClr val="3371E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Kubernetes</a:t>
            </a:r>
            <a:r>
              <a:rPr lang="ru-RU" b="0" i="0" u="none" strike="noStrike" dirty="0">
                <a:solidFill>
                  <a:srgbClr val="3371E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(K8s)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это открытое программное обеспечение для автоматизации развёртывания, масштабирования и управления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контейнеризированными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приложениями.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4DDBB-4341-45B2-A1AA-657909B6F481}"/>
              </a:ext>
            </a:extLst>
          </p:cNvPr>
          <p:cNvSpPr txBox="1"/>
          <p:nvPr/>
        </p:nvSpPr>
        <p:spPr>
          <a:xfrm>
            <a:off x="1340893" y="3816908"/>
            <a:ext cx="94817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группирует контейнеры, составляющие приложение, в логические единицы для более простого управления и обнаружения.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1BB346-9577-43AD-AF87-644B91526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20" y="365125"/>
            <a:ext cx="3112814" cy="9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01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29372-D9C3-4D7B-965D-C328291F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AF24A8-0032-4422-8873-E8A4FEEA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2522" cy="4351338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сервисов и распределение нагрузки</a:t>
            </a:r>
          </a:p>
          <a:p>
            <a:r>
              <a:rPr lang="ru-RU" b="1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Оркестрация</a:t>
            </a:r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хранилища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развертывание и откаты</a:t>
            </a:r>
          </a:p>
          <a:p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распределение нагрузки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Самоконтроль</a:t>
            </a:r>
          </a:p>
          <a:p>
            <a:r>
              <a:rPr lang="ru-RU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конфиденциальной информацией и конфигурацией</a:t>
            </a:r>
            <a:r>
              <a:rPr lang="ru-RU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7B074D-3C90-48F8-AD70-D4334AEA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20" y="365125"/>
            <a:ext cx="3112814" cy="9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479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774EB-5835-43CB-A729-1DB62590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Концепции </a:t>
            </a:r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4071B-BD1D-41F0-A4DB-C54382DD4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Nodes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node.md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Нода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это машина в кластере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Kubernetes.</a:t>
            </a:r>
            <a:r>
              <a:rPr lang="en-US" dirty="0"/>
              <a:t/>
            </a:r>
            <a:br>
              <a:rPr lang="en-US" dirty="0"/>
            </a:b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Pods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pods.md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Pod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это группа контейнеров с общими разделами, запускаемых как единое целое.</a:t>
            </a:r>
            <a:r>
              <a:rPr lang="ru-RU" dirty="0"/>
              <a:t/>
            </a:r>
            <a:br>
              <a:rPr lang="ru-RU" dirty="0"/>
            </a:b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Replication Controllers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replication-controller.md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replication controller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гарантирует, что определенное количество «реплик»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pod'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ы будут запущены в любой момент времени.</a:t>
            </a:r>
            <a:r>
              <a:rPr lang="ru-RU" dirty="0"/>
              <a:t/>
            </a:r>
            <a:br>
              <a:rPr lang="ru-RU" dirty="0"/>
            </a:b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Services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services.md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Сервис в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Kubernetes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это абстракция которая определяет логический объединённый набор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pod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и политику доступа к ним.</a:t>
            </a:r>
            <a:r>
              <a:rPr lang="ru-RU" dirty="0"/>
              <a:t/>
            </a:r>
            <a:br>
              <a:rPr lang="ru-RU" dirty="0"/>
            </a:b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Volumes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volumes.md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Volume(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раздел) это директория, возможно, с данными в ней, которая доступна в контейнере.</a:t>
            </a:r>
            <a:r>
              <a:rPr lang="ru-RU" dirty="0"/>
              <a:t/>
            </a:r>
            <a:br>
              <a:rPr lang="ru-RU" dirty="0"/>
            </a:b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Labels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labels.md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Label'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ы это пары ключ/значение которые прикрепляются к объектам, например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pod'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ам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Label'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ы могут быть использованы для создания и выбора наборов объектов.</a:t>
            </a:r>
            <a:r>
              <a:rPr lang="ru-RU" dirty="0"/>
              <a:t/>
            </a:r>
            <a:br>
              <a:rPr lang="ru-RU" dirty="0"/>
            </a:b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Kubectl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Command Line Interface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(</a:t>
            </a:r>
            <a:r>
              <a:rPr lang="en-US" dirty="0">
                <a:solidFill>
                  <a:srgbClr val="548EAA"/>
                </a:solidFill>
                <a:latin typeface="-apple-system"/>
              </a:rPr>
              <a:t>kubectl.md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):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kubectl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интерфейс командной строки для управления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Kubernetes.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4A9A64-E053-4C7E-963E-D2353FE8D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320" y="365125"/>
            <a:ext cx="3112814" cy="9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61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88EDD-E56B-4A04-9AD0-0C2F1ADE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Kubernetes</a:t>
            </a:r>
            <a:endParaRPr lang="ru-RU" dirty="0"/>
          </a:p>
        </p:txBody>
      </p:sp>
      <p:pic>
        <p:nvPicPr>
          <p:cNvPr id="12290" name="Picture 2" descr="Скриншот программы Kubernetes">
            <a:extLst>
              <a:ext uri="{FF2B5EF4-FFF2-40B4-BE49-F238E27FC236}">
                <a16:creationId xmlns:a16="http://schemas.microsoft.com/office/drawing/2014/main" id="{061A8DFF-2D79-47C1-B64A-F67D23550A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318" y="1320657"/>
            <a:ext cx="8331364" cy="589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423A54-F792-4A0A-A219-ECBEDD66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20" y="365125"/>
            <a:ext cx="3112814" cy="9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068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DC516-0ECD-43A3-9AD6-6191BF2C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Container Initiative (OCI)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68DE6F-AEB3-4A96-B2DE-F1BD4B76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Open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Container</a:t>
            </a:r>
            <a:r>
              <a:rPr lang="ru-R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Initiative (OCI) - это легкая, открытая структура (проект) управления, сформированная под эгидой Linux Foundation с конкретной целью создания открытых отраслевых стандартов в отношении форматов контейнеров и среды выполнения. 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OCI был запущен 22 июня 2015 года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Docker</a:t>
            </a:r>
            <a:r>
              <a:rPr lang="ru-R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CoreOS</a:t>
            </a:r>
            <a:r>
              <a:rPr lang="ru-RU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и другими лидерами контейнерной индустрии.</a:t>
            </a:r>
            <a:endParaRPr lang="ru-RU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01ED9D3-D690-4F6A-AB2B-68C79FB69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99" y="5063085"/>
            <a:ext cx="7628388" cy="179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990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7CBEE-DBD0-4CD3-AF75-C851B279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Container Initiative (OCI)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D28599-B316-4825-BD11-C6CC4DBA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настоящее время OCI содержит две спецификации: спецификацию времени выполнения (</a:t>
            </a:r>
            <a:r>
              <a:rPr lang="ru-RU" dirty="0" err="1"/>
              <a:t>runtime-spec</a:t>
            </a:r>
            <a:r>
              <a:rPr lang="ru-RU" dirty="0"/>
              <a:t>) и спецификацию изображения (</a:t>
            </a:r>
            <a:r>
              <a:rPr lang="ru-RU" dirty="0" err="1"/>
              <a:t>image-spec</a:t>
            </a:r>
            <a:r>
              <a:rPr lang="ru-RU" dirty="0"/>
              <a:t>). Спецификация среды выполнения описывает, как запустить «пакет файловой системы», распакованный на диск. На высоком уровне реализация OCI загрузит образ OCI, а затем распакует этот образ в пакет файловой системы времени выполнения OCI. На этом этапе OCI </a:t>
            </a:r>
            <a:r>
              <a:rPr lang="ru-RU" dirty="0" err="1"/>
              <a:t>Runtime</a:t>
            </a:r>
            <a:r>
              <a:rPr lang="ru-RU" dirty="0"/>
              <a:t> </a:t>
            </a:r>
            <a:r>
              <a:rPr lang="ru-RU" dirty="0" err="1"/>
              <a:t>Bundle</a:t>
            </a:r>
            <a:r>
              <a:rPr lang="ru-RU" dirty="0"/>
              <a:t> будет запускаться OCI </a:t>
            </a:r>
            <a:r>
              <a:rPr lang="ru-RU" dirty="0" err="1"/>
              <a:t>Runtime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B1D5C8-D2C7-46A4-B3D8-635AFC95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243" y="5065621"/>
            <a:ext cx="7626757" cy="17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269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6FC8A-9477-4EE1-9709-5553982F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CRI-O — </a:t>
            </a:r>
            <a:r>
              <a:rPr lang="ru-RU" dirty="0"/>
              <a:t>альтернатива </a:t>
            </a:r>
            <a:r>
              <a:rPr lang="en-US" dirty="0"/>
              <a:t>Docker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64BFA0-7EA2-460A-A111-2EFABC098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Легковесная исполняемая среда для контейнеров в </a:t>
            </a:r>
            <a:r>
              <a:rPr lang="ru-RU" dirty="0" err="1"/>
              <a:t>Kubernetes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CRI-O - это реализация </a:t>
            </a:r>
            <a:r>
              <a:rPr lang="ru-RU" dirty="0" err="1"/>
              <a:t>Kubernetes</a:t>
            </a:r>
            <a:r>
              <a:rPr lang="ru-RU" dirty="0"/>
              <a:t> CRI (</a:t>
            </a:r>
            <a:r>
              <a:rPr lang="ru-RU" dirty="0" err="1"/>
              <a:t>Container</a:t>
            </a:r>
            <a:r>
              <a:rPr lang="ru-RU" dirty="0"/>
              <a:t> </a:t>
            </a:r>
            <a:r>
              <a:rPr lang="ru-RU" dirty="0" err="1"/>
              <a:t>Runtime</a:t>
            </a:r>
            <a:r>
              <a:rPr lang="ru-RU" dirty="0"/>
              <a:t> Interface), позволяющая использовать среды выполнения, совместимые с OCI (Open </a:t>
            </a:r>
            <a:r>
              <a:rPr lang="ru-RU" dirty="0" err="1"/>
              <a:t>Container</a:t>
            </a:r>
            <a:r>
              <a:rPr lang="ru-RU" dirty="0"/>
              <a:t> Initiative). Это легкая альтернатива использованию </a:t>
            </a:r>
            <a:r>
              <a:rPr lang="ru-RU" dirty="0" err="1"/>
              <a:t>Docker</a:t>
            </a:r>
            <a:r>
              <a:rPr lang="ru-RU" dirty="0"/>
              <a:t> в качестве среды выполнения для </a:t>
            </a:r>
            <a:r>
              <a:rPr lang="ru-RU" dirty="0" err="1"/>
              <a:t>кубернетов</a:t>
            </a:r>
            <a:r>
              <a:rPr lang="ru-RU" dirty="0"/>
              <a:t>. Это позволяет </a:t>
            </a:r>
            <a:r>
              <a:rPr lang="ru-RU" dirty="0" err="1"/>
              <a:t>Kubernetes</a:t>
            </a:r>
            <a:r>
              <a:rPr lang="ru-RU" dirty="0"/>
              <a:t> использовать любую OCI-совместимую среду выполнения в качестве среды выполнения контейнера для запуска модулей. Сегодня он поддерживает контейнеры </a:t>
            </a:r>
            <a:r>
              <a:rPr lang="ru-RU" dirty="0" err="1"/>
              <a:t>runc</a:t>
            </a:r>
            <a:r>
              <a:rPr lang="ru-RU" dirty="0"/>
              <a:t> и </a:t>
            </a:r>
            <a:r>
              <a:rPr lang="ru-RU" dirty="0" err="1"/>
              <a:t>Kata</a:t>
            </a:r>
            <a:r>
              <a:rPr lang="ru-RU" dirty="0"/>
              <a:t> как среды выполнения контейнеров, но в принципе можно подключить любую OCI-совместимую среду выполнения.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CRI-O поддерживает образы контейнеров OCI и может извлекать из любого реестра контейнеров. Это легкая альтернатива использованию </a:t>
            </a:r>
            <a:r>
              <a:rPr lang="ru-RU" dirty="0" err="1"/>
              <a:t>Docker</a:t>
            </a:r>
            <a:r>
              <a:rPr lang="ru-RU" dirty="0"/>
              <a:t>, </a:t>
            </a:r>
            <a:r>
              <a:rPr lang="ru-RU" dirty="0" err="1"/>
              <a:t>Moby</a:t>
            </a:r>
            <a:r>
              <a:rPr lang="ru-RU" dirty="0"/>
              <a:t> или </a:t>
            </a:r>
            <a:r>
              <a:rPr lang="ru-RU" dirty="0" err="1"/>
              <a:t>rkt</a:t>
            </a:r>
            <a:r>
              <a:rPr lang="ru-RU" dirty="0"/>
              <a:t> в качестве среды выполнения для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908479-6E02-4407-92DA-5DD7613DE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280" y="0"/>
            <a:ext cx="2930720" cy="110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0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02417"/>
            <a:ext cx="10972800" cy="827616"/>
          </a:xfrm>
        </p:spPr>
        <p:txBody>
          <a:bodyPr>
            <a:noAutofit/>
          </a:bodyPr>
          <a:lstStyle/>
          <a:p>
            <a:pPr algn="ctr"/>
            <a:r>
              <a:rPr lang="ru-RU" sz="5867" dirty="0"/>
              <a:t>Спасибо</a:t>
            </a:r>
            <a:br>
              <a:rPr lang="ru-RU" sz="5867" dirty="0"/>
            </a:br>
            <a:r>
              <a:rPr lang="ru-RU" sz="5867" dirty="0"/>
              <a:t>за внимание!</a:t>
            </a:r>
            <a:endParaRPr lang="en-US" sz="586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9707919" y="5958350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09585"/>
            <a:r>
              <a:rPr lang="en-US" sz="2400" dirty="0">
                <a:solidFill>
                  <a:prstClr val="white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belozubov@itmo.ru</a:t>
            </a:r>
            <a:endParaRPr lang="ru-RU" sz="2400" dirty="0">
              <a:solidFill>
                <a:prstClr val="white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384042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Шаблон презентации_ИТМО_на русском языке.pptx" id="{85F0BBDA-0704-4635-B287-849C331F0611}" vid="{9E2FF4F4-DCCE-497E-860B-B78F32DBBA74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5251</Words>
  <Application>Microsoft Office PowerPoint</Application>
  <PresentationFormat>Широкоэкранный</PresentationFormat>
  <Paragraphs>483</Paragraphs>
  <Slides>59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59</vt:i4>
      </vt:variant>
    </vt:vector>
  </HeadingPairs>
  <TitlesOfParts>
    <vt:vector size="80" baseType="lpstr">
      <vt:lpstr>ALS Gorizont Bold Expanded</vt:lpstr>
      <vt:lpstr>-apple-system</vt:lpstr>
      <vt:lpstr>Arial</vt:lpstr>
      <vt:lpstr>Arial Black</vt:lpstr>
      <vt:lpstr>Calibri</vt:lpstr>
      <vt:lpstr>Calibri Light</vt:lpstr>
      <vt:lpstr>Fira Sans</vt:lpstr>
      <vt:lpstr>Golos Text</vt:lpstr>
      <vt:lpstr>Golos Text DemiBold</vt:lpstr>
      <vt:lpstr>IBM Plex Sans</vt:lpstr>
      <vt:lpstr>inherit</vt:lpstr>
      <vt:lpstr>Inter</vt:lpstr>
      <vt:lpstr>Lucida Grande</vt:lpstr>
      <vt:lpstr>Manrope</vt:lpstr>
      <vt:lpstr>open sans</vt:lpstr>
      <vt:lpstr>Roboto</vt:lpstr>
      <vt:lpstr>Times New Roman</vt:lpstr>
      <vt:lpstr>Ubuntu</vt:lpstr>
      <vt:lpstr>Wingdings</vt:lpstr>
      <vt:lpstr>Тема Office</vt:lpstr>
      <vt:lpstr>Тема1</vt:lpstr>
      <vt:lpstr>Контейнеризация</vt:lpstr>
      <vt:lpstr>Контейнеризация</vt:lpstr>
      <vt:lpstr>Инструменты контейнеризации</vt:lpstr>
      <vt:lpstr>Chroot(): первая изоляции</vt:lpstr>
      <vt:lpstr>Namespace – механизм пространств имён</vt:lpstr>
      <vt:lpstr>PID: изоляция PID процессов</vt:lpstr>
      <vt:lpstr>NET: изоляция сетей</vt:lpstr>
      <vt:lpstr>MOUNT: изоляция файловой системы</vt:lpstr>
      <vt:lpstr>UTS - имя хоста </vt:lpstr>
      <vt:lpstr>IPC - Межпроцессное взаимодействие</vt:lpstr>
      <vt:lpstr>User - Пользовательские ID</vt:lpstr>
      <vt:lpstr>Cgroups Контрольные группы</vt:lpstr>
      <vt:lpstr>Механизм Cgroups</vt:lpstr>
      <vt:lpstr>Управление контрольными группами</vt:lpstr>
      <vt:lpstr>Systemd-nspawn: общая информация</vt:lpstr>
      <vt:lpstr>Отличие виртуальной машины от контейнера</vt:lpstr>
      <vt:lpstr>Для чего нужны контейнеры</vt:lpstr>
      <vt:lpstr>Преимущества контейнерной виртуализации</vt:lpstr>
      <vt:lpstr>Недостатки контейнерной виртуализации</vt:lpstr>
      <vt:lpstr>Реализации</vt:lpstr>
      <vt:lpstr>LXD и Docker</vt:lpstr>
      <vt:lpstr>LXC – Linux Container</vt:lpstr>
      <vt:lpstr>Компоненты LXC</vt:lpstr>
      <vt:lpstr>LXD – Linux Container Daemon</vt:lpstr>
      <vt:lpstr>Контейнеры и виртуальные машины</vt:lpstr>
      <vt:lpstr>Виртуальные машины vs системных контейнеров</vt:lpstr>
      <vt:lpstr>Особенности LXD</vt:lpstr>
      <vt:lpstr>Особенности LXD</vt:lpstr>
      <vt:lpstr>LXCFS</vt:lpstr>
      <vt:lpstr>Команды</vt:lpstr>
      <vt:lpstr>Команды</vt:lpstr>
      <vt:lpstr>Список директорий, используемых механизмом LXC</vt:lpstr>
      <vt:lpstr>Конфигурационный файл контейнера  и его опции</vt:lpstr>
      <vt:lpstr>Docker</vt:lpstr>
      <vt:lpstr>Презентация PowerPoint</vt:lpstr>
      <vt:lpstr>Главные компоненты Docker</vt:lpstr>
      <vt:lpstr>Сравнение с VM</vt:lpstr>
      <vt:lpstr>Процессы в контейнерах</vt:lpstr>
      <vt:lpstr>Компоненты DOCKER</vt:lpstr>
      <vt:lpstr>Как работает Docker?</vt:lpstr>
      <vt:lpstr>Используемые технологии</vt:lpstr>
      <vt:lpstr>Файлы Dockerfile</vt:lpstr>
      <vt:lpstr>Инструкции Dockerfile</vt:lpstr>
      <vt:lpstr>Docker Compose</vt:lpstr>
      <vt:lpstr>docker-compose.yml</vt:lpstr>
      <vt:lpstr>Тенденция внедрения Контейнеров</vt:lpstr>
      <vt:lpstr>Команды управления Docker</vt:lpstr>
      <vt:lpstr>Образы</vt:lpstr>
      <vt:lpstr>Контейнеры</vt:lpstr>
      <vt:lpstr>Контейнеры</vt:lpstr>
      <vt:lpstr>Команды для хаба и реестра</vt:lpstr>
      <vt:lpstr>Kubernetes </vt:lpstr>
      <vt:lpstr>Kubernetes </vt:lpstr>
      <vt:lpstr>Концепции Kubernetes</vt:lpstr>
      <vt:lpstr>Архитектура Kubernetes</vt:lpstr>
      <vt:lpstr>Open Container Initiative (OCI)</vt:lpstr>
      <vt:lpstr>Open Container Initiative (OCI)</vt:lpstr>
      <vt:lpstr>CRI-O — альтернатива Docker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Контейнеризация</dc:title>
  <dc:creator>Белозубов Александр Владимирович</dc:creator>
  <cp:lastModifiedBy>Пользователь Windows</cp:lastModifiedBy>
  <cp:revision>9</cp:revision>
  <dcterms:created xsi:type="dcterms:W3CDTF">2021-10-31T16:03:55Z</dcterms:created>
  <dcterms:modified xsi:type="dcterms:W3CDTF">2022-11-22T08:12:46Z</dcterms:modified>
</cp:coreProperties>
</file>