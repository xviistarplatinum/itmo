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4" r:id="rId2"/>
  </p:sldMasterIdLst>
  <p:notesMasterIdLst>
    <p:notesMasterId r:id="rId57"/>
  </p:notesMasterIdLst>
  <p:sldIdLst>
    <p:sldId id="256" r:id="rId3"/>
    <p:sldId id="258" r:id="rId4"/>
    <p:sldId id="259" r:id="rId5"/>
    <p:sldId id="260" r:id="rId6"/>
    <p:sldId id="261" r:id="rId7"/>
    <p:sldId id="262" r:id="rId8"/>
    <p:sldId id="264" r:id="rId9"/>
    <p:sldId id="265" r:id="rId10"/>
    <p:sldId id="266" r:id="rId11"/>
    <p:sldId id="267" r:id="rId12"/>
    <p:sldId id="268" r:id="rId13"/>
    <p:sldId id="269" r:id="rId14"/>
    <p:sldId id="304" r:id="rId15"/>
    <p:sldId id="270" r:id="rId16"/>
    <p:sldId id="271" r:id="rId17"/>
    <p:sldId id="305" r:id="rId18"/>
    <p:sldId id="272" r:id="rId19"/>
    <p:sldId id="311" r:id="rId20"/>
    <p:sldId id="312" r:id="rId21"/>
    <p:sldId id="313" r:id="rId22"/>
    <p:sldId id="336" r:id="rId23"/>
    <p:sldId id="337" r:id="rId24"/>
    <p:sldId id="338" r:id="rId25"/>
    <p:sldId id="339" r:id="rId26"/>
    <p:sldId id="314" r:id="rId27"/>
    <p:sldId id="315" r:id="rId28"/>
    <p:sldId id="316" r:id="rId29"/>
    <p:sldId id="317" r:id="rId30"/>
    <p:sldId id="318" r:id="rId31"/>
    <p:sldId id="319" r:id="rId32"/>
    <p:sldId id="320" r:id="rId33"/>
    <p:sldId id="321" r:id="rId34"/>
    <p:sldId id="322" r:id="rId35"/>
    <p:sldId id="323" r:id="rId36"/>
    <p:sldId id="324" r:id="rId37"/>
    <p:sldId id="325" r:id="rId38"/>
    <p:sldId id="326" r:id="rId39"/>
    <p:sldId id="327" r:id="rId40"/>
    <p:sldId id="328" r:id="rId41"/>
    <p:sldId id="329" r:id="rId42"/>
    <p:sldId id="330" r:id="rId43"/>
    <p:sldId id="331" r:id="rId44"/>
    <p:sldId id="332" r:id="rId45"/>
    <p:sldId id="333" r:id="rId46"/>
    <p:sldId id="334" r:id="rId47"/>
    <p:sldId id="340" r:id="rId48"/>
    <p:sldId id="341" r:id="rId49"/>
    <p:sldId id="335" r:id="rId50"/>
    <p:sldId id="342" r:id="rId51"/>
    <p:sldId id="343" r:id="rId52"/>
    <p:sldId id="344" r:id="rId53"/>
    <p:sldId id="280" r:id="rId54"/>
    <p:sldId id="281" r:id="rId55"/>
    <p:sldId id="303" r:id="rId5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11">
          <p15:clr>
            <a:srgbClr val="A4A3A4"/>
          </p15:clr>
        </p15:guide>
        <p15:guide id="2" pos="2874">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hKsHB2wMGa4VO3/YTVbq83sN3S2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558" autoAdjust="0"/>
  </p:normalViewPr>
  <p:slideViewPr>
    <p:cSldViewPr snapToGrid="0">
      <p:cViewPr varScale="1">
        <p:scale>
          <a:sx n="105" d="100"/>
          <a:sy n="105" d="100"/>
        </p:scale>
        <p:origin x="1716" y="102"/>
      </p:cViewPr>
      <p:guideLst>
        <p:guide orient="horz" pos="1611"/>
        <p:guide pos="287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customschemas.google.com/relationships/presentationmetadata" Target="meta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en.wikipedia.org/wiki/VM_(operating_system)"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sz="1200" b="0" i="0" u="none" strike="noStrike" cap="none" dirty="0" smtClean="0">
                <a:solidFill>
                  <a:schemeClr val="dk1"/>
                </a:solidFill>
                <a:effectLst/>
                <a:latin typeface="Calibri"/>
                <a:ea typeface="Calibri"/>
                <a:cs typeface="Calibri"/>
                <a:sym typeface="Calibri"/>
              </a:rPr>
              <a:t>Что если допустить к компьютеру не одного, а нескольких пользователей, эффективность повысится. Пока один будет вводить данные, компьютер будет решать задачи других. Паузы заполнятся, простоя не будет. Эту идею назвали концепцией разделения времени.</a:t>
            </a:r>
          </a:p>
          <a:p>
            <a:pPr marL="0" lvl="0" indent="0" algn="l" rtl="0">
              <a:spcBef>
                <a:spcPts val="0"/>
              </a:spcBef>
              <a:spcAft>
                <a:spcPts val="0"/>
              </a:spcAft>
              <a:buNone/>
            </a:pPr>
            <a:r>
              <a:rPr lang="ru-RU" sz="1200" b="1" i="0" u="none" strike="noStrike" cap="none" dirty="0" smtClean="0">
                <a:solidFill>
                  <a:schemeClr val="dk1"/>
                </a:solidFill>
                <a:effectLst/>
                <a:latin typeface="Calibri"/>
                <a:ea typeface="Calibri"/>
                <a:cs typeface="Calibri"/>
                <a:sym typeface="Calibri"/>
              </a:rPr>
              <a:t>Концепция разделения времени </a:t>
            </a:r>
            <a:r>
              <a:rPr lang="ru-RU" sz="1200" b="0" i="0" u="none" strike="noStrike" cap="none" dirty="0" smtClean="0">
                <a:solidFill>
                  <a:schemeClr val="dk1"/>
                </a:solidFill>
                <a:effectLst/>
                <a:latin typeface="Calibri"/>
                <a:ea typeface="Calibri"/>
                <a:cs typeface="Calibri"/>
                <a:sym typeface="Calibri"/>
              </a:rPr>
              <a:t>или </a:t>
            </a:r>
            <a:r>
              <a:rPr lang="ru-RU" sz="1200" b="0" i="0" u="none" strike="noStrike" cap="none" dirty="0" err="1" smtClean="0">
                <a:solidFill>
                  <a:schemeClr val="dk1"/>
                </a:solidFill>
                <a:effectLst/>
                <a:latin typeface="Calibri"/>
                <a:ea typeface="Calibri"/>
                <a:cs typeface="Calibri"/>
                <a:sym typeface="Calibri"/>
              </a:rPr>
              <a:t>time-sharing</a:t>
            </a:r>
            <a:r>
              <a:rPr lang="ru-RU" sz="1200" b="0" i="0" u="none" strike="noStrike" cap="none" dirty="0" smtClean="0">
                <a:solidFill>
                  <a:schemeClr val="dk1"/>
                </a:solidFill>
                <a:effectLst/>
                <a:latin typeface="Calibri"/>
                <a:ea typeface="Calibri"/>
                <a:cs typeface="Calibri"/>
                <a:sym typeface="Calibri"/>
              </a:rPr>
              <a:t> — это когда вычислительные ресурсы распределяют между многими пользователями. Она появилась в начале 1960-х годов и привела ко многим революционным изменениям, в том числе, появлению виртуализации.</a:t>
            </a:r>
            <a:endParaRPr dirty="0"/>
          </a:p>
        </p:txBody>
      </p:sp>
      <p:sp>
        <p:nvSpPr>
          <p:cNvPr id="140" name="Google Shape;14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lang="ru-RU" sz="1200" b="0" i="0" u="none" strike="noStrike" cap="none" dirty="0" smtClean="0">
                <a:solidFill>
                  <a:schemeClr val="dk1"/>
                </a:solidFill>
                <a:effectLst/>
                <a:latin typeface="Calibri"/>
                <a:ea typeface="Calibri"/>
                <a:cs typeface="Calibri"/>
                <a:sym typeface="Calibri"/>
              </a:rPr>
              <a:t>Сначала идею разделения времени реализовали буквально: процессор переключался между задачами только на время операций ввода-вывода. Пока один пользователь думал или вводил данные, компьютер обрабатывал задачи другого.</a:t>
            </a:r>
          </a:p>
          <a:p>
            <a:r>
              <a:rPr lang="ru-RU" sz="1200" b="0" i="0" u="none" strike="noStrike" cap="none" dirty="0" smtClean="0">
                <a:solidFill>
                  <a:schemeClr val="dk1"/>
                </a:solidFill>
                <a:effectLst/>
                <a:latin typeface="Calibri"/>
                <a:ea typeface="Calibri"/>
                <a:cs typeface="Calibri"/>
                <a:sym typeface="Calibri"/>
              </a:rPr>
              <a:t>Оборудование становилось всё мощнее, задач нескольких пользователей ему уже не хватало. Тогда процессор научили переключаться между задачами чаще. Каждая задача получала «квант» времени, когда процессор занимался её обработкой. Если не успевал завершить, переходил к другой, а первая задача ждала следующего кванта. Переключения происходили так быстро, что каждому пользователю казалось, будто он использует машину единолично.</a:t>
            </a:r>
          </a:p>
          <a:p>
            <a:r>
              <a:rPr lang="ru-RU" sz="1200" b="0" i="0" u="none" strike="noStrike" cap="none" dirty="0" smtClean="0">
                <a:solidFill>
                  <a:schemeClr val="dk1"/>
                </a:solidFill>
                <a:effectLst/>
                <a:latin typeface="Calibri"/>
                <a:ea typeface="Calibri"/>
                <a:cs typeface="Calibri"/>
                <a:sym typeface="Calibri"/>
              </a:rPr>
              <a:t>Впервые концепция разделения времени была реализована в </a:t>
            </a:r>
            <a:r>
              <a:rPr lang="ru-RU" sz="1200" b="0" i="0" u="none" strike="noStrike" cap="none" dirty="0" err="1" smtClean="0">
                <a:solidFill>
                  <a:schemeClr val="dk1"/>
                </a:solidFill>
                <a:effectLst/>
                <a:latin typeface="Calibri"/>
                <a:ea typeface="Calibri"/>
                <a:cs typeface="Calibri"/>
                <a:sym typeface="Calibri"/>
              </a:rPr>
              <a:t>Compatible</a:t>
            </a:r>
            <a:r>
              <a:rPr lang="ru-RU" sz="1200" b="0" i="0" u="none" strike="noStrike" cap="none" dirty="0" smtClean="0">
                <a:solidFill>
                  <a:schemeClr val="dk1"/>
                </a:solidFill>
                <a:effectLst/>
                <a:latin typeface="Calibri"/>
                <a:ea typeface="Calibri"/>
                <a:cs typeface="Calibri"/>
                <a:sym typeface="Calibri"/>
              </a:rPr>
              <a:t> </a:t>
            </a:r>
            <a:r>
              <a:rPr lang="ru-RU" sz="1200" b="0" i="0" u="none" strike="noStrike" cap="none" dirty="0" err="1" smtClean="0">
                <a:solidFill>
                  <a:schemeClr val="dk1"/>
                </a:solidFill>
                <a:effectLst/>
                <a:latin typeface="Calibri"/>
                <a:ea typeface="Calibri"/>
                <a:cs typeface="Calibri"/>
                <a:sym typeface="Calibri"/>
              </a:rPr>
              <a:t>Time-Sharing</a:t>
            </a:r>
            <a:r>
              <a:rPr lang="ru-RU" sz="1200" b="0" i="0" u="none" strike="noStrike" cap="none" dirty="0" smtClean="0">
                <a:solidFill>
                  <a:schemeClr val="dk1"/>
                </a:solidFill>
                <a:effectLst/>
                <a:latin typeface="Calibri"/>
                <a:ea typeface="Calibri"/>
                <a:cs typeface="Calibri"/>
                <a:sym typeface="Calibri"/>
              </a:rPr>
              <a:t> </a:t>
            </a:r>
            <a:r>
              <a:rPr lang="ru-RU" sz="1200" b="0" i="0" u="none" strike="noStrike" cap="none" dirty="0" err="1" smtClean="0">
                <a:solidFill>
                  <a:schemeClr val="dk1"/>
                </a:solidFill>
                <a:effectLst/>
                <a:latin typeface="Calibri"/>
                <a:ea typeface="Calibri"/>
                <a:cs typeface="Calibri"/>
                <a:sym typeface="Calibri"/>
              </a:rPr>
              <a:t>System</a:t>
            </a:r>
            <a:r>
              <a:rPr lang="ru-RU" sz="1200" b="0" i="0" u="none" strike="noStrike" cap="none" dirty="0" smtClean="0">
                <a:solidFill>
                  <a:schemeClr val="dk1"/>
                </a:solidFill>
                <a:effectLst/>
                <a:latin typeface="Calibri"/>
                <a:ea typeface="Calibri"/>
                <a:cs typeface="Calibri"/>
                <a:sym typeface="Calibri"/>
              </a:rPr>
              <a:t> в Массачусетском технологическом институте где-то в начале 1960-х. Она была совместима с </a:t>
            </a:r>
            <a:r>
              <a:rPr lang="ru-RU" sz="1200" b="0" i="0" u="none" strike="noStrike" cap="none" dirty="0" err="1" smtClean="0">
                <a:solidFill>
                  <a:schemeClr val="dk1"/>
                </a:solidFill>
                <a:effectLst/>
                <a:latin typeface="Calibri"/>
                <a:ea typeface="Calibri"/>
                <a:cs typeface="Calibri"/>
                <a:sym typeface="Calibri"/>
              </a:rPr>
              <a:t>Fortran</a:t>
            </a:r>
            <a:r>
              <a:rPr lang="ru-RU" sz="1200" b="0" i="0" u="none" strike="noStrike" cap="none" dirty="0" smtClean="0">
                <a:solidFill>
                  <a:schemeClr val="dk1"/>
                </a:solidFill>
                <a:effectLst/>
                <a:latin typeface="Calibri"/>
                <a:ea typeface="Calibri"/>
                <a:cs typeface="Calibri"/>
                <a:sym typeface="Calibri"/>
              </a:rPr>
              <a:t> </a:t>
            </a:r>
            <a:r>
              <a:rPr lang="ru-RU" sz="1200" b="0" i="0" u="none" strike="noStrike" cap="none" dirty="0" err="1" smtClean="0">
                <a:solidFill>
                  <a:schemeClr val="dk1"/>
                </a:solidFill>
                <a:effectLst/>
                <a:latin typeface="Calibri"/>
                <a:ea typeface="Calibri"/>
                <a:cs typeface="Calibri"/>
                <a:sym typeface="Calibri"/>
              </a:rPr>
              <a:t>Monitor</a:t>
            </a:r>
            <a:r>
              <a:rPr lang="ru-RU" sz="1200" b="0" i="0" u="none" strike="noStrike" cap="none" dirty="0" smtClean="0">
                <a:solidFill>
                  <a:schemeClr val="dk1"/>
                </a:solidFill>
                <a:effectLst/>
                <a:latin typeface="Calibri"/>
                <a:ea typeface="Calibri"/>
                <a:cs typeface="Calibri"/>
                <a:sym typeface="Calibri"/>
              </a:rPr>
              <a:t> </a:t>
            </a:r>
            <a:r>
              <a:rPr lang="ru-RU" sz="1200" b="0" i="0" u="none" strike="noStrike" cap="none" dirty="0" err="1" smtClean="0">
                <a:solidFill>
                  <a:schemeClr val="dk1"/>
                </a:solidFill>
                <a:effectLst/>
                <a:latin typeface="Calibri"/>
                <a:ea typeface="Calibri"/>
                <a:cs typeface="Calibri"/>
                <a:sym typeface="Calibri"/>
              </a:rPr>
              <a:t>System</a:t>
            </a:r>
            <a:r>
              <a:rPr lang="ru-RU" sz="1200" b="0" i="0" u="none" strike="noStrike" cap="none" dirty="0" smtClean="0">
                <a:solidFill>
                  <a:schemeClr val="dk1"/>
                </a:solidFill>
                <a:effectLst/>
                <a:latin typeface="Calibri"/>
                <a:ea typeface="Calibri"/>
                <a:cs typeface="Calibri"/>
                <a:sym typeface="Calibri"/>
              </a:rPr>
              <a:t> и работала на </a:t>
            </a:r>
            <a:r>
              <a:rPr lang="ru-RU" sz="1200" b="0" i="0" u="none" strike="noStrike" cap="none" dirty="0" err="1" smtClean="0">
                <a:solidFill>
                  <a:schemeClr val="dk1"/>
                </a:solidFill>
                <a:effectLst/>
                <a:latin typeface="Calibri"/>
                <a:ea typeface="Calibri"/>
                <a:cs typeface="Calibri"/>
                <a:sym typeface="Calibri"/>
              </a:rPr>
              <a:t>майнфрейме</a:t>
            </a:r>
            <a:r>
              <a:rPr lang="ru-RU" sz="1200" b="0" i="0" u="none" strike="noStrike" cap="none" dirty="0" smtClean="0">
                <a:solidFill>
                  <a:schemeClr val="dk1"/>
                </a:solidFill>
                <a:effectLst/>
                <a:latin typeface="Calibri"/>
                <a:ea typeface="Calibri"/>
                <a:cs typeface="Calibri"/>
                <a:sym typeface="Calibri"/>
              </a:rPr>
              <a:t> IBM 7090.</a:t>
            </a:r>
          </a:p>
          <a:p>
            <a:r>
              <a:rPr lang="ru-RU" sz="1200" b="0" i="0" u="none" strike="noStrike" cap="none" dirty="0" smtClean="0">
                <a:solidFill>
                  <a:schemeClr val="dk1"/>
                </a:solidFill>
                <a:effectLst/>
                <a:latin typeface="Calibri"/>
                <a:ea typeface="Calibri"/>
                <a:cs typeface="Calibri"/>
                <a:sym typeface="Calibri"/>
              </a:rPr>
              <a:t>Кстати, примерно в то же время систему с разделением времени сделали в </a:t>
            </a:r>
            <a:r>
              <a:rPr lang="ru-RU" sz="1200" b="0" i="0" u="none" strike="noStrike" cap="none" dirty="0" err="1" smtClean="0">
                <a:solidFill>
                  <a:schemeClr val="dk1"/>
                </a:solidFill>
                <a:effectLst/>
                <a:latin typeface="Calibri"/>
                <a:ea typeface="Calibri"/>
                <a:cs typeface="Calibri"/>
                <a:sym typeface="Calibri"/>
              </a:rPr>
              <a:t>Дармутском</a:t>
            </a:r>
            <a:r>
              <a:rPr lang="ru-RU" sz="1200" b="0" i="0" u="none" strike="noStrike" cap="none" dirty="0" smtClean="0">
                <a:solidFill>
                  <a:schemeClr val="dk1"/>
                </a:solidFill>
                <a:effectLst/>
                <a:latin typeface="Calibri"/>
                <a:ea typeface="Calibri"/>
                <a:cs typeface="Calibri"/>
                <a:sym typeface="Calibri"/>
              </a:rPr>
              <a:t> колледже (том самом, где придумали </a:t>
            </a:r>
            <a:r>
              <a:rPr lang="ru-RU" sz="1200" b="0" i="0" u="none" strike="noStrike" cap="none" dirty="0" err="1" smtClean="0">
                <a:solidFill>
                  <a:schemeClr val="dk1"/>
                </a:solidFill>
                <a:effectLst/>
                <a:latin typeface="Calibri"/>
                <a:ea typeface="Calibri"/>
                <a:cs typeface="Calibri"/>
                <a:sym typeface="Calibri"/>
              </a:rPr>
              <a:t>Бэйсик</a:t>
            </a:r>
            <a:r>
              <a:rPr lang="ru-RU" sz="1200" b="0" i="0" u="none" strike="noStrike" cap="none" dirty="0" smtClean="0">
                <a:solidFill>
                  <a:schemeClr val="dk1"/>
                </a:solidFill>
                <a:effectLst/>
                <a:latin typeface="Calibri"/>
                <a:ea typeface="Calibri"/>
                <a:cs typeface="Calibri"/>
                <a:sym typeface="Calibri"/>
              </a:rPr>
              <a:t>). Ученым даже удалось её продать, хоть широкого распространения она и не получила.</a:t>
            </a:r>
          </a:p>
          <a:p>
            <a:r>
              <a:rPr lang="ru-RU" dirty="0" smtClean="0"/>
              <a:t/>
            </a:r>
            <a:br>
              <a:rPr lang="ru-RU" dirty="0" smtClean="0"/>
            </a:br>
            <a:endParaRPr dirty="0"/>
          </a:p>
        </p:txBody>
      </p:sp>
      <p:sp>
        <p:nvSpPr>
          <p:cNvPr id="147" name="Google Shape;14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lang="ru-RU" sz="1200" b="0" i="0" u="none" strike="noStrike" cap="none" dirty="0" smtClean="0">
                <a:solidFill>
                  <a:schemeClr val="dk1"/>
                </a:solidFill>
                <a:effectLst/>
                <a:latin typeface="Calibri"/>
                <a:ea typeface="Calibri"/>
                <a:cs typeface="Calibri"/>
                <a:sym typeface="Calibri"/>
              </a:rPr>
              <a:t>Первой операционной системой с поддержкой </a:t>
            </a:r>
            <a:r>
              <a:rPr lang="ru-RU" sz="1200" b="0" i="0" u="none" strike="noStrike" cap="none" dirty="0" err="1" smtClean="0">
                <a:solidFill>
                  <a:schemeClr val="dk1"/>
                </a:solidFill>
                <a:effectLst/>
                <a:latin typeface="Calibri"/>
                <a:ea typeface="Calibri"/>
                <a:cs typeface="Calibri"/>
                <a:sym typeface="Calibri"/>
              </a:rPr>
              <a:t>time-sharing</a:t>
            </a:r>
            <a:r>
              <a:rPr lang="ru-RU" sz="1200" b="0" i="0" u="none" strike="noStrike" cap="none" dirty="0" smtClean="0">
                <a:solidFill>
                  <a:schemeClr val="dk1"/>
                </a:solidFill>
                <a:effectLst/>
                <a:latin typeface="Calibri"/>
                <a:ea typeface="Calibri"/>
                <a:cs typeface="Calibri"/>
                <a:sym typeface="Calibri"/>
              </a:rPr>
              <a:t> стала </a:t>
            </a:r>
            <a:r>
              <a:rPr lang="ru-RU" sz="1200" b="0" i="0" u="none" strike="noStrike" cap="none" dirty="0" err="1" smtClean="0">
                <a:solidFill>
                  <a:schemeClr val="dk1"/>
                </a:solidFill>
                <a:effectLst/>
                <a:latin typeface="Calibri"/>
                <a:ea typeface="Calibri"/>
                <a:cs typeface="Calibri"/>
                <a:sym typeface="Calibri"/>
              </a:rPr>
              <a:t>Multics</a:t>
            </a:r>
            <a:r>
              <a:rPr lang="ru-RU" sz="1200" b="0" i="0" u="none" strike="noStrike" cap="none" dirty="0" smtClean="0">
                <a:solidFill>
                  <a:schemeClr val="dk1"/>
                </a:solidFill>
                <a:effectLst/>
                <a:latin typeface="Calibri"/>
                <a:ea typeface="Calibri"/>
                <a:cs typeface="Calibri"/>
                <a:sym typeface="Calibri"/>
              </a:rPr>
              <a:t>, предшественник ОС семейства </a:t>
            </a:r>
            <a:r>
              <a:rPr lang="ru-RU" sz="1200" b="0" i="0" u="none" strike="noStrike" cap="none" dirty="0" err="1" smtClean="0">
                <a:solidFill>
                  <a:schemeClr val="dk1"/>
                </a:solidFill>
                <a:effectLst/>
                <a:latin typeface="Calibri"/>
                <a:ea typeface="Calibri"/>
                <a:cs typeface="Calibri"/>
                <a:sym typeface="Calibri"/>
              </a:rPr>
              <a:t>Unix</a:t>
            </a:r>
            <a:r>
              <a:rPr lang="ru-RU" sz="1200" b="0" i="0" u="none" strike="noStrike" cap="none" dirty="0" smtClean="0">
                <a:solidFill>
                  <a:schemeClr val="dk1"/>
                </a:solidFill>
                <a:effectLst/>
                <a:latin typeface="Calibri"/>
                <a:ea typeface="Calibri"/>
                <a:cs typeface="Calibri"/>
                <a:sym typeface="Calibri"/>
              </a:rPr>
              <a:t>. И </a:t>
            </a:r>
            <a:r>
              <a:rPr lang="ru-RU" sz="1200" b="0" i="0" u="none" strike="noStrike" cap="none" dirty="0" err="1" smtClean="0">
                <a:solidFill>
                  <a:schemeClr val="dk1"/>
                </a:solidFill>
                <a:effectLst/>
                <a:latin typeface="Calibri"/>
                <a:ea typeface="Calibri"/>
                <a:cs typeface="Calibri"/>
                <a:sym typeface="Calibri"/>
              </a:rPr>
              <a:t>Multics</a:t>
            </a:r>
            <a:r>
              <a:rPr lang="ru-RU" sz="1200" b="0" i="0" u="none" strike="noStrike" cap="none" dirty="0" smtClean="0">
                <a:solidFill>
                  <a:schemeClr val="dk1"/>
                </a:solidFill>
                <a:effectLst/>
                <a:latin typeface="Calibri"/>
                <a:ea typeface="Calibri"/>
                <a:cs typeface="Calibri"/>
                <a:sym typeface="Calibri"/>
              </a:rPr>
              <a:t>, и система из </a:t>
            </a:r>
            <a:r>
              <a:rPr lang="ru-RU" sz="1200" b="0" i="0" u="none" strike="noStrike" cap="none" dirty="0" err="1" smtClean="0">
                <a:solidFill>
                  <a:schemeClr val="dk1"/>
                </a:solidFill>
                <a:effectLst/>
                <a:latin typeface="Calibri"/>
                <a:ea typeface="Calibri"/>
                <a:cs typeface="Calibri"/>
                <a:sym typeface="Calibri"/>
              </a:rPr>
              <a:t>Дармутского</a:t>
            </a:r>
            <a:r>
              <a:rPr lang="ru-RU" sz="1200" b="0" i="0" u="none" strike="noStrike" cap="none" dirty="0" smtClean="0">
                <a:solidFill>
                  <a:schemeClr val="dk1"/>
                </a:solidFill>
                <a:effectLst/>
                <a:latin typeface="Calibri"/>
                <a:ea typeface="Calibri"/>
                <a:cs typeface="Calibri"/>
                <a:sym typeface="Calibri"/>
              </a:rPr>
              <a:t> колледжа нашли себе применение, но были далеки от совершенства: медленные, нестабильные, небезопасные. Ученые хотели и знали, как сделать лучше, только возможности оборудования были ограничены. </a:t>
            </a:r>
          </a:p>
          <a:p>
            <a:r>
              <a:rPr lang="ru-RU" sz="1200" b="0" i="0" u="none" strike="noStrike" cap="none" dirty="0" smtClean="0">
                <a:solidFill>
                  <a:schemeClr val="dk1"/>
                </a:solidFill>
                <a:effectLst/>
                <a:latin typeface="Calibri"/>
                <a:ea typeface="Calibri"/>
                <a:cs typeface="Calibri"/>
                <a:sym typeface="Calibri"/>
              </a:rPr>
              <a:t>В 1968 году компания IBM создала </a:t>
            </a:r>
            <a:r>
              <a:rPr lang="ru-RU" sz="1200" b="0" i="0" u="none" strike="noStrike" cap="none" dirty="0" err="1" smtClean="0">
                <a:solidFill>
                  <a:schemeClr val="dk1"/>
                </a:solidFill>
                <a:effectLst/>
                <a:latin typeface="Calibri"/>
                <a:ea typeface="Calibri"/>
                <a:cs typeface="Calibri"/>
                <a:sym typeface="Calibri"/>
              </a:rPr>
              <a:t>мейнфрейм</a:t>
            </a:r>
            <a:r>
              <a:rPr lang="ru-RU" sz="1200" b="0" i="0" u="none" strike="noStrike" cap="none" dirty="0" smtClean="0">
                <a:solidFill>
                  <a:schemeClr val="dk1"/>
                </a:solidFill>
                <a:effectLst/>
                <a:latin typeface="Calibri"/>
                <a:ea typeface="Calibri"/>
                <a:cs typeface="Calibri"/>
                <a:sym typeface="Calibri"/>
              </a:rPr>
              <a:t> нового типа, а к нему, совместно с учёными из Кембриджа, систему CP/CMS. Это была первая ОС с поддержкой виртуализации. В основе CP/CMS лежал монитор виртуальных машин или гипервизор.</a:t>
            </a:r>
          </a:p>
          <a:p>
            <a:pPr marL="0" lvl="0" indent="0" algn="l" rtl="0">
              <a:spcBef>
                <a:spcPts val="0"/>
              </a:spcBef>
              <a:spcAft>
                <a:spcPts val="0"/>
              </a:spcAft>
              <a:buNone/>
            </a:pPr>
            <a:endParaRPr dirty="0"/>
          </a:p>
        </p:txBody>
      </p:sp>
      <p:sp>
        <p:nvSpPr>
          <p:cNvPr id="161" name="Google Shape;16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ru-RU" sz="1200" b="0" i="0" u="none" strike="noStrike" cap="none" dirty="0" smtClean="0">
                <a:solidFill>
                  <a:schemeClr val="dk1"/>
                </a:solidFill>
                <a:effectLst/>
                <a:latin typeface="Calibri"/>
                <a:ea typeface="Calibri"/>
                <a:cs typeface="Calibri"/>
                <a:sym typeface="Calibri"/>
              </a:rPr>
              <a:t>Выглядели такие системы уже гораздо более привычно, — как терминалы, подключённые к </a:t>
            </a:r>
            <a:r>
              <a:rPr lang="ru-RU" sz="1200" b="0" i="0" u="none" strike="noStrike" cap="none" dirty="0" err="1" smtClean="0">
                <a:solidFill>
                  <a:schemeClr val="dk1"/>
                </a:solidFill>
                <a:effectLst/>
                <a:latin typeface="Calibri"/>
                <a:ea typeface="Calibri"/>
                <a:cs typeface="Calibri"/>
                <a:sym typeface="Calibri"/>
              </a:rPr>
              <a:t>мейнфрейму</a:t>
            </a:r>
            <a:r>
              <a:rPr lang="ru-RU" sz="1200" b="0" i="0" u="none" strike="noStrike" cap="none" dirty="0" smtClean="0">
                <a:solidFill>
                  <a:schemeClr val="dk1"/>
                </a:solidFill>
                <a:effectLst/>
                <a:latin typeface="Calibri"/>
                <a:ea typeface="Calibri"/>
                <a:cs typeface="Calibri"/>
                <a:sym typeface="Calibri"/>
              </a:rPr>
              <a:t>. </a:t>
            </a:r>
            <a:r>
              <a:rPr lang="ru-RU" sz="1200" b="0" i="0" u="none" strike="noStrike" cap="none" dirty="0" err="1" smtClean="0">
                <a:solidFill>
                  <a:schemeClr val="dk1"/>
                </a:solidFill>
                <a:effectLst/>
                <a:latin typeface="Calibri"/>
                <a:ea typeface="Calibri"/>
                <a:cs typeface="Calibri"/>
                <a:sym typeface="Calibri"/>
              </a:rPr>
              <a:t>Мейнфрейм</a:t>
            </a:r>
            <a:r>
              <a:rPr lang="ru-RU" sz="1200" b="0" i="0" u="none" strike="noStrike" cap="none" dirty="0" smtClean="0">
                <a:solidFill>
                  <a:schemeClr val="dk1"/>
                </a:solidFill>
                <a:effectLst/>
                <a:latin typeface="Calibri"/>
                <a:ea typeface="Calibri"/>
                <a:cs typeface="Calibri"/>
                <a:sym typeface="Calibri"/>
              </a:rPr>
              <a:t> — большой и мощный компьютер. Терминалы — устройства с экраном, клавиатурой и мышью. Через терминалы пользователи вводили данные и ставили задачи, а выполнялись они на </a:t>
            </a:r>
            <a:r>
              <a:rPr lang="ru-RU" sz="1200" b="0" i="0" u="none" strike="noStrike" cap="none" dirty="0" err="1" smtClean="0">
                <a:solidFill>
                  <a:schemeClr val="dk1"/>
                </a:solidFill>
                <a:effectLst/>
                <a:latin typeface="Calibri"/>
                <a:ea typeface="Calibri"/>
                <a:cs typeface="Calibri"/>
                <a:sym typeface="Calibri"/>
              </a:rPr>
              <a:t>мейнфрейме</a:t>
            </a:r>
            <a:r>
              <a:rPr lang="ru-RU" sz="1200" b="0" i="0" u="none" strike="noStrike" cap="none" dirty="0" smtClean="0">
                <a:solidFill>
                  <a:schemeClr val="dk1"/>
                </a:solidFill>
                <a:effectLst/>
                <a:latin typeface="Calibri"/>
                <a:ea typeface="Calibri"/>
                <a:cs typeface="Calibri"/>
                <a:sym typeface="Calibri"/>
              </a:rPr>
              <a:t>. </a:t>
            </a:r>
            <a:r>
              <a:rPr lang="ru-RU" sz="1200" b="0" i="0" u="none" strike="noStrike" cap="none" dirty="0" err="1" smtClean="0">
                <a:solidFill>
                  <a:schemeClr val="dk1"/>
                </a:solidFill>
                <a:effectLst/>
                <a:latin typeface="Calibri"/>
                <a:ea typeface="Calibri"/>
                <a:cs typeface="Calibri"/>
                <a:sym typeface="Calibri"/>
              </a:rPr>
              <a:t>Мейнфрейм</a:t>
            </a:r>
            <a:r>
              <a:rPr lang="ru-RU" sz="1200" b="0" i="0" u="none" strike="noStrike" cap="none" dirty="0" smtClean="0">
                <a:solidFill>
                  <a:schemeClr val="dk1"/>
                </a:solidFill>
                <a:effectLst/>
                <a:latin typeface="Calibri"/>
                <a:ea typeface="Calibri"/>
                <a:cs typeface="Calibri"/>
                <a:sym typeface="Calibri"/>
              </a:rPr>
              <a:t> был один, а терминалов множество, от десятков до сотен.</a:t>
            </a:r>
          </a:p>
          <a:p>
            <a:pPr marL="0" lvl="0" indent="0" algn="l" rtl="0">
              <a:spcBef>
                <a:spcPts val="0"/>
              </a:spcBef>
              <a:spcAft>
                <a:spcPts val="0"/>
              </a:spcAft>
              <a:buNone/>
            </a:pPr>
            <a:r>
              <a:rPr lang="ru-RU" sz="1200" b="0" i="0" u="none" strike="noStrike" cap="none" dirty="0" smtClean="0">
                <a:solidFill>
                  <a:schemeClr val="dk1"/>
                </a:solidFill>
                <a:effectLst/>
                <a:latin typeface="Calibri"/>
                <a:ea typeface="Calibri"/>
                <a:cs typeface="Calibri"/>
                <a:sym typeface="Calibri"/>
              </a:rPr>
              <a:t>Позже CP/CMS усовершенствовали, переименовали и запустили в продажу. Она легла в основу ОС </a:t>
            </a:r>
            <a:r>
              <a:rPr lang="ru-RU" sz="1200" b="0" i="0" u="none" strike="noStrike" cap="none" dirty="0" smtClean="0">
                <a:solidFill>
                  <a:schemeClr val="dk1"/>
                </a:solidFill>
                <a:effectLst/>
                <a:latin typeface="Calibri"/>
                <a:ea typeface="Calibri"/>
                <a:cs typeface="Calibri"/>
                <a:sym typeface="Calibri"/>
                <a:hlinkClick r:id="rId3"/>
              </a:rPr>
              <a:t>VM/370</a:t>
            </a:r>
            <a:r>
              <a:rPr lang="ru-RU" sz="1200" b="0" i="0" u="none" strike="noStrike" cap="none" dirty="0" smtClean="0">
                <a:solidFill>
                  <a:schemeClr val="dk1"/>
                </a:solidFill>
                <a:effectLst/>
                <a:latin typeface="Calibri"/>
                <a:ea typeface="Calibri"/>
                <a:cs typeface="Calibri"/>
                <a:sym typeface="Calibri"/>
              </a:rPr>
              <a:t>, с которой поставлялся один из самых популярных </a:t>
            </a:r>
            <a:r>
              <a:rPr lang="ru-RU" sz="1200" b="0" i="0" u="none" strike="noStrike" cap="none" dirty="0" err="1" smtClean="0">
                <a:solidFill>
                  <a:schemeClr val="dk1"/>
                </a:solidFill>
                <a:effectLst/>
                <a:latin typeface="Calibri"/>
                <a:ea typeface="Calibri"/>
                <a:cs typeface="Calibri"/>
                <a:sym typeface="Calibri"/>
              </a:rPr>
              <a:t>мейнфреймов</a:t>
            </a:r>
            <a:r>
              <a:rPr lang="ru-RU" sz="1200" b="0" i="0" u="none" strike="noStrike" cap="none" dirty="0" smtClean="0">
                <a:solidFill>
                  <a:schemeClr val="dk1"/>
                </a:solidFill>
                <a:effectLst/>
                <a:latin typeface="Calibri"/>
                <a:ea typeface="Calibri"/>
                <a:cs typeface="Calibri"/>
                <a:sym typeface="Calibri"/>
              </a:rPr>
              <a:t> IBM — </a:t>
            </a:r>
            <a:r>
              <a:rPr lang="ru-RU" sz="1200" b="0" i="0" u="none" strike="noStrike" cap="none" dirty="0" err="1" smtClean="0">
                <a:solidFill>
                  <a:schemeClr val="dk1"/>
                </a:solidFill>
                <a:effectLst/>
                <a:latin typeface="Calibri"/>
                <a:ea typeface="Calibri"/>
                <a:cs typeface="Calibri"/>
                <a:sym typeface="Calibri"/>
              </a:rPr>
              <a:t>System</a:t>
            </a:r>
            <a:r>
              <a:rPr lang="ru-RU" sz="1200" b="0" i="0" u="none" strike="noStrike" cap="none" dirty="0" smtClean="0">
                <a:solidFill>
                  <a:schemeClr val="dk1"/>
                </a:solidFill>
                <a:effectLst/>
                <a:latin typeface="Calibri"/>
                <a:ea typeface="Calibri"/>
                <a:cs typeface="Calibri"/>
                <a:sym typeface="Calibri"/>
              </a:rPr>
              <a:t>/370.</a:t>
            </a:r>
          </a:p>
          <a:p>
            <a:pPr marL="0" lvl="0" indent="0" algn="l" rtl="0">
              <a:spcBef>
                <a:spcPts val="0"/>
              </a:spcBef>
              <a:spcAft>
                <a:spcPts val="0"/>
              </a:spcAft>
              <a:buNone/>
            </a:pPr>
            <a:r>
              <a:rPr lang="ru-RU" sz="1200" b="0" i="0" u="none" strike="noStrike" cap="none" dirty="0" smtClean="0">
                <a:solidFill>
                  <a:schemeClr val="dk1"/>
                </a:solidFill>
                <a:effectLst/>
                <a:latin typeface="Calibri"/>
                <a:ea typeface="Calibri"/>
                <a:cs typeface="Calibri"/>
                <a:sym typeface="Calibri"/>
              </a:rPr>
              <a:t>Выглядели такие системы уже гораздо более привычно, — как терминалы, подключённые к </a:t>
            </a:r>
            <a:r>
              <a:rPr lang="ru-RU" sz="1200" b="0" i="0" u="none" strike="noStrike" cap="none" dirty="0" err="1" smtClean="0">
                <a:solidFill>
                  <a:schemeClr val="dk1"/>
                </a:solidFill>
                <a:effectLst/>
                <a:latin typeface="Calibri"/>
                <a:ea typeface="Calibri"/>
                <a:cs typeface="Calibri"/>
                <a:sym typeface="Calibri"/>
              </a:rPr>
              <a:t>мейнфрейму</a:t>
            </a:r>
            <a:r>
              <a:rPr lang="ru-RU" sz="1200" b="0" i="0" u="none" strike="noStrike" cap="none" dirty="0" smtClean="0">
                <a:solidFill>
                  <a:schemeClr val="dk1"/>
                </a:solidFill>
                <a:effectLst/>
                <a:latin typeface="Calibri"/>
                <a:ea typeface="Calibri"/>
                <a:cs typeface="Calibri"/>
                <a:sym typeface="Calibri"/>
              </a:rPr>
              <a:t>. </a:t>
            </a:r>
            <a:r>
              <a:rPr lang="ru-RU" sz="1200" b="0" i="0" u="none" strike="noStrike" cap="none" dirty="0" err="1" smtClean="0">
                <a:solidFill>
                  <a:schemeClr val="dk1"/>
                </a:solidFill>
                <a:effectLst/>
                <a:latin typeface="Calibri"/>
                <a:ea typeface="Calibri"/>
                <a:cs typeface="Calibri"/>
                <a:sym typeface="Calibri"/>
              </a:rPr>
              <a:t>Мейнфрейм</a:t>
            </a:r>
            <a:r>
              <a:rPr lang="ru-RU" sz="1200" b="0" i="0" u="none" strike="noStrike" cap="none" dirty="0" smtClean="0">
                <a:solidFill>
                  <a:schemeClr val="dk1"/>
                </a:solidFill>
                <a:effectLst/>
                <a:latin typeface="Calibri"/>
                <a:ea typeface="Calibri"/>
                <a:cs typeface="Calibri"/>
                <a:sym typeface="Calibri"/>
              </a:rPr>
              <a:t> — большой и мощный компьютер. Терминалы — устройства с экраном, клавиатурой и мышью. Через терминалы пользователи вводили данные и ставили задачи, а выполнялись они на </a:t>
            </a:r>
            <a:r>
              <a:rPr lang="ru-RU" sz="1200" b="0" i="0" u="none" strike="noStrike" cap="none" dirty="0" err="1" smtClean="0">
                <a:solidFill>
                  <a:schemeClr val="dk1"/>
                </a:solidFill>
                <a:effectLst/>
                <a:latin typeface="Calibri"/>
                <a:ea typeface="Calibri"/>
                <a:cs typeface="Calibri"/>
                <a:sym typeface="Calibri"/>
              </a:rPr>
              <a:t>мейнфрейме</a:t>
            </a:r>
            <a:r>
              <a:rPr lang="ru-RU" sz="1200" b="0" i="0" u="none" strike="noStrike" cap="none" dirty="0" smtClean="0">
                <a:solidFill>
                  <a:schemeClr val="dk1"/>
                </a:solidFill>
                <a:effectLst/>
                <a:latin typeface="Calibri"/>
                <a:ea typeface="Calibri"/>
                <a:cs typeface="Calibri"/>
                <a:sym typeface="Calibri"/>
              </a:rPr>
              <a:t>. </a:t>
            </a:r>
            <a:r>
              <a:rPr lang="ru-RU" sz="1200" b="0" i="0" u="none" strike="noStrike" cap="none" dirty="0" err="1" smtClean="0">
                <a:solidFill>
                  <a:schemeClr val="dk1"/>
                </a:solidFill>
                <a:effectLst/>
                <a:latin typeface="Calibri"/>
                <a:ea typeface="Calibri"/>
                <a:cs typeface="Calibri"/>
                <a:sym typeface="Calibri"/>
              </a:rPr>
              <a:t>Мейнфрейм</a:t>
            </a:r>
            <a:r>
              <a:rPr lang="ru-RU" sz="1200" b="0" i="0" u="none" strike="noStrike" cap="none" dirty="0" smtClean="0">
                <a:solidFill>
                  <a:schemeClr val="dk1"/>
                </a:solidFill>
                <a:effectLst/>
                <a:latin typeface="Calibri"/>
                <a:ea typeface="Calibri"/>
                <a:cs typeface="Calibri"/>
                <a:sym typeface="Calibri"/>
              </a:rPr>
              <a:t> был один, а терминалов множество, от десятков до сотен.</a:t>
            </a:r>
            <a:endParaRPr dirty="0"/>
          </a:p>
        </p:txBody>
      </p:sp>
      <p:sp>
        <p:nvSpPr>
          <p:cNvPr id="168" name="Google Shape;16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sz="1200" b="1" i="0">
                <a:solidFill>
                  <a:schemeClr val="dk1"/>
                </a:solidFill>
                <a:latin typeface="Calibri"/>
                <a:ea typeface="Calibri"/>
                <a:cs typeface="Calibri"/>
                <a:sym typeface="Calibri"/>
              </a:rPr>
              <a:t>Виртуализация на основе ВМ</a:t>
            </a:r>
            <a:endParaRPr/>
          </a:p>
          <a:p>
            <a:pPr marL="0" lvl="0" indent="0" algn="l" rtl="0">
              <a:spcBef>
                <a:spcPts val="0"/>
              </a:spcBef>
              <a:spcAft>
                <a:spcPts val="0"/>
              </a:spcAft>
              <a:buNone/>
            </a:pPr>
            <a:r>
              <a:rPr lang="ru-RU" sz="1200" b="0">
                <a:solidFill>
                  <a:schemeClr val="dk1"/>
                </a:solidFill>
                <a:latin typeface="Calibri"/>
                <a:ea typeface="Calibri"/>
                <a:cs typeface="Calibri"/>
                <a:sym typeface="Calibri"/>
              </a:rPr>
              <a:t>Такой подход на основе ВМ выполняет виртуализацию всей ОС целиком. Те абстракции, которые предоставляются в соответствующую ВМ, это виртуальные устройства такие как виртуальные диски, виртуальные ЦПУ и виртуальные NIC {</a:t>
            </a:r>
            <a:r>
              <a:rPr lang="ru-RU" sz="1200" b="0" i="1">
                <a:solidFill>
                  <a:schemeClr val="dk1"/>
                </a:solidFill>
                <a:latin typeface="Calibri"/>
                <a:ea typeface="Calibri"/>
                <a:cs typeface="Calibri"/>
                <a:sym typeface="Calibri"/>
              </a:rPr>
              <a:t>Прим. пер.: а также виртуальные GPU и т.д.</a:t>
            </a:r>
            <a:r>
              <a:rPr lang="ru-RU" sz="1200" b="0">
                <a:solidFill>
                  <a:schemeClr val="dk1"/>
                </a:solidFill>
                <a:latin typeface="Calibri"/>
                <a:ea typeface="Calibri"/>
                <a:cs typeface="Calibri"/>
                <a:sym typeface="Calibri"/>
              </a:rPr>
              <a:t>}. Иначе говоря, мы можем постулировать, что это полная ISA (instruction set architecture, архитектура набора инструкций); например, ISA x86.</a:t>
            </a:r>
            <a:endParaRPr/>
          </a:p>
          <a:p>
            <a:pPr marL="0" lvl="0" indent="0" algn="l" rtl="0">
              <a:spcBef>
                <a:spcPts val="0"/>
              </a:spcBef>
              <a:spcAft>
                <a:spcPts val="0"/>
              </a:spcAft>
              <a:buNone/>
            </a:pPr>
            <a:r>
              <a:rPr lang="ru-RU" sz="1200" b="1" i="0">
                <a:solidFill>
                  <a:schemeClr val="dk1"/>
                </a:solidFill>
                <a:latin typeface="Calibri"/>
                <a:ea typeface="Calibri"/>
                <a:cs typeface="Calibri"/>
                <a:sym typeface="Calibri"/>
              </a:rPr>
              <a:t>Виртуализация на основе контейнеров</a:t>
            </a:r>
            <a:endParaRPr/>
          </a:p>
          <a:p>
            <a:pPr marL="0" lvl="0" indent="0" algn="l" rtl="0">
              <a:spcBef>
                <a:spcPts val="0"/>
              </a:spcBef>
              <a:spcAft>
                <a:spcPts val="0"/>
              </a:spcAft>
              <a:buNone/>
            </a:pPr>
            <a:r>
              <a:rPr lang="ru-RU" sz="1200" b="0">
                <a:solidFill>
                  <a:schemeClr val="dk1"/>
                </a:solidFill>
                <a:latin typeface="Calibri"/>
                <a:ea typeface="Calibri"/>
                <a:cs typeface="Calibri"/>
                <a:sym typeface="Calibri"/>
              </a:rPr>
              <a:t>Такая форма виртуализации на выполняет абстракцию своего оборудования, а вместо этого применяет технологии внутри своего ядра Linux для изоляции путей доступа к различным ресурсам. Она высекает некие логические границы внутри одной и той же операционной системы. В качестве примера, мы получаем отдельную корневую файловую систему, отдельное дерево процессов, отдельную сетевую подсистему, и так далее.</a:t>
            </a:r>
            <a:endParaRPr/>
          </a:p>
          <a:p>
            <a:pPr marL="0" lvl="0" indent="0" algn="l" rtl="0">
              <a:spcBef>
                <a:spcPts val="0"/>
              </a:spcBef>
              <a:spcAft>
                <a:spcPts val="0"/>
              </a:spcAft>
              <a:buNone/>
            </a:pPr>
            <a:endParaRPr/>
          </a:p>
        </p:txBody>
      </p:sp>
      <p:sp>
        <p:nvSpPr>
          <p:cNvPr id="198" name="Google Shape;198;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3"/>
        <p:cNvGrpSpPr/>
        <p:nvPr/>
      </p:nvGrpSpPr>
      <p:grpSpPr>
        <a:xfrm>
          <a:off x="0" y="0"/>
          <a:ext cx="0" cy="0"/>
          <a:chOff x="0" y="0"/>
          <a:chExt cx="0" cy="0"/>
        </a:xfrm>
      </p:grpSpPr>
      <p:sp>
        <p:nvSpPr>
          <p:cNvPr id="14" name="Google Shape;14;p50"/>
          <p:cNvSpPr txBox="1">
            <a:spLocks noGrp="1"/>
          </p:cNvSpPr>
          <p:nvPr>
            <p:ph type="subTitle" idx="1"/>
          </p:nvPr>
        </p:nvSpPr>
        <p:spPr>
          <a:xfrm>
            <a:off x="1371600" y="4599335"/>
            <a:ext cx="6400800" cy="228599"/>
          </a:xfrm>
          <a:prstGeom prst="rect">
            <a:avLst/>
          </a:prstGeom>
          <a:noFill/>
          <a:ln>
            <a:noFill/>
          </a:ln>
        </p:spPr>
        <p:txBody>
          <a:bodyPr spcFirstLastPara="1" wrap="square" lIns="91425" tIns="45700" rIns="91425" bIns="45700" anchor="b" anchorCtr="0">
            <a:normAutofit/>
          </a:bodyPr>
          <a:lstStyle>
            <a:lvl1pPr lvl="0" algn="ctr">
              <a:spcBef>
                <a:spcPts val="240"/>
              </a:spcBef>
              <a:spcAft>
                <a:spcPts val="0"/>
              </a:spcAft>
              <a:buClr>
                <a:schemeClr val="lt1"/>
              </a:buClr>
              <a:buSzPts val="1200"/>
              <a:buFont typeface="Calibri"/>
              <a:buNone/>
              <a:defRPr sz="1200">
                <a:solidFill>
                  <a:schemeClr val="lt1"/>
                </a:solidFill>
              </a:defRPr>
            </a:lvl1pPr>
            <a:lvl2pPr lvl="1" algn="ctr">
              <a:spcBef>
                <a:spcPts val="400"/>
              </a:spcBef>
              <a:spcAft>
                <a:spcPts val="0"/>
              </a:spcAft>
              <a:buClr>
                <a:srgbClr val="888CC5"/>
              </a:buClr>
              <a:buSzPts val="2000"/>
              <a:buNone/>
              <a:defRPr>
                <a:solidFill>
                  <a:srgbClr val="888CC5"/>
                </a:solidFill>
              </a:defRPr>
            </a:lvl2pPr>
            <a:lvl3pPr lvl="2" algn="ctr">
              <a:spcBef>
                <a:spcPts val="320"/>
              </a:spcBef>
              <a:spcAft>
                <a:spcPts val="0"/>
              </a:spcAft>
              <a:buClr>
                <a:srgbClr val="888CC5"/>
              </a:buClr>
              <a:buSzPts val="1600"/>
              <a:buNone/>
              <a:defRPr>
                <a:solidFill>
                  <a:srgbClr val="888CC5"/>
                </a:solidFill>
              </a:defRPr>
            </a:lvl3pPr>
            <a:lvl4pPr lvl="3" algn="ctr">
              <a:spcBef>
                <a:spcPts val="320"/>
              </a:spcBef>
              <a:spcAft>
                <a:spcPts val="0"/>
              </a:spcAft>
              <a:buClr>
                <a:srgbClr val="888CC5"/>
              </a:buClr>
              <a:buSzPts val="1600"/>
              <a:buNone/>
              <a:defRPr>
                <a:solidFill>
                  <a:srgbClr val="888CC5"/>
                </a:solidFill>
              </a:defRPr>
            </a:lvl4pPr>
            <a:lvl5pPr lvl="4" algn="ctr">
              <a:spcBef>
                <a:spcPts val="320"/>
              </a:spcBef>
              <a:spcAft>
                <a:spcPts val="0"/>
              </a:spcAft>
              <a:buClr>
                <a:srgbClr val="888CC5"/>
              </a:buClr>
              <a:buSzPts val="1600"/>
              <a:buNone/>
              <a:defRPr>
                <a:solidFill>
                  <a:srgbClr val="888CC5"/>
                </a:solidFill>
              </a:defRPr>
            </a:lvl5pPr>
            <a:lvl6pPr lvl="5" algn="ctr">
              <a:spcBef>
                <a:spcPts val="400"/>
              </a:spcBef>
              <a:spcAft>
                <a:spcPts val="0"/>
              </a:spcAft>
              <a:buClr>
                <a:srgbClr val="888CC5"/>
              </a:buClr>
              <a:buSzPts val="2000"/>
              <a:buNone/>
              <a:defRPr>
                <a:solidFill>
                  <a:srgbClr val="888CC5"/>
                </a:solidFill>
              </a:defRPr>
            </a:lvl6pPr>
            <a:lvl7pPr lvl="6" algn="ctr">
              <a:spcBef>
                <a:spcPts val="400"/>
              </a:spcBef>
              <a:spcAft>
                <a:spcPts val="0"/>
              </a:spcAft>
              <a:buClr>
                <a:srgbClr val="888CC5"/>
              </a:buClr>
              <a:buSzPts val="2000"/>
              <a:buNone/>
              <a:defRPr>
                <a:solidFill>
                  <a:srgbClr val="888CC5"/>
                </a:solidFill>
              </a:defRPr>
            </a:lvl7pPr>
            <a:lvl8pPr lvl="7" algn="ctr">
              <a:spcBef>
                <a:spcPts val="400"/>
              </a:spcBef>
              <a:spcAft>
                <a:spcPts val="0"/>
              </a:spcAft>
              <a:buClr>
                <a:srgbClr val="888CC5"/>
              </a:buClr>
              <a:buSzPts val="2000"/>
              <a:buNone/>
              <a:defRPr>
                <a:solidFill>
                  <a:srgbClr val="888CC5"/>
                </a:solidFill>
              </a:defRPr>
            </a:lvl8pPr>
            <a:lvl9pPr lvl="8" algn="ctr">
              <a:spcBef>
                <a:spcPts val="400"/>
              </a:spcBef>
              <a:spcAft>
                <a:spcPts val="0"/>
              </a:spcAft>
              <a:buClr>
                <a:srgbClr val="888CC5"/>
              </a:buClr>
              <a:buSzPts val="2000"/>
              <a:buNone/>
              <a:defRPr>
                <a:solidFill>
                  <a:srgbClr val="888CC5"/>
                </a:solidFill>
              </a:defRPr>
            </a:lvl9pPr>
          </a:lstStyle>
          <a:p>
            <a:endParaRPr/>
          </a:p>
        </p:txBody>
      </p:sp>
      <p:sp>
        <p:nvSpPr>
          <p:cNvPr id="15" name="Google Shape;15;p50"/>
          <p:cNvSpPr txBox="1"/>
          <p:nvPr/>
        </p:nvSpPr>
        <p:spPr>
          <a:xfrm>
            <a:off x="5098416" y="49027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50"/>
          <p:cNvSpPr txBox="1"/>
          <p:nvPr/>
        </p:nvSpPr>
        <p:spPr>
          <a:xfrm>
            <a:off x="5910801" y="427239"/>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17;p50"/>
          <p:cNvSpPr txBox="1">
            <a:spLocks noGrp="1"/>
          </p:cNvSpPr>
          <p:nvPr>
            <p:ph type="title"/>
          </p:nvPr>
        </p:nvSpPr>
        <p:spPr>
          <a:xfrm>
            <a:off x="1371600" y="2926326"/>
            <a:ext cx="6400800" cy="705749"/>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lt1"/>
              </a:buClr>
              <a:buSzPts val="3200"/>
              <a:buFont typeface="Calibri"/>
              <a:buNone/>
              <a:defRPr sz="32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50"/>
          <p:cNvSpPr txBox="1">
            <a:spLocks noGrp="1"/>
          </p:cNvSpPr>
          <p:nvPr>
            <p:ph type="body" idx="2"/>
          </p:nvPr>
        </p:nvSpPr>
        <p:spPr>
          <a:xfrm>
            <a:off x="1371600" y="3637205"/>
            <a:ext cx="6400800" cy="462905"/>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Clr>
                <a:schemeClr val="lt1"/>
              </a:buClr>
              <a:buSzPts val="1600"/>
              <a:buFont typeface="Calibri"/>
              <a:buNone/>
              <a:defRPr sz="1600">
                <a:solidFill>
                  <a:schemeClr val="lt1"/>
                </a:solidFill>
              </a:defRPr>
            </a:lvl1pPr>
            <a:lvl2pPr marL="914400" lvl="1" indent="-228600" algn="l">
              <a:spcBef>
                <a:spcPts val="400"/>
              </a:spcBef>
              <a:spcAft>
                <a:spcPts val="0"/>
              </a:spcAft>
              <a:buClr>
                <a:schemeClr val="dk1"/>
              </a:buClr>
              <a:buSzPts val="2000"/>
              <a:buFont typeface="Calibri"/>
              <a:buNone/>
              <a:defRPr/>
            </a:lvl2pPr>
            <a:lvl3pPr marL="1371600" lvl="2" indent="-228600" algn="l">
              <a:spcBef>
                <a:spcPts val="320"/>
              </a:spcBef>
              <a:spcAft>
                <a:spcPts val="0"/>
              </a:spcAft>
              <a:buClr>
                <a:schemeClr val="dk1"/>
              </a:buClr>
              <a:buSzPts val="1600"/>
              <a:buFont typeface="Calibri"/>
              <a:buNone/>
              <a:defRPr/>
            </a:lvl3pPr>
            <a:lvl4pPr marL="1828800" lvl="3" indent="-228600" algn="l">
              <a:spcBef>
                <a:spcPts val="320"/>
              </a:spcBef>
              <a:spcAft>
                <a:spcPts val="0"/>
              </a:spcAft>
              <a:buClr>
                <a:schemeClr val="dk1"/>
              </a:buClr>
              <a:buSzPts val="1600"/>
              <a:buFont typeface="Calibri"/>
              <a:buNone/>
              <a:defRPr/>
            </a:lvl4pPr>
            <a:lvl5pPr marL="2286000" lvl="4" indent="-228600" algn="l">
              <a:spcBef>
                <a:spcPts val="320"/>
              </a:spcBef>
              <a:spcAft>
                <a:spcPts val="0"/>
              </a:spcAft>
              <a:buClr>
                <a:schemeClr val="dk1"/>
              </a:buClr>
              <a:buSzPts val="16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Финал">
  <p:cSld name="Финал">
    <p:spTree>
      <p:nvGrpSpPr>
        <p:cNvPr id="1" name="Shape 19"/>
        <p:cNvGrpSpPr/>
        <p:nvPr/>
      </p:nvGrpSpPr>
      <p:grpSpPr>
        <a:xfrm>
          <a:off x="0" y="0"/>
          <a:ext cx="0" cy="0"/>
          <a:chOff x="0" y="0"/>
          <a:chExt cx="0" cy="0"/>
        </a:xfrm>
      </p:grpSpPr>
      <p:sp>
        <p:nvSpPr>
          <p:cNvPr id="20" name="Google Shape;20;p54"/>
          <p:cNvSpPr txBox="1">
            <a:spLocks noGrp="1"/>
          </p:cNvSpPr>
          <p:nvPr>
            <p:ph type="title"/>
          </p:nvPr>
        </p:nvSpPr>
        <p:spPr>
          <a:xfrm>
            <a:off x="457200" y="2010279"/>
            <a:ext cx="8229600" cy="62048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3200"/>
              <a:buFont typeface="Calibri"/>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54"/>
          <p:cNvSpPr txBox="1">
            <a:spLocks noGrp="1"/>
          </p:cNvSpPr>
          <p:nvPr>
            <p:ph type="body" idx="1"/>
          </p:nvPr>
        </p:nvSpPr>
        <p:spPr>
          <a:xfrm>
            <a:off x="457200" y="2787704"/>
            <a:ext cx="8229600" cy="594122"/>
          </a:xfrm>
          <a:prstGeom prst="rect">
            <a:avLst/>
          </a:prstGeom>
          <a:noFill/>
          <a:ln>
            <a:noFill/>
          </a:ln>
        </p:spPr>
        <p:txBody>
          <a:bodyPr spcFirstLastPara="1" wrap="square" lIns="91425" tIns="45700" rIns="91425" bIns="45700" anchor="t" anchorCtr="0">
            <a:normAutofit/>
          </a:bodyPr>
          <a:lstStyle>
            <a:lvl1pPr marL="457200" lvl="0" indent="-228600" algn="ctr">
              <a:spcBef>
                <a:spcPts val="400"/>
              </a:spcBef>
              <a:spcAft>
                <a:spcPts val="0"/>
              </a:spcAft>
              <a:buClr>
                <a:srgbClr val="FFFFFF"/>
              </a:buClr>
              <a:buSzPts val="2000"/>
              <a:buFont typeface="Calibri"/>
              <a:buNone/>
              <a:defRPr>
                <a:solidFill>
                  <a:srgbClr val="FFFFFF"/>
                </a:solidFill>
              </a:defRPr>
            </a:lvl1pPr>
            <a:lvl2pPr marL="914400" lvl="1" indent="-228600" algn="ctr">
              <a:spcBef>
                <a:spcPts val="400"/>
              </a:spcBef>
              <a:spcAft>
                <a:spcPts val="0"/>
              </a:spcAft>
              <a:buClr>
                <a:srgbClr val="FFFFFF"/>
              </a:buClr>
              <a:buSzPts val="2000"/>
              <a:buFont typeface="Calibri"/>
              <a:buNone/>
              <a:defRPr>
                <a:solidFill>
                  <a:srgbClr val="FFFFFF"/>
                </a:solidFill>
              </a:defRPr>
            </a:lvl2pPr>
            <a:lvl3pPr marL="1371600" lvl="2" indent="-228600" algn="ctr">
              <a:spcBef>
                <a:spcPts val="320"/>
              </a:spcBef>
              <a:spcAft>
                <a:spcPts val="0"/>
              </a:spcAft>
              <a:buClr>
                <a:srgbClr val="FFFFFF"/>
              </a:buClr>
              <a:buSzPts val="1600"/>
              <a:buFont typeface="Calibri"/>
              <a:buNone/>
              <a:defRPr>
                <a:solidFill>
                  <a:srgbClr val="FFFFFF"/>
                </a:solidFill>
              </a:defRPr>
            </a:lvl3pPr>
            <a:lvl4pPr marL="1828800" lvl="3" indent="-228600" algn="ctr">
              <a:spcBef>
                <a:spcPts val="320"/>
              </a:spcBef>
              <a:spcAft>
                <a:spcPts val="0"/>
              </a:spcAft>
              <a:buClr>
                <a:srgbClr val="FFFFFF"/>
              </a:buClr>
              <a:buSzPts val="1600"/>
              <a:buFont typeface="Calibri"/>
              <a:buNone/>
              <a:defRPr>
                <a:solidFill>
                  <a:srgbClr val="FFFFFF"/>
                </a:solidFill>
              </a:defRPr>
            </a:lvl4pPr>
            <a:lvl5pPr marL="2286000" lvl="4" indent="-228600" algn="ctr">
              <a:spcBef>
                <a:spcPts val="320"/>
              </a:spcBef>
              <a:spcAft>
                <a:spcPts val="0"/>
              </a:spcAft>
              <a:buClr>
                <a:srgbClr val="FFFFFF"/>
              </a:buClr>
              <a:buSzPts val="1600"/>
              <a:buFont typeface="Calibri"/>
              <a:buNone/>
              <a:defRPr>
                <a:solidFill>
                  <a:srgbClr val="FFFFFF"/>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55"/>
          <p:cNvSpPr txBox="1">
            <a:spLocks noGrp="1"/>
          </p:cNvSpPr>
          <p:nvPr>
            <p:ph type="subTitle" idx="1"/>
          </p:nvPr>
        </p:nvSpPr>
        <p:spPr>
          <a:xfrm>
            <a:off x="1371600" y="4599335"/>
            <a:ext cx="6400800" cy="228599"/>
          </a:xfrm>
          <a:prstGeom prst="rect">
            <a:avLst/>
          </a:prstGeom>
          <a:noFill/>
          <a:ln>
            <a:noFill/>
          </a:ln>
        </p:spPr>
        <p:txBody>
          <a:bodyPr spcFirstLastPara="1" wrap="square" lIns="91425" tIns="45700" rIns="91425" bIns="45700" anchor="b" anchorCtr="0">
            <a:normAutofit/>
          </a:bodyPr>
          <a:lstStyle>
            <a:lvl1pPr lvl="0" algn="ctr">
              <a:spcBef>
                <a:spcPts val="240"/>
              </a:spcBef>
              <a:spcAft>
                <a:spcPts val="0"/>
              </a:spcAft>
              <a:buClr>
                <a:schemeClr val="lt1"/>
              </a:buClr>
              <a:buSzPts val="1200"/>
              <a:buFont typeface="Calibri"/>
              <a:buNone/>
              <a:defRPr sz="1200">
                <a:solidFill>
                  <a:schemeClr val="lt1"/>
                </a:solidFill>
              </a:defRPr>
            </a:lvl1pPr>
            <a:lvl2pPr lvl="1" algn="ctr">
              <a:spcBef>
                <a:spcPts val="400"/>
              </a:spcBef>
              <a:spcAft>
                <a:spcPts val="0"/>
              </a:spcAft>
              <a:buClr>
                <a:srgbClr val="888CC5"/>
              </a:buClr>
              <a:buSzPts val="2000"/>
              <a:buNone/>
              <a:defRPr>
                <a:solidFill>
                  <a:srgbClr val="888CC5"/>
                </a:solidFill>
              </a:defRPr>
            </a:lvl2pPr>
            <a:lvl3pPr lvl="2" algn="ctr">
              <a:spcBef>
                <a:spcPts val="320"/>
              </a:spcBef>
              <a:spcAft>
                <a:spcPts val="0"/>
              </a:spcAft>
              <a:buClr>
                <a:srgbClr val="888CC5"/>
              </a:buClr>
              <a:buSzPts val="1600"/>
              <a:buNone/>
              <a:defRPr>
                <a:solidFill>
                  <a:srgbClr val="888CC5"/>
                </a:solidFill>
              </a:defRPr>
            </a:lvl3pPr>
            <a:lvl4pPr lvl="3" algn="ctr">
              <a:spcBef>
                <a:spcPts val="320"/>
              </a:spcBef>
              <a:spcAft>
                <a:spcPts val="0"/>
              </a:spcAft>
              <a:buClr>
                <a:srgbClr val="888CC5"/>
              </a:buClr>
              <a:buSzPts val="1600"/>
              <a:buNone/>
              <a:defRPr>
                <a:solidFill>
                  <a:srgbClr val="888CC5"/>
                </a:solidFill>
              </a:defRPr>
            </a:lvl4pPr>
            <a:lvl5pPr lvl="4" algn="ctr">
              <a:spcBef>
                <a:spcPts val="320"/>
              </a:spcBef>
              <a:spcAft>
                <a:spcPts val="0"/>
              </a:spcAft>
              <a:buClr>
                <a:srgbClr val="888CC5"/>
              </a:buClr>
              <a:buSzPts val="1600"/>
              <a:buNone/>
              <a:defRPr>
                <a:solidFill>
                  <a:srgbClr val="888CC5"/>
                </a:solidFill>
              </a:defRPr>
            </a:lvl5pPr>
            <a:lvl6pPr lvl="5" algn="ctr">
              <a:spcBef>
                <a:spcPts val="400"/>
              </a:spcBef>
              <a:spcAft>
                <a:spcPts val="0"/>
              </a:spcAft>
              <a:buClr>
                <a:srgbClr val="888CC5"/>
              </a:buClr>
              <a:buSzPts val="2000"/>
              <a:buNone/>
              <a:defRPr>
                <a:solidFill>
                  <a:srgbClr val="888CC5"/>
                </a:solidFill>
              </a:defRPr>
            </a:lvl6pPr>
            <a:lvl7pPr lvl="6" algn="ctr">
              <a:spcBef>
                <a:spcPts val="400"/>
              </a:spcBef>
              <a:spcAft>
                <a:spcPts val="0"/>
              </a:spcAft>
              <a:buClr>
                <a:srgbClr val="888CC5"/>
              </a:buClr>
              <a:buSzPts val="2000"/>
              <a:buNone/>
              <a:defRPr>
                <a:solidFill>
                  <a:srgbClr val="888CC5"/>
                </a:solidFill>
              </a:defRPr>
            </a:lvl7pPr>
            <a:lvl8pPr lvl="7" algn="ctr">
              <a:spcBef>
                <a:spcPts val="400"/>
              </a:spcBef>
              <a:spcAft>
                <a:spcPts val="0"/>
              </a:spcAft>
              <a:buClr>
                <a:srgbClr val="888CC5"/>
              </a:buClr>
              <a:buSzPts val="2000"/>
              <a:buNone/>
              <a:defRPr>
                <a:solidFill>
                  <a:srgbClr val="888CC5"/>
                </a:solidFill>
              </a:defRPr>
            </a:lvl8pPr>
            <a:lvl9pPr lvl="8" algn="ctr">
              <a:spcBef>
                <a:spcPts val="400"/>
              </a:spcBef>
              <a:spcAft>
                <a:spcPts val="0"/>
              </a:spcAft>
              <a:buClr>
                <a:srgbClr val="888CC5"/>
              </a:buClr>
              <a:buSzPts val="2000"/>
              <a:buNone/>
              <a:defRPr>
                <a:solidFill>
                  <a:srgbClr val="888CC5"/>
                </a:solidFill>
              </a:defRPr>
            </a:lvl9pPr>
          </a:lstStyle>
          <a:p>
            <a:endParaRPr/>
          </a:p>
        </p:txBody>
      </p:sp>
      <p:sp>
        <p:nvSpPr>
          <p:cNvPr id="24" name="Google Shape;24;p55"/>
          <p:cNvSpPr txBox="1"/>
          <p:nvPr/>
        </p:nvSpPr>
        <p:spPr>
          <a:xfrm>
            <a:off x="5098416" y="49027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 name="Google Shape;25;p55"/>
          <p:cNvSpPr txBox="1"/>
          <p:nvPr/>
        </p:nvSpPr>
        <p:spPr>
          <a:xfrm>
            <a:off x="5910801" y="427239"/>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6"/>
        <p:cNvGrpSpPr/>
        <p:nvPr/>
      </p:nvGrpSpPr>
      <p:grpSpPr>
        <a:xfrm>
          <a:off x="0" y="0"/>
          <a:ext cx="0" cy="0"/>
          <a:chOff x="0" y="0"/>
          <a:chExt cx="0" cy="0"/>
        </a:xfrm>
      </p:grpSpPr>
      <p:sp>
        <p:nvSpPr>
          <p:cNvPr id="27" name="Google Shape;27;p56"/>
          <p:cNvSpPr txBox="1">
            <a:spLocks noGrp="1"/>
          </p:cNvSpPr>
          <p:nvPr>
            <p:ph type="title"/>
          </p:nvPr>
        </p:nvSpPr>
        <p:spPr>
          <a:xfrm>
            <a:off x="764693" y="997421"/>
            <a:ext cx="5965438" cy="1488969"/>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3200"/>
              <a:buFont typeface="Calibri"/>
              <a:buNone/>
              <a:defRPr sz="32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6"/>
          <p:cNvSpPr txBox="1">
            <a:spLocks noGrp="1"/>
          </p:cNvSpPr>
          <p:nvPr>
            <p:ph type="body" idx="1"/>
          </p:nvPr>
        </p:nvSpPr>
        <p:spPr>
          <a:xfrm>
            <a:off x="765697" y="2571750"/>
            <a:ext cx="5965825" cy="1652588"/>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Font typeface="Calibri"/>
              <a:buNone/>
              <a:defRPr sz="1600"/>
            </a:lvl1pPr>
            <a:lvl2pPr marL="914400" lvl="1" indent="-228600" algn="l">
              <a:spcBef>
                <a:spcPts val="400"/>
              </a:spcBef>
              <a:spcAft>
                <a:spcPts val="0"/>
              </a:spcAft>
              <a:buClr>
                <a:schemeClr val="dk1"/>
              </a:buClr>
              <a:buSzPts val="2000"/>
              <a:buFont typeface="Calibri"/>
              <a:buNone/>
              <a:defRPr/>
            </a:lvl2pPr>
            <a:lvl3pPr marL="1371600" lvl="2" indent="-228600" algn="l">
              <a:spcBef>
                <a:spcPts val="320"/>
              </a:spcBef>
              <a:spcAft>
                <a:spcPts val="0"/>
              </a:spcAft>
              <a:buClr>
                <a:schemeClr val="dk1"/>
              </a:buClr>
              <a:buSzPts val="1600"/>
              <a:buFont typeface="Calibri"/>
              <a:buNone/>
              <a:defRPr/>
            </a:lvl3pPr>
            <a:lvl4pPr marL="1828800" lvl="3" indent="-228600" algn="l">
              <a:spcBef>
                <a:spcPts val="320"/>
              </a:spcBef>
              <a:spcAft>
                <a:spcPts val="0"/>
              </a:spcAft>
              <a:buClr>
                <a:schemeClr val="dk1"/>
              </a:buClr>
              <a:buSzPts val="1600"/>
              <a:buFont typeface="Calibri"/>
              <a:buNone/>
              <a:defRPr/>
            </a:lvl4pPr>
            <a:lvl5pPr marL="2286000" lvl="4" indent="-228600" algn="l">
              <a:spcBef>
                <a:spcPts val="320"/>
              </a:spcBef>
              <a:spcAft>
                <a:spcPts val="0"/>
              </a:spcAft>
              <a:buClr>
                <a:schemeClr val="dk1"/>
              </a:buClr>
              <a:buSzPts val="16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9"/>
        <p:cNvGrpSpPr/>
        <p:nvPr/>
      </p:nvGrpSpPr>
      <p:grpSpPr>
        <a:xfrm>
          <a:off x="0" y="0"/>
          <a:ext cx="0" cy="0"/>
          <a:chOff x="0" y="0"/>
          <a:chExt cx="0" cy="0"/>
        </a:xfrm>
      </p:grpSpPr>
      <p:sp>
        <p:nvSpPr>
          <p:cNvPr id="30" name="Google Shape;30;p57"/>
          <p:cNvSpPr>
            <a:spLocks noGrp="1"/>
          </p:cNvSpPr>
          <p:nvPr>
            <p:ph type="pic" idx="2"/>
          </p:nvPr>
        </p:nvSpPr>
        <p:spPr>
          <a:xfrm>
            <a:off x="0" y="0"/>
            <a:ext cx="9144000" cy="5143500"/>
          </a:xfrm>
          <a:prstGeom prst="rect">
            <a:avLst/>
          </a:prstGeom>
          <a:noFill/>
          <a:ln>
            <a:noFill/>
          </a:ln>
        </p:spPr>
      </p:sp>
      <p:sp>
        <p:nvSpPr>
          <p:cNvPr id="31" name="Google Shape;31;p57"/>
          <p:cNvSpPr txBox="1">
            <a:spLocks noGrp="1"/>
          </p:cNvSpPr>
          <p:nvPr>
            <p:ph type="title"/>
          </p:nvPr>
        </p:nvSpPr>
        <p:spPr>
          <a:xfrm>
            <a:off x="743140" y="927382"/>
            <a:ext cx="2713244" cy="1644368"/>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FFFFFF"/>
              </a:buClr>
              <a:buSzPts val="2800"/>
              <a:buFont typeface="Calibri"/>
              <a:buNone/>
              <a:defRPr sz="28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6"/>
        <p:cNvGrpSpPr/>
        <p:nvPr/>
      </p:nvGrpSpPr>
      <p:grpSpPr>
        <a:xfrm>
          <a:off x="0" y="0"/>
          <a:ext cx="0" cy="0"/>
          <a:chOff x="0" y="0"/>
          <a:chExt cx="0" cy="0"/>
        </a:xfrm>
      </p:grpSpPr>
      <p:sp>
        <p:nvSpPr>
          <p:cNvPr id="37" name="Google Shape;37;p52"/>
          <p:cNvSpPr txBox="1">
            <a:spLocks noGrp="1"/>
          </p:cNvSpPr>
          <p:nvPr>
            <p:ph type="body" idx="1"/>
          </p:nvPr>
        </p:nvSpPr>
        <p:spPr>
          <a:xfrm>
            <a:off x="457200" y="1746133"/>
            <a:ext cx="6273934" cy="284849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Font typeface="Calibri"/>
              <a:buChar char="•"/>
              <a:defRPr sz="24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8" name="Google Shape;38;p52"/>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2"/>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kfql">
  <p:cSld name="Ckfql">
    <p:spTree>
      <p:nvGrpSpPr>
        <p:cNvPr id="1" name="Shape 40"/>
        <p:cNvGrpSpPr/>
        <p:nvPr/>
      </p:nvGrpSpPr>
      <p:grpSpPr>
        <a:xfrm>
          <a:off x="0" y="0"/>
          <a:ext cx="0" cy="0"/>
          <a:chOff x="0" y="0"/>
          <a:chExt cx="0" cy="0"/>
        </a:xfrm>
      </p:grpSpPr>
      <p:sp>
        <p:nvSpPr>
          <p:cNvPr id="41" name="Google Shape;41;p53"/>
          <p:cNvSpPr txBox="1">
            <a:spLocks noGrp="1"/>
          </p:cNvSpPr>
          <p:nvPr>
            <p:ph type="body" idx="1"/>
          </p:nvPr>
        </p:nvSpPr>
        <p:spPr>
          <a:xfrm>
            <a:off x="457200" y="1759937"/>
            <a:ext cx="4038600" cy="2834686"/>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Font typeface="Calibri"/>
              <a:buChar char="•"/>
              <a:defRPr sz="24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53"/>
          <p:cNvSpPr txBox="1">
            <a:spLocks noGrp="1"/>
          </p:cNvSpPr>
          <p:nvPr>
            <p:ph type="body" idx="2"/>
          </p:nvPr>
        </p:nvSpPr>
        <p:spPr>
          <a:xfrm>
            <a:off x="4648200" y="1759937"/>
            <a:ext cx="4038600" cy="2834686"/>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Font typeface="Calibri"/>
              <a:buChar char="•"/>
              <a:defRPr sz="24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 name="Google Shape;43;p53"/>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53"/>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45"/>
        <p:cNvGrpSpPr/>
        <p:nvPr/>
      </p:nvGrpSpPr>
      <p:grpSpPr>
        <a:xfrm>
          <a:off x="0" y="0"/>
          <a:ext cx="0" cy="0"/>
          <a:chOff x="0" y="0"/>
          <a:chExt cx="0" cy="0"/>
        </a:xfrm>
      </p:grpSpPr>
      <p:sp>
        <p:nvSpPr>
          <p:cNvPr id="46" name="Google Shape;46;p58"/>
          <p:cNvSpPr txBox="1">
            <a:spLocks noGrp="1"/>
          </p:cNvSpPr>
          <p:nvPr>
            <p:ph type="body" idx="1"/>
          </p:nvPr>
        </p:nvSpPr>
        <p:spPr>
          <a:xfrm>
            <a:off x="457199" y="1759937"/>
            <a:ext cx="5018388" cy="2943032"/>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Font typeface="Calibri"/>
              <a:buChar char="•"/>
              <a:defRPr sz="24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7" name="Google Shape;47;p58"/>
          <p:cNvSpPr>
            <a:spLocks noGrp="1"/>
          </p:cNvSpPr>
          <p:nvPr>
            <p:ph type="pic" idx="2"/>
          </p:nvPr>
        </p:nvSpPr>
        <p:spPr>
          <a:xfrm>
            <a:off x="5659438" y="1759744"/>
            <a:ext cx="3027362" cy="1414463"/>
          </a:xfrm>
          <a:prstGeom prst="rect">
            <a:avLst/>
          </a:prstGeom>
          <a:noFill/>
          <a:ln>
            <a:noFill/>
          </a:ln>
        </p:spPr>
      </p:sp>
      <p:sp>
        <p:nvSpPr>
          <p:cNvPr id="48" name="Google Shape;48;p58"/>
          <p:cNvSpPr>
            <a:spLocks noGrp="1"/>
          </p:cNvSpPr>
          <p:nvPr>
            <p:ph type="pic" idx="3"/>
          </p:nvPr>
        </p:nvSpPr>
        <p:spPr>
          <a:xfrm>
            <a:off x="5659438" y="3288506"/>
            <a:ext cx="3027362" cy="1414463"/>
          </a:xfrm>
          <a:prstGeom prst="rect">
            <a:avLst/>
          </a:prstGeom>
          <a:noFill/>
          <a:ln>
            <a:noFill/>
          </a:ln>
        </p:spPr>
      </p:sp>
      <p:sp>
        <p:nvSpPr>
          <p:cNvPr id="49" name="Google Shape;49;p58"/>
          <p:cNvSpPr txBox="1">
            <a:spLocks noGrp="1"/>
          </p:cNvSpPr>
          <p:nvPr>
            <p:ph type="title"/>
          </p:nvPr>
        </p:nvSpPr>
        <p:spPr>
          <a:xfrm>
            <a:off x="457200" y="927498"/>
            <a:ext cx="8229600" cy="62031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58"/>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51"/>
        <p:cNvGrpSpPr/>
        <p:nvPr/>
      </p:nvGrpSpPr>
      <p:grpSpPr>
        <a:xfrm>
          <a:off x="0" y="0"/>
          <a:ext cx="0" cy="0"/>
          <a:chOff x="0" y="0"/>
          <a:chExt cx="0" cy="0"/>
        </a:xfrm>
      </p:grpSpPr>
      <p:sp>
        <p:nvSpPr>
          <p:cNvPr id="52" name="Google Shape;52;p59"/>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59"/>
          <p:cNvSpPr>
            <a:spLocks noGrp="1"/>
          </p:cNvSpPr>
          <p:nvPr>
            <p:ph type="pic" idx="2"/>
          </p:nvPr>
        </p:nvSpPr>
        <p:spPr>
          <a:xfrm>
            <a:off x="457201" y="1759744"/>
            <a:ext cx="2588883" cy="1063056"/>
          </a:xfrm>
          <a:prstGeom prst="round1Rect">
            <a:avLst>
              <a:gd name="adj" fmla="val 37649"/>
            </a:avLst>
          </a:prstGeom>
          <a:noFill/>
          <a:ln>
            <a:noFill/>
          </a:ln>
        </p:spPr>
      </p:sp>
      <p:sp>
        <p:nvSpPr>
          <p:cNvPr id="54" name="Google Shape;54;p59"/>
          <p:cNvSpPr>
            <a:spLocks noGrp="1"/>
          </p:cNvSpPr>
          <p:nvPr>
            <p:ph type="pic" idx="3"/>
          </p:nvPr>
        </p:nvSpPr>
        <p:spPr>
          <a:xfrm>
            <a:off x="3276149" y="1759744"/>
            <a:ext cx="2588883" cy="1063056"/>
          </a:xfrm>
          <a:prstGeom prst="round1Rect">
            <a:avLst>
              <a:gd name="adj" fmla="val 37649"/>
            </a:avLst>
          </a:prstGeom>
          <a:noFill/>
          <a:ln>
            <a:noFill/>
          </a:ln>
        </p:spPr>
      </p:sp>
      <p:sp>
        <p:nvSpPr>
          <p:cNvPr id="55" name="Google Shape;55;p59"/>
          <p:cNvSpPr>
            <a:spLocks noGrp="1"/>
          </p:cNvSpPr>
          <p:nvPr>
            <p:ph type="pic" idx="4"/>
          </p:nvPr>
        </p:nvSpPr>
        <p:spPr>
          <a:xfrm>
            <a:off x="6097917" y="1759744"/>
            <a:ext cx="2588883" cy="1063056"/>
          </a:xfrm>
          <a:prstGeom prst="round1Rect">
            <a:avLst>
              <a:gd name="adj" fmla="val 37649"/>
            </a:avLst>
          </a:prstGeom>
          <a:noFill/>
          <a:ln>
            <a:noFill/>
          </a:ln>
        </p:spPr>
      </p:sp>
      <p:sp>
        <p:nvSpPr>
          <p:cNvPr id="56" name="Google Shape;56;p59"/>
          <p:cNvSpPr>
            <a:spLocks noGrp="1"/>
          </p:cNvSpPr>
          <p:nvPr>
            <p:ph type="pic" idx="5"/>
          </p:nvPr>
        </p:nvSpPr>
        <p:spPr>
          <a:xfrm>
            <a:off x="457201" y="3324086"/>
            <a:ext cx="2588883" cy="1063056"/>
          </a:xfrm>
          <a:prstGeom prst="round1Rect">
            <a:avLst>
              <a:gd name="adj" fmla="val 37649"/>
            </a:avLst>
          </a:prstGeom>
          <a:noFill/>
          <a:ln>
            <a:noFill/>
          </a:ln>
        </p:spPr>
      </p:sp>
      <p:sp>
        <p:nvSpPr>
          <p:cNvPr id="57" name="Google Shape;57;p59"/>
          <p:cNvSpPr>
            <a:spLocks noGrp="1"/>
          </p:cNvSpPr>
          <p:nvPr>
            <p:ph type="pic" idx="6"/>
          </p:nvPr>
        </p:nvSpPr>
        <p:spPr>
          <a:xfrm>
            <a:off x="3276149" y="3324086"/>
            <a:ext cx="2588883" cy="1063056"/>
          </a:xfrm>
          <a:prstGeom prst="round1Rect">
            <a:avLst>
              <a:gd name="adj" fmla="val 37649"/>
            </a:avLst>
          </a:prstGeom>
          <a:noFill/>
          <a:ln>
            <a:noFill/>
          </a:ln>
        </p:spPr>
      </p:sp>
      <p:sp>
        <p:nvSpPr>
          <p:cNvPr id="58" name="Google Shape;58;p59"/>
          <p:cNvSpPr>
            <a:spLocks noGrp="1"/>
          </p:cNvSpPr>
          <p:nvPr>
            <p:ph type="pic" idx="7"/>
          </p:nvPr>
        </p:nvSpPr>
        <p:spPr>
          <a:xfrm>
            <a:off x="6097917" y="3324086"/>
            <a:ext cx="2588883" cy="1063056"/>
          </a:xfrm>
          <a:prstGeom prst="round1Rect">
            <a:avLst>
              <a:gd name="adj" fmla="val 37649"/>
            </a:avLst>
          </a:prstGeom>
          <a:noFill/>
          <a:ln>
            <a:noFill/>
          </a:ln>
        </p:spPr>
      </p:sp>
      <p:sp>
        <p:nvSpPr>
          <p:cNvPr id="59" name="Google Shape;59;p59"/>
          <p:cNvSpPr txBox="1">
            <a:spLocks noGrp="1"/>
          </p:cNvSpPr>
          <p:nvPr>
            <p:ph type="body" idx="1"/>
          </p:nvPr>
        </p:nvSpPr>
        <p:spPr>
          <a:xfrm>
            <a:off x="457201" y="2899173"/>
            <a:ext cx="2589213" cy="269081"/>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chemeClr val="dk1"/>
              </a:buClr>
              <a:buSzPts val="1200"/>
              <a:buFont typeface="Arial"/>
              <a:buNone/>
              <a:defRPr sz="12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0" name="Google Shape;60;p59"/>
          <p:cNvSpPr txBox="1">
            <a:spLocks noGrp="1"/>
          </p:cNvSpPr>
          <p:nvPr>
            <p:ph type="body" idx="8"/>
          </p:nvPr>
        </p:nvSpPr>
        <p:spPr>
          <a:xfrm>
            <a:off x="3275819" y="2899173"/>
            <a:ext cx="2589213" cy="269081"/>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chemeClr val="dk1"/>
              </a:buClr>
              <a:buSzPts val="1200"/>
              <a:buFont typeface="Arial"/>
              <a:buNone/>
              <a:defRPr sz="12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1" name="Google Shape;61;p59"/>
          <p:cNvSpPr txBox="1">
            <a:spLocks noGrp="1"/>
          </p:cNvSpPr>
          <p:nvPr>
            <p:ph type="body" idx="9"/>
          </p:nvPr>
        </p:nvSpPr>
        <p:spPr>
          <a:xfrm>
            <a:off x="6085706" y="2899173"/>
            <a:ext cx="2589213" cy="269081"/>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chemeClr val="dk1"/>
              </a:buClr>
              <a:buSzPts val="1200"/>
              <a:buFont typeface="Arial"/>
              <a:buNone/>
              <a:defRPr sz="12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2" name="Google Shape;62;p59"/>
          <p:cNvSpPr txBox="1">
            <a:spLocks noGrp="1"/>
          </p:cNvSpPr>
          <p:nvPr>
            <p:ph type="body" idx="13"/>
          </p:nvPr>
        </p:nvSpPr>
        <p:spPr>
          <a:xfrm>
            <a:off x="457201" y="4472763"/>
            <a:ext cx="2589213" cy="269081"/>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chemeClr val="dk1"/>
              </a:buClr>
              <a:buSzPts val="1200"/>
              <a:buFont typeface="Arial"/>
              <a:buNone/>
              <a:defRPr sz="12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59"/>
          <p:cNvSpPr txBox="1">
            <a:spLocks noGrp="1"/>
          </p:cNvSpPr>
          <p:nvPr>
            <p:ph type="body" idx="14"/>
          </p:nvPr>
        </p:nvSpPr>
        <p:spPr>
          <a:xfrm>
            <a:off x="3275819" y="4472763"/>
            <a:ext cx="2589213" cy="269081"/>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chemeClr val="dk1"/>
              </a:buClr>
              <a:buSzPts val="1200"/>
              <a:buFont typeface="Arial"/>
              <a:buNone/>
              <a:defRPr sz="12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4" name="Google Shape;64;p59"/>
          <p:cNvSpPr txBox="1">
            <a:spLocks noGrp="1"/>
          </p:cNvSpPr>
          <p:nvPr>
            <p:ph type="body" idx="15"/>
          </p:nvPr>
        </p:nvSpPr>
        <p:spPr>
          <a:xfrm>
            <a:off x="6085706" y="4472763"/>
            <a:ext cx="2589213" cy="269081"/>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chemeClr val="dk1"/>
              </a:buClr>
              <a:buSzPts val="1200"/>
              <a:buFont typeface="Arial"/>
              <a:buNone/>
              <a:defRPr sz="12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 name="Google Shape;65;p59"/>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66"/>
        <p:cNvGrpSpPr/>
        <p:nvPr/>
      </p:nvGrpSpPr>
      <p:grpSpPr>
        <a:xfrm>
          <a:off x="0" y="0"/>
          <a:ext cx="0" cy="0"/>
          <a:chOff x="0" y="0"/>
          <a:chExt cx="0" cy="0"/>
        </a:xfrm>
      </p:grpSpPr>
      <p:sp>
        <p:nvSpPr>
          <p:cNvPr id="67" name="Google Shape;67;p60"/>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60"/>
          <p:cNvSpPr>
            <a:spLocks noGrp="1"/>
          </p:cNvSpPr>
          <p:nvPr>
            <p:ph type="pic" idx="2"/>
          </p:nvPr>
        </p:nvSpPr>
        <p:spPr>
          <a:xfrm>
            <a:off x="457201" y="1759744"/>
            <a:ext cx="2588883" cy="1063056"/>
          </a:xfrm>
          <a:prstGeom prst="round1Rect">
            <a:avLst>
              <a:gd name="adj" fmla="val 37649"/>
            </a:avLst>
          </a:prstGeom>
          <a:noFill/>
          <a:ln>
            <a:noFill/>
          </a:ln>
        </p:spPr>
      </p:sp>
      <p:sp>
        <p:nvSpPr>
          <p:cNvPr id="69" name="Google Shape;69;p60"/>
          <p:cNvSpPr>
            <a:spLocks noGrp="1"/>
          </p:cNvSpPr>
          <p:nvPr>
            <p:ph type="pic" idx="3"/>
          </p:nvPr>
        </p:nvSpPr>
        <p:spPr>
          <a:xfrm>
            <a:off x="3276149" y="1759744"/>
            <a:ext cx="2588883" cy="1063056"/>
          </a:xfrm>
          <a:prstGeom prst="round1Rect">
            <a:avLst>
              <a:gd name="adj" fmla="val 37649"/>
            </a:avLst>
          </a:prstGeom>
          <a:noFill/>
          <a:ln>
            <a:noFill/>
          </a:ln>
        </p:spPr>
      </p:sp>
      <p:sp>
        <p:nvSpPr>
          <p:cNvPr id="70" name="Google Shape;70;p60"/>
          <p:cNvSpPr>
            <a:spLocks noGrp="1"/>
          </p:cNvSpPr>
          <p:nvPr>
            <p:ph type="pic" idx="4"/>
          </p:nvPr>
        </p:nvSpPr>
        <p:spPr>
          <a:xfrm>
            <a:off x="6097917" y="1759744"/>
            <a:ext cx="2588883" cy="1063056"/>
          </a:xfrm>
          <a:prstGeom prst="round1Rect">
            <a:avLst>
              <a:gd name="adj" fmla="val 37649"/>
            </a:avLst>
          </a:prstGeom>
          <a:noFill/>
          <a:ln>
            <a:noFill/>
          </a:ln>
        </p:spPr>
      </p:sp>
      <p:sp>
        <p:nvSpPr>
          <p:cNvPr id="71" name="Google Shape;71;p60"/>
          <p:cNvSpPr txBox="1">
            <a:spLocks noGrp="1"/>
          </p:cNvSpPr>
          <p:nvPr>
            <p:ph type="body" idx="1"/>
          </p:nvPr>
        </p:nvSpPr>
        <p:spPr>
          <a:xfrm>
            <a:off x="457201" y="2899173"/>
            <a:ext cx="2589213" cy="269081"/>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chemeClr val="dk1"/>
              </a:buClr>
              <a:buSzPts val="1200"/>
              <a:buFont typeface="Arial"/>
              <a:buNone/>
              <a:defRPr sz="12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60"/>
          <p:cNvSpPr txBox="1">
            <a:spLocks noGrp="1"/>
          </p:cNvSpPr>
          <p:nvPr>
            <p:ph type="body" idx="5"/>
          </p:nvPr>
        </p:nvSpPr>
        <p:spPr>
          <a:xfrm>
            <a:off x="3275819" y="2899173"/>
            <a:ext cx="2589213" cy="269081"/>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chemeClr val="dk1"/>
              </a:buClr>
              <a:buSzPts val="1200"/>
              <a:buFont typeface="Arial"/>
              <a:buNone/>
              <a:defRPr sz="12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3" name="Google Shape;73;p60"/>
          <p:cNvSpPr txBox="1">
            <a:spLocks noGrp="1"/>
          </p:cNvSpPr>
          <p:nvPr>
            <p:ph type="body" idx="6"/>
          </p:nvPr>
        </p:nvSpPr>
        <p:spPr>
          <a:xfrm>
            <a:off x="6085706" y="2899173"/>
            <a:ext cx="2589213" cy="269081"/>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chemeClr val="dk1"/>
              </a:buClr>
              <a:buSzPts val="1200"/>
              <a:buFont typeface="Arial"/>
              <a:buNone/>
              <a:defRPr sz="12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4" name="Google Shape;74;p60"/>
          <p:cNvSpPr txBox="1">
            <a:spLocks noGrp="1"/>
          </p:cNvSpPr>
          <p:nvPr>
            <p:ph type="body" idx="7"/>
          </p:nvPr>
        </p:nvSpPr>
        <p:spPr>
          <a:xfrm>
            <a:off x="457200" y="3319723"/>
            <a:ext cx="4038600" cy="1274900"/>
          </a:xfrm>
          <a:prstGeom prst="rect">
            <a:avLst/>
          </a:prstGeom>
          <a:noFill/>
          <a:ln>
            <a:noFill/>
          </a:ln>
        </p:spPr>
        <p:txBody>
          <a:bodyPr spcFirstLastPara="1" wrap="square" lIns="91425" tIns="45700" rIns="91425" bIns="45700" anchor="t" anchorCtr="0">
            <a:normAutofit/>
          </a:bodyPr>
          <a:lstStyle>
            <a:lvl1pPr marL="457200" lvl="0" indent="-330200" algn="l">
              <a:spcBef>
                <a:spcPts val="320"/>
              </a:spcBef>
              <a:spcAft>
                <a:spcPts val="0"/>
              </a:spcAft>
              <a:buClr>
                <a:schemeClr val="dk1"/>
              </a:buClr>
              <a:buSzPts val="1600"/>
              <a:buFont typeface="Calibri"/>
              <a:buChar char="•"/>
              <a:defRPr sz="1600"/>
            </a:lvl1pPr>
            <a:lvl2pPr marL="914400" lvl="1" indent="-330200" algn="l">
              <a:spcBef>
                <a:spcPts val="320"/>
              </a:spcBef>
              <a:spcAft>
                <a:spcPts val="0"/>
              </a:spcAft>
              <a:buClr>
                <a:schemeClr val="dk1"/>
              </a:buClr>
              <a:buSzPts val="1600"/>
              <a:buChar char="•"/>
              <a:defRPr sz="1600"/>
            </a:lvl2pPr>
            <a:lvl3pPr marL="1371600" lvl="2" indent="-330200" algn="l">
              <a:spcBef>
                <a:spcPts val="320"/>
              </a:spcBef>
              <a:spcAft>
                <a:spcPts val="0"/>
              </a:spcAft>
              <a:buClr>
                <a:schemeClr val="dk1"/>
              </a:buClr>
              <a:buSzPts val="1600"/>
              <a:buChar char="•"/>
              <a:defRPr sz="16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5" name="Google Shape;75;p60"/>
          <p:cNvSpPr txBox="1">
            <a:spLocks noGrp="1"/>
          </p:cNvSpPr>
          <p:nvPr>
            <p:ph type="body" idx="8"/>
          </p:nvPr>
        </p:nvSpPr>
        <p:spPr>
          <a:xfrm>
            <a:off x="4648200" y="3319723"/>
            <a:ext cx="4038600" cy="1274900"/>
          </a:xfrm>
          <a:prstGeom prst="rect">
            <a:avLst/>
          </a:prstGeom>
          <a:noFill/>
          <a:ln>
            <a:noFill/>
          </a:ln>
        </p:spPr>
        <p:txBody>
          <a:bodyPr spcFirstLastPara="1" wrap="square" lIns="91425" tIns="45700" rIns="91425" bIns="45700" anchor="t" anchorCtr="0">
            <a:normAutofit/>
          </a:bodyPr>
          <a:lstStyle>
            <a:lvl1pPr marL="457200" lvl="0" indent="-330200" algn="l">
              <a:spcBef>
                <a:spcPts val="320"/>
              </a:spcBef>
              <a:spcAft>
                <a:spcPts val="0"/>
              </a:spcAft>
              <a:buClr>
                <a:schemeClr val="dk1"/>
              </a:buClr>
              <a:buSzPts val="1600"/>
              <a:buFont typeface="Calibri"/>
              <a:buChar char="•"/>
              <a:defRPr sz="1600"/>
            </a:lvl1pPr>
            <a:lvl2pPr marL="914400" lvl="1" indent="-330200" algn="l">
              <a:spcBef>
                <a:spcPts val="320"/>
              </a:spcBef>
              <a:spcAft>
                <a:spcPts val="0"/>
              </a:spcAft>
              <a:buClr>
                <a:schemeClr val="dk1"/>
              </a:buClr>
              <a:buSzPts val="1600"/>
              <a:buChar char="•"/>
              <a:defRPr sz="1600"/>
            </a:lvl2pPr>
            <a:lvl3pPr marL="1371600" lvl="2" indent="-330200" algn="l">
              <a:spcBef>
                <a:spcPts val="320"/>
              </a:spcBef>
              <a:spcAft>
                <a:spcPts val="0"/>
              </a:spcAft>
              <a:buClr>
                <a:schemeClr val="dk1"/>
              </a:buClr>
              <a:buSzPts val="1600"/>
              <a:buChar char="•"/>
              <a:defRPr sz="16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6" name="Google Shape;76;p60"/>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77"/>
        <p:cNvGrpSpPr/>
        <p:nvPr/>
      </p:nvGrpSpPr>
      <p:grpSpPr>
        <a:xfrm>
          <a:off x="0" y="0"/>
          <a:ext cx="0" cy="0"/>
          <a:chOff x="0" y="0"/>
          <a:chExt cx="0" cy="0"/>
        </a:xfrm>
      </p:grpSpPr>
      <p:sp>
        <p:nvSpPr>
          <p:cNvPr id="78" name="Google Shape;78;p61"/>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61"/>
          <p:cNvSpPr txBox="1">
            <a:spLocks noGrp="1"/>
          </p:cNvSpPr>
          <p:nvPr>
            <p:ph type="body" idx="1"/>
          </p:nvPr>
        </p:nvSpPr>
        <p:spPr>
          <a:xfrm>
            <a:off x="457199" y="1759937"/>
            <a:ext cx="5018388" cy="2943032"/>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Font typeface="Calibri"/>
              <a:buChar char="•"/>
              <a:defRPr sz="24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0" name="Google Shape;80;p61"/>
          <p:cNvSpPr>
            <a:spLocks noGrp="1"/>
          </p:cNvSpPr>
          <p:nvPr>
            <p:ph type="pic" idx="2"/>
          </p:nvPr>
        </p:nvSpPr>
        <p:spPr>
          <a:xfrm>
            <a:off x="5659439" y="1770130"/>
            <a:ext cx="3036565" cy="2919036"/>
          </a:xfrm>
          <a:prstGeom prst="rect">
            <a:avLst/>
          </a:prstGeom>
          <a:noFill/>
          <a:ln>
            <a:noFill/>
          </a:ln>
        </p:spPr>
      </p:sp>
      <p:sp>
        <p:nvSpPr>
          <p:cNvPr id="81" name="Google Shape;81;p61"/>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82"/>
        <p:cNvGrpSpPr/>
        <p:nvPr/>
      </p:nvGrpSpPr>
      <p:grpSpPr>
        <a:xfrm>
          <a:off x="0" y="0"/>
          <a:ext cx="0" cy="0"/>
          <a:chOff x="0" y="0"/>
          <a:chExt cx="0" cy="0"/>
        </a:xfrm>
      </p:grpSpPr>
      <p:sp>
        <p:nvSpPr>
          <p:cNvPr id="83" name="Google Shape;83;p62"/>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A4C814-388F-4021-AB1A-A88D1FF2CE3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287CA853-7F72-4F88-8C9B-365302B84FF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A66C40E-6D9F-4E28-8E7D-325AA9BD57D0}"/>
              </a:ext>
            </a:extLst>
          </p:cNvPr>
          <p:cNvSpPr>
            <a:spLocks noGrp="1"/>
          </p:cNvSpPr>
          <p:nvPr>
            <p:ph type="dt" sz="half" idx="10"/>
          </p:nvPr>
        </p:nvSpPr>
        <p:spPr/>
        <p:txBody>
          <a:bodyPr/>
          <a:lstStyle/>
          <a:p>
            <a:fld id="{09FFDC77-8334-42F5-8633-496A3416E692}" type="datetimeFigureOut">
              <a:rPr lang="ru-RU" smtClean="0"/>
              <a:t>13.09.2022</a:t>
            </a:fld>
            <a:endParaRPr lang="ru-RU"/>
          </a:p>
        </p:txBody>
      </p:sp>
      <p:sp>
        <p:nvSpPr>
          <p:cNvPr id="5" name="Нижний колонтитул 4">
            <a:extLst>
              <a:ext uri="{FF2B5EF4-FFF2-40B4-BE49-F238E27FC236}">
                <a16:creationId xmlns:a16="http://schemas.microsoft.com/office/drawing/2014/main" id="{1536FA1F-1F34-484F-89D1-3EF6C69AFEA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81ADE56-2BEF-48B2-8F44-C0A2093BD9F1}"/>
              </a:ext>
            </a:extLst>
          </p:cNvPr>
          <p:cNvSpPr>
            <a:spLocks noGrp="1"/>
          </p:cNvSpPr>
          <p:nvPr>
            <p:ph type="sldNum" sz="quarter" idx="12"/>
          </p:nvPr>
        </p:nvSpPr>
        <p:spPr/>
        <p:txBody>
          <a:bodyPr/>
          <a:lstStyle/>
          <a:p>
            <a:fld id="{5E85E6AB-F433-40F6-9E37-85EB1C297F2B}" type="slidenum">
              <a:rPr lang="ru-RU" smtClean="0"/>
              <a:t>‹#›</a:t>
            </a:fld>
            <a:endParaRPr lang="ru-RU"/>
          </a:p>
        </p:txBody>
      </p:sp>
    </p:spTree>
    <p:extLst>
      <p:ext uri="{BB962C8B-B14F-4D97-AF65-F5344CB8AC3E}">
        <p14:creationId xmlns:p14="http://schemas.microsoft.com/office/powerpoint/2010/main" val="39514276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1.png"/><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7">
            <a:alphaModFix/>
          </a:blip>
          <a:stretch>
            <a:fillRect/>
          </a:stretch>
        </a:blip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9"/>
          <p:cNvSpPr txBox="1">
            <a:spLocks noGrp="1"/>
          </p:cNvSpPr>
          <p:nvPr>
            <p:ph type="body" idx="1"/>
          </p:nvPr>
        </p:nvSpPr>
        <p:spPr>
          <a:xfrm>
            <a:off x="457200" y="1694948"/>
            <a:ext cx="8229600" cy="2899675"/>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Calibri"/>
              <a:buChar char="•"/>
              <a:defRPr sz="20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49"/>
          <p:cNvSpPr txBox="1">
            <a:spLocks noGrp="1"/>
          </p:cNvSpPr>
          <p:nvPr>
            <p:ph type="ftr" idx="11"/>
          </p:nvPr>
        </p:nvSpPr>
        <p:spPr>
          <a:xfrm>
            <a:off x="4030768" y="329462"/>
            <a:ext cx="4656032" cy="273844"/>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32"/>
        <p:cNvGrpSpPr/>
        <p:nvPr/>
      </p:nvGrpSpPr>
      <p:grpSpPr>
        <a:xfrm>
          <a:off x="0" y="0"/>
          <a:ext cx="0" cy="0"/>
          <a:chOff x="0" y="0"/>
          <a:chExt cx="0" cy="0"/>
        </a:xfrm>
      </p:grpSpPr>
      <p:sp>
        <p:nvSpPr>
          <p:cNvPr id="33" name="Google Shape;33;p51"/>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3200"/>
              <a:buFont typeface="Calibri"/>
              <a:buNone/>
              <a:defRPr sz="32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51"/>
          <p:cNvSpPr txBox="1">
            <a:spLocks noGrp="1"/>
          </p:cNvSpPr>
          <p:nvPr>
            <p:ph type="body" idx="1"/>
          </p:nvPr>
        </p:nvSpPr>
        <p:spPr>
          <a:xfrm>
            <a:off x="457200" y="1694948"/>
            <a:ext cx="8229600" cy="2899675"/>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Calibri"/>
              <a:buChar char="•"/>
              <a:defRPr sz="20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p:nvPr/>
        </p:nvSpPr>
        <p:spPr>
          <a:xfrm>
            <a:off x="-865051" y="4134125"/>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ails.arc.nasa.gov/"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
        <p:cNvGrpSpPr/>
        <p:nvPr/>
      </p:nvGrpSpPr>
      <p:grpSpPr>
        <a:xfrm>
          <a:off x="0" y="0"/>
          <a:ext cx="0" cy="0"/>
          <a:chOff x="0" y="0"/>
          <a:chExt cx="0" cy="0"/>
        </a:xfrm>
      </p:grpSpPr>
      <p:sp>
        <p:nvSpPr>
          <p:cNvPr id="88" name="Google Shape;88;p1"/>
          <p:cNvSpPr txBox="1">
            <a:spLocks noGrp="1"/>
          </p:cNvSpPr>
          <p:nvPr>
            <p:ph type="title"/>
          </p:nvPr>
        </p:nvSpPr>
        <p:spPr>
          <a:xfrm>
            <a:off x="1371600" y="2104557"/>
            <a:ext cx="6400800" cy="705749"/>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4000"/>
              <a:buFont typeface="Calibri"/>
              <a:buNone/>
            </a:pPr>
            <a:r>
              <a:rPr lang="ru-RU" sz="4000"/>
              <a:t>Виртуализация-знакомство</a:t>
            </a:r>
            <a:endParaRPr sz="4000"/>
          </a:p>
        </p:txBody>
      </p:sp>
      <p:sp>
        <p:nvSpPr>
          <p:cNvPr id="89" name="Google Shape;89;p1"/>
          <p:cNvSpPr txBox="1">
            <a:spLocks noGrp="1"/>
          </p:cNvSpPr>
          <p:nvPr>
            <p:ph type="body" idx="2"/>
          </p:nvPr>
        </p:nvSpPr>
        <p:spPr>
          <a:xfrm>
            <a:off x="1371600" y="3637205"/>
            <a:ext cx="6400800" cy="462905"/>
          </a:xfrm>
          <a:prstGeom prst="rect">
            <a:avLst/>
          </a:prstGeom>
          <a:noFill/>
          <a:ln>
            <a:noFill/>
          </a:ln>
        </p:spPr>
        <p:txBody>
          <a:bodyPr spcFirstLastPara="1" wrap="square" lIns="91425" tIns="45700" rIns="91425" bIns="45700" anchor="t" anchorCtr="0">
            <a:normAutofit fontScale="77500" lnSpcReduction="20000"/>
          </a:bodyPr>
          <a:lstStyle/>
          <a:p>
            <a:pPr marL="0" lvl="0" indent="0" algn="ctr" rtl="0">
              <a:spcBef>
                <a:spcPts val="0"/>
              </a:spcBef>
              <a:spcAft>
                <a:spcPts val="0"/>
              </a:spcAft>
              <a:buClr>
                <a:schemeClr val="lt1"/>
              </a:buClr>
              <a:buSzPct val="100000"/>
              <a:buFont typeface="Calibri"/>
              <a:buNone/>
            </a:pPr>
            <a:r>
              <a:rPr lang="ru-RU" sz="2000"/>
              <a:t>Белозубов А.В.</a:t>
            </a:r>
            <a:endParaRPr sz="2000"/>
          </a:p>
          <a:p>
            <a:pPr marL="0" lvl="0" indent="0" algn="ctr" rtl="0">
              <a:spcBef>
                <a:spcPts val="224"/>
              </a:spcBef>
              <a:spcAft>
                <a:spcPts val="0"/>
              </a:spcAft>
              <a:buClr>
                <a:schemeClr val="lt1"/>
              </a:buClr>
              <a:buSzPct val="100000"/>
              <a:buFont typeface="Calibri"/>
              <a:buNone/>
            </a:pPr>
            <a:r>
              <a:rPr lang="ru-RU"/>
              <a:t>belozubov@itmo.ru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3"/>
          <p:cNvPicPr preferRelativeResize="0">
            <a:picLocks noGrp="1"/>
          </p:cNvPicPr>
          <p:nvPr>
            <p:ph type="body" idx="1"/>
          </p:nvPr>
        </p:nvPicPr>
        <p:blipFill rotWithShape="1">
          <a:blip r:embed="rId3">
            <a:alphaModFix/>
          </a:blip>
          <a:srcRect/>
          <a:stretch/>
        </p:blipFill>
        <p:spPr>
          <a:xfrm>
            <a:off x="457200" y="2015809"/>
            <a:ext cx="4038600" cy="2323144"/>
          </a:xfrm>
          <a:prstGeom prst="rect">
            <a:avLst/>
          </a:prstGeom>
          <a:noFill/>
          <a:ln>
            <a:noFill/>
          </a:ln>
        </p:spPr>
      </p:pic>
      <p:pic>
        <p:nvPicPr>
          <p:cNvPr id="101" name="Google Shape;101;p3"/>
          <p:cNvPicPr preferRelativeResize="0">
            <a:picLocks noGrp="1"/>
          </p:cNvPicPr>
          <p:nvPr>
            <p:ph type="body" idx="2"/>
          </p:nvPr>
        </p:nvPicPr>
        <p:blipFill rotWithShape="1">
          <a:blip r:embed="rId4">
            <a:alphaModFix/>
          </a:blip>
          <a:srcRect/>
          <a:stretch/>
        </p:blipFill>
        <p:spPr>
          <a:xfrm>
            <a:off x="4648200" y="1939271"/>
            <a:ext cx="4038600" cy="2476221"/>
          </a:xfrm>
          <a:prstGeom prst="rect">
            <a:avLst/>
          </a:prstGeom>
          <a:noFill/>
          <a:ln>
            <a:noFill/>
          </a:ln>
        </p:spPr>
      </p:pic>
      <p:sp>
        <p:nvSpPr>
          <p:cNvPr id="102" name="Google Shape;102;p3"/>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103" name="Google Shape;103;p3"/>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r>
              <a:rPr lang="ru-RU"/>
              <a:t>Прогнозы доходов от публичных облачных сервисов</a:t>
            </a:r>
            <a:endParaRPr/>
          </a:p>
        </p:txBody>
      </p:sp>
      <p:pic>
        <p:nvPicPr>
          <p:cNvPr id="104" name="Google Shape;104;p3"/>
          <p:cNvPicPr preferRelativeResize="0"/>
          <p:nvPr/>
        </p:nvPicPr>
        <p:blipFill rotWithShape="1">
          <a:blip r:embed="rId5">
            <a:alphaModFix/>
          </a:blip>
          <a:srcRect/>
          <a:stretch/>
        </p:blipFill>
        <p:spPr>
          <a:xfrm>
            <a:off x="7410450" y="1290690"/>
            <a:ext cx="1276350" cy="514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body" idx="1"/>
          </p:nvPr>
        </p:nvSpPr>
        <p:spPr>
          <a:xfrm>
            <a:off x="457200" y="1243071"/>
            <a:ext cx="8229600" cy="3351552"/>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chemeClr val="dk1"/>
              </a:buClr>
              <a:buSzPct val="100000"/>
              <a:buFont typeface="Calibri"/>
              <a:buChar char="•"/>
            </a:pPr>
            <a:r>
              <a:rPr lang="ru-RU"/>
              <a:t>Американский National Institute of Standards and Technology (NIST) определяет облако как:</a:t>
            </a:r>
            <a:endParaRPr/>
          </a:p>
          <a:p>
            <a:pPr marL="800100" lvl="2" indent="0" algn="l" rtl="0">
              <a:spcBef>
                <a:spcPts val="340"/>
              </a:spcBef>
              <a:spcAft>
                <a:spcPts val="0"/>
              </a:spcAft>
              <a:buClr>
                <a:schemeClr val="dk1"/>
              </a:buClr>
              <a:buSzPct val="100000"/>
              <a:buNone/>
            </a:pPr>
            <a:r>
              <a:rPr lang="ru-RU"/>
              <a:t>Cloud computing is a model for enabling ubiquitous, convenient, ondemand</a:t>
            </a:r>
            <a:endParaRPr/>
          </a:p>
          <a:p>
            <a:pPr marL="800100" lvl="2" indent="0" algn="l" rtl="0">
              <a:spcBef>
                <a:spcPts val="340"/>
              </a:spcBef>
              <a:spcAft>
                <a:spcPts val="0"/>
              </a:spcAft>
              <a:buClr>
                <a:schemeClr val="dk1"/>
              </a:buClr>
              <a:buSzPct val="100000"/>
              <a:buNone/>
            </a:pPr>
            <a:r>
              <a:rPr lang="ru-RU"/>
              <a:t>network access to a shared pool of configurable computing</a:t>
            </a:r>
            <a:endParaRPr/>
          </a:p>
          <a:p>
            <a:pPr marL="800100" lvl="2" indent="0" algn="l" rtl="0">
              <a:spcBef>
                <a:spcPts val="340"/>
              </a:spcBef>
              <a:spcAft>
                <a:spcPts val="0"/>
              </a:spcAft>
              <a:buClr>
                <a:schemeClr val="dk1"/>
              </a:buClr>
              <a:buSzPct val="100000"/>
              <a:buNone/>
            </a:pPr>
            <a:r>
              <a:rPr lang="ru-RU"/>
              <a:t>resources (e.g., networks, servers, storage, applications, and services) that</a:t>
            </a:r>
            <a:endParaRPr/>
          </a:p>
          <a:p>
            <a:pPr marL="800100" lvl="2" indent="0" algn="l" rtl="0">
              <a:spcBef>
                <a:spcPts val="340"/>
              </a:spcBef>
              <a:spcAft>
                <a:spcPts val="0"/>
              </a:spcAft>
              <a:buClr>
                <a:schemeClr val="dk1"/>
              </a:buClr>
              <a:buSzPct val="100000"/>
              <a:buNone/>
            </a:pPr>
            <a:r>
              <a:rPr lang="ru-RU"/>
              <a:t>can be rapidly provisioned and released with minimal management effort</a:t>
            </a:r>
            <a:endParaRPr/>
          </a:p>
          <a:p>
            <a:pPr marL="800100" lvl="2" indent="0" algn="l" rtl="0">
              <a:spcBef>
                <a:spcPts val="340"/>
              </a:spcBef>
              <a:spcAft>
                <a:spcPts val="0"/>
              </a:spcAft>
              <a:buClr>
                <a:schemeClr val="dk1"/>
              </a:buClr>
              <a:buSzPct val="100000"/>
              <a:buNone/>
            </a:pPr>
            <a:r>
              <a:rPr lang="ru-RU"/>
              <a:t>or service provider interaction.</a:t>
            </a:r>
            <a:endParaRPr/>
          </a:p>
          <a:p>
            <a:pPr marL="342900" lvl="0" indent="-342900" algn="l" rtl="0">
              <a:spcBef>
                <a:spcPts val="408"/>
              </a:spcBef>
              <a:spcAft>
                <a:spcPts val="0"/>
              </a:spcAft>
              <a:buClr>
                <a:schemeClr val="dk1"/>
              </a:buClr>
              <a:buSzPct val="100000"/>
              <a:buFont typeface="Calibri"/>
              <a:buChar char="•"/>
            </a:pPr>
            <a:r>
              <a:rPr lang="ru-RU"/>
              <a:t>• Русская википедия определяет облако как:</a:t>
            </a:r>
            <a:endParaRPr/>
          </a:p>
          <a:p>
            <a:pPr marL="800100" lvl="2" indent="0" algn="l" rtl="0">
              <a:spcBef>
                <a:spcPts val="340"/>
              </a:spcBef>
              <a:spcAft>
                <a:spcPts val="0"/>
              </a:spcAft>
              <a:buClr>
                <a:schemeClr val="dk1"/>
              </a:buClr>
              <a:buSzPct val="100000"/>
              <a:buNone/>
            </a:pPr>
            <a:r>
              <a:rPr lang="ru-RU"/>
              <a:t>Облачные вычисления (англ. cloud computing) —технология</a:t>
            </a:r>
            <a:endParaRPr/>
          </a:p>
          <a:p>
            <a:pPr marL="800100" lvl="2" indent="0" algn="l" rtl="0">
              <a:spcBef>
                <a:spcPts val="340"/>
              </a:spcBef>
              <a:spcAft>
                <a:spcPts val="0"/>
              </a:spcAft>
              <a:buClr>
                <a:schemeClr val="dk1"/>
              </a:buClr>
              <a:buSzPct val="100000"/>
              <a:buNone/>
            </a:pPr>
            <a:r>
              <a:rPr lang="ru-RU"/>
              <a:t>распределённой обработки данных, в которой компьютерные ресурсы</a:t>
            </a:r>
            <a:endParaRPr/>
          </a:p>
          <a:p>
            <a:pPr marL="800100" lvl="2" indent="0" algn="l" rtl="0">
              <a:spcBef>
                <a:spcPts val="340"/>
              </a:spcBef>
              <a:spcAft>
                <a:spcPts val="0"/>
              </a:spcAft>
              <a:buClr>
                <a:schemeClr val="dk1"/>
              </a:buClr>
              <a:buSzPct val="100000"/>
              <a:buNone/>
            </a:pPr>
            <a:r>
              <a:rPr lang="ru-RU"/>
              <a:t>и мощности предоставляются пользователю как сервис.</a:t>
            </a:r>
            <a:endParaRPr/>
          </a:p>
        </p:txBody>
      </p:sp>
      <p:sp>
        <p:nvSpPr>
          <p:cNvPr id="110" name="Google Shape;110;p4"/>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111" name="Google Shape;111;p4"/>
          <p:cNvSpPr txBox="1">
            <a:spLocks noGrp="1"/>
          </p:cNvSpPr>
          <p:nvPr>
            <p:ph type="title"/>
          </p:nvPr>
        </p:nvSpPr>
        <p:spPr>
          <a:xfrm>
            <a:off x="457200" y="622588"/>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a:t>Определение облака</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117" name="Google Shape;117;p5"/>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a:t>История развития Облака</a:t>
            </a:r>
            <a:endParaRPr/>
          </a:p>
        </p:txBody>
      </p:sp>
      <p:pic>
        <p:nvPicPr>
          <p:cNvPr id="118" name="Google Shape;118;p5"/>
          <p:cNvPicPr preferRelativeResize="0">
            <a:picLocks noGrp="1"/>
          </p:cNvPicPr>
          <p:nvPr>
            <p:ph type="body" idx="1"/>
          </p:nvPr>
        </p:nvPicPr>
        <p:blipFill rotWithShape="1">
          <a:blip r:embed="rId3">
            <a:alphaModFix/>
          </a:blip>
          <a:srcRect/>
          <a:stretch/>
        </p:blipFill>
        <p:spPr>
          <a:xfrm>
            <a:off x="1876338" y="1746250"/>
            <a:ext cx="6570976" cy="32666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6"/>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pic>
        <p:nvPicPr>
          <p:cNvPr id="124" name="Google Shape;124;p6"/>
          <p:cNvPicPr preferRelativeResize="0">
            <a:picLocks noGrp="1"/>
          </p:cNvPicPr>
          <p:nvPr>
            <p:ph type="body" idx="1"/>
          </p:nvPr>
        </p:nvPicPr>
        <p:blipFill rotWithShape="1">
          <a:blip r:embed="rId3">
            <a:alphaModFix/>
          </a:blip>
          <a:srcRect/>
          <a:stretch/>
        </p:blipFill>
        <p:spPr>
          <a:xfrm>
            <a:off x="629629" y="796753"/>
            <a:ext cx="7948313" cy="417329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7"/>
          <p:cNvPicPr preferRelativeResize="0">
            <a:picLocks noGrp="1"/>
          </p:cNvPicPr>
          <p:nvPr>
            <p:ph type="body" idx="1"/>
          </p:nvPr>
        </p:nvPicPr>
        <p:blipFill rotWithShape="1">
          <a:blip r:embed="rId3">
            <a:alphaModFix/>
          </a:blip>
          <a:srcRect/>
          <a:stretch/>
        </p:blipFill>
        <p:spPr>
          <a:xfrm>
            <a:off x="362093" y="927381"/>
            <a:ext cx="6513095" cy="3588078"/>
          </a:xfrm>
          <a:prstGeom prst="rect">
            <a:avLst/>
          </a:prstGeom>
          <a:noFill/>
          <a:ln>
            <a:noFill/>
          </a:ln>
        </p:spPr>
      </p:pic>
      <p:sp>
        <p:nvSpPr>
          <p:cNvPr id="130" name="Google Shape;130;p7"/>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pic>
        <p:nvPicPr>
          <p:cNvPr id="4" name="Google Shape;136;p8"/>
          <p:cNvPicPr preferRelativeResize="0"/>
          <p:nvPr/>
        </p:nvPicPr>
        <p:blipFill rotWithShape="1">
          <a:blip r:embed="rId4">
            <a:alphaModFix/>
          </a:blip>
          <a:srcRect/>
          <a:stretch/>
        </p:blipFill>
        <p:spPr>
          <a:xfrm>
            <a:off x="6978316" y="927381"/>
            <a:ext cx="2109970" cy="4143178"/>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9"/>
          <p:cNvSpPr txBox="1">
            <a:spLocks noGrp="1"/>
          </p:cNvSpPr>
          <p:nvPr>
            <p:ph type="body" idx="1"/>
          </p:nvPr>
        </p:nvSpPr>
        <p:spPr>
          <a:xfrm>
            <a:off x="457200" y="1759937"/>
            <a:ext cx="4167809" cy="283468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Calibri"/>
              <a:buChar char="•"/>
            </a:pPr>
            <a:r>
              <a:rPr lang="ru-RU" b="1" dirty="0"/>
              <a:t>Концепция разделения времени </a:t>
            </a:r>
            <a:r>
              <a:rPr lang="ru-RU" dirty="0"/>
              <a:t>или </a:t>
            </a:r>
            <a:r>
              <a:rPr lang="ru-RU" dirty="0" err="1"/>
              <a:t>time-sharing</a:t>
            </a:r>
            <a:r>
              <a:rPr lang="ru-RU" dirty="0"/>
              <a:t> — это когда вычислительные ресурсы распределяют между многими пользователями.</a:t>
            </a:r>
            <a:endParaRPr dirty="0"/>
          </a:p>
        </p:txBody>
      </p:sp>
      <p:sp>
        <p:nvSpPr>
          <p:cNvPr id="143" name="Google Shape;143;p9"/>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144" name="Google Shape;144;p9"/>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a:t>Концепция разделения времени</a:t>
            </a:r>
            <a:endParaRPr/>
          </a:p>
        </p:txBody>
      </p:sp>
      <p:pic>
        <p:nvPicPr>
          <p:cNvPr id="2" name="Рисунок 1"/>
          <p:cNvPicPr>
            <a:picLocks noChangeAspect="1"/>
          </p:cNvPicPr>
          <p:nvPr/>
        </p:nvPicPr>
        <p:blipFill>
          <a:blip r:embed="rId3"/>
          <a:stretch>
            <a:fillRect/>
          </a:stretch>
        </p:blipFill>
        <p:spPr>
          <a:xfrm>
            <a:off x="4625009" y="1759937"/>
            <a:ext cx="4061791" cy="280263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body" idx="1"/>
          </p:nvPr>
        </p:nvSpPr>
        <p:spPr>
          <a:xfrm>
            <a:off x="457200" y="1746133"/>
            <a:ext cx="3956671" cy="2848490"/>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Clr>
                <a:schemeClr val="dk1"/>
              </a:buClr>
              <a:buSzPct val="100000"/>
              <a:buFont typeface="Calibri"/>
              <a:buChar char="•"/>
            </a:pPr>
            <a:r>
              <a:rPr lang="ru-RU"/>
              <a:t>Впервые концепция разделения времени была реализована в Compatible Time-Sharing System в MIT. Она была совместима с Fortran Monitor System и работала на майнфрейме IBM 7090.</a:t>
            </a:r>
            <a:endParaRPr/>
          </a:p>
        </p:txBody>
      </p:sp>
      <p:sp>
        <p:nvSpPr>
          <p:cNvPr id="150" name="Google Shape;150;p10"/>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151" name="Google Shape;151;p10"/>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r>
              <a:rPr lang="ru-RU"/>
              <a:t>Высокоскоростное переключение между задачами</a:t>
            </a:r>
            <a:endParaRPr/>
          </a:p>
        </p:txBody>
      </p:sp>
      <p:pic>
        <p:nvPicPr>
          <p:cNvPr id="152" name="Google Shape;152;p10"/>
          <p:cNvPicPr preferRelativeResize="0"/>
          <p:nvPr/>
        </p:nvPicPr>
        <p:blipFill rotWithShape="1">
          <a:blip r:embed="rId3">
            <a:alphaModFix/>
          </a:blip>
          <a:srcRect/>
          <a:stretch/>
        </p:blipFill>
        <p:spPr>
          <a:xfrm>
            <a:off x="4572000" y="1392702"/>
            <a:ext cx="4516900" cy="3387675"/>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pic>
        <p:nvPicPr>
          <p:cNvPr id="158" name="Google Shape;158;p11" descr="https://www.ispsystem.ru/sites/all/themes/ispsystem/images/news/2019/11/history-of-virtualization/3.jpg"/>
          <p:cNvPicPr preferRelativeResize="0">
            <a:picLocks noGrp="1"/>
          </p:cNvPicPr>
          <p:nvPr>
            <p:ph type="body" idx="1"/>
          </p:nvPr>
        </p:nvPicPr>
        <p:blipFill rotWithShape="1">
          <a:blip r:embed="rId3">
            <a:alphaModFix/>
          </a:blip>
          <a:srcRect/>
          <a:stretch/>
        </p:blipFill>
        <p:spPr>
          <a:xfrm>
            <a:off x="731520" y="642363"/>
            <a:ext cx="4896028" cy="3472437"/>
          </a:xfrm>
          <a:prstGeom prst="rect">
            <a:avLst/>
          </a:prstGeom>
          <a:noFill/>
          <a:ln>
            <a:noFill/>
          </a:ln>
        </p:spPr>
      </p:pic>
      <p:sp>
        <p:nvSpPr>
          <p:cNvPr id="2" name="Прямоугольник 1"/>
          <p:cNvSpPr/>
          <p:nvPr/>
        </p:nvSpPr>
        <p:spPr>
          <a:xfrm>
            <a:off x="5779008" y="1655064"/>
            <a:ext cx="2907792" cy="1169551"/>
          </a:xfrm>
          <a:prstGeom prst="rect">
            <a:avLst/>
          </a:prstGeom>
        </p:spPr>
        <p:txBody>
          <a:bodyPr wrap="square">
            <a:spAutoFit/>
          </a:bodyPr>
          <a:lstStyle/>
          <a:p>
            <a:r>
              <a:rPr lang="ru-RU" dirty="0">
                <a:solidFill>
                  <a:schemeClr val="tx1"/>
                </a:solidFill>
                <a:latin typeface="Ubuntu"/>
              </a:rPr>
              <a:t>Консоль IBM 7094, два накопителя магнитных лент и считыватель перфокарт. Компьютер размером с комнату. ©️ </a:t>
            </a:r>
            <a:r>
              <a:rPr lang="ru-RU" dirty="0">
                <a:solidFill>
                  <a:schemeClr val="tx1"/>
                </a:solidFill>
                <a:hlinkClick r:id="rId4"/>
              </a:rPr>
              <a:t>NASA </a:t>
            </a:r>
            <a:r>
              <a:rPr lang="ru-RU" dirty="0" err="1">
                <a:solidFill>
                  <a:schemeClr val="tx1"/>
                </a:solidFill>
                <a:hlinkClick r:id="rId4"/>
              </a:rPr>
              <a:t>Ames</a:t>
            </a:r>
            <a:r>
              <a:rPr lang="ru-RU" dirty="0">
                <a:solidFill>
                  <a:schemeClr val="tx1"/>
                </a:solidFill>
                <a:hlinkClick r:id="rId4"/>
              </a:rPr>
              <a:t> </a:t>
            </a:r>
            <a:r>
              <a:rPr lang="ru-RU" dirty="0" err="1">
                <a:solidFill>
                  <a:schemeClr val="tx1"/>
                </a:solidFill>
                <a:hlinkClick r:id="rId4"/>
              </a:rPr>
              <a:t>Resarch</a:t>
            </a:r>
            <a:r>
              <a:rPr lang="ru-RU" dirty="0">
                <a:solidFill>
                  <a:schemeClr val="tx1"/>
                </a:solidFill>
                <a:hlinkClick r:id="rId4"/>
              </a:rPr>
              <a:t> </a:t>
            </a:r>
            <a:r>
              <a:rPr lang="ru-RU" dirty="0" err="1">
                <a:solidFill>
                  <a:schemeClr val="tx1"/>
                </a:solidFill>
                <a:hlinkClick r:id="rId4"/>
              </a:rPr>
              <a:t>Center</a:t>
            </a:r>
            <a:endParaRPr lang="ru-RU" dirty="0">
              <a:solidFill>
                <a:schemeClr val="tx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a:spLocks noGrp="1"/>
          </p:cNvSpPr>
          <p:nvPr>
            <p:ph type="body" idx="1"/>
          </p:nvPr>
        </p:nvSpPr>
        <p:spPr>
          <a:xfrm>
            <a:off x="457200" y="1746133"/>
            <a:ext cx="8229600" cy="284849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Font typeface="Calibri"/>
              <a:buChar char="•"/>
            </a:pPr>
            <a:r>
              <a:rPr lang="ru-RU"/>
              <a:t>В 1968 году компания IBM создала мейнфрейм нового типа, а к нему, совместно с учёными из Кембриджа, систему CP/CMS. Это была первая ОС с поддержкой виртуализации. В основе CP/CMS лежал монитор виртуальных машин или гипервизор.</a:t>
            </a:r>
            <a:endParaRPr/>
          </a:p>
        </p:txBody>
      </p:sp>
      <p:sp>
        <p:nvSpPr>
          <p:cNvPr id="164" name="Google Shape;164;p12"/>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165" name="Google Shape;165;p12"/>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b="0"/>
              <a:t>Первая ОС с поддержкой виртуализации</a:t>
            </a:r>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3"/>
          <p:cNvSpPr txBox="1">
            <a:spLocks noGrp="1"/>
          </p:cNvSpPr>
          <p:nvPr>
            <p:ph type="body" idx="1"/>
          </p:nvPr>
        </p:nvSpPr>
        <p:spPr>
          <a:xfrm>
            <a:off x="457200" y="1759937"/>
            <a:ext cx="4677169" cy="2681434"/>
          </a:xfrm>
          <a:prstGeom prst="rect">
            <a:avLst/>
          </a:prstGeom>
          <a:noFill/>
          <a:ln>
            <a:noFill/>
          </a:ln>
        </p:spPr>
        <p:txBody>
          <a:bodyPr spcFirstLastPara="1" wrap="square" lIns="91425" tIns="45700" rIns="91425" bIns="45700" anchor="t" anchorCtr="0">
            <a:normAutofit fontScale="62500" lnSpcReduction="20000"/>
          </a:bodyPr>
          <a:lstStyle/>
          <a:p>
            <a:pPr marL="0" lvl="0" indent="0" algn="just" rtl="0">
              <a:spcBef>
                <a:spcPts val="0"/>
              </a:spcBef>
              <a:spcAft>
                <a:spcPts val="0"/>
              </a:spcAft>
              <a:buClr>
                <a:schemeClr val="dk1"/>
              </a:buClr>
              <a:buSzPct val="100000"/>
              <a:buFont typeface="Calibri"/>
              <a:buNone/>
            </a:pPr>
            <a:r>
              <a:rPr lang="ru-RU" b="1"/>
              <a:t>Гипервизор </a:t>
            </a:r>
            <a:r>
              <a:rPr lang="ru-RU"/>
              <a:t>запускался на оборудовании и создавал несколько виртуальных машин. Это решение было гораздо удобнее ОС с разделением времени:</a:t>
            </a:r>
            <a:endParaRPr/>
          </a:p>
          <a:p>
            <a:pPr marL="342900" lvl="0" indent="-342900" algn="just" rtl="0">
              <a:spcBef>
                <a:spcPts val="300"/>
              </a:spcBef>
              <a:spcAft>
                <a:spcPts val="0"/>
              </a:spcAft>
              <a:buClr>
                <a:schemeClr val="dk1"/>
              </a:buClr>
              <a:buSzPct val="100000"/>
              <a:buFont typeface="Calibri"/>
              <a:buChar char="•"/>
            </a:pPr>
            <a:r>
              <a:rPr lang="ru-RU"/>
              <a:t>виртуальные машины используют ресурсы мейнфрейма совместно, а не по очереди, поэтому эффективность выше;</a:t>
            </a:r>
            <a:endParaRPr/>
          </a:p>
          <a:p>
            <a:pPr marL="342900" lvl="0" indent="-342900" algn="just" rtl="0">
              <a:spcBef>
                <a:spcPts val="300"/>
              </a:spcBef>
              <a:spcAft>
                <a:spcPts val="0"/>
              </a:spcAft>
              <a:buClr>
                <a:schemeClr val="dk1"/>
              </a:buClr>
              <a:buSzPct val="100000"/>
              <a:buFont typeface="Calibri"/>
              <a:buChar char="•"/>
            </a:pPr>
            <a:r>
              <a:rPr lang="ru-RU"/>
              <a:t>каждая ВМ — точная копия исходной аппаратуры, можно запустить любую ОС, на разных виртуальных машинах разные;</a:t>
            </a:r>
            <a:endParaRPr/>
          </a:p>
          <a:p>
            <a:pPr marL="342900" lvl="0" indent="-342900" algn="just" rtl="0">
              <a:spcBef>
                <a:spcPts val="300"/>
              </a:spcBef>
              <a:spcAft>
                <a:spcPts val="0"/>
              </a:spcAft>
              <a:buClr>
                <a:schemeClr val="dk1"/>
              </a:buClr>
              <a:buSzPct val="100000"/>
              <a:buFont typeface="Calibri"/>
              <a:buChar char="•"/>
            </a:pPr>
            <a:r>
              <a:rPr lang="ru-RU"/>
              <a:t>у каждого пользователя своя ОС, поэтому они не влияют друг на друга — вся система становится надёжнее.</a:t>
            </a:r>
            <a:endParaRPr/>
          </a:p>
          <a:p>
            <a:pPr marL="342900" lvl="0" indent="-247650" algn="just" rtl="0">
              <a:spcBef>
                <a:spcPts val="300"/>
              </a:spcBef>
              <a:spcAft>
                <a:spcPts val="0"/>
              </a:spcAft>
              <a:buClr>
                <a:schemeClr val="dk1"/>
              </a:buClr>
              <a:buSzPct val="100000"/>
              <a:buFont typeface="Calibri"/>
              <a:buNone/>
            </a:pPr>
            <a:endParaRPr/>
          </a:p>
        </p:txBody>
      </p:sp>
      <p:sp>
        <p:nvSpPr>
          <p:cNvPr id="171" name="Google Shape;171;p13"/>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172" name="Google Shape;172;p13"/>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a:t>Гипервизор</a:t>
            </a:r>
            <a:endParaRPr/>
          </a:p>
        </p:txBody>
      </p:sp>
      <p:pic>
        <p:nvPicPr>
          <p:cNvPr id="173" name="Google Shape;173;p13"/>
          <p:cNvPicPr preferRelativeResize="0"/>
          <p:nvPr/>
        </p:nvPicPr>
        <p:blipFill rotWithShape="1">
          <a:blip r:embed="rId3">
            <a:alphaModFix/>
          </a:blip>
          <a:srcRect/>
          <a:stretch/>
        </p:blipFill>
        <p:spPr>
          <a:xfrm>
            <a:off x="5134369" y="1759937"/>
            <a:ext cx="4009631" cy="310078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4"/>
          <p:cNvSpPr txBox="1">
            <a:spLocks noGrp="1"/>
          </p:cNvSpPr>
          <p:nvPr>
            <p:ph type="body" idx="1"/>
          </p:nvPr>
        </p:nvSpPr>
        <p:spPr>
          <a:xfrm>
            <a:off x="457199" y="1759937"/>
            <a:ext cx="7848027" cy="283468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Font typeface="Calibri"/>
              <a:buNone/>
            </a:pPr>
            <a:r>
              <a:rPr lang="ru-RU"/>
              <a:t>Проект СВМ/Система Виртуальных Машин</a:t>
            </a:r>
            <a:endParaRPr/>
          </a:p>
          <a:p>
            <a:pPr marL="342900" lvl="0" indent="-342900" algn="just" rtl="0">
              <a:spcBef>
                <a:spcPts val="480"/>
              </a:spcBef>
              <a:spcAft>
                <a:spcPts val="0"/>
              </a:spcAft>
              <a:buClr>
                <a:schemeClr val="dk1"/>
              </a:buClr>
              <a:buSzPts val="2400"/>
              <a:buFont typeface="Calibri"/>
              <a:buChar char="•"/>
            </a:pPr>
            <a:r>
              <a:rPr lang="ru-RU"/>
              <a:t>СВМ (VM, и её ранняя версия CP/CMS) — первая система, в которой была реализована технология виртуальных машин. Виртуализация в СВМ была последовательной и полной, в частности, на виртуальной машине можно было запустить другую копию системы СВМ, и так далее.</a:t>
            </a:r>
            <a:endParaRPr/>
          </a:p>
        </p:txBody>
      </p:sp>
      <p:sp>
        <p:nvSpPr>
          <p:cNvPr id="179" name="Google Shape;179;p14"/>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180" name="Google Shape;180;p14"/>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a:t>Виртуализация в СССР</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облачные технологии - пример"/>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5992" y="1612008"/>
            <a:ext cx="2726944" cy="1983870"/>
          </a:xfrm>
          <a:prstGeom prst="rect">
            <a:avLst/>
          </a:prstGeom>
          <a:noFill/>
          <a:extLst>
            <a:ext uri="{909E8E84-426E-40DD-AFC4-6F175D3DCCD1}">
              <a14:hiddenFill xmlns:a14="http://schemas.microsoft.com/office/drawing/2010/main">
                <a:solidFill>
                  <a:srgbClr val="FFFFFF"/>
                </a:solidFill>
              </a14:hiddenFill>
            </a:ext>
          </a:extLst>
        </p:spPr>
      </p:pic>
      <p:sp>
        <p:nvSpPr>
          <p:cNvPr id="4" name="Заголовок 3"/>
          <p:cNvSpPr>
            <a:spLocks noGrp="1"/>
          </p:cNvSpPr>
          <p:nvPr>
            <p:ph type="title"/>
          </p:nvPr>
        </p:nvSpPr>
        <p:spPr/>
        <p:txBody>
          <a:bodyPr/>
          <a:lstStyle/>
          <a:p>
            <a:r>
              <a:rPr lang="ru-RU" dirty="0" smtClean="0"/>
              <a:t>Хронология развития ТВ</a:t>
            </a:r>
            <a:endParaRPr lang="ru-RU" dirty="0"/>
          </a:p>
        </p:txBody>
      </p:sp>
      <p:pic>
        <p:nvPicPr>
          <p:cNvPr id="6" name="Рисунок 5"/>
          <p:cNvPicPr>
            <a:picLocks noChangeAspect="1"/>
          </p:cNvPicPr>
          <p:nvPr/>
        </p:nvPicPr>
        <p:blipFill>
          <a:blip r:embed="rId3"/>
          <a:stretch>
            <a:fillRect/>
          </a:stretch>
        </p:blipFill>
        <p:spPr>
          <a:xfrm>
            <a:off x="331828" y="1664639"/>
            <a:ext cx="2654032" cy="2008184"/>
          </a:xfrm>
          <a:prstGeom prst="rect">
            <a:avLst/>
          </a:prstGeom>
        </p:spPr>
      </p:pic>
      <p:pic>
        <p:nvPicPr>
          <p:cNvPr id="1028" name="Picture 4" descr="https://www.ispsystem.ru/sites/default/files/blog-lxd-docker-cubernetes-main-m_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7686" y="1676395"/>
            <a:ext cx="2308126" cy="1012336"/>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p:cNvPicPr>
            <a:picLocks noChangeAspect="1"/>
          </p:cNvPicPr>
          <p:nvPr/>
        </p:nvPicPr>
        <p:blipFill>
          <a:blip r:embed="rId5"/>
          <a:stretch>
            <a:fillRect/>
          </a:stretch>
        </p:blipFill>
        <p:spPr>
          <a:xfrm>
            <a:off x="7549061" y="3502384"/>
            <a:ext cx="1513503" cy="1513503"/>
          </a:xfrm>
          <a:prstGeom prst="rect">
            <a:avLst/>
          </a:prstGeom>
        </p:spPr>
      </p:pic>
      <p:sp>
        <p:nvSpPr>
          <p:cNvPr id="8" name="Прямоугольник 7"/>
          <p:cNvSpPr/>
          <p:nvPr/>
        </p:nvSpPr>
        <p:spPr>
          <a:xfrm>
            <a:off x="457200" y="3672823"/>
            <a:ext cx="938077" cy="307777"/>
          </a:xfrm>
          <a:prstGeom prst="rect">
            <a:avLst/>
          </a:prstGeom>
        </p:spPr>
        <p:txBody>
          <a:bodyPr wrap="none">
            <a:spAutoFit/>
          </a:bodyPr>
          <a:lstStyle/>
          <a:p>
            <a:r>
              <a:rPr lang="ru-RU" dirty="0"/>
              <a:t>Серверы</a:t>
            </a:r>
          </a:p>
        </p:txBody>
      </p:sp>
      <p:sp>
        <p:nvSpPr>
          <p:cNvPr id="9" name="Прямоугольник 8"/>
          <p:cNvSpPr/>
          <p:nvPr/>
        </p:nvSpPr>
        <p:spPr>
          <a:xfrm>
            <a:off x="1227508" y="3951359"/>
            <a:ext cx="2048959" cy="307777"/>
          </a:xfrm>
          <a:prstGeom prst="rect">
            <a:avLst/>
          </a:prstGeom>
        </p:spPr>
        <p:txBody>
          <a:bodyPr wrap="none">
            <a:spAutoFit/>
          </a:bodyPr>
          <a:lstStyle/>
          <a:p>
            <a:r>
              <a:rPr lang="ru-RU" dirty="0"/>
              <a:t>Виртуальные машины</a:t>
            </a:r>
          </a:p>
        </p:txBody>
      </p:sp>
      <p:sp>
        <p:nvSpPr>
          <p:cNvPr id="10" name="Прямоугольник 9"/>
          <p:cNvSpPr/>
          <p:nvPr/>
        </p:nvSpPr>
        <p:spPr>
          <a:xfrm>
            <a:off x="3474526" y="3660022"/>
            <a:ext cx="2042547" cy="307777"/>
          </a:xfrm>
          <a:prstGeom prst="rect">
            <a:avLst/>
          </a:prstGeom>
        </p:spPr>
        <p:txBody>
          <a:bodyPr wrap="none">
            <a:spAutoFit/>
          </a:bodyPr>
          <a:lstStyle/>
          <a:p>
            <a:r>
              <a:rPr lang="ru-RU" dirty="0"/>
              <a:t>Облачные технологии</a:t>
            </a:r>
          </a:p>
        </p:txBody>
      </p:sp>
      <p:sp>
        <p:nvSpPr>
          <p:cNvPr id="11" name="Прямоугольник 10"/>
          <p:cNvSpPr/>
          <p:nvPr/>
        </p:nvSpPr>
        <p:spPr>
          <a:xfrm>
            <a:off x="6552867" y="2787780"/>
            <a:ext cx="1197764" cy="307777"/>
          </a:xfrm>
          <a:prstGeom prst="rect">
            <a:avLst/>
          </a:prstGeom>
        </p:spPr>
        <p:txBody>
          <a:bodyPr wrap="none">
            <a:spAutoFit/>
          </a:bodyPr>
          <a:lstStyle/>
          <a:p>
            <a:r>
              <a:rPr lang="ru-RU" dirty="0"/>
              <a:t>Контейнеры</a:t>
            </a:r>
          </a:p>
        </p:txBody>
      </p:sp>
      <p:sp>
        <p:nvSpPr>
          <p:cNvPr id="12" name="Прямоугольник 11"/>
          <p:cNvSpPr/>
          <p:nvPr/>
        </p:nvSpPr>
        <p:spPr>
          <a:xfrm>
            <a:off x="4989887" y="4259135"/>
            <a:ext cx="2465740" cy="307777"/>
          </a:xfrm>
          <a:prstGeom prst="rect">
            <a:avLst/>
          </a:prstGeom>
        </p:spPr>
        <p:txBody>
          <a:bodyPr wrap="none">
            <a:spAutoFit/>
          </a:bodyPr>
          <a:lstStyle/>
          <a:p>
            <a:r>
              <a:rPr lang="ru-RU" dirty="0" err="1"/>
              <a:t>Бессерверные</a:t>
            </a:r>
            <a:r>
              <a:rPr lang="ru-RU" dirty="0"/>
              <a:t> вычисления</a:t>
            </a:r>
            <a:endParaRPr lang="en-US" dirty="0"/>
          </a:p>
        </p:txBody>
      </p:sp>
      <p:sp>
        <p:nvSpPr>
          <p:cNvPr id="13" name="Текст 12"/>
          <p:cNvSpPr>
            <a:spLocks noGrp="1"/>
          </p:cNvSpPr>
          <p:nvPr>
            <p:ph type="body" idx="1"/>
          </p:nvPr>
        </p:nvSpPr>
        <p:spPr/>
        <p:txBody>
          <a:bodyPr/>
          <a:lstStyle/>
          <a:p>
            <a:endParaRPr lang="ru-RU"/>
          </a:p>
        </p:txBody>
      </p:sp>
    </p:spTree>
    <p:extLst>
      <p:ext uri="{BB962C8B-B14F-4D97-AF65-F5344CB8AC3E}">
        <p14:creationId xmlns:p14="http://schemas.microsoft.com/office/powerpoint/2010/main" val="1682298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5"/>
          <p:cNvSpPr txBox="1">
            <a:spLocks noGrp="1"/>
          </p:cNvSpPr>
          <p:nvPr>
            <p:ph type="body" idx="1"/>
          </p:nvPr>
        </p:nvSpPr>
        <p:spPr>
          <a:xfrm>
            <a:off x="457200" y="1237623"/>
            <a:ext cx="8229600" cy="33570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Font typeface="Calibri"/>
              <a:buChar char="•"/>
            </a:pPr>
            <a:r>
              <a:rPr lang="ru-RU"/>
              <a:t>Развитие многоядерных процессоров</a:t>
            </a:r>
            <a:endParaRPr/>
          </a:p>
          <a:p>
            <a:pPr marL="742950" lvl="1" indent="-285750" algn="l" rtl="0">
              <a:spcBef>
                <a:spcPts val="408"/>
              </a:spcBef>
              <a:spcAft>
                <a:spcPts val="0"/>
              </a:spcAft>
              <a:buClr>
                <a:schemeClr val="dk1"/>
              </a:buClr>
              <a:buSzPct val="100000"/>
              <a:buChar char="•"/>
            </a:pPr>
            <a:r>
              <a:rPr lang="ru-RU"/>
              <a:t>увеличение производительности</a:t>
            </a:r>
            <a:endParaRPr/>
          </a:p>
          <a:p>
            <a:pPr marL="742950" lvl="1" indent="-285750" algn="l" rtl="0">
              <a:spcBef>
                <a:spcPts val="408"/>
              </a:spcBef>
              <a:spcAft>
                <a:spcPts val="0"/>
              </a:spcAft>
              <a:buClr>
                <a:schemeClr val="dk1"/>
              </a:buClr>
              <a:buSzPct val="100000"/>
              <a:buChar char="•"/>
            </a:pPr>
            <a:r>
              <a:rPr lang="ru-RU"/>
              <a:t>снижение стоимости оборудования</a:t>
            </a:r>
            <a:endParaRPr/>
          </a:p>
          <a:p>
            <a:pPr marL="742950" lvl="1" indent="-285750" algn="l" rtl="0">
              <a:spcBef>
                <a:spcPts val="408"/>
              </a:spcBef>
              <a:spcAft>
                <a:spcPts val="0"/>
              </a:spcAft>
              <a:buClr>
                <a:schemeClr val="dk1"/>
              </a:buClr>
              <a:buSzPct val="100000"/>
              <a:buChar char="•"/>
            </a:pPr>
            <a:r>
              <a:rPr lang="ru-RU"/>
              <a:t>снижение энергопотребления</a:t>
            </a:r>
            <a:endParaRPr/>
          </a:p>
          <a:p>
            <a:pPr marL="342900" lvl="0" indent="-342900" algn="l" rtl="0">
              <a:spcBef>
                <a:spcPts val="408"/>
              </a:spcBef>
              <a:spcAft>
                <a:spcPts val="0"/>
              </a:spcAft>
              <a:buClr>
                <a:schemeClr val="dk1"/>
              </a:buClr>
              <a:buSzPct val="100000"/>
              <a:buFont typeface="Calibri"/>
              <a:buChar char="•"/>
            </a:pPr>
            <a:r>
              <a:rPr lang="ru-RU"/>
              <a:t>Увеличение емкостей носителей информации</a:t>
            </a:r>
            <a:endParaRPr/>
          </a:p>
          <a:p>
            <a:pPr marL="742950" lvl="1" indent="-285750" algn="l" rtl="0">
              <a:spcBef>
                <a:spcPts val="408"/>
              </a:spcBef>
              <a:spcAft>
                <a:spcPts val="0"/>
              </a:spcAft>
              <a:buClr>
                <a:schemeClr val="dk1"/>
              </a:buClr>
              <a:buSzPct val="100000"/>
              <a:buChar char="•"/>
            </a:pPr>
            <a:r>
              <a:rPr lang="ru-RU"/>
              <a:t>≪безгранично≫ увеличить объемы хранимой информации</a:t>
            </a:r>
            <a:endParaRPr/>
          </a:p>
          <a:p>
            <a:pPr marL="742950" lvl="1" indent="-285750" algn="l" rtl="0">
              <a:spcBef>
                <a:spcPts val="408"/>
              </a:spcBef>
              <a:spcAft>
                <a:spcPts val="0"/>
              </a:spcAft>
              <a:buClr>
                <a:schemeClr val="dk1"/>
              </a:buClr>
              <a:buSzPct val="100000"/>
              <a:buChar char="•"/>
            </a:pPr>
            <a:r>
              <a:rPr lang="ru-RU"/>
              <a:t>снизить стоимость обслуживания</a:t>
            </a:r>
            <a:endParaRPr/>
          </a:p>
          <a:p>
            <a:pPr marL="342900" lvl="0" indent="-342900" algn="l" rtl="0">
              <a:spcBef>
                <a:spcPts val="408"/>
              </a:spcBef>
              <a:spcAft>
                <a:spcPts val="0"/>
              </a:spcAft>
              <a:buClr>
                <a:schemeClr val="dk1"/>
              </a:buClr>
              <a:buSzPct val="100000"/>
              <a:buFont typeface="Calibri"/>
              <a:buChar char="•"/>
            </a:pPr>
            <a:r>
              <a:rPr lang="ru-RU"/>
              <a:t>Развитие технологии многопоточного программирования</a:t>
            </a:r>
            <a:endParaRPr/>
          </a:p>
          <a:p>
            <a:pPr marL="742950" lvl="1" indent="-285750" algn="l" rtl="0">
              <a:spcBef>
                <a:spcPts val="408"/>
              </a:spcBef>
              <a:spcAft>
                <a:spcPts val="0"/>
              </a:spcAft>
              <a:buClr>
                <a:schemeClr val="dk1"/>
              </a:buClr>
              <a:buSzPct val="100000"/>
              <a:buChar char="•"/>
            </a:pPr>
            <a:r>
              <a:rPr lang="ru-RU"/>
              <a:t>эффективному использованию вычислительных ресурсов</a:t>
            </a:r>
            <a:endParaRPr/>
          </a:p>
          <a:p>
            <a:pPr marL="742950" lvl="1" indent="-285750" algn="l" rtl="0">
              <a:spcBef>
                <a:spcPts val="408"/>
              </a:spcBef>
              <a:spcAft>
                <a:spcPts val="0"/>
              </a:spcAft>
              <a:buClr>
                <a:schemeClr val="dk1"/>
              </a:buClr>
              <a:buSzPct val="100000"/>
              <a:buChar char="•"/>
            </a:pPr>
            <a:r>
              <a:rPr lang="ru-RU"/>
              <a:t>гибкое распределение вычислительных мощностей</a:t>
            </a:r>
            <a:endParaRPr/>
          </a:p>
        </p:txBody>
      </p:sp>
      <p:sp>
        <p:nvSpPr>
          <p:cNvPr id="186" name="Google Shape;186;p15"/>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187" name="Google Shape;187;p15"/>
          <p:cNvSpPr txBox="1">
            <a:spLocks noGrp="1"/>
          </p:cNvSpPr>
          <p:nvPr>
            <p:ph type="title"/>
          </p:nvPr>
        </p:nvSpPr>
        <p:spPr>
          <a:xfrm>
            <a:off x="457200" y="617140"/>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a:t>Развитие ключевых технологий</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6"/>
          <p:cNvSpPr txBox="1">
            <a:spLocks noGrp="1"/>
          </p:cNvSpPr>
          <p:nvPr>
            <p:ph type="body" idx="1"/>
          </p:nvPr>
        </p:nvSpPr>
        <p:spPr>
          <a:xfrm>
            <a:off x="457200" y="1237623"/>
            <a:ext cx="8229600" cy="33570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Font typeface="Calibri"/>
              <a:buChar char="•"/>
            </a:pPr>
            <a:r>
              <a:rPr lang="ru-RU" dirty="0"/>
              <a:t>Развитие технологий виртуализации</a:t>
            </a:r>
            <a:endParaRPr dirty="0"/>
          </a:p>
          <a:p>
            <a:pPr marL="457200" lvl="1" indent="0" algn="l" rtl="0">
              <a:spcBef>
                <a:spcPts val="444"/>
              </a:spcBef>
              <a:spcAft>
                <a:spcPts val="0"/>
              </a:spcAft>
              <a:buClr>
                <a:schemeClr val="dk1"/>
              </a:buClr>
              <a:buSzPct val="100000"/>
              <a:buNone/>
            </a:pPr>
            <a:r>
              <a:rPr lang="ru-RU" dirty="0"/>
              <a:t>• создание кроссплатформенного ПО</a:t>
            </a:r>
            <a:endParaRPr dirty="0"/>
          </a:p>
          <a:p>
            <a:pPr marL="457200" lvl="1" indent="0" algn="l" rtl="0">
              <a:spcBef>
                <a:spcPts val="444"/>
              </a:spcBef>
              <a:spcAft>
                <a:spcPts val="0"/>
              </a:spcAft>
              <a:buClr>
                <a:schemeClr val="dk1"/>
              </a:buClr>
              <a:buSzPct val="100000"/>
              <a:buNone/>
            </a:pPr>
            <a:r>
              <a:rPr lang="ru-RU" dirty="0"/>
              <a:t>• легкость масштабирования</a:t>
            </a:r>
            <a:endParaRPr dirty="0"/>
          </a:p>
          <a:p>
            <a:pPr marL="457200" lvl="1" indent="0" algn="l" rtl="0">
              <a:spcBef>
                <a:spcPts val="444"/>
              </a:spcBef>
              <a:spcAft>
                <a:spcPts val="0"/>
              </a:spcAft>
              <a:buClr>
                <a:schemeClr val="dk1"/>
              </a:buClr>
              <a:buSzPct val="100000"/>
              <a:buNone/>
            </a:pPr>
            <a:r>
              <a:rPr lang="ru-RU" dirty="0"/>
              <a:t>• уменьшение расходов на администрирование</a:t>
            </a:r>
            <a:endParaRPr dirty="0"/>
          </a:p>
          <a:p>
            <a:pPr marL="457200" lvl="1" indent="0" algn="l" rtl="0">
              <a:spcBef>
                <a:spcPts val="444"/>
              </a:spcBef>
              <a:spcAft>
                <a:spcPts val="0"/>
              </a:spcAft>
              <a:buClr>
                <a:schemeClr val="dk1"/>
              </a:buClr>
              <a:buSzPct val="100000"/>
              <a:buNone/>
            </a:pPr>
            <a:r>
              <a:rPr lang="ru-RU" dirty="0"/>
              <a:t>• доступность виртуальной инфраструктуры через сеть Интернет</a:t>
            </a:r>
            <a:endParaRPr dirty="0"/>
          </a:p>
          <a:p>
            <a:pPr marL="342900" lvl="0" indent="-342900" algn="l" rtl="0">
              <a:spcBef>
                <a:spcPts val="444"/>
              </a:spcBef>
              <a:spcAft>
                <a:spcPts val="0"/>
              </a:spcAft>
              <a:buClr>
                <a:schemeClr val="dk1"/>
              </a:buClr>
              <a:buSzPct val="100000"/>
              <a:buFont typeface="Calibri"/>
              <a:buChar char="•"/>
            </a:pPr>
            <a:r>
              <a:rPr lang="ru-RU" dirty="0"/>
              <a:t>Увеличении пропускной способности сетевых каналов</a:t>
            </a:r>
            <a:endParaRPr dirty="0"/>
          </a:p>
          <a:p>
            <a:pPr marL="457200" lvl="1" indent="0" algn="l" rtl="0">
              <a:spcBef>
                <a:spcPts val="444"/>
              </a:spcBef>
              <a:spcAft>
                <a:spcPts val="0"/>
              </a:spcAft>
              <a:buClr>
                <a:schemeClr val="dk1"/>
              </a:buClr>
              <a:buSzPct val="100000"/>
              <a:buNone/>
            </a:pPr>
            <a:r>
              <a:rPr lang="ru-RU" dirty="0"/>
              <a:t>• увеличению скорости работы</a:t>
            </a:r>
            <a:endParaRPr dirty="0"/>
          </a:p>
          <a:p>
            <a:pPr marL="457200" lvl="1" indent="0" algn="l" rtl="0">
              <a:spcBef>
                <a:spcPts val="444"/>
              </a:spcBef>
              <a:spcAft>
                <a:spcPts val="0"/>
              </a:spcAft>
              <a:buClr>
                <a:schemeClr val="dk1"/>
              </a:buClr>
              <a:buSzPct val="100000"/>
              <a:buNone/>
            </a:pPr>
            <a:r>
              <a:rPr lang="ru-RU" dirty="0"/>
              <a:t>• снижение стоимости </a:t>
            </a:r>
            <a:r>
              <a:rPr lang="ru-RU" dirty="0" smtClean="0"/>
              <a:t>Интернет-трафика</a:t>
            </a:r>
            <a:endParaRPr dirty="0"/>
          </a:p>
        </p:txBody>
      </p:sp>
      <p:sp>
        <p:nvSpPr>
          <p:cNvPr id="193" name="Google Shape;193;p16"/>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194" name="Google Shape;194;p16"/>
          <p:cNvSpPr txBox="1">
            <a:spLocks noGrp="1"/>
          </p:cNvSpPr>
          <p:nvPr>
            <p:ph type="title"/>
          </p:nvPr>
        </p:nvSpPr>
        <p:spPr>
          <a:xfrm>
            <a:off x="457200" y="617140"/>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a:t>Развитие ключевых технологий</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idx="1"/>
          </p:nvPr>
        </p:nvSpPr>
        <p:spPr>
          <a:xfrm>
            <a:off x="237744" y="1633156"/>
            <a:ext cx="5349240" cy="2834686"/>
          </a:xfrm>
        </p:spPr>
        <p:txBody>
          <a:bodyPr>
            <a:normAutofit fontScale="92500" lnSpcReduction="10000"/>
          </a:bodyPr>
          <a:lstStyle/>
          <a:p>
            <a:r>
              <a:rPr lang="ru-RU" dirty="0" smtClean="0"/>
              <a:t>Покупка </a:t>
            </a:r>
            <a:r>
              <a:rPr lang="ru-RU" dirty="0"/>
              <a:t>нового сервера под </a:t>
            </a:r>
            <a:r>
              <a:rPr lang="ru-RU" dirty="0" smtClean="0"/>
              <a:t>каждый новый сервис</a:t>
            </a:r>
            <a:endParaRPr lang="ru-RU" dirty="0"/>
          </a:p>
          <a:p>
            <a:r>
              <a:rPr lang="ru-RU" dirty="0" smtClean="0"/>
              <a:t>Повышенное энергопотребление</a:t>
            </a:r>
            <a:endParaRPr lang="ru-RU" dirty="0"/>
          </a:p>
          <a:p>
            <a:r>
              <a:rPr lang="ru-RU" dirty="0" smtClean="0"/>
              <a:t>Сложная </a:t>
            </a:r>
            <a:r>
              <a:rPr lang="ru-RU" dirty="0"/>
              <a:t>сетевая </a:t>
            </a:r>
            <a:r>
              <a:rPr lang="ru-RU" dirty="0" smtClean="0"/>
              <a:t>инфраструктура</a:t>
            </a:r>
            <a:endParaRPr lang="ru-RU" dirty="0"/>
          </a:p>
          <a:p>
            <a:r>
              <a:rPr lang="ru-RU" dirty="0" smtClean="0"/>
              <a:t>Сложная </a:t>
            </a:r>
            <a:r>
              <a:rPr lang="ru-RU" dirty="0"/>
              <a:t>и дорогая система </a:t>
            </a:r>
            <a:r>
              <a:rPr lang="ru-RU" dirty="0" smtClean="0"/>
              <a:t>резервного копирования</a:t>
            </a:r>
            <a:endParaRPr lang="ru-RU" dirty="0"/>
          </a:p>
          <a:p>
            <a:r>
              <a:rPr lang="ru-RU" dirty="0" smtClean="0"/>
              <a:t>Высокая </a:t>
            </a:r>
            <a:r>
              <a:rPr lang="ru-RU" dirty="0"/>
              <a:t>вероятность отказа </a:t>
            </a:r>
            <a:r>
              <a:rPr lang="ru-RU" dirty="0" smtClean="0"/>
              <a:t>оборудования</a:t>
            </a:r>
            <a:endParaRPr lang="ru-RU" dirty="0"/>
          </a:p>
        </p:txBody>
      </p:sp>
      <p:sp>
        <p:nvSpPr>
          <p:cNvPr id="4" name="Заголовок 3"/>
          <p:cNvSpPr>
            <a:spLocks noGrp="1"/>
          </p:cNvSpPr>
          <p:nvPr>
            <p:ph type="title"/>
          </p:nvPr>
        </p:nvSpPr>
        <p:spPr/>
        <p:txBody>
          <a:bodyPr/>
          <a:lstStyle/>
          <a:p>
            <a:r>
              <a:rPr lang="ru-RU" dirty="0"/>
              <a:t>Если бы не было виртуализации</a:t>
            </a:r>
          </a:p>
        </p:txBody>
      </p:sp>
      <p:pic>
        <p:nvPicPr>
          <p:cNvPr id="2050" name="Picture 2" descr="Metodologia | Resolv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5805" y="1633156"/>
            <a:ext cx="3205150" cy="2981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697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7"/>
          <p:cNvSpPr txBox="1">
            <a:spLocks noGrp="1"/>
          </p:cNvSpPr>
          <p:nvPr>
            <p:ph type="body" idx="1"/>
          </p:nvPr>
        </p:nvSpPr>
        <p:spPr>
          <a:xfrm>
            <a:off x="457199" y="1759937"/>
            <a:ext cx="7187089" cy="1650775"/>
          </a:xfrm>
          <a:prstGeom prst="rect">
            <a:avLst/>
          </a:prstGeom>
          <a:noFill/>
          <a:ln>
            <a:noFill/>
          </a:ln>
        </p:spPr>
        <p:txBody>
          <a:bodyPr spcFirstLastPara="1" wrap="square" lIns="91425" tIns="45700" rIns="91425" bIns="45700" anchor="t" anchorCtr="0">
            <a:normAutofit fontScale="85000" lnSpcReduction="10000"/>
          </a:bodyPr>
          <a:lstStyle/>
          <a:p>
            <a:pPr marL="0" lvl="0" indent="0">
              <a:spcBef>
                <a:spcPts val="0"/>
              </a:spcBef>
              <a:buClr>
                <a:srgbClr val="FF0000"/>
              </a:buClr>
              <a:buNone/>
            </a:pPr>
            <a:r>
              <a:rPr lang="ru-RU" b="1" i="1" dirty="0">
                <a:solidFill>
                  <a:srgbClr val="FF0000"/>
                </a:solidFill>
              </a:rPr>
              <a:t>Виртуализация</a:t>
            </a:r>
            <a:r>
              <a:rPr lang="ru-RU" dirty="0"/>
              <a:t> — предоставление набора вычислительных ресурсов или их логического объединения, абстрагированное от аппаратной реализации, и обеспечивающее при этом логическую изоляцию друг от друга вычислительных процессов, выполняемых на одном физическом ресурсе</a:t>
            </a:r>
            <a:r>
              <a:rPr lang="ru-RU" dirty="0" smtClean="0"/>
              <a:t>.</a:t>
            </a:r>
            <a:endParaRPr dirty="0"/>
          </a:p>
          <a:p>
            <a:pPr marL="0" lvl="0" indent="0" algn="l" rtl="0">
              <a:spcBef>
                <a:spcPts val="480"/>
              </a:spcBef>
              <a:spcAft>
                <a:spcPts val="0"/>
              </a:spcAft>
              <a:buClr>
                <a:schemeClr val="dk1"/>
              </a:buClr>
              <a:buSzPts val="2400"/>
              <a:buFont typeface="Calibri"/>
              <a:buNone/>
            </a:pPr>
            <a:endParaRPr dirty="0"/>
          </a:p>
        </p:txBody>
      </p:sp>
      <p:sp>
        <p:nvSpPr>
          <p:cNvPr id="201" name="Google Shape;201;p17"/>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202" name="Google Shape;202;p17"/>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dirty="0"/>
              <a:t>Что такое виртуализация?</a:t>
            </a:r>
            <a:endParaRPr dirty="0"/>
          </a:p>
        </p:txBody>
      </p:sp>
      <p:pic>
        <p:nvPicPr>
          <p:cNvPr id="2" name="Рисунок 1"/>
          <p:cNvPicPr>
            <a:picLocks noChangeAspect="1"/>
          </p:cNvPicPr>
          <p:nvPr/>
        </p:nvPicPr>
        <p:blipFill>
          <a:blip r:embed="rId3"/>
          <a:stretch>
            <a:fillRect/>
          </a:stretch>
        </p:blipFill>
        <p:spPr>
          <a:xfrm>
            <a:off x="7644288" y="876259"/>
            <a:ext cx="1371791" cy="1343212"/>
          </a:xfrm>
          <a:prstGeom prst="rect">
            <a:avLst/>
          </a:prstGeom>
        </p:spPr>
      </p:pic>
      <p:sp>
        <p:nvSpPr>
          <p:cNvPr id="4" name="Прямоугольник 3"/>
          <p:cNvSpPr/>
          <p:nvPr/>
        </p:nvSpPr>
        <p:spPr>
          <a:xfrm>
            <a:off x="1764743" y="3299618"/>
            <a:ext cx="4572000" cy="646331"/>
          </a:xfrm>
          <a:prstGeom prst="rect">
            <a:avLst/>
          </a:prstGeom>
        </p:spPr>
        <p:txBody>
          <a:bodyPr>
            <a:spAutoFit/>
          </a:bodyPr>
          <a:lstStyle/>
          <a:p>
            <a:pPr marL="285750" indent="-285750">
              <a:buFont typeface="Arial" panose="020B0604020202020204" pitchFamily="34" charset="0"/>
              <a:buChar char="•"/>
            </a:pPr>
            <a:r>
              <a:rPr lang="ru-RU" sz="1800" dirty="0"/>
              <a:t>Аппаратная виртуализация</a:t>
            </a:r>
          </a:p>
          <a:p>
            <a:pPr marL="285750" indent="-285750">
              <a:buFont typeface="Arial" panose="020B0604020202020204" pitchFamily="34" charset="0"/>
              <a:buChar char="•"/>
            </a:pPr>
            <a:r>
              <a:rPr lang="ru-RU" sz="1800" dirty="0"/>
              <a:t>Программная виртуализация</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D8541-16B8-4117-9628-2976BF01A326}"/>
              </a:ext>
            </a:extLst>
          </p:cNvPr>
          <p:cNvSpPr>
            <a:spLocks noGrp="1"/>
          </p:cNvSpPr>
          <p:nvPr>
            <p:ph type="title"/>
          </p:nvPr>
        </p:nvSpPr>
        <p:spPr/>
        <p:txBody>
          <a:bodyPr/>
          <a:lstStyle/>
          <a:p>
            <a:r>
              <a:rPr lang="ru-RU" dirty="0"/>
              <a:t>Основные понятия</a:t>
            </a:r>
          </a:p>
        </p:txBody>
      </p:sp>
      <p:sp>
        <p:nvSpPr>
          <p:cNvPr id="3" name="Объект 2">
            <a:extLst>
              <a:ext uri="{FF2B5EF4-FFF2-40B4-BE49-F238E27FC236}">
                <a16:creationId xmlns:a16="http://schemas.microsoft.com/office/drawing/2014/main" id="{3AAD8154-AE77-44CA-B01E-D474FE001E05}"/>
              </a:ext>
            </a:extLst>
          </p:cNvPr>
          <p:cNvSpPr>
            <a:spLocks noGrp="1"/>
          </p:cNvSpPr>
          <p:nvPr>
            <p:ph idx="1"/>
          </p:nvPr>
        </p:nvSpPr>
        <p:spPr/>
        <p:txBody>
          <a:bodyPr>
            <a:normAutofit fontScale="92500" lnSpcReduction="10000"/>
          </a:bodyPr>
          <a:lstStyle/>
          <a:p>
            <a:r>
              <a:rPr lang="ru-RU" dirty="0"/>
              <a:t>Хост (</a:t>
            </a:r>
            <a:r>
              <a:rPr lang="ru-RU" dirty="0" err="1"/>
              <a:t>host</a:t>
            </a:r>
            <a:r>
              <a:rPr lang="ru-RU" dirty="0"/>
              <a:t>) – физический сервер, на котором осуществляется виртуализация</a:t>
            </a:r>
          </a:p>
          <a:p>
            <a:r>
              <a:rPr lang="ru-RU" dirty="0"/>
              <a:t>Базовая ОС (Host OS) – операционная система, установленная на физический сервер</a:t>
            </a:r>
          </a:p>
          <a:p>
            <a:r>
              <a:rPr lang="ru-RU" dirty="0"/>
              <a:t>Виртуальная машина (VM) – среда, в которой выполняются ОС и приложения</a:t>
            </a:r>
          </a:p>
          <a:p>
            <a:r>
              <a:rPr lang="ru-RU" dirty="0"/>
              <a:t>Гостевая ОС (</a:t>
            </a:r>
            <a:r>
              <a:rPr lang="en-US" dirty="0"/>
              <a:t>G</a:t>
            </a:r>
            <a:r>
              <a:rPr lang="ru-RU" dirty="0" err="1"/>
              <a:t>uest</a:t>
            </a:r>
            <a:r>
              <a:rPr lang="ru-RU" dirty="0"/>
              <a:t> OS) – ОС, установленная в виртуальной машине</a:t>
            </a:r>
          </a:p>
          <a:p>
            <a:r>
              <a:rPr lang="ru-RU" dirty="0"/>
              <a:t>Менеджер виртуальных машин (VMM)/ гипервизор (</a:t>
            </a:r>
            <a:r>
              <a:rPr lang="ru-RU" dirty="0" err="1"/>
              <a:t>Hypervisor</a:t>
            </a:r>
            <a:r>
              <a:rPr lang="ru-RU" dirty="0"/>
              <a:t>) – специальное приложение, управляющее виртуальными машинами</a:t>
            </a:r>
          </a:p>
        </p:txBody>
      </p:sp>
    </p:spTree>
    <p:extLst>
      <p:ext uri="{BB962C8B-B14F-4D97-AF65-F5344CB8AC3E}">
        <p14:creationId xmlns:p14="http://schemas.microsoft.com/office/powerpoint/2010/main" val="3647442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7FB920-1DAB-46CB-964F-5F1228B7B05B}"/>
              </a:ext>
            </a:extLst>
          </p:cNvPr>
          <p:cNvSpPr>
            <a:spLocks noGrp="1"/>
          </p:cNvSpPr>
          <p:nvPr>
            <p:ph type="title"/>
          </p:nvPr>
        </p:nvSpPr>
        <p:spPr/>
        <p:txBody>
          <a:bodyPr/>
          <a:lstStyle/>
          <a:p>
            <a:r>
              <a:rPr lang="ru-RU" dirty="0"/>
              <a:t>Гипервизор </a:t>
            </a:r>
            <a:r>
              <a:rPr lang="en-US" dirty="0"/>
              <a:t>(Hypervisor)</a:t>
            </a:r>
            <a:endParaRPr lang="ru-RU" dirty="0"/>
          </a:p>
        </p:txBody>
      </p:sp>
      <p:sp>
        <p:nvSpPr>
          <p:cNvPr id="3" name="Объект 2">
            <a:extLst>
              <a:ext uri="{FF2B5EF4-FFF2-40B4-BE49-F238E27FC236}">
                <a16:creationId xmlns:a16="http://schemas.microsoft.com/office/drawing/2014/main" id="{E2F3FD23-FCBD-4875-BE8A-F16BF0891FB3}"/>
              </a:ext>
            </a:extLst>
          </p:cNvPr>
          <p:cNvSpPr>
            <a:spLocks noGrp="1"/>
          </p:cNvSpPr>
          <p:nvPr>
            <p:ph idx="1"/>
          </p:nvPr>
        </p:nvSpPr>
        <p:spPr>
          <a:xfrm>
            <a:off x="628650" y="1369219"/>
            <a:ext cx="8058150" cy="3500438"/>
          </a:xfrm>
        </p:spPr>
        <p:txBody>
          <a:bodyPr>
            <a:normAutofit fontScale="85000" lnSpcReduction="20000"/>
          </a:bodyPr>
          <a:lstStyle/>
          <a:p>
            <a:pPr marL="0" indent="0" algn="just">
              <a:buNone/>
            </a:pPr>
            <a:r>
              <a:rPr lang="ru-RU" sz="1800" dirty="0"/>
              <a:t>По мнению Тима Джонса в реализации технологий ВМ выделяются три основных подхода:</a:t>
            </a:r>
          </a:p>
          <a:p>
            <a:pPr marL="447675" algn="just"/>
            <a:r>
              <a:rPr lang="ru-RU" sz="1800" b="1" dirty="0" smtClean="0">
                <a:solidFill>
                  <a:srgbClr val="FF0000"/>
                </a:solidFill>
              </a:rPr>
              <a:t>Гипервизор </a:t>
            </a:r>
            <a:r>
              <a:rPr lang="ru-RU" sz="1800" b="1" dirty="0">
                <a:solidFill>
                  <a:srgbClr val="FF0000"/>
                </a:solidFill>
              </a:rPr>
              <a:t>первого типа</a:t>
            </a:r>
            <a:r>
              <a:rPr lang="ru-RU" sz="1800" dirty="0"/>
              <a:t> (автономный, тонкий, исполняемый на ”голом железе' Туре </a:t>
            </a:r>
            <a:r>
              <a:rPr lang="ru-RU" sz="1800" dirty="0" smtClean="0"/>
              <a:t>1, </a:t>
            </a:r>
            <a:r>
              <a:rPr lang="ru-RU" sz="1800" dirty="0" err="1"/>
              <a:t>nativ</a:t>
            </a:r>
            <a:r>
              <a:rPr lang="en-US" sz="1800" dirty="0"/>
              <a:t>e</a:t>
            </a:r>
            <a:r>
              <a:rPr lang="ru-RU" sz="1800" dirty="0"/>
              <a:t>, </a:t>
            </a:r>
            <a:r>
              <a:rPr lang="ru-RU" sz="1800" dirty="0" err="1"/>
              <a:t>bare-metal</a:t>
            </a:r>
            <a:r>
              <a:rPr lang="ru-RU" sz="1800" dirty="0"/>
              <a:t>) программа, исполняемая непосредственно на аппаратном уровне компьютера и выполняющая функции эмуляции физического аппаратного обеспечения и управления аппаратными средствами и гостевыми ОС. То есть такой гипервизор сам по себе в некотором роде является минимальной операционной системой.</a:t>
            </a:r>
          </a:p>
          <a:p>
            <a:pPr algn="just"/>
            <a:r>
              <a:rPr lang="ru-RU" sz="1800" b="1" dirty="0" smtClean="0">
                <a:solidFill>
                  <a:srgbClr val="FF0000"/>
                </a:solidFill>
              </a:rPr>
              <a:t>Гипервизор </a:t>
            </a:r>
            <a:r>
              <a:rPr lang="ru-RU" sz="1800" b="1" dirty="0">
                <a:solidFill>
                  <a:srgbClr val="FF0000"/>
                </a:solidFill>
              </a:rPr>
              <a:t>второго типа </a:t>
            </a:r>
            <a:r>
              <a:rPr lang="ru-RU" sz="1800" dirty="0"/>
              <a:t>(</a:t>
            </a:r>
            <a:r>
              <a:rPr lang="ru-RU" sz="1800" dirty="0" err="1"/>
              <a:t>хостовый</a:t>
            </a:r>
            <a:r>
              <a:rPr lang="ru-RU" sz="1800" dirty="0"/>
              <a:t>, монитор виртуальных машин  </a:t>
            </a:r>
            <a:r>
              <a:rPr lang="ru-RU" sz="1800" dirty="0" err="1"/>
              <a:t>hosted</a:t>
            </a:r>
            <a:r>
              <a:rPr lang="ru-RU" sz="1800" dirty="0"/>
              <a:t>, Туре-2, V)</a:t>
            </a:r>
            <a:r>
              <a:rPr lang="en-US" sz="1800" dirty="0"/>
              <a:t> </a:t>
            </a:r>
            <a:r>
              <a:rPr lang="ru-RU" sz="1800" dirty="0"/>
              <a:t>специальный дополнительный программный слой, расположенный поверх основной </a:t>
            </a:r>
            <a:r>
              <a:rPr lang="ru-RU" sz="1800" dirty="0" err="1"/>
              <a:t>хостовой</a:t>
            </a:r>
            <a:r>
              <a:rPr lang="ru-RU" sz="1800" dirty="0"/>
              <a:t> ОС, который в основном выполняет функции управления гостевыми ОС, а эмуляцию и управление аппаратурой берет на себя </a:t>
            </a:r>
            <a:r>
              <a:rPr lang="ru-RU" sz="1800" dirty="0" err="1"/>
              <a:t>хостовая</a:t>
            </a:r>
            <a:r>
              <a:rPr lang="ru-RU" sz="1800" dirty="0"/>
              <a:t> ОС.</a:t>
            </a:r>
          </a:p>
          <a:p>
            <a:pPr algn="just"/>
            <a:r>
              <a:rPr lang="ru-RU" sz="1800" b="1" dirty="0" smtClean="0">
                <a:solidFill>
                  <a:srgbClr val="FF0000"/>
                </a:solidFill>
              </a:rPr>
              <a:t>Гипервизор </a:t>
            </a:r>
            <a:r>
              <a:rPr lang="ru-RU" sz="1800" b="1" dirty="0">
                <a:solidFill>
                  <a:srgbClr val="FF0000"/>
                </a:solidFill>
              </a:rPr>
              <a:t>гибридный </a:t>
            </a:r>
            <a:r>
              <a:rPr lang="ru-RU" sz="1800" dirty="0"/>
              <a:t>(Hybrid, Туре-1+) объединенный вариант первых двух, в котором функции управления аппаратными средствами выполняются тонким гипервизором и специальной </a:t>
            </a:r>
            <a:r>
              <a:rPr lang="ru-RU" sz="1800" dirty="0" err="1"/>
              <a:t>депривилегированной</a:t>
            </a:r>
            <a:r>
              <a:rPr lang="ru-RU" sz="1800" dirty="0"/>
              <a:t> сервисной ОС, работающей под управлением тонкого гипервизора. Обычно гипервизор управляет напрямую процессором и памятью компьютера, а через сервисную ОС гостевые ОС работают с остальными аппаратными компонентами.</a:t>
            </a:r>
          </a:p>
          <a:p>
            <a:pPr algn="just"/>
            <a:endParaRPr lang="ru-RU" sz="1800" dirty="0"/>
          </a:p>
        </p:txBody>
      </p:sp>
    </p:spTree>
    <p:extLst>
      <p:ext uri="{BB962C8B-B14F-4D97-AF65-F5344CB8AC3E}">
        <p14:creationId xmlns:p14="http://schemas.microsoft.com/office/powerpoint/2010/main" val="137069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AF90B2-3BEA-424A-84B1-6045EB4AE91C}"/>
              </a:ext>
            </a:extLst>
          </p:cNvPr>
          <p:cNvSpPr>
            <a:spLocks noGrp="1"/>
          </p:cNvSpPr>
          <p:nvPr>
            <p:ph type="title"/>
          </p:nvPr>
        </p:nvSpPr>
        <p:spPr/>
        <p:txBody>
          <a:bodyPr/>
          <a:lstStyle/>
          <a:p>
            <a:r>
              <a:rPr lang="ru-RU" dirty="0"/>
              <a:t>Гипервизор (</a:t>
            </a:r>
            <a:r>
              <a:rPr lang="en-US" dirty="0"/>
              <a:t>Hypervisor)</a:t>
            </a:r>
            <a:endParaRPr lang="ru-RU" dirty="0"/>
          </a:p>
        </p:txBody>
      </p:sp>
      <p:pic>
        <p:nvPicPr>
          <p:cNvPr id="8" name="Рисунок 7">
            <a:extLst>
              <a:ext uri="{FF2B5EF4-FFF2-40B4-BE49-F238E27FC236}">
                <a16:creationId xmlns:a16="http://schemas.microsoft.com/office/drawing/2014/main" id="{0E74828E-C902-479D-BD07-261B35462920}"/>
              </a:ext>
            </a:extLst>
          </p:cNvPr>
          <p:cNvPicPr>
            <a:picLocks noChangeAspect="1"/>
          </p:cNvPicPr>
          <p:nvPr/>
        </p:nvPicPr>
        <p:blipFill>
          <a:blip r:embed="rId2"/>
          <a:stretch>
            <a:fillRect/>
          </a:stretch>
        </p:blipFill>
        <p:spPr>
          <a:xfrm>
            <a:off x="1041797" y="1564265"/>
            <a:ext cx="6908006" cy="2943225"/>
          </a:xfrm>
          <a:prstGeom prst="rect">
            <a:avLst/>
          </a:prstGeom>
        </p:spPr>
      </p:pic>
    </p:spTree>
    <p:extLst>
      <p:ext uri="{BB962C8B-B14F-4D97-AF65-F5344CB8AC3E}">
        <p14:creationId xmlns:p14="http://schemas.microsoft.com/office/powerpoint/2010/main" val="4255173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59EC22-AC7E-415D-A457-EE4BBAC7CB0C}"/>
              </a:ext>
            </a:extLst>
          </p:cNvPr>
          <p:cNvSpPr>
            <a:spLocks noGrp="1"/>
          </p:cNvSpPr>
          <p:nvPr>
            <p:ph type="title"/>
          </p:nvPr>
        </p:nvSpPr>
        <p:spPr>
          <a:xfrm>
            <a:off x="246888" y="515902"/>
            <a:ext cx="8229600" cy="620483"/>
          </a:xfrm>
        </p:spPr>
        <p:txBody>
          <a:bodyPr/>
          <a:lstStyle/>
          <a:p>
            <a:r>
              <a:rPr lang="ru-RU" dirty="0"/>
              <a:t>Виртуализация платформ</a:t>
            </a:r>
          </a:p>
        </p:txBody>
      </p:sp>
      <p:sp>
        <p:nvSpPr>
          <p:cNvPr id="3" name="Объект 2">
            <a:extLst>
              <a:ext uri="{FF2B5EF4-FFF2-40B4-BE49-F238E27FC236}">
                <a16:creationId xmlns:a16="http://schemas.microsoft.com/office/drawing/2014/main" id="{00BD70C9-D8E2-4BE3-897D-DDD1420F0C75}"/>
              </a:ext>
            </a:extLst>
          </p:cNvPr>
          <p:cNvSpPr>
            <a:spLocks noGrp="1"/>
          </p:cNvSpPr>
          <p:nvPr>
            <p:ph idx="1"/>
          </p:nvPr>
        </p:nvSpPr>
        <p:spPr>
          <a:xfrm>
            <a:off x="427759" y="1022854"/>
            <a:ext cx="8570768" cy="3046226"/>
          </a:xfrm>
        </p:spPr>
        <p:txBody>
          <a:bodyPr>
            <a:noAutofit/>
          </a:bodyPr>
          <a:lstStyle/>
          <a:p>
            <a:pPr marL="269081" indent="-269081" algn="just">
              <a:spcBef>
                <a:spcPts val="0"/>
              </a:spcBef>
              <a:spcAft>
                <a:spcPts val="600"/>
              </a:spcAft>
            </a:pPr>
            <a:r>
              <a:rPr lang="ru-RU" sz="1350" b="1" dirty="0">
                <a:solidFill>
                  <a:srgbClr val="FF0000"/>
                </a:solidFill>
                <a:latin typeface="Times New Roman" panose="02020603050405020304" pitchFamily="18" charset="0"/>
                <a:ea typeface="Times New Roman" panose="02020603050405020304" pitchFamily="18" charset="0"/>
              </a:rPr>
              <a:t>Полная эмуляция</a:t>
            </a:r>
          </a:p>
          <a:p>
            <a:pPr marL="269081" indent="1191" algn="just">
              <a:spcBef>
                <a:spcPts val="0"/>
              </a:spcBef>
              <a:spcAft>
                <a:spcPts val="158"/>
              </a:spcAft>
              <a:buNone/>
            </a:pPr>
            <a:r>
              <a:rPr lang="ru-RU" sz="1350" dirty="0">
                <a:solidFill>
                  <a:srgbClr val="000000"/>
                </a:solidFill>
                <a:latin typeface="Times New Roman" panose="02020603050405020304" pitchFamily="18" charset="0"/>
              </a:rPr>
              <a:t>Этот вид виртуализации построен на основе полной эмуляции всего аппаратного обеспечения определенной платформы.</a:t>
            </a:r>
          </a:p>
          <a:p>
            <a:pPr marL="269081" indent="1191" algn="just">
              <a:spcBef>
                <a:spcPts val="0"/>
              </a:spcBef>
              <a:spcAft>
                <a:spcPts val="19"/>
              </a:spcAft>
              <a:buNone/>
            </a:pPr>
            <a:r>
              <a:rPr lang="ru-RU" sz="1350" dirty="0">
                <a:solidFill>
                  <a:srgbClr val="000000"/>
                </a:solidFill>
                <a:latin typeface="Times New Roman" panose="02020603050405020304" pitchFamily="18" charset="0"/>
              </a:rPr>
              <a:t>Такой подход позволяет эмулировать различные аппаратные архитектуры. Примеры продуктов для полной эмуляции: </a:t>
            </a:r>
            <a:r>
              <a:rPr lang="ru-RU" sz="1350" dirty="0" err="1">
                <a:solidFill>
                  <a:srgbClr val="000000"/>
                </a:solidFill>
                <a:latin typeface="Times New Roman" panose="02020603050405020304" pitchFamily="18" charset="0"/>
              </a:rPr>
              <a:t>Bochs</a:t>
            </a:r>
            <a:r>
              <a:rPr lang="ru-RU" sz="1350" dirty="0">
                <a:solidFill>
                  <a:srgbClr val="000000"/>
                </a:solidFill>
                <a:latin typeface="Times New Roman" panose="02020603050405020304" pitchFamily="18" charset="0"/>
              </a:rPr>
              <a:t>, </a:t>
            </a:r>
            <a:r>
              <a:rPr lang="ru-RU" sz="1350" dirty="0" err="1">
                <a:solidFill>
                  <a:srgbClr val="000000"/>
                </a:solidFill>
                <a:latin typeface="Times New Roman" panose="02020603050405020304" pitchFamily="18" charset="0"/>
              </a:rPr>
              <a:t>PearPC</a:t>
            </a:r>
            <a:r>
              <a:rPr lang="ru-RU" sz="1350" dirty="0">
                <a:solidFill>
                  <a:srgbClr val="000000"/>
                </a:solidFill>
                <a:latin typeface="Times New Roman" panose="02020603050405020304" pitchFamily="18" charset="0"/>
              </a:rPr>
              <a:t>, QEMU (без акселерации), </a:t>
            </a:r>
            <a:r>
              <a:rPr lang="ru-RU" sz="1350" dirty="0" err="1">
                <a:solidFill>
                  <a:srgbClr val="000000"/>
                </a:solidFill>
                <a:latin typeface="Times New Roman" panose="02020603050405020304" pitchFamily="18" charset="0"/>
              </a:rPr>
              <a:t>Hercules</a:t>
            </a:r>
            <a:r>
              <a:rPr lang="ru-RU" sz="1350" dirty="0">
                <a:solidFill>
                  <a:srgbClr val="000000"/>
                </a:solidFill>
                <a:latin typeface="Times New Roman" panose="02020603050405020304" pitchFamily="18" charset="0"/>
              </a:rPr>
              <a:t> </a:t>
            </a:r>
            <a:r>
              <a:rPr lang="ru-RU" sz="1350" dirty="0" err="1">
                <a:solidFill>
                  <a:srgbClr val="000000"/>
                </a:solidFill>
                <a:latin typeface="Times New Roman" panose="02020603050405020304" pitchFamily="18" charset="0"/>
              </a:rPr>
              <a:t>Emulator</a:t>
            </a:r>
            <a:r>
              <a:rPr lang="ru-RU" sz="1350" dirty="0">
                <a:solidFill>
                  <a:srgbClr val="000000"/>
                </a:solidFill>
                <a:latin typeface="Times New Roman" panose="02020603050405020304" pitchFamily="18" charset="0"/>
              </a:rPr>
              <a:t>.</a:t>
            </a:r>
          </a:p>
          <a:p>
            <a:pPr marL="269081" indent="-269081" algn="just">
              <a:spcBef>
                <a:spcPts val="0"/>
              </a:spcBef>
              <a:spcAft>
                <a:spcPts val="600"/>
              </a:spcAft>
            </a:pPr>
            <a:r>
              <a:rPr lang="ru-RU" sz="1350" b="1" dirty="0">
                <a:solidFill>
                  <a:srgbClr val="FF0000"/>
                </a:solidFill>
                <a:latin typeface="Times New Roman" panose="02020603050405020304" pitchFamily="18" charset="0"/>
                <a:ea typeface="Times New Roman" panose="02020603050405020304" pitchFamily="18" charset="0"/>
              </a:rPr>
              <a:t>Частичная эмуляция (нативная виртуализация)</a:t>
            </a:r>
          </a:p>
          <a:p>
            <a:pPr marL="269081" indent="1191" algn="just">
              <a:spcBef>
                <a:spcPts val="0"/>
              </a:spcBef>
              <a:spcAft>
                <a:spcPts val="600"/>
              </a:spcAft>
              <a:buNone/>
            </a:pPr>
            <a:r>
              <a:rPr lang="ru-RU" sz="1350" dirty="0">
                <a:solidFill>
                  <a:srgbClr val="000000"/>
                </a:solidFill>
                <a:latin typeface="Times New Roman" panose="02020603050405020304" pitchFamily="18" charset="0"/>
                <a:ea typeface="Times New Roman" panose="02020603050405020304" pitchFamily="18" charset="0"/>
              </a:rPr>
              <a:t>Частичная виртуализация базируется на принципе эмуляции только необхощ1мого количества ресурсов, чтобы виртуальная машина могла быть запущена изолировано. Примеры продуктов для частичной эмуляции: VMware </a:t>
            </a:r>
            <a:r>
              <a:rPr lang="ru-RU" sz="1350" dirty="0" err="1">
                <a:solidFill>
                  <a:srgbClr val="000000"/>
                </a:solidFill>
                <a:latin typeface="Times New Roman" panose="02020603050405020304" pitchFamily="18" charset="0"/>
                <a:ea typeface="Times New Roman" panose="02020603050405020304" pitchFamily="18" charset="0"/>
              </a:rPr>
              <a:t>Workstation</a:t>
            </a:r>
            <a:r>
              <a:rPr lang="ru-RU" sz="1350" dirty="0">
                <a:solidFill>
                  <a:srgbClr val="000000"/>
                </a:solidFill>
                <a:latin typeface="Times New Roman" panose="02020603050405020304" pitchFamily="18" charset="0"/>
                <a:ea typeface="Times New Roman" panose="02020603050405020304" pitchFamily="18" charset="0"/>
              </a:rPr>
              <a:t>, VMware Server, VMware ESXI Server, Virtual Iron, Microsoft Hyper-V Server, Microsoft Virtual РС, Sun </a:t>
            </a:r>
            <a:r>
              <a:rPr lang="en-US" sz="1350" dirty="0">
                <a:solidFill>
                  <a:srgbClr val="000000"/>
                </a:solidFill>
                <a:latin typeface="Times New Roman" panose="02020603050405020304" pitchFamily="18" charset="0"/>
                <a:ea typeface="Times New Roman" panose="02020603050405020304" pitchFamily="18" charset="0"/>
              </a:rPr>
              <a:t>VirtualBox, Parallels Desktop </a:t>
            </a:r>
            <a:r>
              <a:rPr lang="ru-RU" sz="1350" dirty="0">
                <a:solidFill>
                  <a:srgbClr val="000000"/>
                </a:solidFill>
                <a:latin typeface="Times New Roman" panose="02020603050405020304" pitchFamily="18" charset="0"/>
                <a:ea typeface="Times New Roman" panose="02020603050405020304" pitchFamily="18" charset="0"/>
              </a:rPr>
              <a:t>и другие</a:t>
            </a:r>
            <a:r>
              <a:rPr lang="en-US" sz="1350" dirty="0">
                <a:solidFill>
                  <a:srgbClr val="000000"/>
                </a:solidFill>
                <a:latin typeface="Times New Roman" panose="02020603050405020304" pitchFamily="18" charset="0"/>
                <a:ea typeface="Times New Roman" panose="02020603050405020304" pitchFamily="18" charset="0"/>
              </a:rPr>
              <a:t>.</a:t>
            </a:r>
            <a:endParaRPr lang="ru-RU" sz="1350" dirty="0">
              <a:solidFill>
                <a:srgbClr val="000000"/>
              </a:solidFill>
              <a:latin typeface="Times New Roman" panose="02020603050405020304" pitchFamily="18" charset="0"/>
              <a:ea typeface="Times New Roman" panose="02020603050405020304" pitchFamily="18" charset="0"/>
            </a:endParaRPr>
          </a:p>
          <a:p>
            <a:pPr marL="269081" indent="-269081" algn="just">
              <a:spcBef>
                <a:spcPts val="0"/>
              </a:spcBef>
              <a:spcAft>
                <a:spcPts val="600"/>
              </a:spcAft>
            </a:pPr>
            <a:r>
              <a:rPr lang="ru-RU" sz="1350" b="1" dirty="0">
                <a:solidFill>
                  <a:srgbClr val="FF0000"/>
                </a:solidFill>
                <a:latin typeface="Times New Roman" panose="02020603050405020304" pitchFamily="18" charset="0"/>
                <a:ea typeface="Times New Roman" panose="02020603050405020304" pitchFamily="18" charset="0"/>
              </a:rPr>
              <a:t>Частичная виртуализация и виртуализация адресного пространства</a:t>
            </a:r>
          </a:p>
          <a:p>
            <a:pPr marL="269081" indent="1191" algn="just">
              <a:spcBef>
                <a:spcPts val="0"/>
              </a:spcBef>
              <a:spcAft>
                <a:spcPts val="19"/>
              </a:spcAft>
              <a:buNone/>
            </a:pPr>
            <a:r>
              <a:rPr lang="ru-RU" sz="1350" dirty="0">
                <a:solidFill>
                  <a:srgbClr val="000000"/>
                </a:solidFill>
                <a:latin typeface="Times New Roman" panose="02020603050405020304" pitchFamily="18" charset="0"/>
                <a:ea typeface="Times New Roman" panose="02020603050405020304" pitchFamily="18" charset="0"/>
              </a:rPr>
              <a:t>Подход частичной виртуализации заключается в симулировании нескольких экземпляров аппаратного обеспечения (особенно часто используется виртуализация адресного пространства). Это позволяет совместно использовать ресурсы и изолировать процессы, но не позволяет создавать экземпляры гостевых систем. Примером такого вида виртуализации может служить UML (User-</a:t>
            </a:r>
            <a:r>
              <a:rPr lang="ru-RU" sz="1350" dirty="0" err="1">
                <a:solidFill>
                  <a:srgbClr val="000000"/>
                </a:solidFill>
                <a:latin typeface="Times New Roman" panose="02020603050405020304" pitchFamily="18" charset="0"/>
                <a:ea typeface="Times New Roman" panose="02020603050405020304" pitchFamily="18" charset="0"/>
              </a:rPr>
              <a:t>mode</a:t>
            </a:r>
            <a:r>
              <a:rPr lang="ru-RU" sz="1350" dirty="0">
                <a:solidFill>
                  <a:srgbClr val="000000"/>
                </a:solidFill>
                <a:latin typeface="Times New Roman" panose="02020603050405020304" pitchFamily="18" charset="0"/>
                <a:ea typeface="Times New Roman" panose="02020603050405020304" pitchFamily="18" charset="0"/>
              </a:rPr>
              <a:t> Linux), при котором гостевое ядро запускается внутри основного ядра и выполняется в его контексте.</a:t>
            </a:r>
          </a:p>
          <a:p>
            <a:pPr algn="just">
              <a:spcBef>
                <a:spcPts val="0"/>
              </a:spcBef>
            </a:pPr>
            <a:endParaRPr lang="ru-RU" sz="1350" dirty="0"/>
          </a:p>
        </p:txBody>
      </p:sp>
    </p:spTree>
    <p:extLst>
      <p:ext uri="{BB962C8B-B14F-4D97-AF65-F5344CB8AC3E}">
        <p14:creationId xmlns:p14="http://schemas.microsoft.com/office/powerpoint/2010/main" val="361513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59EC22-AC7E-415D-A457-EE4BBAC7CB0C}"/>
              </a:ext>
            </a:extLst>
          </p:cNvPr>
          <p:cNvSpPr>
            <a:spLocks noGrp="1"/>
          </p:cNvSpPr>
          <p:nvPr>
            <p:ph type="title"/>
          </p:nvPr>
        </p:nvSpPr>
        <p:spPr>
          <a:xfrm>
            <a:off x="285750" y="634774"/>
            <a:ext cx="8229600" cy="620483"/>
          </a:xfrm>
        </p:spPr>
        <p:txBody>
          <a:bodyPr/>
          <a:lstStyle/>
          <a:p>
            <a:r>
              <a:rPr lang="ru-RU" dirty="0"/>
              <a:t>Виртуализация платформ</a:t>
            </a:r>
          </a:p>
        </p:txBody>
      </p:sp>
      <p:sp>
        <p:nvSpPr>
          <p:cNvPr id="3" name="Объект 2">
            <a:extLst>
              <a:ext uri="{FF2B5EF4-FFF2-40B4-BE49-F238E27FC236}">
                <a16:creationId xmlns:a16="http://schemas.microsoft.com/office/drawing/2014/main" id="{00BD70C9-D8E2-4BE3-897D-DDD1420F0C75}"/>
              </a:ext>
            </a:extLst>
          </p:cNvPr>
          <p:cNvSpPr>
            <a:spLocks noGrp="1"/>
          </p:cNvSpPr>
          <p:nvPr>
            <p:ph idx="1"/>
          </p:nvPr>
        </p:nvSpPr>
        <p:spPr>
          <a:xfrm>
            <a:off x="628650" y="1175254"/>
            <a:ext cx="7886700" cy="3452164"/>
          </a:xfrm>
        </p:spPr>
        <p:txBody>
          <a:bodyPr>
            <a:noAutofit/>
          </a:bodyPr>
          <a:lstStyle/>
          <a:p>
            <a:pPr marL="2381" indent="-4763" algn="just">
              <a:spcBef>
                <a:spcPts val="0"/>
              </a:spcBef>
              <a:spcAft>
                <a:spcPts val="600"/>
              </a:spcAft>
            </a:pPr>
            <a:r>
              <a:rPr lang="ru-RU" sz="1350" b="1" dirty="0" err="1">
                <a:solidFill>
                  <a:srgbClr val="FF0000"/>
                </a:solidFill>
                <a:latin typeface="Times New Roman" panose="02020603050405020304" pitchFamily="18" charset="0"/>
                <a:ea typeface="Times New Roman" panose="02020603050405020304" pitchFamily="18" charset="0"/>
              </a:rPr>
              <a:t>Паравиртуализация</a:t>
            </a:r>
            <a:endParaRPr lang="ru-RU" sz="1350" b="1" dirty="0">
              <a:solidFill>
                <a:srgbClr val="FF0000"/>
              </a:solidFill>
              <a:latin typeface="Times New Roman" panose="02020603050405020304" pitchFamily="18" charset="0"/>
              <a:ea typeface="Times New Roman" panose="02020603050405020304" pitchFamily="18" charset="0"/>
            </a:endParaRPr>
          </a:p>
          <a:p>
            <a:pPr marL="269081" indent="0" algn="just">
              <a:spcBef>
                <a:spcPts val="0"/>
              </a:spcBef>
              <a:spcAft>
                <a:spcPts val="19"/>
              </a:spcAft>
              <a:buNone/>
            </a:pPr>
            <a:r>
              <a:rPr lang="ru-RU" sz="1350" dirty="0">
                <a:solidFill>
                  <a:srgbClr val="000000"/>
                </a:solidFill>
                <a:latin typeface="Times New Roman" panose="02020603050405020304" pitchFamily="18" charset="0"/>
                <a:ea typeface="Times New Roman" panose="02020603050405020304" pitchFamily="18" charset="0"/>
              </a:rPr>
              <a:t>Метод </a:t>
            </a:r>
            <a:r>
              <a:rPr lang="ru-RU" sz="1350" dirty="0" err="1">
                <a:solidFill>
                  <a:srgbClr val="000000"/>
                </a:solidFill>
                <a:latin typeface="Times New Roman" panose="02020603050405020304" pitchFamily="18" charset="0"/>
                <a:ea typeface="Times New Roman" panose="02020603050405020304" pitchFamily="18" charset="0"/>
              </a:rPr>
              <a:t>паравиртуализации</a:t>
            </a:r>
            <a:r>
              <a:rPr lang="ru-RU" sz="1350" dirty="0">
                <a:solidFill>
                  <a:srgbClr val="000000"/>
                </a:solidFill>
                <a:latin typeface="Times New Roman" panose="02020603050405020304" pitchFamily="18" charset="0"/>
                <a:ea typeface="Times New Roman" panose="02020603050405020304" pitchFamily="18" charset="0"/>
              </a:rPr>
              <a:t> не вынуждает эмулировать аппаратное обеспечение, однако требует от гостевой системы наличия специального программного интерфейса для взаимодействия с </a:t>
            </a:r>
            <a:r>
              <a:rPr lang="ru-RU" sz="1350" dirty="0" err="1">
                <a:solidFill>
                  <a:srgbClr val="000000"/>
                </a:solidFill>
                <a:latin typeface="Times New Roman" panose="02020603050405020304" pitchFamily="18" charset="0"/>
                <a:ea typeface="Times New Roman" panose="02020603050405020304" pitchFamily="18" charset="0"/>
              </a:rPr>
              <a:t>хостовой</a:t>
            </a:r>
            <a:r>
              <a:rPr lang="ru-RU" sz="1350" dirty="0">
                <a:solidFill>
                  <a:srgbClr val="000000"/>
                </a:solidFill>
                <a:latin typeface="Times New Roman" panose="02020603050405020304" pitchFamily="18" charset="0"/>
                <a:ea typeface="Times New Roman" panose="02020603050405020304" pitchFamily="18" charset="0"/>
              </a:rPr>
              <a:t> системой.</a:t>
            </a:r>
          </a:p>
          <a:p>
            <a:pPr marL="2381" indent="-4763" algn="just">
              <a:spcBef>
                <a:spcPts val="0"/>
              </a:spcBef>
              <a:spcAft>
                <a:spcPts val="600"/>
              </a:spcAft>
            </a:pPr>
            <a:r>
              <a:rPr lang="ru-RU" sz="1350" b="1" dirty="0">
                <a:solidFill>
                  <a:srgbClr val="FF0000"/>
                </a:solidFill>
                <a:latin typeface="Times New Roman" panose="02020603050405020304" pitchFamily="18" charset="0"/>
                <a:ea typeface="Times New Roman" panose="02020603050405020304" pitchFamily="18" charset="0"/>
              </a:rPr>
              <a:t>Виртуализация уровня операционной системы</a:t>
            </a:r>
          </a:p>
          <a:p>
            <a:pPr marL="269081" indent="0" algn="just">
              <a:spcBef>
                <a:spcPts val="0"/>
              </a:spcBef>
              <a:spcAft>
                <a:spcPts val="19"/>
              </a:spcAft>
              <a:buNone/>
            </a:pPr>
            <a:r>
              <a:rPr lang="ru-RU" sz="1350" dirty="0">
                <a:solidFill>
                  <a:srgbClr val="000000"/>
                </a:solidFill>
                <a:latin typeface="Times New Roman" panose="02020603050405020304" pitchFamily="18" charset="0"/>
                <a:ea typeface="Times New Roman" panose="02020603050405020304" pitchFamily="18" charset="0"/>
              </a:rPr>
              <a:t>Данный метод позволяет в рамках одной операционной системы выделить ресурсы для выполнения независимых гостевых операционных систем. Каждая гостевая система имеет изолированную от </a:t>
            </a:r>
            <a:r>
              <a:rPr lang="ru-RU" sz="1350" dirty="0" err="1">
                <a:solidFill>
                  <a:srgbClr val="000000"/>
                </a:solidFill>
                <a:latin typeface="Times New Roman" panose="02020603050405020304" pitchFamily="18" charset="0"/>
                <a:ea typeface="Times New Roman" panose="02020603050405020304" pitchFamily="18" charset="0"/>
              </a:rPr>
              <a:t>хостовой</a:t>
            </a:r>
            <a:r>
              <a:rPr lang="ru-RU" sz="1350" dirty="0">
                <a:solidFill>
                  <a:srgbClr val="000000"/>
                </a:solidFill>
                <a:latin typeface="Times New Roman" panose="02020603050405020304" pitchFamily="18" charset="0"/>
                <a:ea typeface="Times New Roman" panose="02020603050405020304" pitchFamily="18" charset="0"/>
              </a:rPr>
              <a:t> системы среду выполнения, что обеспечивает достаточную безопасность. Примерами такого вида виртуализации являются такие программные продукты, как Linux-</a:t>
            </a:r>
            <a:r>
              <a:rPr lang="ru-RU" sz="1350" dirty="0" err="1">
                <a:solidFill>
                  <a:srgbClr val="000000"/>
                </a:solidFill>
                <a:latin typeface="Times New Roman" panose="02020603050405020304" pitchFamily="18" charset="0"/>
                <a:ea typeface="Times New Roman" panose="02020603050405020304" pitchFamily="18" charset="0"/>
              </a:rPr>
              <a:t>VServer</a:t>
            </a:r>
            <a:r>
              <a:rPr lang="ru-RU" sz="1350" dirty="0">
                <a:solidFill>
                  <a:srgbClr val="000000"/>
                </a:solidFill>
                <a:latin typeface="Times New Roman" panose="02020603050405020304" pitchFamily="18" charset="0"/>
                <a:ea typeface="Times New Roman" panose="02020603050405020304" pitchFamily="18" charset="0"/>
              </a:rPr>
              <a:t>, 0penVZ, </a:t>
            </a:r>
            <a:r>
              <a:rPr lang="ru-RU" sz="1350" dirty="0" err="1">
                <a:solidFill>
                  <a:srgbClr val="000000"/>
                </a:solidFill>
                <a:latin typeface="Times New Roman" panose="02020603050405020304" pitchFamily="18" charset="0"/>
                <a:ea typeface="Times New Roman" panose="02020603050405020304" pitchFamily="18" charset="0"/>
              </a:rPr>
              <a:t>Virtuozzo</a:t>
            </a:r>
            <a:r>
              <a:rPr lang="ru-RU" sz="1350" dirty="0">
                <a:solidFill>
                  <a:srgbClr val="000000"/>
                </a:solidFill>
                <a:latin typeface="Times New Roman" panose="02020603050405020304" pitchFamily="18" charset="0"/>
                <a:ea typeface="Times New Roman" panose="02020603050405020304" pitchFamily="18" charset="0"/>
              </a:rPr>
              <a:t>, FreeBSD </a:t>
            </a:r>
            <a:r>
              <a:rPr lang="ru-RU" sz="1350" dirty="0" err="1">
                <a:solidFill>
                  <a:srgbClr val="000000"/>
                </a:solidFill>
                <a:latin typeface="Times New Roman" panose="02020603050405020304" pitchFamily="18" charset="0"/>
                <a:ea typeface="Times New Roman" panose="02020603050405020304" pitchFamily="18" charset="0"/>
              </a:rPr>
              <a:t>Jails</a:t>
            </a:r>
            <a:r>
              <a:rPr lang="ru-RU" sz="1350" dirty="0">
                <a:solidFill>
                  <a:srgbClr val="000000"/>
                </a:solidFill>
                <a:latin typeface="Times New Roman" panose="02020603050405020304" pitchFamily="18" charset="0"/>
                <a:ea typeface="Times New Roman" panose="02020603050405020304" pitchFamily="18" charset="0"/>
              </a:rPr>
              <a:t>, Solaris </a:t>
            </a:r>
            <a:r>
              <a:rPr lang="ru-RU" sz="1350" dirty="0" err="1">
                <a:solidFill>
                  <a:srgbClr val="000000"/>
                </a:solidFill>
                <a:latin typeface="Times New Roman" panose="02020603050405020304" pitchFamily="18" charset="0"/>
                <a:ea typeface="Times New Roman" panose="02020603050405020304" pitchFamily="18" charset="0"/>
              </a:rPr>
              <a:t>Containers</a:t>
            </a:r>
            <a:r>
              <a:rPr lang="ru-RU" sz="1350" dirty="0">
                <a:solidFill>
                  <a:srgbClr val="000000"/>
                </a:solidFill>
                <a:latin typeface="Times New Roman" panose="02020603050405020304" pitchFamily="18" charset="0"/>
                <a:ea typeface="Times New Roman" panose="02020603050405020304" pitchFamily="18" charset="0"/>
              </a:rPr>
              <a:t>.</a:t>
            </a:r>
          </a:p>
          <a:p>
            <a:pPr marL="2381" indent="-4763" algn="just">
              <a:spcBef>
                <a:spcPts val="0"/>
              </a:spcBef>
              <a:spcAft>
                <a:spcPts val="600"/>
              </a:spcAft>
            </a:pPr>
            <a:r>
              <a:rPr lang="ru-RU" sz="1350" b="1" dirty="0">
                <a:solidFill>
                  <a:srgbClr val="FF0000"/>
                </a:solidFill>
                <a:latin typeface="Times New Roman" panose="02020603050405020304" pitchFamily="18" charset="0"/>
                <a:ea typeface="Times New Roman" panose="02020603050405020304" pitchFamily="18" charset="0"/>
              </a:rPr>
              <a:t>Виртуализация уровня приложений</a:t>
            </a:r>
          </a:p>
          <a:p>
            <a:pPr marL="269081" indent="0" algn="just">
              <a:spcBef>
                <a:spcPts val="0"/>
              </a:spcBef>
              <a:spcAft>
                <a:spcPts val="19"/>
              </a:spcAft>
              <a:buNone/>
            </a:pPr>
            <a:r>
              <a:rPr lang="ru-RU" sz="1350" dirty="0">
                <a:solidFill>
                  <a:srgbClr val="000000"/>
                </a:solidFill>
                <a:latin typeface="Times New Roman" panose="02020603050405020304" pitchFamily="18" charset="0"/>
                <a:ea typeface="Times New Roman" panose="02020603050405020304" pitchFamily="18" charset="0"/>
              </a:rPr>
              <a:t>Виртуализация приложений значительно отличается от всех остальных видов виртуализации. Целевое приложение (а не вся операционная с11стема) помещается в специальный контейнер, который эмулирует работу операционной системы с данным приложением. Контейнер содержит все необходимые приложению ресурсы: системные файлы, файлы реестра и конфигурационные файлы.</a:t>
            </a:r>
          </a:p>
          <a:p>
            <a:pPr algn="just">
              <a:spcBef>
                <a:spcPts val="0"/>
              </a:spcBef>
            </a:pPr>
            <a:endParaRPr lang="ru-RU" sz="1350" dirty="0"/>
          </a:p>
        </p:txBody>
      </p:sp>
    </p:spTree>
    <p:extLst>
      <p:ext uri="{BB962C8B-B14F-4D97-AF65-F5344CB8AC3E}">
        <p14:creationId xmlns:p14="http://schemas.microsoft.com/office/powerpoint/2010/main" val="2954056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A5054A-FC33-4DCF-A642-81E891651291}"/>
              </a:ext>
            </a:extLst>
          </p:cNvPr>
          <p:cNvSpPr>
            <a:spLocks noGrp="1"/>
          </p:cNvSpPr>
          <p:nvPr>
            <p:ph type="title"/>
          </p:nvPr>
        </p:nvSpPr>
        <p:spPr>
          <a:xfrm>
            <a:off x="155448" y="552478"/>
            <a:ext cx="8229600" cy="620483"/>
          </a:xfrm>
        </p:spPr>
        <p:txBody>
          <a:bodyPr/>
          <a:lstStyle/>
          <a:p>
            <a:r>
              <a:rPr lang="ru-RU" dirty="0"/>
              <a:t>Виртуализация ресурсов</a:t>
            </a:r>
          </a:p>
        </p:txBody>
      </p:sp>
      <p:sp>
        <p:nvSpPr>
          <p:cNvPr id="3" name="Объект 2">
            <a:extLst>
              <a:ext uri="{FF2B5EF4-FFF2-40B4-BE49-F238E27FC236}">
                <a16:creationId xmlns:a16="http://schemas.microsoft.com/office/drawing/2014/main" id="{948E4261-45A0-4837-AF83-AA98D67CC978}"/>
              </a:ext>
            </a:extLst>
          </p:cNvPr>
          <p:cNvSpPr>
            <a:spLocks noGrp="1"/>
          </p:cNvSpPr>
          <p:nvPr>
            <p:ph idx="1"/>
          </p:nvPr>
        </p:nvSpPr>
        <p:spPr>
          <a:xfrm>
            <a:off x="448540" y="1073727"/>
            <a:ext cx="8591551" cy="3129775"/>
          </a:xfrm>
        </p:spPr>
        <p:txBody>
          <a:bodyPr>
            <a:noAutofit/>
          </a:bodyPr>
          <a:lstStyle/>
          <a:p>
            <a:pPr marL="270272" indent="-263129" algn="just">
              <a:spcBef>
                <a:spcPts val="0"/>
              </a:spcBef>
              <a:spcAft>
                <a:spcPts val="600"/>
              </a:spcAft>
            </a:pPr>
            <a:r>
              <a:rPr lang="ru-RU" sz="1350" b="1" dirty="0">
                <a:solidFill>
                  <a:srgbClr val="FF0000"/>
                </a:solidFill>
                <a:latin typeface="Times New Roman" panose="02020603050405020304" pitchFamily="18" charset="0"/>
                <a:ea typeface="Times New Roman" panose="02020603050405020304" pitchFamily="18" charset="0"/>
              </a:rPr>
              <a:t>Объединение, агрегация и концентрация компонентов</a:t>
            </a:r>
          </a:p>
          <a:p>
            <a:pPr marL="270272" marR="404336" indent="0" algn="just">
              <a:spcBef>
                <a:spcPts val="0"/>
              </a:spcBef>
              <a:spcAft>
                <a:spcPts val="83"/>
              </a:spcAft>
              <a:buNone/>
            </a:pPr>
            <a:r>
              <a:rPr lang="ru-RU" sz="1350" dirty="0">
                <a:solidFill>
                  <a:srgbClr val="000000"/>
                </a:solidFill>
                <a:latin typeface="Times New Roman" panose="02020603050405020304" pitchFamily="18" charset="0"/>
                <a:ea typeface="Times New Roman" panose="02020603050405020304" pitchFamily="18" charset="0"/>
              </a:rPr>
              <a:t>Под таким видом виртуализации ресурсов понимается организация нескольких физических или логических объектов в пулы ресурсов (группы), представляющих удобные интерфейсы пользователю.</a:t>
            </a:r>
          </a:p>
          <a:p>
            <a:pPr marL="270272" marR="332899" indent="-270272" algn="just">
              <a:spcBef>
                <a:spcPts val="0"/>
              </a:spcBef>
              <a:spcAft>
                <a:spcPts val="83"/>
              </a:spcAft>
            </a:pPr>
            <a:r>
              <a:rPr lang="ru-RU" sz="1350" b="1" dirty="0">
                <a:solidFill>
                  <a:srgbClr val="FF0000"/>
                </a:solidFill>
                <a:latin typeface="Times New Roman" panose="02020603050405020304" pitchFamily="18" charset="0"/>
              </a:rPr>
              <a:t>Кластеризация компьютеров и распределенные вычисления (</a:t>
            </a:r>
            <a:r>
              <a:rPr lang="ru-RU" sz="1350" b="1" dirty="0" err="1">
                <a:solidFill>
                  <a:srgbClr val="FF0000"/>
                </a:solidFill>
                <a:latin typeface="Times New Roman" panose="02020603050405020304" pitchFamily="18" charset="0"/>
              </a:rPr>
              <a:t>grid</a:t>
            </a:r>
            <a:r>
              <a:rPr lang="ru-RU" sz="1350" b="1" dirty="0">
                <a:solidFill>
                  <a:srgbClr val="FF0000"/>
                </a:solidFill>
                <a:latin typeface="Times New Roman" panose="02020603050405020304" pitchFamily="18" charset="0"/>
              </a:rPr>
              <a:t> </a:t>
            </a:r>
            <a:r>
              <a:rPr lang="ru-RU" sz="1350" b="1" dirty="0" err="1">
                <a:solidFill>
                  <a:srgbClr val="FF0000"/>
                </a:solidFill>
                <a:latin typeface="Times New Roman" panose="02020603050405020304" pitchFamily="18" charset="0"/>
              </a:rPr>
              <a:t>computing</a:t>
            </a:r>
            <a:r>
              <a:rPr lang="ru-RU" sz="1350" b="1" dirty="0">
                <a:solidFill>
                  <a:srgbClr val="FF0000"/>
                </a:solidFill>
                <a:latin typeface="Times New Roman" panose="02020603050405020304" pitchFamily="18" charset="0"/>
              </a:rPr>
              <a:t>)</a:t>
            </a:r>
            <a:r>
              <a:rPr lang="ru-RU" sz="1350" dirty="0">
                <a:solidFill>
                  <a:srgbClr val="000000"/>
                </a:solidFill>
                <a:latin typeface="Times New Roman" panose="02020603050405020304" pitchFamily="18" charset="0"/>
              </a:rPr>
              <a:t> </a:t>
            </a:r>
          </a:p>
          <a:p>
            <a:pPr marL="270272" marR="332899" indent="0" algn="just">
              <a:spcBef>
                <a:spcPts val="0"/>
              </a:spcBef>
              <a:spcAft>
                <a:spcPts val="83"/>
              </a:spcAft>
              <a:buNone/>
            </a:pPr>
            <a:r>
              <a:rPr lang="ru-RU" sz="1350" dirty="0">
                <a:solidFill>
                  <a:srgbClr val="000000"/>
                </a:solidFill>
                <a:latin typeface="Times New Roman" panose="02020603050405020304" pitchFamily="18" charset="0"/>
                <a:ea typeface="Times New Roman" panose="02020603050405020304" pitchFamily="18" charset="0"/>
              </a:rPr>
              <a:t>Этот вид виртуализации включает в себя техники, применяемые при объединении множества отдельных компьютеров в глобальные системы (</a:t>
            </a:r>
            <a:r>
              <a:rPr lang="ru-RU" sz="1350" dirty="0" err="1">
                <a:solidFill>
                  <a:srgbClr val="000000"/>
                </a:solidFill>
                <a:latin typeface="Times New Roman" panose="02020603050405020304" pitchFamily="18" charset="0"/>
                <a:ea typeface="Times New Roman" panose="02020603050405020304" pitchFamily="18" charset="0"/>
              </a:rPr>
              <a:t>метакомпьютеры</a:t>
            </a:r>
            <a:r>
              <a:rPr lang="ru-RU" sz="1350" dirty="0">
                <a:solidFill>
                  <a:srgbClr val="000000"/>
                </a:solidFill>
                <a:latin typeface="Times New Roman" panose="02020603050405020304" pitchFamily="18" charset="0"/>
                <a:ea typeface="Times New Roman" panose="02020603050405020304" pitchFamily="18" charset="0"/>
              </a:rPr>
              <a:t>), совместно решающие общую задачу.</a:t>
            </a:r>
          </a:p>
          <a:p>
            <a:pPr marL="270272" marR="340043" indent="-270272" algn="just">
              <a:spcBef>
                <a:spcPts val="0"/>
              </a:spcBef>
              <a:spcAft>
                <a:spcPts val="296"/>
              </a:spcAft>
            </a:pPr>
            <a:r>
              <a:rPr lang="ru-RU" sz="1350" b="1" dirty="0">
                <a:solidFill>
                  <a:srgbClr val="FF0000"/>
                </a:solidFill>
                <a:latin typeface="Times New Roman" panose="02020603050405020304" pitchFamily="18" charset="0"/>
                <a:ea typeface="Times New Roman" panose="02020603050405020304" pitchFamily="18" charset="0"/>
              </a:rPr>
              <a:t>Разделение ресурсов (</a:t>
            </a:r>
            <a:r>
              <a:rPr lang="ru-RU" sz="1350" b="1" dirty="0" err="1">
                <a:solidFill>
                  <a:srgbClr val="FF0000"/>
                </a:solidFill>
                <a:latin typeface="Times New Roman" panose="02020603050405020304" pitchFamily="18" charset="0"/>
                <a:ea typeface="Times New Roman" panose="02020603050405020304" pitchFamily="18" charset="0"/>
              </a:rPr>
              <a:t>partitioning</a:t>
            </a:r>
            <a:r>
              <a:rPr lang="ru-RU" sz="1350" b="1" dirty="0">
                <a:solidFill>
                  <a:srgbClr val="FF0000"/>
                </a:solidFill>
                <a:latin typeface="Times New Roman" panose="02020603050405020304" pitchFamily="18" charset="0"/>
                <a:ea typeface="Times New Roman" panose="02020603050405020304" pitchFamily="18" charset="0"/>
              </a:rPr>
              <a:t>)</a:t>
            </a:r>
          </a:p>
          <a:p>
            <a:pPr marL="276225" marR="751999" indent="0" algn="just">
              <a:spcBef>
                <a:spcPts val="0"/>
              </a:spcBef>
              <a:spcAft>
                <a:spcPts val="83"/>
              </a:spcAft>
              <a:buNone/>
            </a:pPr>
            <a:r>
              <a:rPr lang="ru-RU" sz="1350" dirty="0">
                <a:solidFill>
                  <a:srgbClr val="000000"/>
                </a:solidFill>
                <a:latin typeface="Times New Roman" panose="02020603050405020304" pitchFamily="18" charset="0"/>
                <a:ea typeface="Times New Roman" panose="02020603050405020304" pitchFamily="18" charset="0"/>
              </a:rPr>
              <a:t>При разделении ресурсов в процессе виртуализации происходит разделение какого-либо одного большого ресурса на несколько однотипных объектов, удобных для использования. В сетях хранения данных это называется зонированием ресурсов («</a:t>
            </a:r>
            <a:r>
              <a:rPr lang="ru-RU" sz="1350" dirty="0" err="1">
                <a:solidFill>
                  <a:srgbClr val="000000"/>
                </a:solidFill>
                <a:latin typeface="Times New Roman" panose="02020603050405020304" pitchFamily="18" charset="0"/>
                <a:ea typeface="Times New Roman" panose="02020603050405020304" pitchFamily="18" charset="0"/>
              </a:rPr>
              <a:t>zoning</a:t>
            </a:r>
            <a:r>
              <a:rPr lang="ru-RU" sz="1350" dirty="0">
                <a:solidFill>
                  <a:srgbClr val="000000"/>
                </a:solidFill>
                <a:latin typeface="Times New Roman" panose="02020603050405020304" pitchFamily="18" charset="0"/>
                <a:ea typeface="Times New Roman" panose="02020603050405020304" pitchFamily="18" charset="0"/>
              </a:rPr>
              <a:t>»).</a:t>
            </a:r>
          </a:p>
          <a:p>
            <a:pPr marL="270272" indent="-263129" algn="just">
              <a:spcBef>
                <a:spcPts val="0"/>
              </a:spcBef>
              <a:spcAft>
                <a:spcPts val="600"/>
              </a:spcAft>
            </a:pPr>
            <a:r>
              <a:rPr lang="ru-RU" sz="1350" b="1" dirty="0">
                <a:solidFill>
                  <a:srgbClr val="FF0000"/>
                </a:solidFill>
                <a:latin typeface="Times New Roman" panose="02020603050405020304" pitchFamily="18" charset="0"/>
                <a:ea typeface="Times New Roman" panose="02020603050405020304" pitchFamily="18" charset="0"/>
              </a:rPr>
              <a:t>Инкапсуляция</a:t>
            </a:r>
          </a:p>
          <a:p>
            <a:pPr marL="270272" marR="88106" indent="0" algn="just">
              <a:spcBef>
                <a:spcPts val="0"/>
              </a:spcBef>
              <a:spcAft>
                <a:spcPts val="83"/>
              </a:spcAft>
              <a:buNone/>
            </a:pPr>
            <a:r>
              <a:rPr lang="ru-RU" sz="1350" dirty="0">
                <a:solidFill>
                  <a:srgbClr val="000000"/>
                </a:solidFill>
                <a:latin typeface="Times New Roman" panose="02020603050405020304" pitchFamily="18" charset="0"/>
                <a:ea typeface="Times New Roman" panose="02020603050405020304" pitchFamily="18" charset="0"/>
              </a:rPr>
              <a:t>Инкапсуляция - сокрытие объектом внутри себя своей реализации.</a:t>
            </a:r>
          </a:p>
          <a:p>
            <a:pPr marL="270272" indent="0" algn="just">
              <a:spcBef>
                <a:spcPts val="0"/>
              </a:spcBef>
              <a:buNone/>
            </a:pPr>
            <a:r>
              <a:rPr lang="ru-RU" sz="1350" dirty="0">
                <a:solidFill>
                  <a:srgbClr val="000000"/>
                </a:solidFill>
                <a:latin typeface="Times New Roman" panose="02020603050405020304" pitchFamily="18" charset="0"/>
                <a:ea typeface="Times New Roman" panose="02020603050405020304" pitchFamily="18" charset="0"/>
              </a:rPr>
              <a:t>Применительно к виртуализации, можно сказать, что это процесс создания системы, предоставляющей пользователю удобный интерфейс для работы с ней и скрывающей подробности сложности своей реализации. Например, использование центральным процессором кэша для ускорения вычислений не отражается на его внешних интерфейсах.</a:t>
            </a:r>
            <a:endParaRPr lang="ru-RU" sz="1350" dirty="0"/>
          </a:p>
        </p:txBody>
      </p:sp>
    </p:spTree>
    <p:extLst>
      <p:ext uri="{BB962C8B-B14F-4D97-AF65-F5344CB8AC3E}">
        <p14:creationId xmlns:p14="http://schemas.microsoft.com/office/powerpoint/2010/main" val="2253816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B3EFC6-4746-4742-8F41-F86B57E814AD}"/>
              </a:ext>
            </a:extLst>
          </p:cNvPr>
          <p:cNvSpPr>
            <a:spLocks noGrp="1"/>
          </p:cNvSpPr>
          <p:nvPr>
            <p:ph type="title"/>
          </p:nvPr>
        </p:nvSpPr>
        <p:spPr>
          <a:xfrm>
            <a:off x="338328" y="748736"/>
            <a:ext cx="8229600" cy="620483"/>
          </a:xfrm>
        </p:spPr>
        <p:txBody>
          <a:bodyPr/>
          <a:lstStyle/>
          <a:p>
            <a:r>
              <a:rPr lang="ru-RU" dirty="0"/>
              <a:t>Уровни изоляции</a:t>
            </a:r>
          </a:p>
        </p:txBody>
      </p:sp>
      <p:sp>
        <p:nvSpPr>
          <p:cNvPr id="3" name="Объект 2">
            <a:extLst>
              <a:ext uri="{FF2B5EF4-FFF2-40B4-BE49-F238E27FC236}">
                <a16:creationId xmlns:a16="http://schemas.microsoft.com/office/drawing/2014/main" id="{86F5FD42-EA0E-47CC-9BC3-BE151BAC9545}"/>
              </a:ext>
            </a:extLst>
          </p:cNvPr>
          <p:cNvSpPr>
            <a:spLocks noGrp="1"/>
          </p:cNvSpPr>
          <p:nvPr>
            <p:ph idx="1"/>
          </p:nvPr>
        </p:nvSpPr>
        <p:spPr>
          <a:xfrm>
            <a:off x="628651" y="1369219"/>
            <a:ext cx="4504862" cy="3263504"/>
          </a:xfrm>
        </p:spPr>
        <p:txBody>
          <a:bodyPr>
            <a:normAutofit/>
          </a:bodyPr>
          <a:lstStyle/>
          <a:p>
            <a:pPr marL="385763" indent="-385763">
              <a:buFont typeface="+mj-lt"/>
              <a:buAutoNum type="arabicPeriod"/>
            </a:pPr>
            <a:r>
              <a:rPr lang="ru-RU" sz="1800" dirty="0"/>
              <a:t>Виртуализация</a:t>
            </a:r>
            <a:r>
              <a:rPr lang="en-US" sz="1800" dirty="0"/>
              <a:t> </a:t>
            </a:r>
            <a:r>
              <a:rPr lang="ru-RU" sz="1800" dirty="0"/>
              <a:t>приложений</a:t>
            </a:r>
            <a:r>
              <a:rPr lang="en-US" sz="1800" dirty="0"/>
              <a:t/>
            </a:r>
            <a:br>
              <a:rPr lang="en-US" sz="1800" dirty="0"/>
            </a:br>
            <a:r>
              <a:rPr lang="ru-RU" sz="1800" dirty="0"/>
              <a:t>(виртуальные капсулы)</a:t>
            </a:r>
          </a:p>
          <a:p>
            <a:pPr marL="385763" indent="-385763">
              <a:buFont typeface="+mj-lt"/>
              <a:buAutoNum type="arabicPeriod"/>
            </a:pPr>
            <a:r>
              <a:rPr lang="ru-RU" sz="1800" dirty="0"/>
              <a:t>Виртуализация ОС</a:t>
            </a:r>
            <a:r>
              <a:rPr lang="en-US" sz="1800" dirty="0"/>
              <a:t> </a:t>
            </a:r>
            <a:br>
              <a:rPr lang="en-US" sz="1800" dirty="0"/>
            </a:br>
            <a:r>
              <a:rPr lang="ru-RU" sz="1800" dirty="0"/>
              <a:t>(виртуальные машины)</a:t>
            </a:r>
          </a:p>
          <a:p>
            <a:pPr marL="385763" indent="-385763">
              <a:buFont typeface="+mj-lt"/>
              <a:buAutoNum type="arabicPeriod"/>
            </a:pPr>
            <a:r>
              <a:rPr lang="ru-RU" sz="1800" dirty="0"/>
              <a:t>Аппаратное</a:t>
            </a:r>
            <a:r>
              <a:rPr lang="en-US" sz="1800" dirty="0"/>
              <a:t> </a:t>
            </a:r>
            <a:r>
              <a:rPr lang="ru-RU" sz="1800" dirty="0"/>
              <a:t>разделение ресурсов</a:t>
            </a:r>
            <a:r>
              <a:rPr lang="en-US" sz="1800" dirty="0"/>
              <a:t> </a:t>
            </a:r>
            <a:br>
              <a:rPr lang="en-US" sz="1800" dirty="0"/>
            </a:br>
            <a:r>
              <a:rPr lang="ru-RU" sz="1800" dirty="0"/>
              <a:t>(не виртуализация)</a:t>
            </a:r>
          </a:p>
        </p:txBody>
      </p:sp>
      <p:pic>
        <p:nvPicPr>
          <p:cNvPr id="5" name="Рисунок 4">
            <a:extLst>
              <a:ext uri="{FF2B5EF4-FFF2-40B4-BE49-F238E27FC236}">
                <a16:creationId xmlns:a16="http://schemas.microsoft.com/office/drawing/2014/main" id="{B3E93000-DAD3-489C-B1BC-CE7C8BC20EAD}"/>
              </a:ext>
            </a:extLst>
          </p:cNvPr>
          <p:cNvPicPr>
            <a:picLocks noChangeAspect="1"/>
          </p:cNvPicPr>
          <p:nvPr/>
        </p:nvPicPr>
        <p:blipFill>
          <a:blip r:embed="rId2"/>
          <a:stretch>
            <a:fillRect/>
          </a:stretch>
        </p:blipFill>
        <p:spPr>
          <a:xfrm>
            <a:off x="5133512" y="1108194"/>
            <a:ext cx="3905793" cy="3857198"/>
          </a:xfrm>
          <a:prstGeom prst="rect">
            <a:avLst/>
          </a:prstGeom>
        </p:spPr>
      </p:pic>
    </p:spTree>
    <p:extLst>
      <p:ext uri="{BB962C8B-B14F-4D97-AF65-F5344CB8AC3E}">
        <p14:creationId xmlns:p14="http://schemas.microsoft.com/office/powerpoint/2010/main" val="1140803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71B9D6-CFAA-4EBA-9D56-B90035669074}"/>
              </a:ext>
            </a:extLst>
          </p:cNvPr>
          <p:cNvSpPr>
            <a:spLocks noGrp="1"/>
          </p:cNvSpPr>
          <p:nvPr>
            <p:ph type="title"/>
          </p:nvPr>
        </p:nvSpPr>
        <p:spPr/>
        <p:txBody>
          <a:bodyPr/>
          <a:lstStyle/>
          <a:p>
            <a:r>
              <a:rPr lang="ru-RU" dirty="0"/>
              <a:t>Ресурсы </a:t>
            </a:r>
            <a:r>
              <a:rPr lang="en-US" dirty="0"/>
              <a:t>VM</a:t>
            </a:r>
            <a:endParaRPr lang="ru-RU" dirty="0"/>
          </a:p>
        </p:txBody>
      </p:sp>
      <p:sp>
        <p:nvSpPr>
          <p:cNvPr id="3" name="Объект 2">
            <a:extLst>
              <a:ext uri="{FF2B5EF4-FFF2-40B4-BE49-F238E27FC236}">
                <a16:creationId xmlns:a16="http://schemas.microsoft.com/office/drawing/2014/main" id="{D3C42CA2-68A0-4F9D-9157-D51C5E992D0B}"/>
              </a:ext>
            </a:extLst>
          </p:cNvPr>
          <p:cNvSpPr>
            <a:spLocks noGrp="1"/>
          </p:cNvSpPr>
          <p:nvPr>
            <p:ph idx="1"/>
          </p:nvPr>
        </p:nvSpPr>
        <p:spPr/>
        <p:txBody>
          <a:bodyPr/>
          <a:lstStyle/>
          <a:p>
            <a:r>
              <a:rPr lang="ru-RU" dirty="0"/>
              <a:t>Процессоры (идентичны реальным)</a:t>
            </a:r>
          </a:p>
          <a:p>
            <a:r>
              <a:rPr lang="ru-RU" dirty="0"/>
              <a:t>Память (через VMM)</a:t>
            </a:r>
          </a:p>
          <a:p>
            <a:r>
              <a:rPr lang="ru-RU" dirty="0"/>
              <a:t>Жесткие диски (через VMM)</a:t>
            </a:r>
          </a:p>
          <a:p>
            <a:r>
              <a:rPr lang="ru-RU" dirty="0"/>
              <a:t>Сетевые адаптеры (через VMM)</a:t>
            </a:r>
          </a:p>
          <a:p>
            <a:r>
              <a:rPr lang="ru-RU" dirty="0"/>
              <a:t>Устройства ввода-вывода (через VMM)</a:t>
            </a:r>
          </a:p>
          <a:p>
            <a:endParaRPr lang="ru-RU" dirty="0"/>
          </a:p>
        </p:txBody>
      </p:sp>
      <p:sp>
        <p:nvSpPr>
          <p:cNvPr id="5" name="TextBox 4">
            <a:extLst>
              <a:ext uri="{FF2B5EF4-FFF2-40B4-BE49-F238E27FC236}">
                <a16:creationId xmlns:a16="http://schemas.microsoft.com/office/drawing/2014/main" id="{58E00167-DEF3-4F70-A01F-773249DD871B}"/>
              </a:ext>
            </a:extLst>
          </p:cNvPr>
          <p:cNvSpPr txBox="1"/>
          <p:nvPr/>
        </p:nvSpPr>
        <p:spPr>
          <a:xfrm>
            <a:off x="628650" y="3598799"/>
            <a:ext cx="7911846" cy="738664"/>
          </a:xfrm>
          <a:prstGeom prst="rect">
            <a:avLst/>
          </a:prstGeom>
          <a:noFill/>
        </p:spPr>
        <p:txBody>
          <a:bodyPr wrap="square">
            <a:spAutoFit/>
          </a:bodyPr>
          <a:lstStyle/>
          <a:p>
            <a:r>
              <a:rPr lang="ru-RU" sz="2100" dirty="0">
                <a:solidFill>
                  <a:srgbClr val="FF0000"/>
                </a:solidFill>
              </a:rPr>
              <a:t>Количество ресурсов VM зависит от возможностей и ограничений VMM</a:t>
            </a:r>
          </a:p>
        </p:txBody>
      </p:sp>
    </p:spTree>
    <p:extLst>
      <p:ext uri="{BB962C8B-B14F-4D97-AF65-F5344CB8AC3E}">
        <p14:creationId xmlns:p14="http://schemas.microsoft.com/office/powerpoint/2010/main" val="3886253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FEFA0F-050D-453F-A5C0-6B08AFD6A3B2}"/>
              </a:ext>
            </a:extLst>
          </p:cNvPr>
          <p:cNvSpPr>
            <a:spLocks noGrp="1"/>
          </p:cNvSpPr>
          <p:nvPr>
            <p:ph type="title"/>
          </p:nvPr>
        </p:nvSpPr>
        <p:spPr/>
        <p:txBody>
          <a:bodyPr/>
          <a:lstStyle/>
          <a:p>
            <a:r>
              <a:rPr lang="ru-RU" dirty="0"/>
              <a:t>Нюансы работы с процессором</a:t>
            </a:r>
          </a:p>
        </p:txBody>
      </p:sp>
      <p:sp>
        <p:nvSpPr>
          <p:cNvPr id="3" name="Объект 2">
            <a:extLst>
              <a:ext uri="{FF2B5EF4-FFF2-40B4-BE49-F238E27FC236}">
                <a16:creationId xmlns:a16="http://schemas.microsoft.com/office/drawing/2014/main" id="{42E417AB-EA1D-4D42-8D8D-9772EA71C04F}"/>
              </a:ext>
            </a:extLst>
          </p:cNvPr>
          <p:cNvSpPr>
            <a:spLocks noGrp="1"/>
          </p:cNvSpPr>
          <p:nvPr>
            <p:ph idx="1"/>
          </p:nvPr>
        </p:nvSpPr>
        <p:spPr/>
        <p:txBody>
          <a:bodyPr>
            <a:normAutofit fontScale="92500" lnSpcReduction="10000"/>
          </a:bodyPr>
          <a:lstStyle/>
          <a:p>
            <a:r>
              <a:rPr lang="ru-RU" dirty="0"/>
              <a:t>Есть регистры процессора, которые нельзя прочитать</a:t>
            </a:r>
          </a:p>
          <a:p>
            <a:pPr lvl="1">
              <a:buFont typeface="Wingdings" panose="05000000000000000000" pitchFamily="2" charset="2"/>
              <a:buChar char="ü"/>
            </a:pPr>
            <a:r>
              <a:rPr lang="ru-RU" dirty="0"/>
              <a:t>Угроза потери важных данных </a:t>
            </a:r>
          </a:p>
          <a:p>
            <a:r>
              <a:rPr lang="ru-RU" dirty="0"/>
              <a:t>Архитектура х86 разделяет приложения по уровням привилегий (</a:t>
            </a:r>
            <a:r>
              <a:rPr lang="ru-RU" dirty="0" err="1"/>
              <a:t>rings</a:t>
            </a:r>
            <a:r>
              <a:rPr lang="ru-RU" dirty="0"/>
              <a:t>)</a:t>
            </a:r>
          </a:p>
          <a:p>
            <a:pPr lvl="1">
              <a:buFont typeface="Wingdings" panose="05000000000000000000" pitchFamily="2" charset="2"/>
              <a:buChar char="ü"/>
            </a:pPr>
            <a:r>
              <a:rPr lang="ru-RU" dirty="0"/>
              <a:t>ОС рассчитаны на работу в Ring 0, но при виртуализации в Ring 0 работают либо базовая ОС, либо гипервизор</a:t>
            </a:r>
          </a:p>
          <a:p>
            <a:pPr lvl="1">
              <a:buFont typeface="Wingdings" panose="05000000000000000000" pitchFamily="2" charset="2"/>
              <a:buChar char="ü"/>
            </a:pPr>
            <a:r>
              <a:rPr lang="ru-RU" dirty="0"/>
              <a:t>Вызов приложением команды  в несоответствующем уровне приводит к сбою</a:t>
            </a:r>
          </a:p>
          <a:p>
            <a:pPr lvl="1">
              <a:buFont typeface="Wingdings" panose="05000000000000000000" pitchFamily="2" charset="2"/>
              <a:buChar char="ü"/>
            </a:pPr>
            <a:r>
              <a:rPr lang="ru-RU" dirty="0"/>
              <a:t>Задача обработки привилегированных команд является наиболее сложной</a:t>
            </a:r>
          </a:p>
          <a:p>
            <a:endParaRPr lang="ru-RU" dirty="0"/>
          </a:p>
        </p:txBody>
      </p:sp>
    </p:spTree>
    <p:extLst>
      <p:ext uri="{BB962C8B-B14F-4D97-AF65-F5344CB8AC3E}">
        <p14:creationId xmlns:p14="http://schemas.microsoft.com/office/powerpoint/2010/main" val="1001529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1538B1-0157-4D7E-ABF7-B0E72D169755}"/>
              </a:ext>
            </a:extLst>
          </p:cNvPr>
          <p:cNvSpPr>
            <a:spLocks noGrp="1"/>
          </p:cNvSpPr>
          <p:nvPr>
            <p:ph type="title"/>
          </p:nvPr>
        </p:nvSpPr>
        <p:spPr/>
        <p:txBody>
          <a:bodyPr/>
          <a:lstStyle/>
          <a:p>
            <a:r>
              <a:rPr lang="ru-RU" dirty="0"/>
              <a:t>Привилегии и виртуализация</a:t>
            </a:r>
          </a:p>
        </p:txBody>
      </p:sp>
      <p:pic>
        <p:nvPicPr>
          <p:cNvPr id="4" name="Объект 3">
            <a:extLst>
              <a:ext uri="{FF2B5EF4-FFF2-40B4-BE49-F238E27FC236}">
                <a16:creationId xmlns:a16="http://schemas.microsoft.com/office/drawing/2014/main" id="{E134F1E3-B6B9-46C7-8373-1B004DCCB085}"/>
              </a:ext>
            </a:extLst>
          </p:cNvPr>
          <p:cNvPicPr>
            <a:picLocks noGrp="1" noChangeAspect="1"/>
          </p:cNvPicPr>
          <p:nvPr>
            <p:ph idx="1"/>
          </p:nvPr>
        </p:nvPicPr>
        <p:blipFill>
          <a:blip r:embed="rId2"/>
          <a:stretch>
            <a:fillRect/>
          </a:stretch>
        </p:blipFill>
        <p:spPr>
          <a:xfrm>
            <a:off x="1130182" y="1383073"/>
            <a:ext cx="6883636" cy="3263504"/>
          </a:xfrm>
          <a:prstGeom prst="rect">
            <a:avLst/>
          </a:prstGeom>
        </p:spPr>
      </p:pic>
    </p:spTree>
    <p:extLst>
      <p:ext uri="{BB962C8B-B14F-4D97-AF65-F5344CB8AC3E}">
        <p14:creationId xmlns:p14="http://schemas.microsoft.com/office/powerpoint/2010/main" val="2093878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B45D10-6F2D-4EF4-B0D7-2C5A857F5771}"/>
              </a:ext>
            </a:extLst>
          </p:cNvPr>
          <p:cNvSpPr>
            <a:spLocks noGrp="1"/>
          </p:cNvSpPr>
          <p:nvPr>
            <p:ph type="title"/>
          </p:nvPr>
        </p:nvSpPr>
        <p:spPr>
          <a:xfrm>
            <a:off x="320040" y="717070"/>
            <a:ext cx="8229600" cy="620483"/>
          </a:xfrm>
        </p:spPr>
        <p:txBody>
          <a:bodyPr/>
          <a:lstStyle/>
          <a:p>
            <a:r>
              <a:rPr lang="ru-RU" dirty="0" err="1"/>
              <a:t>Депривилегизация</a:t>
            </a:r>
            <a:r>
              <a:rPr lang="ru-RU" dirty="0"/>
              <a:t> (</a:t>
            </a:r>
            <a:r>
              <a:rPr lang="en-US" dirty="0"/>
              <a:t>Ring compression)</a:t>
            </a:r>
            <a:endParaRPr lang="ru-RU" dirty="0"/>
          </a:p>
        </p:txBody>
      </p:sp>
      <p:pic>
        <p:nvPicPr>
          <p:cNvPr id="4" name="Объект 3">
            <a:extLst>
              <a:ext uri="{FF2B5EF4-FFF2-40B4-BE49-F238E27FC236}">
                <a16:creationId xmlns:a16="http://schemas.microsoft.com/office/drawing/2014/main" id="{28B41AE5-43A0-4127-88A3-4AF47A6CADFB}"/>
              </a:ext>
            </a:extLst>
          </p:cNvPr>
          <p:cNvPicPr>
            <a:picLocks noGrp="1" noChangeAspect="1"/>
          </p:cNvPicPr>
          <p:nvPr>
            <p:ph idx="1"/>
          </p:nvPr>
        </p:nvPicPr>
        <p:blipFill>
          <a:blip r:embed="rId2"/>
          <a:stretch>
            <a:fillRect/>
          </a:stretch>
        </p:blipFill>
        <p:spPr>
          <a:xfrm>
            <a:off x="1467976" y="1468745"/>
            <a:ext cx="5404485" cy="1762125"/>
          </a:xfrm>
          <a:prstGeom prst="rect">
            <a:avLst/>
          </a:prstGeom>
        </p:spPr>
      </p:pic>
      <p:sp>
        <p:nvSpPr>
          <p:cNvPr id="6" name="TextBox 5">
            <a:extLst>
              <a:ext uri="{FF2B5EF4-FFF2-40B4-BE49-F238E27FC236}">
                <a16:creationId xmlns:a16="http://schemas.microsoft.com/office/drawing/2014/main" id="{C3BA4E60-8683-4374-BA14-9B949D554591}"/>
              </a:ext>
            </a:extLst>
          </p:cNvPr>
          <p:cNvSpPr txBox="1"/>
          <p:nvPr/>
        </p:nvSpPr>
        <p:spPr>
          <a:xfrm>
            <a:off x="1143000" y="3230870"/>
            <a:ext cx="3138055" cy="900246"/>
          </a:xfrm>
          <a:prstGeom prst="rect">
            <a:avLst/>
          </a:prstGeom>
          <a:noFill/>
        </p:spPr>
        <p:txBody>
          <a:bodyPr wrap="square">
            <a:spAutoFit/>
          </a:bodyPr>
          <a:lstStyle/>
          <a:p>
            <a:pPr algn="just"/>
            <a:r>
              <a:rPr lang="ru-RU" sz="1050" dirty="0"/>
              <a:t>Бинарная трансляция VMM «на лету» анализирует команды ОС и преобразует их в разрешенные команды</a:t>
            </a:r>
          </a:p>
          <a:p>
            <a:pPr algn="just"/>
            <a:r>
              <a:rPr lang="ru-RU" sz="1050" dirty="0"/>
              <a:t>Универсальная технология, требующая больших ресурсов</a:t>
            </a:r>
          </a:p>
        </p:txBody>
      </p:sp>
      <p:sp>
        <p:nvSpPr>
          <p:cNvPr id="8" name="TextBox 7">
            <a:extLst>
              <a:ext uri="{FF2B5EF4-FFF2-40B4-BE49-F238E27FC236}">
                <a16:creationId xmlns:a16="http://schemas.microsoft.com/office/drawing/2014/main" id="{2F7D0BED-EFF7-4775-A56D-41D00B52653D}"/>
              </a:ext>
            </a:extLst>
          </p:cNvPr>
          <p:cNvSpPr txBox="1"/>
          <p:nvPr/>
        </p:nvSpPr>
        <p:spPr>
          <a:xfrm>
            <a:off x="5084619" y="3230870"/>
            <a:ext cx="2916382" cy="1061829"/>
          </a:xfrm>
          <a:prstGeom prst="rect">
            <a:avLst/>
          </a:prstGeom>
          <a:noFill/>
        </p:spPr>
        <p:txBody>
          <a:bodyPr wrap="square">
            <a:spAutoFit/>
          </a:bodyPr>
          <a:lstStyle/>
          <a:p>
            <a:r>
              <a:rPr lang="ru-RU" sz="1050" dirty="0" err="1"/>
              <a:t>Паравиртуализация</a:t>
            </a:r>
            <a:r>
              <a:rPr lang="ru-RU" sz="1050" dirty="0"/>
              <a:t> ОС перекомпилируется так, что все вызовы направляются в VMM</a:t>
            </a:r>
          </a:p>
          <a:p>
            <a:endParaRPr lang="ru-RU" sz="1050" dirty="0"/>
          </a:p>
          <a:p>
            <a:r>
              <a:rPr lang="ru-RU" sz="1050" dirty="0"/>
              <a:t>*Применимо только к ОС с открытым исходным кодом</a:t>
            </a:r>
          </a:p>
        </p:txBody>
      </p:sp>
    </p:spTree>
    <p:extLst>
      <p:ext uri="{BB962C8B-B14F-4D97-AF65-F5344CB8AC3E}">
        <p14:creationId xmlns:p14="http://schemas.microsoft.com/office/powerpoint/2010/main" val="3214777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FA62ED-71E7-463F-8104-44D25607C0B8}"/>
              </a:ext>
            </a:extLst>
          </p:cNvPr>
          <p:cNvSpPr>
            <a:spLocks noGrp="1"/>
          </p:cNvSpPr>
          <p:nvPr>
            <p:ph type="title"/>
          </p:nvPr>
        </p:nvSpPr>
        <p:spPr/>
        <p:txBody>
          <a:bodyPr/>
          <a:lstStyle/>
          <a:p>
            <a:r>
              <a:rPr lang="ru-RU" dirty="0"/>
              <a:t>Управление памятью</a:t>
            </a:r>
          </a:p>
        </p:txBody>
      </p:sp>
      <p:pic>
        <p:nvPicPr>
          <p:cNvPr id="4" name="Объект 3">
            <a:extLst>
              <a:ext uri="{FF2B5EF4-FFF2-40B4-BE49-F238E27FC236}">
                <a16:creationId xmlns:a16="http://schemas.microsoft.com/office/drawing/2014/main" id="{DB190FFD-E9D8-43D6-8626-55B91064F617}"/>
              </a:ext>
            </a:extLst>
          </p:cNvPr>
          <p:cNvPicPr>
            <a:picLocks noGrp="1" noChangeAspect="1"/>
          </p:cNvPicPr>
          <p:nvPr>
            <p:ph idx="1"/>
          </p:nvPr>
        </p:nvPicPr>
        <p:blipFill>
          <a:blip r:embed="rId2"/>
          <a:stretch>
            <a:fillRect/>
          </a:stretch>
        </p:blipFill>
        <p:spPr>
          <a:xfrm>
            <a:off x="1843088" y="1443633"/>
            <a:ext cx="5457825" cy="3114675"/>
          </a:xfrm>
          <a:prstGeom prst="rect">
            <a:avLst/>
          </a:prstGeom>
        </p:spPr>
      </p:pic>
    </p:spTree>
    <p:extLst>
      <p:ext uri="{BB962C8B-B14F-4D97-AF65-F5344CB8AC3E}">
        <p14:creationId xmlns:p14="http://schemas.microsoft.com/office/powerpoint/2010/main" val="371173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011CAD-4183-4BA9-B5FC-8C458057527A}"/>
              </a:ext>
            </a:extLst>
          </p:cNvPr>
          <p:cNvSpPr>
            <a:spLocks noGrp="1"/>
          </p:cNvSpPr>
          <p:nvPr>
            <p:ph type="title"/>
          </p:nvPr>
        </p:nvSpPr>
        <p:spPr/>
        <p:txBody>
          <a:bodyPr/>
          <a:lstStyle/>
          <a:p>
            <a:r>
              <a:rPr lang="ru-RU" dirty="0"/>
              <a:t>Работа с файловой системой</a:t>
            </a:r>
          </a:p>
        </p:txBody>
      </p:sp>
      <p:pic>
        <p:nvPicPr>
          <p:cNvPr id="4" name="Объект 3">
            <a:extLst>
              <a:ext uri="{FF2B5EF4-FFF2-40B4-BE49-F238E27FC236}">
                <a16:creationId xmlns:a16="http://schemas.microsoft.com/office/drawing/2014/main" id="{25EFA6AF-AC3E-4ABF-976E-95C2A06C423E}"/>
              </a:ext>
            </a:extLst>
          </p:cNvPr>
          <p:cNvPicPr>
            <a:picLocks noGrp="1" noChangeAspect="1"/>
          </p:cNvPicPr>
          <p:nvPr>
            <p:ph idx="1"/>
          </p:nvPr>
        </p:nvPicPr>
        <p:blipFill>
          <a:blip r:embed="rId2"/>
          <a:stretch>
            <a:fillRect/>
          </a:stretch>
        </p:blipFill>
        <p:spPr>
          <a:xfrm>
            <a:off x="1784985" y="1525548"/>
            <a:ext cx="5574030" cy="2950845"/>
          </a:xfrm>
          <a:prstGeom prst="rect">
            <a:avLst/>
          </a:prstGeom>
        </p:spPr>
      </p:pic>
    </p:spTree>
    <p:extLst>
      <p:ext uri="{BB962C8B-B14F-4D97-AF65-F5344CB8AC3E}">
        <p14:creationId xmlns:p14="http://schemas.microsoft.com/office/powerpoint/2010/main" val="4024050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C7C66A-1AD8-4D65-B4DB-5266D9132566}"/>
              </a:ext>
            </a:extLst>
          </p:cNvPr>
          <p:cNvSpPr>
            <a:spLocks noGrp="1"/>
          </p:cNvSpPr>
          <p:nvPr>
            <p:ph type="title"/>
          </p:nvPr>
        </p:nvSpPr>
        <p:spPr/>
        <p:txBody>
          <a:bodyPr/>
          <a:lstStyle/>
          <a:p>
            <a:r>
              <a:rPr lang="ru-RU" dirty="0"/>
              <a:t>Сетевое взаимодействие</a:t>
            </a:r>
          </a:p>
        </p:txBody>
      </p:sp>
      <p:pic>
        <p:nvPicPr>
          <p:cNvPr id="4" name="Объект 3">
            <a:extLst>
              <a:ext uri="{FF2B5EF4-FFF2-40B4-BE49-F238E27FC236}">
                <a16:creationId xmlns:a16="http://schemas.microsoft.com/office/drawing/2014/main" id="{E23D18F7-51E4-4980-A2B9-8C798FD9C4B1}"/>
              </a:ext>
            </a:extLst>
          </p:cNvPr>
          <p:cNvPicPr>
            <a:picLocks noGrp="1" noChangeAspect="1"/>
          </p:cNvPicPr>
          <p:nvPr>
            <p:ph idx="1"/>
          </p:nvPr>
        </p:nvPicPr>
        <p:blipFill>
          <a:blip r:embed="rId2"/>
          <a:stretch>
            <a:fillRect/>
          </a:stretch>
        </p:blipFill>
        <p:spPr>
          <a:xfrm>
            <a:off x="1356360" y="1417916"/>
            <a:ext cx="6431280" cy="3166110"/>
          </a:xfrm>
          <a:prstGeom prst="rect">
            <a:avLst/>
          </a:prstGeom>
        </p:spPr>
      </p:pic>
    </p:spTree>
    <p:extLst>
      <p:ext uri="{BB962C8B-B14F-4D97-AF65-F5344CB8AC3E}">
        <p14:creationId xmlns:p14="http://schemas.microsoft.com/office/powerpoint/2010/main" val="1300053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0260DE-CA3B-47BF-A9C6-7180D6900A8F}"/>
              </a:ext>
            </a:extLst>
          </p:cNvPr>
          <p:cNvSpPr>
            <a:spLocks noGrp="1"/>
          </p:cNvSpPr>
          <p:nvPr>
            <p:ph type="title"/>
          </p:nvPr>
        </p:nvSpPr>
        <p:spPr/>
        <p:txBody>
          <a:bodyPr>
            <a:normAutofit/>
          </a:bodyPr>
          <a:lstStyle/>
          <a:p>
            <a:r>
              <a:rPr lang="ru-RU" sz="3000" dirty="0"/>
              <a:t>4 типа </a:t>
            </a:r>
            <a:r>
              <a:rPr lang="en-US" sz="3000" dirty="0"/>
              <a:t>VMM (</a:t>
            </a:r>
            <a:r>
              <a:rPr lang="ru-RU" sz="3000" dirty="0"/>
              <a:t>менеджеров виртуальных машин</a:t>
            </a:r>
            <a:r>
              <a:rPr lang="en-US" sz="3000" dirty="0"/>
              <a:t>)</a:t>
            </a:r>
            <a:endParaRPr lang="ru-RU" sz="3000" dirty="0"/>
          </a:p>
        </p:txBody>
      </p:sp>
      <p:sp>
        <p:nvSpPr>
          <p:cNvPr id="3" name="Объект 2">
            <a:extLst>
              <a:ext uri="{FF2B5EF4-FFF2-40B4-BE49-F238E27FC236}">
                <a16:creationId xmlns:a16="http://schemas.microsoft.com/office/drawing/2014/main" id="{91179B96-F2D1-46B7-8711-626284049A86}"/>
              </a:ext>
            </a:extLst>
          </p:cNvPr>
          <p:cNvSpPr>
            <a:spLocks noGrp="1"/>
          </p:cNvSpPr>
          <p:nvPr>
            <p:ph idx="1"/>
          </p:nvPr>
        </p:nvSpPr>
        <p:spPr/>
        <p:txBody>
          <a:bodyPr/>
          <a:lstStyle/>
          <a:p>
            <a:pPr algn="l"/>
            <a:r>
              <a:rPr lang="ru-RU" sz="2100" b="1" dirty="0">
                <a:latin typeface="Arial" panose="020B0604020202020204" pitchFamily="34" charset="0"/>
              </a:rPr>
              <a:t>Host-</a:t>
            </a:r>
            <a:r>
              <a:rPr lang="ru-RU" sz="2100" b="1" dirty="0" err="1">
                <a:latin typeface="Arial" panose="020B0604020202020204" pitchFamily="34" charset="0"/>
              </a:rPr>
              <a:t>based</a:t>
            </a:r>
            <a:r>
              <a:rPr lang="ru-RU" sz="2100" b="1" dirty="0">
                <a:latin typeface="Arial" panose="020B0604020202020204" pitchFamily="34" charset="0"/>
              </a:rPr>
              <a:t> (</a:t>
            </a:r>
            <a:r>
              <a:rPr lang="en-US" sz="2100" b="1" dirty="0">
                <a:latin typeface="Arial" panose="020B0604020202020204" pitchFamily="34" charset="0"/>
              </a:rPr>
              <a:t>Host OS</a:t>
            </a:r>
            <a:r>
              <a:rPr lang="ru-RU" sz="2100" b="1" dirty="0">
                <a:latin typeface="Arial" panose="020B0604020202020204" pitchFamily="34" charset="0"/>
              </a:rPr>
              <a:t>) </a:t>
            </a:r>
            <a:r>
              <a:rPr lang="ru-RU" sz="2100" b="1" dirty="0">
                <a:latin typeface="Arial,Bold"/>
              </a:rPr>
              <a:t>– </a:t>
            </a:r>
            <a:r>
              <a:rPr lang="ru-RU" sz="2100" dirty="0">
                <a:latin typeface="Arial" panose="020B0604020202020204" pitchFamily="34" charset="0"/>
              </a:rPr>
              <a:t>VMM запускается в среде базовой ОС</a:t>
            </a:r>
            <a:r>
              <a:rPr lang="en-US" sz="2100" dirty="0">
                <a:latin typeface="Arial" panose="020B0604020202020204" pitchFamily="34" charset="0"/>
              </a:rPr>
              <a:t> </a:t>
            </a:r>
            <a:r>
              <a:rPr lang="ru-RU" sz="2100" dirty="0">
                <a:latin typeface="Arial" panose="020B0604020202020204" pitchFamily="34" charset="0"/>
              </a:rPr>
              <a:t>и использует ее ресурсы</a:t>
            </a:r>
          </a:p>
          <a:p>
            <a:pPr algn="l"/>
            <a:r>
              <a:rPr lang="ru-RU" sz="2100" b="1" dirty="0" err="1">
                <a:latin typeface="Arial" panose="020B0604020202020204" pitchFamily="34" charset="0"/>
              </a:rPr>
              <a:t>Hypervisor</a:t>
            </a:r>
            <a:r>
              <a:rPr lang="ru-RU" sz="2100" b="1" dirty="0">
                <a:latin typeface="Arial" panose="020B0604020202020204" pitchFamily="34" charset="0"/>
              </a:rPr>
              <a:t> </a:t>
            </a:r>
            <a:r>
              <a:rPr lang="ru-RU" sz="2100" b="1" dirty="0">
                <a:latin typeface="Arial,Bold"/>
              </a:rPr>
              <a:t>– </a:t>
            </a:r>
            <a:r>
              <a:rPr lang="ru-RU" sz="2100" dirty="0">
                <a:latin typeface="Arial" panose="020B0604020202020204" pitchFamily="34" charset="0"/>
              </a:rPr>
              <a:t>VMM представляет собой специальную</a:t>
            </a:r>
            <a:r>
              <a:rPr lang="en-US" sz="2100" dirty="0">
                <a:latin typeface="Arial" panose="020B0604020202020204" pitchFamily="34" charset="0"/>
              </a:rPr>
              <a:t> </a:t>
            </a:r>
            <a:r>
              <a:rPr lang="ru-RU" sz="2100" dirty="0">
                <a:latin typeface="Arial" panose="020B0604020202020204" pitchFamily="34" charset="0"/>
              </a:rPr>
              <a:t>ОС с драйверами для всех устройств</a:t>
            </a:r>
          </a:p>
          <a:p>
            <a:pPr algn="l"/>
            <a:r>
              <a:rPr lang="en-US" sz="2100" b="1" dirty="0">
                <a:latin typeface="Arial" panose="020B0604020202020204" pitchFamily="34" charset="0"/>
              </a:rPr>
              <a:t>Micro-hypervisor </a:t>
            </a:r>
            <a:r>
              <a:rPr lang="en-US" sz="2100" b="1" dirty="0">
                <a:latin typeface="Arial,Bold"/>
              </a:rPr>
              <a:t>– </a:t>
            </a:r>
            <a:r>
              <a:rPr lang="en-US" sz="2100" dirty="0">
                <a:latin typeface="Arial" panose="020B0604020202020204" pitchFamily="34" charset="0"/>
              </a:rPr>
              <a:t>VMM </a:t>
            </a:r>
            <a:r>
              <a:rPr lang="ru-RU" sz="2100" dirty="0">
                <a:latin typeface="Arial" panose="020B0604020202020204" pitchFamily="34" charset="0"/>
              </a:rPr>
              <a:t>представляет собой</a:t>
            </a:r>
            <a:r>
              <a:rPr lang="en-US" sz="2100" dirty="0">
                <a:latin typeface="Arial" panose="020B0604020202020204" pitchFamily="34" charset="0"/>
              </a:rPr>
              <a:t> </a:t>
            </a:r>
            <a:r>
              <a:rPr lang="ru-RU" sz="2100" dirty="0">
                <a:latin typeface="Arial" panose="020B0604020202020204" pitchFamily="34" charset="0"/>
              </a:rPr>
              <a:t>специальную ОС, но работу с устройствами</a:t>
            </a:r>
            <a:r>
              <a:rPr lang="en-US" sz="2100" dirty="0">
                <a:latin typeface="Arial" panose="020B0604020202020204" pitchFamily="34" charset="0"/>
              </a:rPr>
              <a:t> </a:t>
            </a:r>
            <a:r>
              <a:rPr lang="ru-RU" sz="2100" dirty="0">
                <a:latin typeface="Arial" panose="020B0604020202020204" pitchFamily="34" charset="0"/>
              </a:rPr>
              <a:t>осуществляет специальная привилегированная </a:t>
            </a:r>
            <a:r>
              <a:rPr lang="en-US" sz="2100" dirty="0">
                <a:latin typeface="Arial" panose="020B0604020202020204" pitchFamily="34" charset="0"/>
              </a:rPr>
              <a:t>VM</a:t>
            </a:r>
          </a:p>
          <a:p>
            <a:pPr algn="l"/>
            <a:r>
              <a:rPr lang="ru-RU" sz="2100" b="1" dirty="0" err="1">
                <a:latin typeface="Arial" panose="020B0604020202020204" pitchFamily="34" charset="0"/>
              </a:rPr>
              <a:t>Containers</a:t>
            </a:r>
            <a:r>
              <a:rPr lang="ru-RU" sz="2100" b="1" dirty="0">
                <a:latin typeface="Arial" panose="020B0604020202020204" pitchFamily="34" charset="0"/>
              </a:rPr>
              <a:t> </a:t>
            </a:r>
            <a:r>
              <a:rPr lang="ru-RU" sz="2100" b="1" dirty="0">
                <a:latin typeface="Arial,Bold"/>
              </a:rPr>
              <a:t>– </a:t>
            </a:r>
            <a:r>
              <a:rPr lang="ru-RU" sz="2100" dirty="0">
                <a:latin typeface="Arial" panose="020B0604020202020204" pitchFamily="34" charset="0"/>
              </a:rPr>
              <a:t>VMM «клонирует» базовую ОС</a:t>
            </a:r>
            <a:endParaRPr lang="ru-RU" dirty="0"/>
          </a:p>
        </p:txBody>
      </p:sp>
    </p:spTree>
    <p:extLst>
      <p:ext uri="{BB962C8B-B14F-4D97-AF65-F5344CB8AC3E}">
        <p14:creationId xmlns:p14="http://schemas.microsoft.com/office/powerpoint/2010/main" val="16238877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0B8F60-B923-4BFE-BB53-799D70F5367C}"/>
              </a:ext>
            </a:extLst>
          </p:cNvPr>
          <p:cNvSpPr>
            <a:spLocks noGrp="1"/>
          </p:cNvSpPr>
          <p:nvPr>
            <p:ph type="title"/>
          </p:nvPr>
        </p:nvSpPr>
        <p:spPr/>
        <p:txBody>
          <a:bodyPr>
            <a:normAutofit/>
          </a:bodyPr>
          <a:lstStyle/>
          <a:p>
            <a:r>
              <a:rPr lang="ru-RU" sz="3000" dirty="0"/>
              <a:t>4 типа VMM (менеджеров виртуальных машин)</a:t>
            </a:r>
          </a:p>
        </p:txBody>
      </p:sp>
      <p:pic>
        <p:nvPicPr>
          <p:cNvPr id="4" name="Объект 3">
            <a:extLst>
              <a:ext uri="{FF2B5EF4-FFF2-40B4-BE49-F238E27FC236}">
                <a16:creationId xmlns:a16="http://schemas.microsoft.com/office/drawing/2014/main" id="{A33F62A2-DC14-4FD9-A39B-3A54236C6132}"/>
              </a:ext>
            </a:extLst>
          </p:cNvPr>
          <p:cNvPicPr>
            <a:picLocks noGrp="1" noChangeAspect="1"/>
          </p:cNvPicPr>
          <p:nvPr>
            <p:ph idx="1"/>
          </p:nvPr>
        </p:nvPicPr>
        <p:blipFill>
          <a:blip r:embed="rId2"/>
          <a:stretch>
            <a:fillRect/>
          </a:stretch>
        </p:blipFill>
        <p:spPr>
          <a:xfrm>
            <a:off x="1846858" y="1369219"/>
            <a:ext cx="5450284" cy="3263504"/>
          </a:xfrm>
          <a:prstGeom prst="rect">
            <a:avLst/>
          </a:prstGeom>
        </p:spPr>
      </p:pic>
    </p:spTree>
    <p:extLst>
      <p:ext uri="{BB962C8B-B14F-4D97-AF65-F5344CB8AC3E}">
        <p14:creationId xmlns:p14="http://schemas.microsoft.com/office/powerpoint/2010/main" val="9088596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871066-CE4D-4095-87FD-A70D0EEE0E9A}"/>
              </a:ext>
            </a:extLst>
          </p:cNvPr>
          <p:cNvSpPr>
            <a:spLocks noGrp="1"/>
          </p:cNvSpPr>
          <p:nvPr>
            <p:ph type="title"/>
          </p:nvPr>
        </p:nvSpPr>
        <p:spPr/>
        <p:txBody>
          <a:bodyPr/>
          <a:lstStyle/>
          <a:p>
            <a:r>
              <a:rPr lang="ru-RU" dirty="0"/>
              <a:t>Специфика </a:t>
            </a:r>
            <a:r>
              <a:rPr lang="en-US" dirty="0"/>
              <a:t>Host-based</a:t>
            </a:r>
            <a:endParaRPr lang="ru-RU" dirty="0"/>
          </a:p>
        </p:txBody>
      </p:sp>
      <p:sp>
        <p:nvSpPr>
          <p:cNvPr id="3" name="Объект 2">
            <a:extLst>
              <a:ext uri="{FF2B5EF4-FFF2-40B4-BE49-F238E27FC236}">
                <a16:creationId xmlns:a16="http://schemas.microsoft.com/office/drawing/2014/main" id="{DD7829D1-3054-4C5D-B701-F0D59ADC4A3B}"/>
              </a:ext>
            </a:extLst>
          </p:cNvPr>
          <p:cNvSpPr>
            <a:spLocks noGrp="1"/>
          </p:cNvSpPr>
          <p:nvPr>
            <p:ph idx="1"/>
          </p:nvPr>
        </p:nvSpPr>
        <p:spPr>
          <a:xfrm>
            <a:off x="628650" y="1369219"/>
            <a:ext cx="6083877" cy="3263504"/>
          </a:xfrm>
        </p:spPr>
        <p:txBody>
          <a:bodyPr>
            <a:normAutofit fontScale="77500" lnSpcReduction="20000"/>
          </a:bodyPr>
          <a:lstStyle/>
          <a:p>
            <a:pPr marL="0" indent="0">
              <a:buNone/>
            </a:pPr>
            <a:r>
              <a:rPr lang="ru-RU" b="1" dirty="0"/>
              <a:t>Характеристики</a:t>
            </a:r>
            <a:r>
              <a:rPr lang="ru-RU" dirty="0"/>
              <a:t>:</a:t>
            </a:r>
          </a:p>
          <a:p>
            <a:pPr lvl="1"/>
            <a:r>
              <a:rPr lang="ru-RU" dirty="0"/>
              <a:t>VMM выполняется в базовой ОС</a:t>
            </a:r>
          </a:p>
          <a:p>
            <a:pPr lvl="1"/>
            <a:r>
              <a:rPr lang="ru-RU" dirty="0"/>
              <a:t>VM имеет полный набор виртуальных устройств</a:t>
            </a:r>
          </a:p>
          <a:p>
            <a:pPr marL="0" indent="0">
              <a:buNone/>
            </a:pPr>
            <a:r>
              <a:rPr lang="ru-RU" b="1" dirty="0"/>
              <a:t>Преимущества</a:t>
            </a:r>
            <a:r>
              <a:rPr lang="ru-RU" dirty="0"/>
              <a:t>:</a:t>
            </a:r>
          </a:p>
          <a:p>
            <a:pPr lvl="1"/>
            <a:r>
              <a:rPr lang="ru-RU" dirty="0"/>
              <a:t>VMM использует базовую ОС для работы с устройствами</a:t>
            </a:r>
          </a:p>
          <a:p>
            <a:pPr lvl="1"/>
            <a:r>
              <a:rPr lang="ru-RU" dirty="0"/>
              <a:t>Поддержка разных гостевых ОС</a:t>
            </a:r>
          </a:p>
          <a:p>
            <a:pPr marL="0" indent="0">
              <a:buNone/>
            </a:pPr>
            <a:r>
              <a:rPr lang="ru-RU" b="1" dirty="0"/>
              <a:t>Ограничения</a:t>
            </a:r>
            <a:r>
              <a:rPr lang="ru-RU" dirty="0"/>
              <a:t>:</a:t>
            </a:r>
          </a:p>
          <a:p>
            <a:pPr lvl="1"/>
            <a:r>
              <a:rPr lang="ru-RU" dirty="0"/>
              <a:t>Снижение производительности</a:t>
            </a:r>
          </a:p>
          <a:p>
            <a:pPr lvl="1"/>
            <a:r>
              <a:rPr lang="ru-RU" dirty="0"/>
              <a:t>Большой расход ресурсов системы</a:t>
            </a:r>
          </a:p>
          <a:p>
            <a:pPr marL="0" indent="0">
              <a:buNone/>
            </a:pPr>
            <a:r>
              <a:rPr lang="ru-RU" b="1" dirty="0"/>
              <a:t>Продукты</a:t>
            </a:r>
            <a:r>
              <a:rPr lang="ru-RU" dirty="0"/>
              <a:t>: VMware Server; Microsoft Virtual Server; </a:t>
            </a:r>
            <a:r>
              <a:rPr lang="ru-RU" dirty="0" err="1"/>
              <a:t>Parallels</a:t>
            </a:r>
            <a:r>
              <a:rPr lang="ru-RU" dirty="0"/>
              <a:t> Server</a:t>
            </a:r>
          </a:p>
          <a:p>
            <a:pPr marL="0" indent="0">
              <a:buNone/>
            </a:pPr>
            <a:r>
              <a:rPr lang="ru-RU" b="1" dirty="0"/>
              <a:t>Применение</a:t>
            </a:r>
            <a:r>
              <a:rPr lang="ru-RU" dirty="0"/>
              <a:t>: универсальная система Host-Based</a:t>
            </a:r>
          </a:p>
          <a:p>
            <a:endParaRPr lang="ru-RU" dirty="0"/>
          </a:p>
        </p:txBody>
      </p:sp>
      <p:pic>
        <p:nvPicPr>
          <p:cNvPr id="4" name="Рисунок 3">
            <a:extLst>
              <a:ext uri="{FF2B5EF4-FFF2-40B4-BE49-F238E27FC236}">
                <a16:creationId xmlns:a16="http://schemas.microsoft.com/office/drawing/2014/main" id="{6198A2A1-4BE3-43A1-8AEA-367FD0C9A89E}"/>
              </a:ext>
            </a:extLst>
          </p:cNvPr>
          <p:cNvPicPr>
            <a:picLocks noChangeAspect="1"/>
          </p:cNvPicPr>
          <p:nvPr/>
        </p:nvPicPr>
        <p:blipFill>
          <a:blip r:embed="rId2"/>
          <a:stretch>
            <a:fillRect/>
          </a:stretch>
        </p:blipFill>
        <p:spPr>
          <a:xfrm>
            <a:off x="6831877" y="1268016"/>
            <a:ext cx="1354573" cy="3240686"/>
          </a:xfrm>
          <a:prstGeom prst="rect">
            <a:avLst/>
          </a:prstGeom>
        </p:spPr>
      </p:pic>
    </p:spTree>
    <p:extLst>
      <p:ext uri="{BB962C8B-B14F-4D97-AF65-F5344CB8AC3E}">
        <p14:creationId xmlns:p14="http://schemas.microsoft.com/office/powerpoint/2010/main" val="32532786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B777BE-DDE7-4DAB-B547-81D32D52062F}"/>
              </a:ext>
            </a:extLst>
          </p:cNvPr>
          <p:cNvSpPr>
            <a:spLocks noGrp="1"/>
          </p:cNvSpPr>
          <p:nvPr>
            <p:ph type="title"/>
          </p:nvPr>
        </p:nvSpPr>
        <p:spPr/>
        <p:txBody>
          <a:bodyPr/>
          <a:lstStyle/>
          <a:p>
            <a:r>
              <a:rPr lang="ru-RU" dirty="0"/>
              <a:t>Специфика </a:t>
            </a:r>
            <a:r>
              <a:rPr lang="en-US" dirty="0"/>
              <a:t>Hypervisor</a:t>
            </a:r>
            <a:endParaRPr lang="ru-RU" dirty="0"/>
          </a:p>
        </p:txBody>
      </p:sp>
      <p:sp>
        <p:nvSpPr>
          <p:cNvPr id="3" name="Объект 2">
            <a:extLst>
              <a:ext uri="{FF2B5EF4-FFF2-40B4-BE49-F238E27FC236}">
                <a16:creationId xmlns:a16="http://schemas.microsoft.com/office/drawing/2014/main" id="{C914262A-FC56-4244-85FD-A92562709E35}"/>
              </a:ext>
            </a:extLst>
          </p:cNvPr>
          <p:cNvSpPr>
            <a:spLocks noGrp="1"/>
          </p:cNvSpPr>
          <p:nvPr>
            <p:ph idx="1"/>
          </p:nvPr>
        </p:nvSpPr>
        <p:spPr>
          <a:xfrm>
            <a:off x="628650" y="1369219"/>
            <a:ext cx="5432714" cy="3263504"/>
          </a:xfrm>
        </p:spPr>
        <p:txBody>
          <a:bodyPr/>
          <a:lstStyle/>
          <a:p>
            <a:pPr marL="0" indent="0" eaLnBrk="0" fontAlgn="base" hangingPunct="0">
              <a:spcBef>
                <a:spcPct val="0"/>
              </a:spcBef>
              <a:spcAft>
                <a:spcPct val="0"/>
              </a:spcAft>
              <a:buNone/>
            </a:pPr>
            <a:r>
              <a:rPr lang="ru-RU" altLang="ru-RU" sz="1500" b="1" dirty="0">
                <a:solidFill>
                  <a:srgbClr val="000000"/>
                </a:solidFill>
                <a:latin typeface="Arial" panose="020B0604020202020204" pitchFamily="34" charset="0"/>
                <a:ea typeface="Arial" panose="020B0604020202020204" pitchFamily="34" charset="0"/>
              </a:rPr>
              <a:t>Характеристики:</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VMM работает без базовой ОС и содержит драйверы устройств</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VM имеет полный набор виртуальных устройств</a:t>
            </a:r>
            <a:endParaRPr lang="ru-RU" altLang="ru-RU" sz="600" dirty="0">
              <a:solidFill>
                <a:schemeClr val="tx1"/>
              </a:solidFill>
              <a:latin typeface="Arial" panose="020B0604020202020204" pitchFamily="34" charset="0"/>
            </a:endParaRPr>
          </a:p>
          <a:p>
            <a:pPr marL="0" indent="0" eaLnBrk="0" fontAlgn="base" hangingPunct="0">
              <a:spcBef>
                <a:spcPct val="0"/>
              </a:spcBef>
              <a:spcAft>
                <a:spcPct val="0"/>
              </a:spcAft>
              <a:buNone/>
            </a:pPr>
            <a:r>
              <a:rPr lang="ru-RU" altLang="ru-RU" sz="1500" b="1" dirty="0">
                <a:solidFill>
                  <a:srgbClr val="000000"/>
                </a:solidFill>
                <a:latin typeface="Arial" panose="020B0604020202020204" pitchFamily="34" charset="0"/>
                <a:ea typeface="Arial" panose="020B0604020202020204" pitchFamily="34" charset="0"/>
              </a:rPr>
              <a:t>Преимущества:</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Поддержка разных гостевых ОС</a:t>
            </a:r>
            <a:endParaRPr lang="ru-RU" altLang="ru-RU" sz="600" dirty="0">
              <a:solidFill>
                <a:schemeClr val="tx1"/>
              </a:solidFill>
              <a:latin typeface="Arial" panose="020B0604020202020204" pitchFamily="34" charset="0"/>
            </a:endParaRPr>
          </a:p>
          <a:p>
            <a:pPr marL="0" indent="0" eaLnBrk="0" fontAlgn="base" hangingPunct="0">
              <a:spcBef>
                <a:spcPct val="0"/>
              </a:spcBef>
              <a:spcAft>
                <a:spcPct val="0"/>
              </a:spcAft>
              <a:buNone/>
            </a:pPr>
            <a:r>
              <a:rPr lang="ru-RU" altLang="ru-RU" sz="1500" b="1" dirty="0">
                <a:solidFill>
                  <a:srgbClr val="000000"/>
                </a:solidFill>
                <a:latin typeface="Arial" panose="020B0604020202020204" pitchFamily="34" charset="0"/>
                <a:ea typeface="Arial" panose="020B0604020202020204" pitchFamily="34" charset="0"/>
              </a:rPr>
              <a:t>Ограничения:</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Требуется дополнительная память для VMM</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Поддерживается ограниченное число устройств</a:t>
            </a:r>
            <a:endParaRPr lang="ru-RU" altLang="ru-RU" sz="600" dirty="0">
              <a:solidFill>
                <a:schemeClr val="tx1"/>
              </a:solidFill>
              <a:latin typeface="Arial" panose="020B0604020202020204" pitchFamily="34" charset="0"/>
            </a:endParaRPr>
          </a:p>
          <a:p>
            <a:pPr marL="0" indent="0" eaLnBrk="0" fontAlgn="base" hangingPunct="0">
              <a:spcBef>
                <a:spcPct val="0"/>
              </a:spcBef>
              <a:spcAft>
                <a:spcPct val="0"/>
              </a:spcAft>
              <a:buNone/>
            </a:pPr>
            <a:r>
              <a:rPr lang="ru-RU" altLang="ru-RU" sz="1500" b="1" dirty="0">
                <a:solidFill>
                  <a:srgbClr val="000000"/>
                </a:solidFill>
                <a:latin typeface="Arial" panose="020B0604020202020204" pitchFamily="34" charset="0"/>
                <a:ea typeface="Arial" panose="020B0604020202020204" pitchFamily="34" charset="0"/>
              </a:rPr>
              <a:t>Продукты: </a:t>
            </a:r>
            <a:r>
              <a:rPr lang="ru-RU" altLang="ru-RU" sz="1500" dirty="0">
                <a:solidFill>
                  <a:srgbClr val="000000"/>
                </a:solidFill>
                <a:latin typeface="Arial" panose="020B0604020202020204" pitchFamily="34" charset="0"/>
                <a:ea typeface="Arial" panose="020B0604020202020204" pitchFamily="34" charset="0"/>
              </a:rPr>
              <a:t>VMware ESX Server</a:t>
            </a:r>
            <a:endParaRPr lang="ru-RU" altLang="ru-RU" sz="1500" b="1" dirty="0">
              <a:solidFill>
                <a:srgbClr val="000000"/>
              </a:solidFill>
              <a:latin typeface="Arial" panose="020B0604020202020204" pitchFamily="34" charset="0"/>
              <a:ea typeface="Arial" panose="020B0604020202020204" pitchFamily="34" charset="0"/>
            </a:endParaRPr>
          </a:p>
          <a:p>
            <a:pPr marL="0" indent="0" eaLnBrk="0" fontAlgn="base" hangingPunct="0">
              <a:spcBef>
                <a:spcPct val="0"/>
              </a:spcBef>
              <a:spcAft>
                <a:spcPct val="0"/>
              </a:spcAft>
              <a:buNone/>
            </a:pPr>
            <a:r>
              <a:rPr lang="ru-RU" altLang="ru-RU" sz="1500" b="1" dirty="0">
                <a:solidFill>
                  <a:srgbClr val="000000"/>
                </a:solidFill>
                <a:latin typeface="Arial" panose="020B0604020202020204" pitchFamily="34" charset="0"/>
                <a:ea typeface="Arial" panose="020B0604020202020204" pitchFamily="34" charset="0"/>
              </a:rPr>
              <a:t>Применение: </a:t>
            </a:r>
            <a:r>
              <a:rPr lang="ru-RU" altLang="ru-RU" sz="1500" dirty="0">
                <a:solidFill>
                  <a:srgbClr val="000000"/>
                </a:solidFill>
                <a:latin typeface="Arial" panose="020B0604020202020204" pitchFamily="34" charset="0"/>
                <a:ea typeface="Arial" panose="020B0604020202020204" pitchFamily="34" charset="0"/>
              </a:rPr>
              <a:t>универсально</a:t>
            </a:r>
            <a:r>
              <a:rPr lang="ru-RU" altLang="ru-RU" sz="600" dirty="0">
                <a:solidFill>
                  <a:schemeClr val="tx1"/>
                </a:solidFill>
                <a:latin typeface="Arial" panose="020B0604020202020204" pitchFamily="34" charset="0"/>
              </a:rPr>
              <a:t> </a:t>
            </a:r>
            <a:endParaRPr lang="ru-RU" altLang="ru-RU" sz="1350" dirty="0">
              <a:solidFill>
                <a:schemeClr val="tx1"/>
              </a:solidFill>
              <a:latin typeface="Arial" panose="020B0604020202020204" pitchFamily="34" charset="0"/>
            </a:endParaRPr>
          </a:p>
          <a:p>
            <a:endParaRPr lang="ru-RU" dirty="0"/>
          </a:p>
        </p:txBody>
      </p:sp>
      <p:sp>
        <p:nvSpPr>
          <p:cNvPr id="4" name="Rectangle 14">
            <a:extLst>
              <a:ext uri="{FF2B5EF4-FFF2-40B4-BE49-F238E27FC236}">
                <a16:creationId xmlns:a16="http://schemas.microsoft.com/office/drawing/2014/main" id="{EBB03FC1-75B0-494C-969A-E373E9F471CD}"/>
              </a:ext>
            </a:extLst>
          </p:cNvPr>
          <p:cNvSpPr>
            <a:spLocks noChangeArrowheads="1"/>
          </p:cNvSpPr>
          <p:nvPr/>
        </p:nvSpPr>
        <p:spPr bwMode="auto">
          <a:xfrm>
            <a:off x="1" y="329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endParaRPr lang="ru-RU" altLang="ru-RU" sz="1350">
              <a:solidFill>
                <a:schemeClr val="tx1"/>
              </a:solidFill>
              <a:latin typeface="Arial" panose="020B0604020202020204" pitchFamily="34" charset="0"/>
            </a:endParaRPr>
          </a:p>
        </p:txBody>
      </p:sp>
      <p:pic>
        <p:nvPicPr>
          <p:cNvPr id="19" name="Рисунок 18">
            <a:extLst>
              <a:ext uri="{FF2B5EF4-FFF2-40B4-BE49-F238E27FC236}">
                <a16:creationId xmlns:a16="http://schemas.microsoft.com/office/drawing/2014/main" id="{1568C1BC-F455-4F36-B840-A0A0820F6C80}"/>
              </a:ext>
            </a:extLst>
          </p:cNvPr>
          <p:cNvPicPr>
            <a:picLocks noChangeAspect="1"/>
          </p:cNvPicPr>
          <p:nvPr/>
        </p:nvPicPr>
        <p:blipFill>
          <a:blip r:embed="rId2"/>
          <a:stretch>
            <a:fillRect/>
          </a:stretch>
        </p:blipFill>
        <p:spPr>
          <a:xfrm>
            <a:off x="6848796" y="1369219"/>
            <a:ext cx="1390009" cy="3351566"/>
          </a:xfrm>
          <a:prstGeom prst="rect">
            <a:avLst/>
          </a:prstGeom>
        </p:spPr>
      </p:pic>
    </p:spTree>
    <p:extLst>
      <p:ext uri="{BB962C8B-B14F-4D97-AF65-F5344CB8AC3E}">
        <p14:creationId xmlns:p14="http://schemas.microsoft.com/office/powerpoint/2010/main" val="40517079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2E7D75-F4A1-41A8-98B1-C2621CEBAD17}"/>
              </a:ext>
            </a:extLst>
          </p:cNvPr>
          <p:cNvSpPr>
            <a:spLocks noGrp="1"/>
          </p:cNvSpPr>
          <p:nvPr>
            <p:ph type="title"/>
          </p:nvPr>
        </p:nvSpPr>
        <p:spPr/>
        <p:txBody>
          <a:bodyPr/>
          <a:lstStyle/>
          <a:p>
            <a:r>
              <a:rPr lang="ru-RU" dirty="0"/>
              <a:t>Специфика </a:t>
            </a:r>
            <a:r>
              <a:rPr lang="en-US" dirty="0"/>
              <a:t>Micro-hypervisor</a:t>
            </a:r>
            <a:endParaRPr lang="ru-RU" dirty="0"/>
          </a:p>
        </p:txBody>
      </p:sp>
      <p:sp>
        <p:nvSpPr>
          <p:cNvPr id="3" name="Объект 2">
            <a:extLst>
              <a:ext uri="{FF2B5EF4-FFF2-40B4-BE49-F238E27FC236}">
                <a16:creationId xmlns:a16="http://schemas.microsoft.com/office/drawing/2014/main" id="{6B956B9D-9287-444A-93F6-69E41BCB63E5}"/>
              </a:ext>
            </a:extLst>
          </p:cNvPr>
          <p:cNvSpPr>
            <a:spLocks noGrp="1"/>
          </p:cNvSpPr>
          <p:nvPr>
            <p:ph idx="1"/>
          </p:nvPr>
        </p:nvSpPr>
        <p:spPr>
          <a:xfrm>
            <a:off x="628650" y="1369219"/>
            <a:ext cx="6194714" cy="3263504"/>
          </a:xfrm>
        </p:spPr>
        <p:txBody>
          <a:bodyPr/>
          <a:lstStyle/>
          <a:p>
            <a:pPr marL="0" indent="0" eaLnBrk="0" fontAlgn="base" hangingPunct="0">
              <a:spcBef>
                <a:spcPct val="0"/>
              </a:spcBef>
              <a:spcAft>
                <a:spcPct val="0"/>
              </a:spcAft>
              <a:buNone/>
            </a:pPr>
            <a:r>
              <a:rPr lang="ru-RU" altLang="ru-RU" sz="1500" b="1" dirty="0">
                <a:solidFill>
                  <a:srgbClr val="000000"/>
                </a:solidFill>
                <a:latin typeface="Arial" panose="020B0604020202020204" pitchFamily="34" charset="0"/>
                <a:ea typeface="Arial" panose="020B0604020202020204" pitchFamily="34" charset="0"/>
              </a:rPr>
              <a:t>Характеристики:</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VMM работает без базовой ОС – С устройствами работает выделенная сервисная VM</a:t>
            </a:r>
            <a:endParaRPr lang="ru-RU" altLang="ru-RU" sz="6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ru-RU" altLang="ru-RU" sz="1500" b="1" dirty="0">
                <a:solidFill>
                  <a:srgbClr val="000000"/>
                </a:solidFill>
                <a:latin typeface="Arial" panose="020B0604020202020204" pitchFamily="34" charset="0"/>
                <a:ea typeface="Arial" panose="020B0604020202020204" pitchFamily="34" charset="0"/>
              </a:rPr>
              <a:t>Преимущества:</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Поддержка разных гостевых ОС – Работа с широким набором устройств</a:t>
            </a:r>
            <a:endParaRPr lang="ru-RU" altLang="ru-RU" sz="6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ru-RU" altLang="ru-RU" sz="1500" b="1" dirty="0">
                <a:solidFill>
                  <a:srgbClr val="000000"/>
                </a:solidFill>
                <a:latin typeface="Arial" panose="020B0604020202020204" pitchFamily="34" charset="0"/>
                <a:ea typeface="Arial" panose="020B0604020202020204" pitchFamily="34" charset="0"/>
              </a:rPr>
              <a:t>Ограничения:</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Снижение производительности из-за работы с сервисной ОС</a:t>
            </a:r>
            <a:endParaRPr lang="ru-RU" altLang="ru-RU" sz="6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ru-RU" altLang="ru-RU" sz="1500" b="1" dirty="0">
                <a:solidFill>
                  <a:srgbClr val="000000"/>
                </a:solidFill>
                <a:latin typeface="Arial" panose="020B0604020202020204" pitchFamily="34" charset="0"/>
                <a:ea typeface="Arial" panose="020B0604020202020204" pitchFamily="34" charset="0"/>
              </a:rPr>
              <a:t>Продукты</a:t>
            </a:r>
            <a:r>
              <a:rPr lang="en-US" altLang="ru-RU" sz="1500" b="1" dirty="0">
                <a:solidFill>
                  <a:srgbClr val="000000"/>
                </a:solidFill>
                <a:latin typeface="Arial" panose="020B0604020202020204" pitchFamily="34" charset="0"/>
                <a:ea typeface="Arial" panose="020B0604020202020204" pitchFamily="34" charset="0"/>
              </a:rPr>
              <a:t>: </a:t>
            </a:r>
            <a:r>
              <a:rPr lang="en-US" altLang="ru-RU" sz="1500" dirty="0">
                <a:solidFill>
                  <a:srgbClr val="000000"/>
                </a:solidFill>
                <a:latin typeface="Arial" panose="020B0604020202020204" pitchFamily="34" charset="0"/>
                <a:ea typeface="Arial" panose="020B0604020202020204" pitchFamily="34" charset="0"/>
              </a:rPr>
              <a:t>XEN, KVM, Citrix </a:t>
            </a:r>
            <a:r>
              <a:rPr lang="en-US" altLang="ru-RU" sz="1500" dirty="0" err="1">
                <a:solidFill>
                  <a:srgbClr val="000000"/>
                </a:solidFill>
                <a:latin typeface="Arial" panose="020B0604020202020204" pitchFamily="34" charset="0"/>
                <a:ea typeface="Arial" panose="020B0604020202020204" pitchFamily="34" charset="0"/>
              </a:rPr>
              <a:t>XenServer</a:t>
            </a:r>
            <a:r>
              <a:rPr lang="en-US" altLang="ru-RU" sz="1500" dirty="0">
                <a:solidFill>
                  <a:srgbClr val="000000"/>
                </a:solidFill>
                <a:latin typeface="Arial" panose="020B0604020202020204" pitchFamily="34" charset="0"/>
                <a:ea typeface="Arial" panose="020B0604020202020204" pitchFamily="34" charset="0"/>
              </a:rPr>
              <a:t>, Virtual Iron, Novell, Red Hat; Microsoft Viridian</a:t>
            </a:r>
            <a:endParaRPr lang="ru-RU" altLang="ru-RU" sz="6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ru-RU" altLang="ru-RU" sz="1500" b="1" dirty="0">
                <a:solidFill>
                  <a:srgbClr val="000000"/>
                </a:solidFill>
                <a:latin typeface="Arial" panose="020B0604020202020204" pitchFamily="34" charset="0"/>
                <a:ea typeface="Arial" panose="020B0604020202020204" pitchFamily="34" charset="0"/>
              </a:rPr>
              <a:t>Применение: </a:t>
            </a:r>
            <a:r>
              <a:rPr lang="ru-RU" altLang="ru-RU" sz="1500" dirty="0">
                <a:solidFill>
                  <a:srgbClr val="000000"/>
                </a:solidFill>
                <a:latin typeface="Arial" panose="020B0604020202020204" pitchFamily="34" charset="0"/>
                <a:ea typeface="Arial" panose="020B0604020202020204" pitchFamily="34" charset="0"/>
              </a:rPr>
              <a:t>универсально </a:t>
            </a:r>
            <a:r>
              <a:rPr lang="ru-RU" altLang="ru-RU" sz="1350" b="1" dirty="0">
                <a:solidFill>
                  <a:srgbClr val="000000"/>
                </a:solidFill>
                <a:latin typeface="Arial" panose="020B0604020202020204" pitchFamily="34" charset="0"/>
                <a:ea typeface="Arial" panose="020B0604020202020204" pitchFamily="34" charset="0"/>
              </a:rPr>
              <a:t>Micro</a:t>
            </a:r>
            <a:endParaRPr lang="ru-RU" altLang="ru-RU" sz="1350" dirty="0">
              <a:solidFill>
                <a:schemeClr val="tx1"/>
              </a:solidFill>
              <a:latin typeface="Arial" panose="020B0604020202020204" pitchFamily="34" charset="0"/>
            </a:endParaRPr>
          </a:p>
          <a:p>
            <a:endParaRPr lang="ru-RU" dirty="0"/>
          </a:p>
        </p:txBody>
      </p:sp>
      <p:sp>
        <p:nvSpPr>
          <p:cNvPr id="4" name="Rectangle 20">
            <a:extLst>
              <a:ext uri="{FF2B5EF4-FFF2-40B4-BE49-F238E27FC236}">
                <a16:creationId xmlns:a16="http://schemas.microsoft.com/office/drawing/2014/main" id="{4507EC74-8F43-4931-A2F9-A4B3712F8FF5}"/>
              </a:ext>
            </a:extLst>
          </p:cNvPr>
          <p:cNvSpPr>
            <a:spLocks noChangeArrowheads="1"/>
          </p:cNvSpPr>
          <p:nvPr/>
        </p:nvSpPr>
        <p:spPr bwMode="auto">
          <a:xfrm>
            <a:off x="1" y="329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endParaRPr lang="ru-RU" altLang="ru-RU" sz="1350">
              <a:solidFill>
                <a:schemeClr val="tx1"/>
              </a:solidFill>
              <a:latin typeface="Arial" panose="020B0604020202020204" pitchFamily="34" charset="0"/>
            </a:endParaRPr>
          </a:p>
        </p:txBody>
      </p:sp>
      <p:grpSp>
        <p:nvGrpSpPr>
          <p:cNvPr id="5" name="Group 12291">
            <a:extLst>
              <a:ext uri="{FF2B5EF4-FFF2-40B4-BE49-F238E27FC236}">
                <a16:creationId xmlns:a16="http://schemas.microsoft.com/office/drawing/2014/main" id="{E0137EBD-C816-4D41-A8CE-4911EB94CB08}"/>
              </a:ext>
            </a:extLst>
          </p:cNvPr>
          <p:cNvGrpSpPr/>
          <p:nvPr/>
        </p:nvGrpSpPr>
        <p:grpSpPr>
          <a:xfrm>
            <a:off x="7473792" y="1268016"/>
            <a:ext cx="1355884" cy="3239453"/>
            <a:chOff x="0" y="0"/>
            <a:chExt cx="1808226" cy="4319524"/>
          </a:xfrm>
        </p:grpSpPr>
        <p:sp>
          <p:nvSpPr>
            <p:cNvPr id="6" name="Shape 1132">
              <a:extLst>
                <a:ext uri="{FF2B5EF4-FFF2-40B4-BE49-F238E27FC236}">
                  <a16:creationId xmlns:a16="http://schemas.microsoft.com/office/drawing/2014/main" id="{894D7AB8-8F5E-4861-A634-DA0E885C66AB}"/>
                </a:ext>
              </a:extLst>
            </p:cNvPr>
            <p:cNvSpPr/>
            <p:nvPr/>
          </p:nvSpPr>
          <p:spPr>
            <a:xfrm>
              <a:off x="0" y="0"/>
              <a:ext cx="1800225" cy="3600323"/>
            </a:xfrm>
            <a:custGeom>
              <a:avLst/>
              <a:gdLst/>
              <a:ahLst/>
              <a:cxnLst/>
              <a:rect l="0" t="0" r="0" b="0"/>
              <a:pathLst>
                <a:path w="1800225" h="3600323">
                  <a:moveTo>
                    <a:pt x="100432" y="0"/>
                  </a:moveTo>
                  <a:lnTo>
                    <a:pt x="1699768" y="0"/>
                  </a:lnTo>
                  <a:cubicBezTo>
                    <a:pt x="1755267" y="0"/>
                    <a:pt x="1800225" y="44958"/>
                    <a:pt x="1800225" y="100330"/>
                  </a:cubicBezTo>
                  <a:lnTo>
                    <a:pt x="1800225" y="3499993"/>
                  </a:lnTo>
                  <a:cubicBezTo>
                    <a:pt x="1800225" y="3555365"/>
                    <a:pt x="1755267" y="3600323"/>
                    <a:pt x="1699768" y="3600323"/>
                  </a:cubicBezTo>
                  <a:lnTo>
                    <a:pt x="100432" y="3600323"/>
                  </a:lnTo>
                  <a:cubicBezTo>
                    <a:pt x="44971" y="3600323"/>
                    <a:pt x="0" y="3555365"/>
                    <a:pt x="0" y="3499993"/>
                  </a:cubicBezTo>
                  <a:lnTo>
                    <a:pt x="0" y="100330"/>
                  </a:lnTo>
                  <a:cubicBezTo>
                    <a:pt x="0" y="44958"/>
                    <a:pt x="44971" y="0"/>
                    <a:pt x="100432" y="0"/>
                  </a:cubicBezTo>
                  <a:close/>
                </a:path>
              </a:pathLst>
            </a:custGeom>
            <a:ln w="0" cap="flat">
              <a:miter lim="127000"/>
            </a:ln>
          </p:spPr>
          <p:style>
            <a:lnRef idx="0">
              <a:srgbClr val="000000">
                <a:alpha val="0"/>
              </a:srgbClr>
            </a:lnRef>
            <a:fillRef idx="1">
              <a:srgbClr val="FFCC00"/>
            </a:fillRef>
            <a:effectRef idx="0">
              <a:scrgbClr r="0" g="0" b="0"/>
            </a:effectRef>
            <a:fontRef idx="none"/>
          </p:style>
          <p:txBody>
            <a:bodyPr/>
            <a:lstStyle/>
            <a:p>
              <a:endParaRPr lang="ru-RU" sz="1050"/>
            </a:p>
          </p:txBody>
        </p:sp>
        <p:sp>
          <p:nvSpPr>
            <p:cNvPr id="7" name="Shape 1133">
              <a:extLst>
                <a:ext uri="{FF2B5EF4-FFF2-40B4-BE49-F238E27FC236}">
                  <a16:creationId xmlns:a16="http://schemas.microsoft.com/office/drawing/2014/main" id="{BD69AEBD-E0B6-442A-8C9C-24C5470407BD}"/>
                </a:ext>
              </a:extLst>
            </p:cNvPr>
            <p:cNvSpPr/>
            <p:nvPr/>
          </p:nvSpPr>
          <p:spPr>
            <a:xfrm>
              <a:off x="0" y="0"/>
              <a:ext cx="1800225" cy="3600323"/>
            </a:xfrm>
            <a:custGeom>
              <a:avLst/>
              <a:gdLst/>
              <a:ahLst/>
              <a:cxnLst/>
              <a:rect l="0" t="0" r="0" b="0"/>
              <a:pathLst>
                <a:path w="1800225" h="3600323">
                  <a:moveTo>
                    <a:pt x="0" y="100330"/>
                  </a:moveTo>
                  <a:cubicBezTo>
                    <a:pt x="0" y="44958"/>
                    <a:pt x="44971" y="0"/>
                    <a:pt x="100432" y="0"/>
                  </a:cubicBezTo>
                  <a:cubicBezTo>
                    <a:pt x="100432" y="0"/>
                    <a:pt x="100432" y="0"/>
                    <a:pt x="100432" y="0"/>
                  </a:cubicBezTo>
                  <a:lnTo>
                    <a:pt x="100432" y="0"/>
                  </a:lnTo>
                  <a:lnTo>
                    <a:pt x="1699768" y="0"/>
                  </a:lnTo>
                  <a:lnTo>
                    <a:pt x="1699768" y="0"/>
                  </a:lnTo>
                  <a:cubicBezTo>
                    <a:pt x="1755267" y="0"/>
                    <a:pt x="1800225" y="44958"/>
                    <a:pt x="1800225" y="100330"/>
                  </a:cubicBezTo>
                  <a:cubicBezTo>
                    <a:pt x="1800225" y="100330"/>
                    <a:pt x="1800225" y="100330"/>
                    <a:pt x="1800225" y="100330"/>
                  </a:cubicBezTo>
                  <a:lnTo>
                    <a:pt x="1800225" y="100330"/>
                  </a:lnTo>
                  <a:lnTo>
                    <a:pt x="1800225" y="3499993"/>
                  </a:lnTo>
                  <a:lnTo>
                    <a:pt x="1800225" y="3499993"/>
                  </a:lnTo>
                  <a:cubicBezTo>
                    <a:pt x="1800225" y="3555365"/>
                    <a:pt x="1755267" y="3600323"/>
                    <a:pt x="1699768" y="3600323"/>
                  </a:cubicBezTo>
                  <a:cubicBezTo>
                    <a:pt x="1699768" y="3600323"/>
                    <a:pt x="1699768" y="3600323"/>
                    <a:pt x="1699768" y="3600323"/>
                  </a:cubicBezTo>
                  <a:lnTo>
                    <a:pt x="1699768" y="3600323"/>
                  </a:lnTo>
                  <a:lnTo>
                    <a:pt x="100432" y="3600323"/>
                  </a:lnTo>
                  <a:lnTo>
                    <a:pt x="100432" y="3600323"/>
                  </a:lnTo>
                  <a:cubicBezTo>
                    <a:pt x="44971" y="3600323"/>
                    <a:pt x="0" y="3555365"/>
                    <a:pt x="0" y="3499993"/>
                  </a:cubicBezTo>
                  <a:cubicBezTo>
                    <a:pt x="0" y="3499993"/>
                    <a:pt x="0" y="3499993"/>
                    <a:pt x="0" y="3499993"/>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8" name="Rectangle 1134">
              <a:extLst>
                <a:ext uri="{FF2B5EF4-FFF2-40B4-BE49-F238E27FC236}">
                  <a16:creationId xmlns:a16="http://schemas.microsoft.com/office/drawing/2014/main" id="{0D5ACA36-D189-49A0-91D8-44E126C7610D}"/>
                </a:ext>
              </a:extLst>
            </p:cNvPr>
            <p:cNvSpPr/>
            <p:nvPr/>
          </p:nvSpPr>
          <p:spPr>
            <a:xfrm>
              <a:off x="493319" y="3230987"/>
              <a:ext cx="1079132" cy="395091"/>
            </a:xfrm>
            <a:prstGeom prst="rect">
              <a:avLst/>
            </a:prstGeom>
            <a:ln>
              <a:noFill/>
            </a:ln>
          </p:spPr>
          <p:txBody>
            <a:bodyPr vert="horz" lIns="0" tIns="0" rIns="0" bIns="0" rtlCol="0">
              <a:noAutofit/>
            </a:bodyPr>
            <a:lstStyle/>
            <a:p>
              <a:pPr>
                <a:lnSpc>
                  <a:spcPct val="107000"/>
                </a:lnSpc>
                <a:spcAft>
                  <a:spcPts val="600"/>
                </a:spcAft>
              </a:pPr>
              <a:r>
                <a:rPr lang="ru-RU" sz="1800" b="1">
                  <a:latin typeface="Verdana" panose="020B0604030504040204" pitchFamily="34" charset="0"/>
                  <a:ea typeface="Verdana" panose="020B0604030504040204" pitchFamily="34" charset="0"/>
                  <a:cs typeface="Verdana" panose="020B0604030504040204" pitchFamily="34" charset="0"/>
                </a:rPr>
                <a:t>VMM</a:t>
              </a:r>
              <a:endParaRPr lang="ru-RU" sz="825">
                <a:latin typeface="Calibri" panose="020F0502020204030204" pitchFamily="34" charset="0"/>
                <a:ea typeface="Calibri" panose="020F0502020204030204" pitchFamily="34" charset="0"/>
              </a:endParaRPr>
            </a:p>
          </p:txBody>
        </p:sp>
        <p:sp>
          <p:nvSpPr>
            <p:cNvPr id="9" name="Shape 1135">
              <a:extLst>
                <a:ext uri="{FF2B5EF4-FFF2-40B4-BE49-F238E27FC236}">
                  <a16:creationId xmlns:a16="http://schemas.microsoft.com/office/drawing/2014/main" id="{F34E0373-0A77-496A-8907-3226816A107F}"/>
                </a:ext>
              </a:extLst>
            </p:cNvPr>
            <p:cNvSpPr/>
            <p:nvPr/>
          </p:nvSpPr>
          <p:spPr>
            <a:xfrm>
              <a:off x="3175" y="3709924"/>
              <a:ext cx="1805051" cy="609600"/>
            </a:xfrm>
            <a:custGeom>
              <a:avLst/>
              <a:gdLst/>
              <a:ahLst/>
              <a:cxnLst/>
              <a:rect l="0" t="0" r="0" b="0"/>
              <a:pathLst>
                <a:path w="1805051" h="609600">
                  <a:moveTo>
                    <a:pt x="139700" y="0"/>
                  </a:moveTo>
                  <a:lnTo>
                    <a:pt x="1665224" y="0"/>
                  </a:lnTo>
                  <a:cubicBezTo>
                    <a:pt x="1742440" y="0"/>
                    <a:pt x="1805051" y="62484"/>
                    <a:pt x="1805051" y="139700"/>
                  </a:cubicBezTo>
                  <a:lnTo>
                    <a:pt x="1805051" y="469900"/>
                  </a:lnTo>
                  <a:cubicBezTo>
                    <a:pt x="1805051" y="547053"/>
                    <a:pt x="1742440" y="609600"/>
                    <a:pt x="1665224" y="609600"/>
                  </a:cubicBezTo>
                  <a:lnTo>
                    <a:pt x="139700" y="609600"/>
                  </a:lnTo>
                  <a:cubicBezTo>
                    <a:pt x="62547" y="609600"/>
                    <a:pt x="0" y="547053"/>
                    <a:pt x="0" y="469900"/>
                  </a:cubicBezTo>
                  <a:lnTo>
                    <a:pt x="0" y="139700"/>
                  </a:lnTo>
                  <a:cubicBezTo>
                    <a:pt x="0" y="62484"/>
                    <a:pt x="62547" y="0"/>
                    <a:pt x="139700" y="0"/>
                  </a:cubicBezTo>
                  <a:close/>
                </a:path>
              </a:pathLst>
            </a:custGeom>
            <a:ln w="0" cap="flat">
              <a:round/>
            </a:ln>
          </p:spPr>
          <p:style>
            <a:lnRef idx="0">
              <a:srgbClr val="000000">
                <a:alpha val="0"/>
              </a:srgbClr>
            </a:lnRef>
            <a:fillRef idx="1">
              <a:srgbClr val="C0C0C0"/>
            </a:fillRef>
            <a:effectRef idx="0">
              <a:scrgbClr r="0" g="0" b="0"/>
            </a:effectRef>
            <a:fontRef idx="none"/>
          </p:style>
          <p:txBody>
            <a:bodyPr/>
            <a:lstStyle/>
            <a:p>
              <a:endParaRPr lang="ru-RU" sz="1050"/>
            </a:p>
          </p:txBody>
        </p:sp>
        <p:sp>
          <p:nvSpPr>
            <p:cNvPr id="10" name="Shape 1136">
              <a:extLst>
                <a:ext uri="{FF2B5EF4-FFF2-40B4-BE49-F238E27FC236}">
                  <a16:creationId xmlns:a16="http://schemas.microsoft.com/office/drawing/2014/main" id="{A10E8204-3FA6-4EDE-B062-C22CDEF92356}"/>
                </a:ext>
              </a:extLst>
            </p:cNvPr>
            <p:cNvSpPr/>
            <p:nvPr/>
          </p:nvSpPr>
          <p:spPr>
            <a:xfrm>
              <a:off x="3175" y="3709924"/>
              <a:ext cx="1805051" cy="609600"/>
            </a:xfrm>
            <a:custGeom>
              <a:avLst/>
              <a:gdLst/>
              <a:ahLst/>
              <a:cxnLst/>
              <a:rect l="0" t="0" r="0" b="0"/>
              <a:pathLst>
                <a:path w="1805051" h="609600">
                  <a:moveTo>
                    <a:pt x="0" y="139700"/>
                  </a:moveTo>
                  <a:cubicBezTo>
                    <a:pt x="0" y="62484"/>
                    <a:pt x="62547" y="0"/>
                    <a:pt x="139700" y="0"/>
                  </a:cubicBezTo>
                  <a:cubicBezTo>
                    <a:pt x="139700" y="0"/>
                    <a:pt x="139700" y="0"/>
                    <a:pt x="139700" y="0"/>
                  </a:cubicBezTo>
                  <a:lnTo>
                    <a:pt x="139700" y="0"/>
                  </a:lnTo>
                  <a:lnTo>
                    <a:pt x="1665224" y="0"/>
                  </a:lnTo>
                  <a:lnTo>
                    <a:pt x="1665224" y="0"/>
                  </a:lnTo>
                  <a:cubicBezTo>
                    <a:pt x="1742440" y="0"/>
                    <a:pt x="1805051" y="62484"/>
                    <a:pt x="1805051" y="139700"/>
                  </a:cubicBezTo>
                  <a:cubicBezTo>
                    <a:pt x="1805051" y="139700"/>
                    <a:pt x="1805051" y="139700"/>
                    <a:pt x="1805051" y="139700"/>
                  </a:cubicBezTo>
                  <a:lnTo>
                    <a:pt x="1805051" y="139700"/>
                  </a:lnTo>
                  <a:lnTo>
                    <a:pt x="1805051" y="469900"/>
                  </a:lnTo>
                  <a:lnTo>
                    <a:pt x="1805051" y="469900"/>
                  </a:lnTo>
                  <a:cubicBezTo>
                    <a:pt x="1805051" y="547053"/>
                    <a:pt x="1742440" y="609600"/>
                    <a:pt x="1665224" y="609600"/>
                  </a:cubicBezTo>
                  <a:cubicBezTo>
                    <a:pt x="1665224" y="609600"/>
                    <a:pt x="1665224" y="609600"/>
                    <a:pt x="1665224" y="609600"/>
                  </a:cubicBezTo>
                  <a:lnTo>
                    <a:pt x="1665224" y="609600"/>
                  </a:lnTo>
                  <a:lnTo>
                    <a:pt x="139700" y="609600"/>
                  </a:lnTo>
                  <a:lnTo>
                    <a:pt x="139700" y="609600"/>
                  </a:lnTo>
                  <a:cubicBezTo>
                    <a:pt x="62547" y="609600"/>
                    <a:pt x="0" y="547053"/>
                    <a:pt x="0" y="469900"/>
                  </a:cubicBezTo>
                  <a:cubicBezTo>
                    <a:pt x="0" y="469900"/>
                    <a:pt x="0" y="469900"/>
                    <a:pt x="0" y="469900"/>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11" name="Rectangle 1137">
              <a:extLst>
                <a:ext uri="{FF2B5EF4-FFF2-40B4-BE49-F238E27FC236}">
                  <a16:creationId xmlns:a16="http://schemas.microsoft.com/office/drawing/2014/main" id="{9A7E103A-C179-4AB2-B2A6-3D21FC3F8AE7}"/>
                </a:ext>
              </a:extLst>
            </p:cNvPr>
            <p:cNvSpPr/>
            <p:nvPr/>
          </p:nvSpPr>
          <p:spPr>
            <a:xfrm>
              <a:off x="605180" y="3903376"/>
              <a:ext cx="795769" cy="395091"/>
            </a:xfrm>
            <a:prstGeom prst="rect">
              <a:avLst/>
            </a:prstGeom>
            <a:ln>
              <a:noFill/>
            </a:ln>
          </p:spPr>
          <p:txBody>
            <a:bodyPr vert="horz" lIns="0" tIns="0" rIns="0" bIns="0" rtlCol="0">
              <a:noAutofit/>
            </a:bodyPr>
            <a:lstStyle/>
            <a:p>
              <a:pPr>
                <a:lnSpc>
                  <a:spcPct val="107000"/>
                </a:lnSpc>
                <a:spcAft>
                  <a:spcPts val="600"/>
                </a:spcAft>
              </a:pPr>
              <a:r>
                <a:rPr lang="ru-RU" sz="1800" b="1">
                  <a:solidFill>
                    <a:srgbClr val="FFFFFF"/>
                  </a:solidFill>
                  <a:latin typeface="Verdana" panose="020B0604030504040204" pitchFamily="34" charset="0"/>
                  <a:ea typeface="Verdana" panose="020B0604030504040204" pitchFamily="34" charset="0"/>
                  <a:cs typeface="Verdana" panose="020B0604030504040204" pitchFamily="34" charset="0"/>
                </a:rPr>
                <a:t>HW</a:t>
              </a:r>
              <a:endParaRPr lang="ru-RU" sz="825">
                <a:latin typeface="Calibri" panose="020F0502020204030204" pitchFamily="34" charset="0"/>
                <a:ea typeface="Calibri" panose="020F0502020204030204" pitchFamily="34" charset="0"/>
              </a:endParaRPr>
            </a:p>
          </p:txBody>
        </p:sp>
        <p:sp>
          <p:nvSpPr>
            <p:cNvPr id="12" name="Shape 1138">
              <a:extLst>
                <a:ext uri="{FF2B5EF4-FFF2-40B4-BE49-F238E27FC236}">
                  <a16:creationId xmlns:a16="http://schemas.microsoft.com/office/drawing/2014/main" id="{33F6FBC6-F419-40E5-AE6A-7E2BF46B86CC}"/>
                </a:ext>
              </a:extLst>
            </p:cNvPr>
            <p:cNvSpPr/>
            <p:nvPr/>
          </p:nvSpPr>
          <p:spPr>
            <a:xfrm>
              <a:off x="71438" y="230124"/>
              <a:ext cx="784225" cy="2217801"/>
            </a:xfrm>
            <a:custGeom>
              <a:avLst/>
              <a:gdLst/>
              <a:ahLst/>
              <a:cxnLst/>
              <a:rect l="0" t="0" r="0" b="0"/>
              <a:pathLst>
                <a:path w="784225" h="2217801">
                  <a:moveTo>
                    <a:pt x="51130" y="0"/>
                  </a:moveTo>
                  <a:lnTo>
                    <a:pt x="733108" y="0"/>
                  </a:lnTo>
                  <a:cubicBezTo>
                    <a:pt x="761340" y="0"/>
                    <a:pt x="784225" y="22860"/>
                    <a:pt x="784225" y="51181"/>
                  </a:cubicBezTo>
                  <a:lnTo>
                    <a:pt x="784225" y="2166620"/>
                  </a:lnTo>
                  <a:cubicBezTo>
                    <a:pt x="784225" y="2194814"/>
                    <a:pt x="761340" y="2217674"/>
                    <a:pt x="733108" y="2217674"/>
                  </a:cubicBezTo>
                  <a:lnTo>
                    <a:pt x="733108" y="2217801"/>
                  </a:lnTo>
                  <a:lnTo>
                    <a:pt x="51130" y="2217801"/>
                  </a:lnTo>
                  <a:lnTo>
                    <a:pt x="51130" y="2217674"/>
                  </a:lnTo>
                  <a:cubicBezTo>
                    <a:pt x="22885" y="2217674"/>
                    <a:pt x="0" y="2194814"/>
                    <a:pt x="0" y="2166620"/>
                  </a:cubicBezTo>
                  <a:lnTo>
                    <a:pt x="0" y="51181"/>
                  </a:lnTo>
                  <a:cubicBezTo>
                    <a:pt x="0" y="22860"/>
                    <a:pt x="22885" y="0"/>
                    <a:pt x="51130" y="0"/>
                  </a:cubicBezTo>
                  <a:close/>
                </a:path>
              </a:pathLst>
            </a:custGeom>
            <a:ln w="0" cap="flat">
              <a:round/>
            </a:ln>
          </p:spPr>
          <p:style>
            <a:lnRef idx="0">
              <a:srgbClr val="000000">
                <a:alpha val="0"/>
              </a:srgbClr>
            </a:lnRef>
            <a:fillRef idx="1">
              <a:srgbClr val="009900"/>
            </a:fillRef>
            <a:effectRef idx="0">
              <a:scrgbClr r="0" g="0" b="0"/>
            </a:effectRef>
            <a:fontRef idx="none"/>
          </p:style>
          <p:txBody>
            <a:bodyPr/>
            <a:lstStyle/>
            <a:p>
              <a:endParaRPr lang="ru-RU" sz="1050"/>
            </a:p>
          </p:txBody>
        </p:sp>
        <p:sp>
          <p:nvSpPr>
            <p:cNvPr id="13" name="Shape 1139">
              <a:extLst>
                <a:ext uri="{FF2B5EF4-FFF2-40B4-BE49-F238E27FC236}">
                  <a16:creationId xmlns:a16="http://schemas.microsoft.com/office/drawing/2014/main" id="{3804BE64-A485-4056-AE89-999A4425D00F}"/>
                </a:ext>
              </a:extLst>
            </p:cNvPr>
            <p:cNvSpPr/>
            <p:nvPr/>
          </p:nvSpPr>
          <p:spPr>
            <a:xfrm>
              <a:off x="71438" y="230124"/>
              <a:ext cx="784225" cy="2217801"/>
            </a:xfrm>
            <a:custGeom>
              <a:avLst/>
              <a:gdLst/>
              <a:ahLst/>
              <a:cxnLst/>
              <a:rect l="0" t="0" r="0" b="0"/>
              <a:pathLst>
                <a:path w="784225" h="2217801">
                  <a:moveTo>
                    <a:pt x="0" y="51181"/>
                  </a:moveTo>
                  <a:cubicBezTo>
                    <a:pt x="0" y="22860"/>
                    <a:pt x="22885" y="0"/>
                    <a:pt x="51130" y="0"/>
                  </a:cubicBezTo>
                  <a:cubicBezTo>
                    <a:pt x="51130" y="0"/>
                    <a:pt x="51130" y="0"/>
                    <a:pt x="51130" y="0"/>
                  </a:cubicBezTo>
                  <a:lnTo>
                    <a:pt x="51130" y="0"/>
                  </a:lnTo>
                  <a:lnTo>
                    <a:pt x="733108" y="0"/>
                  </a:lnTo>
                  <a:lnTo>
                    <a:pt x="733108" y="0"/>
                  </a:lnTo>
                  <a:cubicBezTo>
                    <a:pt x="761340" y="0"/>
                    <a:pt x="784225" y="22860"/>
                    <a:pt x="784225" y="51181"/>
                  </a:cubicBezTo>
                  <a:cubicBezTo>
                    <a:pt x="784225" y="51181"/>
                    <a:pt x="784225" y="51181"/>
                    <a:pt x="784225" y="51181"/>
                  </a:cubicBezTo>
                  <a:lnTo>
                    <a:pt x="784225" y="51181"/>
                  </a:lnTo>
                  <a:lnTo>
                    <a:pt x="784225" y="2166620"/>
                  </a:lnTo>
                  <a:lnTo>
                    <a:pt x="784225" y="2166620"/>
                  </a:lnTo>
                  <a:cubicBezTo>
                    <a:pt x="784225" y="2194814"/>
                    <a:pt x="761340" y="2217674"/>
                    <a:pt x="733108" y="2217674"/>
                  </a:cubicBezTo>
                  <a:cubicBezTo>
                    <a:pt x="733108" y="2217674"/>
                    <a:pt x="733108" y="2217674"/>
                    <a:pt x="733108" y="2217674"/>
                  </a:cubicBezTo>
                  <a:lnTo>
                    <a:pt x="733108" y="2217801"/>
                  </a:lnTo>
                  <a:lnTo>
                    <a:pt x="51130" y="2217801"/>
                  </a:lnTo>
                  <a:lnTo>
                    <a:pt x="51130" y="2217674"/>
                  </a:lnTo>
                  <a:cubicBezTo>
                    <a:pt x="22885" y="2217674"/>
                    <a:pt x="0" y="2194814"/>
                    <a:pt x="0" y="2166620"/>
                  </a:cubicBezTo>
                  <a:cubicBezTo>
                    <a:pt x="0" y="2166620"/>
                    <a:pt x="0" y="2166620"/>
                    <a:pt x="0" y="2166620"/>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14" name="Rectangle 1140">
              <a:extLst>
                <a:ext uri="{FF2B5EF4-FFF2-40B4-BE49-F238E27FC236}">
                  <a16:creationId xmlns:a16="http://schemas.microsoft.com/office/drawing/2014/main" id="{D68E1FC6-E479-4AF1-A931-EDD058C7F9BC}"/>
                </a:ext>
              </a:extLst>
            </p:cNvPr>
            <p:cNvSpPr/>
            <p:nvPr/>
          </p:nvSpPr>
          <p:spPr>
            <a:xfrm>
              <a:off x="201320" y="2092559"/>
              <a:ext cx="694423" cy="395091"/>
            </a:xfrm>
            <a:prstGeom prst="rect">
              <a:avLst/>
            </a:prstGeom>
            <a:ln>
              <a:noFill/>
            </a:ln>
          </p:spPr>
          <p:txBody>
            <a:bodyPr vert="horz" lIns="0" tIns="0" rIns="0" bIns="0" rtlCol="0">
              <a:noAutofit/>
            </a:bodyPr>
            <a:lstStyle/>
            <a:p>
              <a:pPr>
                <a:lnSpc>
                  <a:spcPct val="107000"/>
                </a:lnSpc>
                <a:spcAft>
                  <a:spcPts val="600"/>
                </a:spcAft>
              </a:pPr>
              <a:r>
                <a:rPr lang="ru-RU" sz="1800" b="1">
                  <a:latin typeface="Verdana" panose="020B0604030504040204" pitchFamily="34" charset="0"/>
                  <a:ea typeface="Verdana" panose="020B0604030504040204" pitchFamily="34" charset="0"/>
                  <a:cs typeface="Verdana" panose="020B0604030504040204" pitchFamily="34" charset="0"/>
                </a:rPr>
                <a:t>VM</a:t>
              </a:r>
              <a:endParaRPr lang="ru-RU" sz="825">
                <a:latin typeface="Calibri" panose="020F0502020204030204" pitchFamily="34" charset="0"/>
                <a:ea typeface="Calibri" panose="020F0502020204030204" pitchFamily="34" charset="0"/>
              </a:endParaRPr>
            </a:p>
          </p:txBody>
        </p:sp>
        <p:sp>
          <p:nvSpPr>
            <p:cNvPr id="15" name="Shape 1141">
              <a:extLst>
                <a:ext uri="{FF2B5EF4-FFF2-40B4-BE49-F238E27FC236}">
                  <a16:creationId xmlns:a16="http://schemas.microsoft.com/office/drawing/2014/main" id="{25B7CCE9-7C60-4ED7-BA14-49EE04AB70B7}"/>
                </a:ext>
              </a:extLst>
            </p:cNvPr>
            <p:cNvSpPr/>
            <p:nvPr/>
          </p:nvSpPr>
          <p:spPr>
            <a:xfrm>
              <a:off x="136525" y="287274"/>
              <a:ext cx="644525" cy="1628775"/>
            </a:xfrm>
            <a:custGeom>
              <a:avLst/>
              <a:gdLst/>
              <a:ahLst/>
              <a:cxnLst/>
              <a:rect l="0" t="0" r="0" b="0"/>
              <a:pathLst>
                <a:path w="644525" h="1628775">
                  <a:moveTo>
                    <a:pt x="87427" y="0"/>
                  </a:moveTo>
                  <a:lnTo>
                    <a:pt x="557098" y="0"/>
                  </a:lnTo>
                  <a:cubicBezTo>
                    <a:pt x="605384" y="0"/>
                    <a:pt x="644525" y="39116"/>
                    <a:pt x="644525" y="87376"/>
                  </a:cubicBezTo>
                  <a:lnTo>
                    <a:pt x="644525" y="1541399"/>
                  </a:lnTo>
                  <a:cubicBezTo>
                    <a:pt x="644525" y="1589659"/>
                    <a:pt x="605384" y="1628775"/>
                    <a:pt x="557098" y="1628775"/>
                  </a:cubicBezTo>
                  <a:lnTo>
                    <a:pt x="87427" y="1628775"/>
                  </a:lnTo>
                  <a:cubicBezTo>
                    <a:pt x="39141" y="1628775"/>
                    <a:pt x="0" y="1589659"/>
                    <a:pt x="0" y="1541399"/>
                  </a:cubicBezTo>
                  <a:lnTo>
                    <a:pt x="0" y="87376"/>
                  </a:lnTo>
                  <a:cubicBezTo>
                    <a:pt x="0" y="39116"/>
                    <a:pt x="39141" y="0"/>
                    <a:pt x="87427" y="0"/>
                  </a:cubicBezTo>
                  <a:close/>
                </a:path>
              </a:pathLst>
            </a:custGeom>
            <a:ln w="0" cap="flat">
              <a:round/>
            </a:ln>
          </p:spPr>
          <p:style>
            <a:lnRef idx="0">
              <a:srgbClr val="000000">
                <a:alpha val="0"/>
              </a:srgbClr>
            </a:lnRef>
            <a:fillRef idx="1">
              <a:srgbClr val="6699FF"/>
            </a:fillRef>
            <a:effectRef idx="0">
              <a:scrgbClr r="0" g="0" b="0"/>
            </a:effectRef>
            <a:fontRef idx="none"/>
          </p:style>
          <p:txBody>
            <a:bodyPr/>
            <a:lstStyle/>
            <a:p>
              <a:endParaRPr lang="ru-RU" sz="1050"/>
            </a:p>
          </p:txBody>
        </p:sp>
        <p:sp>
          <p:nvSpPr>
            <p:cNvPr id="16" name="Shape 1142">
              <a:extLst>
                <a:ext uri="{FF2B5EF4-FFF2-40B4-BE49-F238E27FC236}">
                  <a16:creationId xmlns:a16="http://schemas.microsoft.com/office/drawing/2014/main" id="{99D7A3DC-7041-4DAE-BC1E-83E2DB7D038B}"/>
                </a:ext>
              </a:extLst>
            </p:cNvPr>
            <p:cNvSpPr/>
            <p:nvPr/>
          </p:nvSpPr>
          <p:spPr>
            <a:xfrm>
              <a:off x="136525" y="287274"/>
              <a:ext cx="644525" cy="1628775"/>
            </a:xfrm>
            <a:custGeom>
              <a:avLst/>
              <a:gdLst/>
              <a:ahLst/>
              <a:cxnLst/>
              <a:rect l="0" t="0" r="0" b="0"/>
              <a:pathLst>
                <a:path w="644525" h="1628775">
                  <a:moveTo>
                    <a:pt x="87427" y="1628775"/>
                  </a:moveTo>
                  <a:cubicBezTo>
                    <a:pt x="39141" y="1628775"/>
                    <a:pt x="0" y="1589659"/>
                    <a:pt x="0" y="1541399"/>
                  </a:cubicBezTo>
                  <a:cubicBezTo>
                    <a:pt x="0" y="1541399"/>
                    <a:pt x="0" y="1541399"/>
                    <a:pt x="0" y="1541399"/>
                  </a:cubicBezTo>
                  <a:lnTo>
                    <a:pt x="0" y="1541399"/>
                  </a:lnTo>
                  <a:lnTo>
                    <a:pt x="0" y="87376"/>
                  </a:lnTo>
                  <a:lnTo>
                    <a:pt x="0" y="87376"/>
                  </a:lnTo>
                  <a:cubicBezTo>
                    <a:pt x="0" y="39116"/>
                    <a:pt x="39141" y="0"/>
                    <a:pt x="87427" y="0"/>
                  </a:cubicBezTo>
                  <a:cubicBezTo>
                    <a:pt x="87427" y="0"/>
                    <a:pt x="87427" y="0"/>
                    <a:pt x="87427" y="0"/>
                  </a:cubicBezTo>
                  <a:lnTo>
                    <a:pt x="87427" y="0"/>
                  </a:lnTo>
                  <a:lnTo>
                    <a:pt x="557098" y="0"/>
                  </a:lnTo>
                  <a:lnTo>
                    <a:pt x="557098" y="0"/>
                  </a:lnTo>
                  <a:cubicBezTo>
                    <a:pt x="605384" y="0"/>
                    <a:pt x="644525" y="39116"/>
                    <a:pt x="644525" y="87376"/>
                  </a:cubicBezTo>
                  <a:cubicBezTo>
                    <a:pt x="644525" y="87376"/>
                    <a:pt x="644525" y="87376"/>
                    <a:pt x="644525" y="87376"/>
                  </a:cubicBezTo>
                  <a:lnTo>
                    <a:pt x="644525" y="87376"/>
                  </a:lnTo>
                  <a:lnTo>
                    <a:pt x="644525" y="1541399"/>
                  </a:lnTo>
                  <a:lnTo>
                    <a:pt x="644525" y="1541399"/>
                  </a:lnTo>
                  <a:cubicBezTo>
                    <a:pt x="644525" y="1589659"/>
                    <a:pt x="605384" y="1628775"/>
                    <a:pt x="557098" y="1628775"/>
                  </a:cubicBezTo>
                  <a:cubicBezTo>
                    <a:pt x="557098" y="1628775"/>
                    <a:pt x="557098" y="1628775"/>
                    <a:pt x="557098" y="1628775"/>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17" name="Rectangle 1143">
              <a:extLst>
                <a:ext uri="{FF2B5EF4-FFF2-40B4-BE49-F238E27FC236}">
                  <a16:creationId xmlns:a16="http://schemas.microsoft.com/office/drawing/2014/main" id="{D94633E1-6C78-4416-96EF-C1DC5B27BD75}"/>
                </a:ext>
              </a:extLst>
            </p:cNvPr>
            <p:cNvSpPr/>
            <p:nvPr/>
          </p:nvSpPr>
          <p:spPr>
            <a:xfrm rot="-5399999">
              <a:off x="-112765" y="740928"/>
              <a:ext cx="1313039" cy="395091"/>
            </a:xfrm>
            <a:prstGeom prst="rect">
              <a:avLst/>
            </a:prstGeom>
            <a:ln>
              <a:noFill/>
            </a:ln>
          </p:spPr>
          <p:txBody>
            <a:bodyPr vert="horz" lIns="0" tIns="0" rIns="0" bIns="0" rtlCol="0">
              <a:noAutofit/>
            </a:bodyPr>
            <a:lstStyle/>
            <a:p>
              <a:pPr>
                <a:lnSpc>
                  <a:spcPct val="107000"/>
                </a:lnSpc>
                <a:spcAft>
                  <a:spcPts val="600"/>
                </a:spcAft>
              </a:pPr>
              <a:r>
                <a:rPr lang="ru-RU" sz="1800" b="1">
                  <a:latin typeface="Verdana" panose="020B0604030504040204" pitchFamily="34" charset="0"/>
                  <a:ea typeface="Verdana" panose="020B0604030504040204" pitchFamily="34" charset="0"/>
                  <a:cs typeface="Verdana" panose="020B0604030504040204" pitchFamily="34" charset="0"/>
                </a:rPr>
                <a:t>Guest</a:t>
              </a:r>
              <a:endParaRPr lang="ru-RU" sz="825">
                <a:latin typeface="Calibri" panose="020F0502020204030204" pitchFamily="34" charset="0"/>
                <a:ea typeface="Calibri" panose="020F0502020204030204" pitchFamily="34" charset="0"/>
              </a:endParaRPr>
            </a:p>
          </p:txBody>
        </p:sp>
        <p:sp>
          <p:nvSpPr>
            <p:cNvPr id="18" name="Shape 1144">
              <a:extLst>
                <a:ext uri="{FF2B5EF4-FFF2-40B4-BE49-F238E27FC236}">
                  <a16:creationId xmlns:a16="http://schemas.microsoft.com/office/drawing/2014/main" id="{1B302ACC-015F-4536-947D-536D1F734C4B}"/>
                </a:ext>
              </a:extLst>
            </p:cNvPr>
            <p:cNvSpPr/>
            <p:nvPr/>
          </p:nvSpPr>
          <p:spPr>
            <a:xfrm>
              <a:off x="942975" y="231775"/>
              <a:ext cx="784225" cy="2217674"/>
            </a:xfrm>
            <a:custGeom>
              <a:avLst/>
              <a:gdLst/>
              <a:ahLst/>
              <a:cxnLst/>
              <a:rect l="0" t="0" r="0" b="0"/>
              <a:pathLst>
                <a:path w="784225" h="2217674">
                  <a:moveTo>
                    <a:pt x="51181" y="0"/>
                  </a:moveTo>
                  <a:lnTo>
                    <a:pt x="733044" y="0"/>
                  </a:lnTo>
                  <a:cubicBezTo>
                    <a:pt x="761365" y="0"/>
                    <a:pt x="784225" y="22860"/>
                    <a:pt x="784225" y="51054"/>
                  </a:cubicBezTo>
                  <a:lnTo>
                    <a:pt x="784225" y="2166493"/>
                  </a:lnTo>
                  <a:cubicBezTo>
                    <a:pt x="784225" y="2194814"/>
                    <a:pt x="761365" y="2217674"/>
                    <a:pt x="733044" y="2217674"/>
                  </a:cubicBezTo>
                  <a:lnTo>
                    <a:pt x="51181" y="2217674"/>
                  </a:lnTo>
                  <a:cubicBezTo>
                    <a:pt x="22860" y="2217674"/>
                    <a:pt x="0" y="2194814"/>
                    <a:pt x="0" y="2166493"/>
                  </a:cubicBezTo>
                  <a:lnTo>
                    <a:pt x="0" y="51054"/>
                  </a:lnTo>
                  <a:cubicBezTo>
                    <a:pt x="0" y="22860"/>
                    <a:pt x="22860" y="0"/>
                    <a:pt x="51181" y="0"/>
                  </a:cubicBezTo>
                  <a:close/>
                </a:path>
              </a:pathLst>
            </a:custGeom>
            <a:ln w="0" cap="flat">
              <a:round/>
            </a:ln>
          </p:spPr>
          <p:style>
            <a:lnRef idx="0">
              <a:srgbClr val="000000">
                <a:alpha val="0"/>
              </a:srgbClr>
            </a:lnRef>
            <a:fillRef idx="1">
              <a:srgbClr val="66FF33"/>
            </a:fillRef>
            <a:effectRef idx="0">
              <a:scrgbClr r="0" g="0" b="0"/>
            </a:effectRef>
            <a:fontRef idx="none"/>
          </p:style>
          <p:txBody>
            <a:bodyPr/>
            <a:lstStyle/>
            <a:p>
              <a:endParaRPr lang="ru-RU" sz="1050"/>
            </a:p>
          </p:txBody>
        </p:sp>
        <p:sp>
          <p:nvSpPr>
            <p:cNvPr id="19" name="Shape 1145">
              <a:extLst>
                <a:ext uri="{FF2B5EF4-FFF2-40B4-BE49-F238E27FC236}">
                  <a16:creationId xmlns:a16="http://schemas.microsoft.com/office/drawing/2014/main" id="{85A8FB12-B337-48D6-B0F9-26AE4CBC3533}"/>
                </a:ext>
              </a:extLst>
            </p:cNvPr>
            <p:cNvSpPr/>
            <p:nvPr/>
          </p:nvSpPr>
          <p:spPr>
            <a:xfrm>
              <a:off x="942975" y="231775"/>
              <a:ext cx="784225" cy="2217674"/>
            </a:xfrm>
            <a:custGeom>
              <a:avLst/>
              <a:gdLst/>
              <a:ahLst/>
              <a:cxnLst/>
              <a:rect l="0" t="0" r="0" b="0"/>
              <a:pathLst>
                <a:path w="784225" h="2217674">
                  <a:moveTo>
                    <a:pt x="0" y="51054"/>
                  </a:moveTo>
                  <a:cubicBezTo>
                    <a:pt x="0" y="22860"/>
                    <a:pt x="22860" y="0"/>
                    <a:pt x="51181" y="0"/>
                  </a:cubicBezTo>
                  <a:cubicBezTo>
                    <a:pt x="51181" y="0"/>
                    <a:pt x="51181" y="0"/>
                    <a:pt x="51181" y="0"/>
                  </a:cubicBezTo>
                  <a:lnTo>
                    <a:pt x="51181" y="0"/>
                  </a:lnTo>
                  <a:lnTo>
                    <a:pt x="733044" y="0"/>
                  </a:lnTo>
                  <a:lnTo>
                    <a:pt x="733044" y="0"/>
                  </a:lnTo>
                  <a:cubicBezTo>
                    <a:pt x="761365" y="0"/>
                    <a:pt x="784225" y="22860"/>
                    <a:pt x="784225" y="51054"/>
                  </a:cubicBezTo>
                  <a:cubicBezTo>
                    <a:pt x="784225" y="51054"/>
                    <a:pt x="784225" y="51054"/>
                    <a:pt x="784225" y="51054"/>
                  </a:cubicBezTo>
                  <a:lnTo>
                    <a:pt x="784225" y="51054"/>
                  </a:lnTo>
                  <a:lnTo>
                    <a:pt x="784225" y="2166493"/>
                  </a:lnTo>
                  <a:lnTo>
                    <a:pt x="784225" y="2166493"/>
                  </a:lnTo>
                  <a:cubicBezTo>
                    <a:pt x="784225" y="2194814"/>
                    <a:pt x="761365" y="2217674"/>
                    <a:pt x="733044" y="2217674"/>
                  </a:cubicBezTo>
                  <a:cubicBezTo>
                    <a:pt x="733044" y="2217674"/>
                    <a:pt x="733044" y="2217674"/>
                    <a:pt x="733044" y="2217674"/>
                  </a:cubicBezTo>
                  <a:lnTo>
                    <a:pt x="733044" y="2217674"/>
                  </a:lnTo>
                  <a:lnTo>
                    <a:pt x="51181" y="2217674"/>
                  </a:lnTo>
                  <a:lnTo>
                    <a:pt x="51181" y="2217674"/>
                  </a:lnTo>
                  <a:cubicBezTo>
                    <a:pt x="22860" y="2217674"/>
                    <a:pt x="0" y="2194814"/>
                    <a:pt x="0" y="2166493"/>
                  </a:cubicBezTo>
                  <a:cubicBezTo>
                    <a:pt x="0" y="2166493"/>
                    <a:pt x="0" y="2166493"/>
                    <a:pt x="0" y="2166493"/>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20" name="Rectangle 1146">
              <a:extLst>
                <a:ext uri="{FF2B5EF4-FFF2-40B4-BE49-F238E27FC236}">
                  <a16:creationId xmlns:a16="http://schemas.microsoft.com/office/drawing/2014/main" id="{0A2E1367-F82E-4846-AB6F-9E1E858D9709}"/>
                </a:ext>
              </a:extLst>
            </p:cNvPr>
            <p:cNvSpPr/>
            <p:nvPr/>
          </p:nvSpPr>
          <p:spPr>
            <a:xfrm>
              <a:off x="1073023" y="2094083"/>
              <a:ext cx="694423" cy="395091"/>
            </a:xfrm>
            <a:prstGeom prst="rect">
              <a:avLst/>
            </a:prstGeom>
            <a:ln>
              <a:noFill/>
            </a:ln>
          </p:spPr>
          <p:txBody>
            <a:bodyPr vert="horz" lIns="0" tIns="0" rIns="0" bIns="0" rtlCol="0">
              <a:noAutofit/>
            </a:bodyPr>
            <a:lstStyle/>
            <a:p>
              <a:pPr>
                <a:lnSpc>
                  <a:spcPct val="107000"/>
                </a:lnSpc>
                <a:spcAft>
                  <a:spcPts val="600"/>
                </a:spcAft>
              </a:pPr>
              <a:r>
                <a:rPr lang="ru-RU" sz="1800" b="1">
                  <a:latin typeface="Verdana" panose="020B0604030504040204" pitchFamily="34" charset="0"/>
                  <a:ea typeface="Verdana" panose="020B0604030504040204" pitchFamily="34" charset="0"/>
                  <a:cs typeface="Verdana" panose="020B0604030504040204" pitchFamily="34" charset="0"/>
                </a:rPr>
                <a:t>VM</a:t>
              </a:r>
              <a:endParaRPr lang="ru-RU" sz="825">
                <a:latin typeface="Calibri" panose="020F0502020204030204" pitchFamily="34" charset="0"/>
                <a:ea typeface="Calibri" panose="020F0502020204030204" pitchFamily="34" charset="0"/>
              </a:endParaRPr>
            </a:p>
          </p:txBody>
        </p:sp>
        <p:sp>
          <p:nvSpPr>
            <p:cNvPr id="21" name="Shape 1147">
              <a:extLst>
                <a:ext uri="{FF2B5EF4-FFF2-40B4-BE49-F238E27FC236}">
                  <a16:creationId xmlns:a16="http://schemas.microsoft.com/office/drawing/2014/main" id="{0C20B5B0-08E1-48C5-A08C-8FE3186C3170}"/>
                </a:ext>
              </a:extLst>
            </p:cNvPr>
            <p:cNvSpPr/>
            <p:nvPr/>
          </p:nvSpPr>
          <p:spPr>
            <a:xfrm>
              <a:off x="1008126" y="288925"/>
              <a:ext cx="644525" cy="1628775"/>
            </a:xfrm>
            <a:custGeom>
              <a:avLst/>
              <a:gdLst/>
              <a:ahLst/>
              <a:cxnLst/>
              <a:rect l="0" t="0" r="0" b="0"/>
              <a:pathLst>
                <a:path w="644525" h="1628775">
                  <a:moveTo>
                    <a:pt x="87376" y="0"/>
                  </a:moveTo>
                  <a:lnTo>
                    <a:pt x="557022" y="0"/>
                  </a:lnTo>
                  <a:cubicBezTo>
                    <a:pt x="605282" y="0"/>
                    <a:pt x="644525" y="39116"/>
                    <a:pt x="644525" y="87376"/>
                  </a:cubicBezTo>
                  <a:lnTo>
                    <a:pt x="644525" y="1541272"/>
                  </a:lnTo>
                  <a:cubicBezTo>
                    <a:pt x="644525" y="1589532"/>
                    <a:pt x="605282" y="1628775"/>
                    <a:pt x="557022" y="1628775"/>
                  </a:cubicBezTo>
                  <a:lnTo>
                    <a:pt x="87376" y="1628775"/>
                  </a:lnTo>
                  <a:cubicBezTo>
                    <a:pt x="39116" y="1628775"/>
                    <a:pt x="0" y="1589532"/>
                    <a:pt x="0" y="1541272"/>
                  </a:cubicBezTo>
                  <a:lnTo>
                    <a:pt x="0" y="87376"/>
                  </a:lnTo>
                  <a:cubicBezTo>
                    <a:pt x="0" y="39116"/>
                    <a:pt x="39116" y="0"/>
                    <a:pt x="87376" y="0"/>
                  </a:cubicBezTo>
                  <a:close/>
                </a:path>
              </a:pathLst>
            </a:custGeom>
            <a:ln w="0" cap="flat">
              <a:round/>
            </a:ln>
          </p:spPr>
          <p:style>
            <a:lnRef idx="0">
              <a:srgbClr val="000000">
                <a:alpha val="0"/>
              </a:srgbClr>
            </a:lnRef>
            <a:fillRef idx="1">
              <a:srgbClr val="99CCFF"/>
            </a:fillRef>
            <a:effectRef idx="0">
              <a:scrgbClr r="0" g="0" b="0"/>
            </a:effectRef>
            <a:fontRef idx="none"/>
          </p:style>
          <p:txBody>
            <a:bodyPr/>
            <a:lstStyle/>
            <a:p>
              <a:endParaRPr lang="ru-RU" sz="1050"/>
            </a:p>
          </p:txBody>
        </p:sp>
        <p:sp>
          <p:nvSpPr>
            <p:cNvPr id="22" name="Shape 1148">
              <a:extLst>
                <a:ext uri="{FF2B5EF4-FFF2-40B4-BE49-F238E27FC236}">
                  <a16:creationId xmlns:a16="http://schemas.microsoft.com/office/drawing/2014/main" id="{878C9B64-1E6C-438E-A08B-F3FEBEFF5482}"/>
                </a:ext>
              </a:extLst>
            </p:cNvPr>
            <p:cNvSpPr/>
            <p:nvPr/>
          </p:nvSpPr>
          <p:spPr>
            <a:xfrm>
              <a:off x="1008126" y="288925"/>
              <a:ext cx="644525" cy="1628775"/>
            </a:xfrm>
            <a:custGeom>
              <a:avLst/>
              <a:gdLst/>
              <a:ahLst/>
              <a:cxnLst/>
              <a:rect l="0" t="0" r="0" b="0"/>
              <a:pathLst>
                <a:path w="644525" h="1628775">
                  <a:moveTo>
                    <a:pt x="87376" y="1628775"/>
                  </a:moveTo>
                  <a:cubicBezTo>
                    <a:pt x="39116" y="1628775"/>
                    <a:pt x="0" y="1589532"/>
                    <a:pt x="0" y="1541272"/>
                  </a:cubicBezTo>
                  <a:cubicBezTo>
                    <a:pt x="0" y="1541272"/>
                    <a:pt x="0" y="1541272"/>
                    <a:pt x="0" y="1541272"/>
                  </a:cubicBezTo>
                  <a:lnTo>
                    <a:pt x="0" y="1541272"/>
                  </a:lnTo>
                  <a:lnTo>
                    <a:pt x="0" y="87376"/>
                  </a:lnTo>
                  <a:lnTo>
                    <a:pt x="0" y="87376"/>
                  </a:lnTo>
                  <a:cubicBezTo>
                    <a:pt x="0" y="39116"/>
                    <a:pt x="39116" y="0"/>
                    <a:pt x="87376" y="0"/>
                  </a:cubicBezTo>
                  <a:cubicBezTo>
                    <a:pt x="87376" y="0"/>
                    <a:pt x="87376" y="0"/>
                    <a:pt x="87376" y="0"/>
                  </a:cubicBezTo>
                  <a:lnTo>
                    <a:pt x="87376" y="0"/>
                  </a:lnTo>
                  <a:lnTo>
                    <a:pt x="557022" y="0"/>
                  </a:lnTo>
                  <a:lnTo>
                    <a:pt x="557022" y="0"/>
                  </a:lnTo>
                  <a:cubicBezTo>
                    <a:pt x="605282" y="0"/>
                    <a:pt x="644525" y="39116"/>
                    <a:pt x="644525" y="87376"/>
                  </a:cubicBezTo>
                  <a:cubicBezTo>
                    <a:pt x="644525" y="87376"/>
                    <a:pt x="644525" y="87376"/>
                    <a:pt x="644525" y="87376"/>
                  </a:cubicBezTo>
                  <a:lnTo>
                    <a:pt x="644525" y="87376"/>
                  </a:lnTo>
                  <a:lnTo>
                    <a:pt x="644525" y="1541272"/>
                  </a:lnTo>
                  <a:lnTo>
                    <a:pt x="644525" y="1541272"/>
                  </a:lnTo>
                  <a:cubicBezTo>
                    <a:pt x="644525" y="1589532"/>
                    <a:pt x="605282" y="1628775"/>
                    <a:pt x="557022" y="1628775"/>
                  </a:cubicBezTo>
                  <a:cubicBezTo>
                    <a:pt x="557022" y="1628775"/>
                    <a:pt x="557022" y="1628775"/>
                    <a:pt x="557022" y="1628775"/>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23" name="Rectangle 1149">
              <a:extLst>
                <a:ext uri="{FF2B5EF4-FFF2-40B4-BE49-F238E27FC236}">
                  <a16:creationId xmlns:a16="http://schemas.microsoft.com/office/drawing/2014/main" id="{B01A2C1A-5C57-4B5C-B265-CDBC93CA47F7}"/>
                </a:ext>
              </a:extLst>
            </p:cNvPr>
            <p:cNvSpPr/>
            <p:nvPr/>
          </p:nvSpPr>
          <p:spPr>
            <a:xfrm rot="-5399999">
              <a:off x="580973" y="752322"/>
              <a:ext cx="1668966" cy="395092"/>
            </a:xfrm>
            <a:prstGeom prst="rect">
              <a:avLst/>
            </a:prstGeom>
            <a:ln>
              <a:noFill/>
            </a:ln>
          </p:spPr>
          <p:txBody>
            <a:bodyPr vert="horz" lIns="0" tIns="0" rIns="0" bIns="0" rtlCol="0">
              <a:noAutofit/>
            </a:bodyPr>
            <a:lstStyle/>
            <a:p>
              <a:pPr>
                <a:lnSpc>
                  <a:spcPct val="107000"/>
                </a:lnSpc>
                <a:spcAft>
                  <a:spcPts val="600"/>
                </a:spcAft>
              </a:pPr>
              <a:r>
                <a:rPr lang="ru-RU" sz="1800" b="1">
                  <a:solidFill>
                    <a:srgbClr val="FFFFFF"/>
                  </a:solidFill>
                  <a:latin typeface="Verdana" panose="020B0604030504040204" pitchFamily="34" charset="0"/>
                  <a:ea typeface="Verdana" panose="020B0604030504040204" pitchFamily="34" charset="0"/>
                  <a:cs typeface="Verdana" panose="020B0604030504040204" pitchFamily="34" charset="0"/>
                </a:rPr>
                <a:t>Service</a:t>
              </a:r>
              <a:endParaRPr lang="ru-RU" sz="825">
                <a:latin typeface="Calibri" panose="020F0502020204030204" pitchFamily="34" charset="0"/>
                <a:ea typeface="Calibri" panose="020F0502020204030204" pitchFamily="34" charset="0"/>
              </a:endParaRPr>
            </a:p>
          </p:txBody>
        </p:sp>
      </p:grpSp>
    </p:spTree>
    <p:extLst>
      <p:ext uri="{BB962C8B-B14F-4D97-AF65-F5344CB8AC3E}">
        <p14:creationId xmlns:p14="http://schemas.microsoft.com/office/powerpoint/2010/main" val="34417775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BEAD72-5082-44AE-BC4E-AEC4D65C0291}"/>
              </a:ext>
            </a:extLst>
          </p:cNvPr>
          <p:cNvSpPr>
            <a:spLocks noGrp="1"/>
          </p:cNvSpPr>
          <p:nvPr>
            <p:ph type="title"/>
          </p:nvPr>
        </p:nvSpPr>
        <p:spPr/>
        <p:txBody>
          <a:bodyPr/>
          <a:lstStyle/>
          <a:p>
            <a:r>
              <a:rPr lang="ru-RU" dirty="0"/>
              <a:t>Специфика </a:t>
            </a:r>
            <a:r>
              <a:rPr lang="en-US" dirty="0"/>
              <a:t>Containers</a:t>
            </a:r>
            <a:endParaRPr lang="ru-RU" dirty="0"/>
          </a:p>
        </p:txBody>
      </p:sp>
      <p:sp>
        <p:nvSpPr>
          <p:cNvPr id="3" name="Объект 2">
            <a:extLst>
              <a:ext uri="{FF2B5EF4-FFF2-40B4-BE49-F238E27FC236}">
                <a16:creationId xmlns:a16="http://schemas.microsoft.com/office/drawing/2014/main" id="{EE65692A-58FF-485D-AD88-2E7DCD525B8D}"/>
              </a:ext>
            </a:extLst>
          </p:cNvPr>
          <p:cNvSpPr>
            <a:spLocks noGrp="1"/>
          </p:cNvSpPr>
          <p:nvPr>
            <p:ph idx="1"/>
          </p:nvPr>
        </p:nvSpPr>
        <p:spPr>
          <a:xfrm>
            <a:off x="628651" y="1369219"/>
            <a:ext cx="5675168" cy="3263504"/>
          </a:xfrm>
        </p:spPr>
        <p:txBody>
          <a:bodyPr/>
          <a:lstStyle/>
          <a:p>
            <a:pPr marL="0" indent="0" eaLnBrk="0" fontAlgn="base" hangingPunct="0">
              <a:spcBef>
                <a:spcPct val="0"/>
              </a:spcBef>
              <a:spcAft>
                <a:spcPct val="0"/>
              </a:spcAft>
              <a:buNone/>
            </a:pPr>
            <a:r>
              <a:rPr lang="ru-RU" altLang="ru-RU" sz="1500" b="1" dirty="0">
                <a:solidFill>
                  <a:srgbClr val="000000"/>
                </a:solidFill>
                <a:latin typeface="Arial" panose="020B0604020202020204" pitchFamily="34" charset="0"/>
                <a:ea typeface="Arial" panose="020B0604020202020204" pitchFamily="34" charset="0"/>
              </a:rPr>
              <a:t>Характеристики:</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C-VMM работает в базовой ОС</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VM – копия базовой ОС (часть процессов) с собственной файловой ОС</a:t>
            </a:r>
            <a:endParaRPr lang="ru-RU" altLang="ru-RU" sz="6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ru-RU" altLang="ru-RU" sz="1500" b="1" dirty="0">
                <a:solidFill>
                  <a:srgbClr val="000000"/>
                </a:solidFill>
                <a:latin typeface="Arial" panose="020B0604020202020204" pitchFamily="34" charset="0"/>
                <a:ea typeface="Arial" panose="020B0604020202020204" pitchFamily="34" charset="0"/>
              </a:rPr>
              <a:t>Преимущества:</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Нет виртуализации большинства устройств</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Малый расход памяти на VM</a:t>
            </a:r>
            <a:endParaRPr lang="ru-RU" altLang="ru-RU" sz="6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ru-RU" altLang="ru-RU" sz="1500" b="1" dirty="0">
                <a:solidFill>
                  <a:srgbClr val="000000"/>
                </a:solidFill>
                <a:latin typeface="Arial" panose="020B0604020202020204" pitchFamily="34" charset="0"/>
                <a:ea typeface="Arial" panose="020B0604020202020204" pitchFamily="34" charset="0"/>
              </a:rPr>
              <a:t>Ограничения:</a:t>
            </a:r>
            <a:endParaRPr lang="ru-RU" altLang="ru-RU" sz="600" dirty="0">
              <a:solidFill>
                <a:schemeClr val="tx1"/>
              </a:solidFill>
              <a:latin typeface="Arial" panose="020B0604020202020204" pitchFamily="34" charset="0"/>
            </a:endParaRPr>
          </a:p>
          <a:p>
            <a:pPr marL="342900" lvl="1" indent="0" eaLnBrk="0" fontAlgn="base" hangingPunct="0">
              <a:spcBef>
                <a:spcPct val="0"/>
              </a:spcBef>
              <a:spcAft>
                <a:spcPct val="0"/>
              </a:spcAft>
              <a:buClr>
                <a:srgbClr val="000000"/>
              </a:buClr>
              <a:buSzPct val="100000"/>
              <a:buFontTx/>
              <a:buChar char="•"/>
            </a:pPr>
            <a:r>
              <a:rPr lang="ru-RU" altLang="ru-RU" sz="1500" dirty="0">
                <a:solidFill>
                  <a:srgbClr val="000000"/>
                </a:solidFill>
                <a:latin typeface="Arial" panose="020B0604020202020204" pitchFamily="34" charset="0"/>
                <a:ea typeface="Arial" panose="020B0604020202020204" pitchFamily="34" charset="0"/>
              </a:rPr>
              <a:t>Все VM выполняют одну ОС</a:t>
            </a:r>
            <a:endParaRPr lang="ru-RU" altLang="ru-RU" sz="600" dirty="0">
              <a:solidFill>
                <a:schemeClr val="tx1"/>
              </a:solidFill>
              <a:latin typeface="Arial" panose="020B0604020202020204" pitchFamily="34" charset="0"/>
            </a:endParaRPr>
          </a:p>
          <a:p>
            <a:pPr marL="0" indent="0" eaLnBrk="0" fontAlgn="base" hangingPunct="0">
              <a:spcBef>
                <a:spcPct val="0"/>
              </a:spcBef>
              <a:spcAft>
                <a:spcPct val="0"/>
              </a:spcAft>
              <a:buFontTx/>
              <a:buChar char="•"/>
            </a:pPr>
            <a:r>
              <a:rPr lang="ru-RU" altLang="ru-RU" sz="1500" b="1" dirty="0">
                <a:solidFill>
                  <a:srgbClr val="000000"/>
                </a:solidFill>
                <a:latin typeface="Arial" panose="020B0604020202020204" pitchFamily="34" charset="0"/>
                <a:ea typeface="Arial" panose="020B0604020202020204" pitchFamily="34" charset="0"/>
              </a:rPr>
              <a:t>Продукты</a:t>
            </a:r>
            <a:r>
              <a:rPr lang="en-US" altLang="ru-RU" sz="1500" b="1" dirty="0">
                <a:solidFill>
                  <a:srgbClr val="000000"/>
                </a:solidFill>
                <a:latin typeface="Arial" panose="020B0604020202020204" pitchFamily="34" charset="0"/>
                <a:ea typeface="Arial" panose="020B0604020202020204" pitchFamily="34" charset="0"/>
              </a:rPr>
              <a:t>: </a:t>
            </a:r>
            <a:r>
              <a:rPr lang="en-US" altLang="ru-RU" sz="1500" dirty="0">
                <a:solidFill>
                  <a:srgbClr val="000000"/>
                </a:solidFill>
                <a:latin typeface="Arial" panose="020B0604020202020204" pitchFamily="34" charset="0"/>
                <a:ea typeface="Arial" panose="020B0604020202020204" pitchFamily="34" charset="0"/>
              </a:rPr>
              <a:t>Parallels </a:t>
            </a:r>
            <a:r>
              <a:rPr lang="en-US" altLang="ru-RU" sz="1500" dirty="0" err="1">
                <a:solidFill>
                  <a:srgbClr val="000000"/>
                </a:solidFill>
                <a:latin typeface="Arial" panose="020B0604020202020204" pitchFamily="34" charset="0"/>
                <a:ea typeface="Arial" panose="020B0604020202020204" pitchFamily="34" charset="0"/>
              </a:rPr>
              <a:t>Virtuozzo</a:t>
            </a:r>
            <a:r>
              <a:rPr lang="en-US" altLang="ru-RU" sz="1500" dirty="0">
                <a:solidFill>
                  <a:srgbClr val="000000"/>
                </a:solidFill>
                <a:latin typeface="Arial" panose="020B0604020202020204" pitchFamily="34" charset="0"/>
                <a:ea typeface="Arial" panose="020B0604020202020204" pitchFamily="34" charset="0"/>
              </a:rPr>
              <a:t>, Parallels </a:t>
            </a:r>
            <a:r>
              <a:rPr lang="en-US" altLang="ru-RU" sz="1500" dirty="0" err="1">
                <a:solidFill>
                  <a:srgbClr val="000000"/>
                </a:solidFill>
                <a:latin typeface="Arial" panose="020B0604020202020204" pitchFamily="34" charset="0"/>
                <a:ea typeface="Arial" panose="020B0604020202020204" pitchFamily="34" charset="0"/>
              </a:rPr>
              <a:t>OpenVZ</a:t>
            </a:r>
            <a:r>
              <a:rPr lang="en-US" altLang="ru-RU" sz="1500" dirty="0">
                <a:solidFill>
                  <a:srgbClr val="000000"/>
                </a:solidFill>
                <a:latin typeface="Arial" panose="020B0604020202020204" pitchFamily="34" charset="0"/>
                <a:ea typeface="Arial" panose="020B0604020202020204" pitchFamily="34" charset="0"/>
              </a:rPr>
              <a:t>, SUN Zones</a:t>
            </a:r>
            <a:endParaRPr lang="ru-RU" altLang="ru-RU" sz="1500" b="1" dirty="0">
              <a:solidFill>
                <a:srgbClr val="000000"/>
              </a:solidFill>
              <a:latin typeface="Arial" panose="020B0604020202020204" pitchFamily="34" charset="0"/>
              <a:ea typeface="Arial" panose="020B0604020202020204" pitchFamily="34" charset="0"/>
            </a:endParaRPr>
          </a:p>
          <a:p>
            <a:pPr marL="0" indent="0" eaLnBrk="0" fontAlgn="base" hangingPunct="0">
              <a:spcBef>
                <a:spcPct val="0"/>
              </a:spcBef>
              <a:spcAft>
                <a:spcPct val="0"/>
              </a:spcAft>
              <a:buNone/>
            </a:pPr>
            <a:r>
              <a:rPr lang="ru-RU" altLang="ru-RU" sz="1500" b="1" dirty="0">
                <a:solidFill>
                  <a:srgbClr val="000000"/>
                </a:solidFill>
                <a:latin typeface="Arial" panose="020B0604020202020204" pitchFamily="34" charset="0"/>
                <a:ea typeface="Arial" panose="020B0604020202020204" pitchFamily="34" charset="0"/>
              </a:rPr>
              <a:t>Применение: </a:t>
            </a:r>
            <a:r>
              <a:rPr lang="ru-RU" altLang="ru-RU" sz="1500" dirty="0">
                <a:solidFill>
                  <a:srgbClr val="000000"/>
                </a:solidFill>
                <a:latin typeface="Arial" panose="020B0604020202020204" pitchFamily="34" charset="0"/>
                <a:ea typeface="Arial" panose="020B0604020202020204" pitchFamily="34" charset="0"/>
              </a:rPr>
              <a:t>хостинг</a:t>
            </a:r>
            <a:r>
              <a:rPr lang="ru-RU" altLang="ru-RU" sz="600" dirty="0">
                <a:solidFill>
                  <a:schemeClr val="tx1"/>
                </a:solidFill>
                <a:latin typeface="Arial" panose="020B0604020202020204" pitchFamily="34" charset="0"/>
              </a:rPr>
              <a:t> </a:t>
            </a:r>
            <a:endParaRPr lang="ru-RU" altLang="ru-RU" sz="1350" dirty="0">
              <a:solidFill>
                <a:schemeClr val="tx1"/>
              </a:solidFill>
              <a:latin typeface="Arial" panose="020B0604020202020204" pitchFamily="34" charset="0"/>
            </a:endParaRPr>
          </a:p>
          <a:p>
            <a:endParaRPr lang="ru-RU" dirty="0"/>
          </a:p>
        </p:txBody>
      </p:sp>
      <p:sp>
        <p:nvSpPr>
          <p:cNvPr id="4" name="Rectangle 19">
            <a:extLst>
              <a:ext uri="{FF2B5EF4-FFF2-40B4-BE49-F238E27FC236}">
                <a16:creationId xmlns:a16="http://schemas.microsoft.com/office/drawing/2014/main" id="{D9E04D81-B1A5-44AB-88BB-DBA875F0CC65}"/>
              </a:ext>
            </a:extLst>
          </p:cNvPr>
          <p:cNvSpPr>
            <a:spLocks noChangeArrowheads="1"/>
          </p:cNvSpPr>
          <p:nvPr/>
        </p:nvSpPr>
        <p:spPr bwMode="auto">
          <a:xfrm>
            <a:off x="1" y="329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endParaRPr lang="ru-RU" altLang="ru-RU" sz="1350">
              <a:solidFill>
                <a:schemeClr val="tx1"/>
              </a:solidFill>
              <a:latin typeface="Arial" panose="020B0604020202020204" pitchFamily="34" charset="0"/>
            </a:endParaRPr>
          </a:p>
        </p:txBody>
      </p:sp>
      <p:grpSp>
        <p:nvGrpSpPr>
          <p:cNvPr id="5" name="Group 12489">
            <a:extLst>
              <a:ext uri="{FF2B5EF4-FFF2-40B4-BE49-F238E27FC236}">
                <a16:creationId xmlns:a16="http://schemas.microsoft.com/office/drawing/2014/main" id="{FC1130BF-DB5D-4794-94CD-D954F649325C}"/>
              </a:ext>
            </a:extLst>
          </p:cNvPr>
          <p:cNvGrpSpPr/>
          <p:nvPr/>
        </p:nvGrpSpPr>
        <p:grpSpPr>
          <a:xfrm>
            <a:off x="7213975" y="1311395"/>
            <a:ext cx="1353503" cy="3239453"/>
            <a:chOff x="0" y="0"/>
            <a:chExt cx="1804988" cy="4319524"/>
          </a:xfrm>
        </p:grpSpPr>
        <p:sp>
          <p:nvSpPr>
            <p:cNvPr id="6" name="Shape 1189">
              <a:extLst>
                <a:ext uri="{FF2B5EF4-FFF2-40B4-BE49-F238E27FC236}">
                  <a16:creationId xmlns:a16="http://schemas.microsoft.com/office/drawing/2014/main" id="{FCA922F5-E81F-4E33-A73F-735F6A0A909B}"/>
                </a:ext>
              </a:extLst>
            </p:cNvPr>
            <p:cNvSpPr/>
            <p:nvPr/>
          </p:nvSpPr>
          <p:spPr>
            <a:xfrm>
              <a:off x="0" y="3709924"/>
              <a:ext cx="1804988" cy="609600"/>
            </a:xfrm>
            <a:custGeom>
              <a:avLst/>
              <a:gdLst/>
              <a:ahLst/>
              <a:cxnLst/>
              <a:rect l="0" t="0" r="0" b="0"/>
              <a:pathLst>
                <a:path w="1804988" h="609600">
                  <a:moveTo>
                    <a:pt x="139700" y="0"/>
                  </a:moveTo>
                  <a:lnTo>
                    <a:pt x="1665288" y="0"/>
                  </a:lnTo>
                  <a:cubicBezTo>
                    <a:pt x="1742504" y="0"/>
                    <a:pt x="1804988" y="62484"/>
                    <a:pt x="1804988" y="139700"/>
                  </a:cubicBezTo>
                  <a:lnTo>
                    <a:pt x="1804988" y="469900"/>
                  </a:lnTo>
                  <a:cubicBezTo>
                    <a:pt x="1804988" y="547053"/>
                    <a:pt x="1742504" y="609600"/>
                    <a:pt x="1665288" y="609600"/>
                  </a:cubicBezTo>
                  <a:lnTo>
                    <a:pt x="139700" y="609600"/>
                  </a:lnTo>
                  <a:cubicBezTo>
                    <a:pt x="62547" y="609600"/>
                    <a:pt x="0" y="547053"/>
                    <a:pt x="0" y="469900"/>
                  </a:cubicBezTo>
                  <a:lnTo>
                    <a:pt x="0" y="139700"/>
                  </a:lnTo>
                  <a:cubicBezTo>
                    <a:pt x="0" y="62484"/>
                    <a:pt x="62547" y="0"/>
                    <a:pt x="139700" y="0"/>
                  </a:cubicBezTo>
                  <a:close/>
                </a:path>
              </a:pathLst>
            </a:custGeom>
            <a:ln w="0" cap="flat">
              <a:miter lim="127000"/>
            </a:ln>
          </p:spPr>
          <p:style>
            <a:lnRef idx="0">
              <a:srgbClr val="000000">
                <a:alpha val="0"/>
              </a:srgbClr>
            </a:lnRef>
            <a:fillRef idx="1">
              <a:srgbClr val="C0C0C0"/>
            </a:fillRef>
            <a:effectRef idx="0">
              <a:scrgbClr r="0" g="0" b="0"/>
            </a:effectRef>
            <a:fontRef idx="none"/>
          </p:style>
          <p:txBody>
            <a:bodyPr/>
            <a:lstStyle/>
            <a:p>
              <a:endParaRPr lang="ru-RU" sz="1050"/>
            </a:p>
          </p:txBody>
        </p:sp>
        <p:sp>
          <p:nvSpPr>
            <p:cNvPr id="7" name="Shape 1190">
              <a:extLst>
                <a:ext uri="{FF2B5EF4-FFF2-40B4-BE49-F238E27FC236}">
                  <a16:creationId xmlns:a16="http://schemas.microsoft.com/office/drawing/2014/main" id="{21FBF2E4-C8CD-4862-A64B-8745024B851C}"/>
                </a:ext>
              </a:extLst>
            </p:cNvPr>
            <p:cNvSpPr/>
            <p:nvPr/>
          </p:nvSpPr>
          <p:spPr>
            <a:xfrm>
              <a:off x="0" y="3709924"/>
              <a:ext cx="1804988" cy="609600"/>
            </a:xfrm>
            <a:custGeom>
              <a:avLst/>
              <a:gdLst/>
              <a:ahLst/>
              <a:cxnLst/>
              <a:rect l="0" t="0" r="0" b="0"/>
              <a:pathLst>
                <a:path w="1804988" h="609600">
                  <a:moveTo>
                    <a:pt x="0" y="139700"/>
                  </a:moveTo>
                  <a:cubicBezTo>
                    <a:pt x="0" y="62484"/>
                    <a:pt x="62547" y="0"/>
                    <a:pt x="139700" y="0"/>
                  </a:cubicBezTo>
                  <a:cubicBezTo>
                    <a:pt x="139700" y="0"/>
                    <a:pt x="139700" y="0"/>
                    <a:pt x="139700" y="0"/>
                  </a:cubicBezTo>
                  <a:lnTo>
                    <a:pt x="139700" y="0"/>
                  </a:lnTo>
                  <a:lnTo>
                    <a:pt x="1665288" y="0"/>
                  </a:lnTo>
                  <a:lnTo>
                    <a:pt x="1665288" y="0"/>
                  </a:lnTo>
                  <a:cubicBezTo>
                    <a:pt x="1742504" y="0"/>
                    <a:pt x="1804988" y="62484"/>
                    <a:pt x="1804988" y="139700"/>
                  </a:cubicBezTo>
                  <a:cubicBezTo>
                    <a:pt x="1804988" y="139700"/>
                    <a:pt x="1804988" y="139700"/>
                    <a:pt x="1804988" y="139700"/>
                  </a:cubicBezTo>
                  <a:lnTo>
                    <a:pt x="1804988" y="139700"/>
                  </a:lnTo>
                  <a:lnTo>
                    <a:pt x="1804988" y="469900"/>
                  </a:lnTo>
                  <a:lnTo>
                    <a:pt x="1804988" y="469900"/>
                  </a:lnTo>
                  <a:cubicBezTo>
                    <a:pt x="1804988" y="547053"/>
                    <a:pt x="1742504" y="609600"/>
                    <a:pt x="1665288" y="609600"/>
                  </a:cubicBezTo>
                  <a:cubicBezTo>
                    <a:pt x="1665288" y="609600"/>
                    <a:pt x="1665288" y="609600"/>
                    <a:pt x="1665288" y="609600"/>
                  </a:cubicBezTo>
                  <a:lnTo>
                    <a:pt x="1665288" y="609600"/>
                  </a:lnTo>
                  <a:lnTo>
                    <a:pt x="139700" y="609600"/>
                  </a:lnTo>
                  <a:lnTo>
                    <a:pt x="139700" y="609600"/>
                  </a:lnTo>
                  <a:cubicBezTo>
                    <a:pt x="62547" y="609600"/>
                    <a:pt x="0" y="547053"/>
                    <a:pt x="0" y="469900"/>
                  </a:cubicBezTo>
                  <a:cubicBezTo>
                    <a:pt x="0" y="469900"/>
                    <a:pt x="0" y="469900"/>
                    <a:pt x="0" y="469900"/>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8" name="Rectangle 1191">
              <a:extLst>
                <a:ext uri="{FF2B5EF4-FFF2-40B4-BE49-F238E27FC236}">
                  <a16:creationId xmlns:a16="http://schemas.microsoft.com/office/drawing/2014/main" id="{66C67D5E-8364-429E-9A37-A5DD8F3C7127}"/>
                </a:ext>
              </a:extLst>
            </p:cNvPr>
            <p:cNvSpPr/>
            <p:nvPr/>
          </p:nvSpPr>
          <p:spPr>
            <a:xfrm>
              <a:off x="602120" y="3903503"/>
              <a:ext cx="795769" cy="395091"/>
            </a:xfrm>
            <a:prstGeom prst="rect">
              <a:avLst/>
            </a:prstGeom>
            <a:ln>
              <a:noFill/>
            </a:ln>
          </p:spPr>
          <p:txBody>
            <a:bodyPr vert="horz" lIns="0" tIns="0" rIns="0" bIns="0" rtlCol="0">
              <a:noAutofit/>
            </a:bodyPr>
            <a:lstStyle/>
            <a:p>
              <a:pPr>
                <a:lnSpc>
                  <a:spcPct val="107000"/>
                </a:lnSpc>
                <a:spcAft>
                  <a:spcPts val="600"/>
                </a:spcAft>
              </a:pPr>
              <a:r>
                <a:rPr lang="ru-RU" sz="1800" b="1">
                  <a:solidFill>
                    <a:srgbClr val="FFFFFF"/>
                  </a:solidFill>
                  <a:latin typeface="Verdana" panose="020B0604030504040204" pitchFamily="34" charset="0"/>
                  <a:ea typeface="Verdana" panose="020B0604030504040204" pitchFamily="34" charset="0"/>
                  <a:cs typeface="Verdana" panose="020B0604030504040204" pitchFamily="34" charset="0"/>
                </a:rPr>
                <a:t>HW</a:t>
              </a:r>
              <a:endParaRPr lang="ru-RU" sz="825">
                <a:latin typeface="Calibri" panose="020F0502020204030204" pitchFamily="34" charset="0"/>
                <a:ea typeface="Calibri" panose="020F0502020204030204" pitchFamily="34" charset="0"/>
              </a:endParaRPr>
            </a:p>
          </p:txBody>
        </p:sp>
        <p:sp>
          <p:nvSpPr>
            <p:cNvPr id="9" name="Shape 1192">
              <a:extLst>
                <a:ext uri="{FF2B5EF4-FFF2-40B4-BE49-F238E27FC236}">
                  <a16:creationId xmlns:a16="http://schemas.microsoft.com/office/drawing/2014/main" id="{52E092E6-4EB3-47B2-8C7C-2EF20012FFF6}"/>
                </a:ext>
              </a:extLst>
            </p:cNvPr>
            <p:cNvSpPr/>
            <p:nvPr/>
          </p:nvSpPr>
          <p:spPr>
            <a:xfrm>
              <a:off x="4763" y="0"/>
              <a:ext cx="1800225" cy="3600323"/>
            </a:xfrm>
            <a:custGeom>
              <a:avLst/>
              <a:gdLst/>
              <a:ahLst/>
              <a:cxnLst/>
              <a:rect l="0" t="0" r="0" b="0"/>
              <a:pathLst>
                <a:path w="1800225" h="3600323">
                  <a:moveTo>
                    <a:pt x="71755" y="0"/>
                  </a:moveTo>
                  <a:lnTo>
                    <a:pt x="1728470" y="0"/>
                  </a:lnTo>
                  <a:cubicBezTo>
                    <a:pt x="1768094" y="0"/>
                    <a:pt x="1800225" y="32004"/>
                    <a:pt x="1800225" y="71755"/>
                  </a:cubicBezTo>
                  <a:lnTo>
                    <a:pt x="1800225" y="3528568"/>
                  </a:lnTo>
                  <a:cubicBezTo>
                    <a:pt x="1800225" y="3568319"/>
                    <a:pt x="1768094" y="3600323"/>
                    <a:pt x="1728470" y="3600323"/>
                  </a:cubicBezTo>
                  <a:lnTo>
                    <a:pt x="71755" y="3600323"/>
                  </a:lnTo>
                  <a:cubicBezTo>
                    <a:pt x="32131" y="3600323"/>
                    <a:pt x="0" y="3568319"/>
                    <a:pt x="0" y="3528568"/>
                  </a:cubicBezTo>
                  <a:lnTo>
                    <a:pt x="0" y="71755"/>
                  </a:lnTo>
                  <a:cubicBezTo>
                    <a:pt x="0" y="32004"/>
                    <a:pt x="32131" y="0"/>
                    <a:pt x="71755" y="0"/>
                  </a:cubicBezTo>
                  <a:close/>
                </a:path>
              </a:pathLst>
            </a:custGeom>
            <a:ln w="0" cap="flat">
              <a:round/>
            </a:ln>
          </p:spPr>
          <p:style>
            <a:lnRef idx="0">
              <a:srgbClr val="000000">
                <a:alpha val="0"/>
              </a:srgbClr>
            </a:lnRef>
            <a:fillRef idx="1">
              <a:srgbClr val="A6CAE1"/>
            </a:fillRef>
            <a:effectRef idx="0">
              <a:scrgbClr r="0" g="0" b="0"/>
            </a:effectRef>
            <a:fontRef idx="none"/>
          </p:style>
          <p:txBody>
            <a:bodyPr/>
            <a:lstStyle/>
            <a:p>
              <a:endParaRPr lang="ru-RU" sz="1050"/>
            </a:p>
          </p:txBody>
        </p:sp>
        <p:sp>
          <p:nvSpPr>
            <p:cNvPr id="10" name="Shape 1193">
              <a:extLst>
                <a:ext uri="{FF2B5EF4-FFF2-40B4-BE49-F238E27FC236}">
                  <a16:creationId xmlns:a16="http://schemas.microsoft.com/office/drawing/2014/main" id="{00D01EB4-8E96-4174-B1B7-D48F8332740E}"/>
                </a:ext>
              </a:extLst>
            </p:cNvPr>
            <p:cNvSpPr/>
            <p:nvPr/>
          </p:nvSpPr>
          <p:spPr>
            <a:xfrm>
              <a:off x="4763" y="0"/>
              <a:ext cx="1800225" cy="3600323"/>
            </a:xfrm>
            <a:custGeom>
              <a:avLst/>
              <a:gdLst/>
              <a:ahLst/>
              <a:cxnLst/>
              <a:rect l="0" t="0" r="0" b="0"/>
              <a:pathLst>
                <a:path w="1800225" h="3600323">
                  <a:moveTo>
                    <a:pt x="0" y="71755"/>
                  </a:moveTo>
                  <a:cubicBezTo>
                    <a:pt x="0" y="32004"/>
                    <a:pt x="32131" y="0"/>
                    <a:pt x="71755" y="0"/>
                  </a:cubicBezTo>
                  <a:cubicBezTo>
                    <a:pt x="71755" y="0"/>
                    <a:pt x="71755" y="0"/>
                    <a:pt x="71755" y="0"/>
                  </a:cubicBezTo>
                  <a:lnTo>
                    <a:pt x="71755" y="0"/>
                  </a:lnTo>
                  <a:lnTo>
                    <a:pt x="1728470" y="0"/>
                  </a:lnTo>
                  <a:lnTo>
                    <a:pt x="1728470" y="0"/>
                  </a:lnTo>
                  <a:cubicBezTo>
                    <a:pt x="1768094" y="0"/>
                    <a:pt x="1800225" y="32004"/>
                    <a:pt x="1800225" y="71755"/>
                  </a:cubicBezTo>
                  <a:cubicBezTo>
                    <a:pt x="1800225" y="71755"/>
                    <a:pt x="1800225" y="71755"/>
                    <a:pt x="1800225" y="71755"/>
                  </a:cubicBezTo>
                  <a:lnTo>
                    <a:pt x="1800225" y="71755"/>
                  </a:lnTo>
                  <a:lnTo>
                    <a:pt x="1800225" y="3528568"/>
                  </a:lnTo>
                  <a:lnTo>
                    <a:pt x="1800225" y="3528568"/>
                  </a:lnTo>
                  <a:cubicBezTo>
                    <a:pt x="1800225" y="3568319"/>
                    <a:pt x="1768094" y="3600323"/>
                    <a:pt x="1728470" y="3600323"/>
                  </a:cubicBezTo>
                  <a:cubicBezTo>
                    <a:pt x="1728470" y="3600323"/>
                    <a:pt x="1728470" y="3600323"/>
                    <a:pt x="1728470" y="3600323"/>
                  </a:cubicBezTo>
                  <a:lnTo>
                    <a:pt x="1728470" y="3600323"/>
                  </a:lnTo>
                  <a:lnTo>
                    <a:pt x="71755" y="3600323"/>
                  </a:lnTo>
                  <a:lnTo>
                    <a:pt x="71755" y="3600323"/>
                  </a:lnTo>
                  <a:cubicBezTo>
                    <a:pt x="32131" y="3600323"/>
                    <a:pt x="0" y="3568319"/>
                    <a:pt x="0" y="3528568"/>
                  </a:cubicBezTo>
                  <a:cubicBezTo>
                    <a:pt x="0" y="3528568"/>
                    <a:pt x="0" y="3528568"/>
                    <a:pt x="0" y="3528568"/>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11" name="Rectangle 1194">
              <a:extLst>
                <a:ext uri="{FF2B5EF4-FFF2-40B4-BE49-F238E27FC236}">
                  <a16:creationId xmlns:a16="http://schemas.microsoft.com/office/drawing/2014/main" id="{157DD956-CA55-4ABB-8611-5288DA2279CF}"/>
                </a:ext>
              </a:extLst>
            </p:cNvPr>
            <p:cNvSpPr/>
            <p:nvPr/>
          </p:nvSpPr>
          <p:spPr>
            <a:xfrm>
              <a:off x="222644" y="3239369"/>
              <a:ext cx="1812472" cy="395091"/>
            </a:xfrm>
            <a:prstGeom prst="rect">
              <a:avLst/>
            </a:prstGeom>
            <a:ln>
              <a:noFill/>
            </a:ln>
          </p:spPr>
          <p:txBody>
            <a:bodyPr vert="horz" lIns="0" tIns="0" rIns="0" bIns="0" rtlCol="0">
              <a:noAutofit/>
            </a:bodyPr>
            <a:lstStyle/>
            <a:p>
              <a:pPr>
                <a:lnSpc>
                  <a:spcPct val="107000"/>
                </a:lnSpc>
                <a:spcAft>
                  <a:spcPts val="600"/>
                </a:spcAft>
              </a:pPr>
              <a:r>
                <a:rPr lang="ru-RU" sz="1800" b="1">
                  <a:solidFill>
                    <a:srgbClr val="FFFFFF"/>
                  </a:solidFill>
                  <a:latin typeface="Verdana" panose="020B0604030504040204" pitchFamily="34" charset="0"/>
                  <a:ea typeface="Verdana" panose="020B0604030504040204" pitchFamily="34" charset="0"/>
                  <a:cs typeface="Verdana" panose="020B0604030504040204" pitchFamily="34" charset="0"/>
                </a:rPr>
                <a:t>Host OS</a:t>
              </a:r>
              <a:endParaRPr lang="ru-RU" sz="825">
                <a:latin typeface="Calibri" panose="020F0502020204030204" pitchFamily="34" charset="0"/>
                <a:ea typeface="Calibri" panose="020F0502020204030204" pitchFamily="34" charset="0"/>
              </a:endParaRPr>
            </a:p>
          </p:txBody>
        </p:sp>
        <p:sp>
          <p:nvSpPr>
            <p:cNvPr id="12" name="Shape 1195">
              <a:extLst>
                <a:ext uri="{FF2B5EF4-FFF2-40B4-BE49-F238E27FC236}">
                  <a16:creationId xmlns:a16="http://schemas.microsoft.com/office/drawing/2014/main" id="{BC8BF21A-C147-4979-9F01-0939A92A3721}"/>
                </a:ext>
              </a:extLst>
            </p:cNvPr>
            <p:cNvSpPr/>
            <p:nvPr/>
          </p:nvSpPr>
          <p:spPr>
            <a:xfrm>
              <a:off x="76200" y="103124"/>
              <a:ext cx="1655763" cy="2921000"/>
            </a:xfrm>
            <a:custGeom>
              <a:avLst/>
              <a:gdLst/>
              <a:ahLst/>
              <a:cxnLst/>
              <a:rect l="0" t="0" r="0" b="0"/>
              <a:pathLst>
                <a:path w="1655763" h="2921000">
                  <a:moveTo>
                    <a:pt x="92380" y="0"/>
                  </a:moveTo>
                  <a:lnTo>
                    <a:pt x="1563434" y="0"/>
                  </a:lnTo>
                  <a:cubicBezTo>
                    <a:pt x="1614361" y="0"/>
                    <a:pt x="1655763" y="41402"/>
                    <a:pt x="1655763" y="92329"/>
                  </a:cubicBezTo>
                  <a:lnTo>
                    <a:pt x="1655763" y="2828671"/>
                  </a:lnTo>
                  <a:cubicBezTo>
                    <a:pt x="1655763" y="2879598"/>
                    <a:pt x="1614361" y="2921000"/>
                    <a:pt x="1563434" y="2921000"/>
                  </a:cubicBezTo>
                  <a:lnTo>
                    <a:pt x="92380" y="2921000"/>
                  </a:lnTo>
                  <a:cubicBezTo>
                    <a:pt x="41364" y="2921000"/>
                    <a:pt x="0" y="2879598"/>
                    <a:pt x="0" y="2828671"/>
                  </a:cubicBezTo>
                  <a:lnTo>
                    <a:pt x="0" y="92329"/>
                  </a:lnTo>
                  <a:cubicBezTo>
                    <a:pt x="0" y="41402"/>
                    <a:pt x="41364" y="0"/>
                    <a:pt x="92380" y="0"/>
                  </a:cubicBezTo>
                  <a:close/>
                </a:path>
              </a:pathLst>
            </a:custGeom>
            <a:ln w="0" cap="flat">
              <a:round/>
            </a:ln>
          </p:spPr>
          <p:style>
            <a:lnRef idx="0">
              <a:srgbClr val="000000">
                <a:alpha val="0"/>
              </a:srgbClr>
            </a:lnRef>
            <a:fillRef idx="1">
              <a:srgbClr val="FFCC00"/>
            </a:fillRef>
            <a:effectRef idx="0">
              <a:scrgbClr r="0" g="0" b="0"/>
            </a:effectRef>
            <a:fontRef idx="none"/>
          </p:style>
          <p:txBody>
            <a:bodyPr/>
            <a:lstStyle/>
            <a:p>
              <a:endParaRPr lang="ru-RU" sz="1050"/>
            </a:p>
          </p:txBody>
        </p:sp>
        <p:sp>
          <p:nvSpPr>
            <p:cNvPr id="13" name="Shape 1196">
              <a:extLst>
                <a:ext uri="{FF2B5EF4-FFF2-40B4-BE49-F238E27FC236}">
                  <a16:creationId xmlns:a16="http://schemas.microsoft.com/office/drawing/2014/main" id="{2BA2FE5C-F969-4D5D-AF7F-6C4E97F02D4D}"/>
                </a:ext>
              </a:extLst>
            </p:cNvPr>
            <p:cNvSpPr/>
            <p:nvPr/>
          </p:nvSpPr>
          <p:spPr>
            <a:xfrm>
              <a:off x="76200" y="103124"/>
              <a:ext cx="1655763" cy="2921000"/>
            </a:xfrm>
            <a:custGeom>
              <a:avLst/>
              <a:gdLst/>
              <a:ahLst/>
              <a:cxnLst/>
              <a:rect l="0" t="0" r="0" b="0"/>
              <a:pathLst>
                <a:path w="1655763" h="2921000">
                  <a:moveTo>
                    <a:pt x="0" y="92329"/>
                  </a:moveTo>
                  <a:cubicBezTo>
                    <a:pt x="0" y="41402"/>
                    <a:pt x="41364" y="0"/>
                    <a:pt x="92380" y="0"/>
                  </a:cubicBezTo>
                  <a:cubicBezTo>
                    <a:pt x="92380" y="0"/>
                    <a:pt x="92380" y="0"/>
                    <a:pt x="92380" y="0"/>
                  </a:cubicBezTo>
                  <a:lnTo>
                    <a:pt x="92380" y="0"/>
                  </a:lnTo>
                  <a:lnTo>
                    <a:pt x="1563434" y="0"/>
                  </a:lnTo>
                  <a:lnTo>
                    <a:pt x="1563434" y="0"/>
                  </a:lnTo>
                  <a:cubicBezTo>
                    <a:pt x="1614361" y="0"/>
                    <a:pt x="1655763" y="41402"/>
                    <a:pt x="1655763" y="92329"/>
                  </a:cubicBezTo>
                  <a:cubicBezTo>
                    <a:pt x="1655763" y="92329"/>
                    <a:pt x="1655763" y="92329"/>
                    <a:pt x="1655763" y="92329"/>
                  </a:cubicBezTo>
                  <a:lnTo>
                    <a:pt x="1655763" y="92329"/>
                  </a:lnTo>
                  <a:lnTo>
                    <a:pt x="1655763" y="2828671"/>
                  </a:lnTo>
                  <a:lnTo>
                    <a:pt x="1655763" y="2828671"/>
                  </a:lnTo>
                  <a:cubicBezTo>
                    <a:pt x="1655763" y="2879598"/>
                    <a:pt x="1614361" y="2921000"/>
                    <a:pt x="1563434" y="2921000"/>
                  </a:cubicBezTo>
                  <a:cubicBezTo>
                    <a:pt x="1563434" y="2921000"/>
                    <a:pt x="1563434" y="2921000"/>
                    <a:pt x="1563434" y="2921000"/>
                  </a:cubicBezTo>
                  <a:lnTo>
                    <a:pt x="1563434" y="2921000"/>
                  </a:lnTo>
                  <a:lnTo>
                    <a:pt x="92380" y="2921000"/>
                  </a:lnTo>
                  <a:lnTo>
                    <a:pt x="92380" y="2921000"/>
                  </a:lnTo>
                  <a:cubicBezTo>
                    <a:pt x="41364" y="2921000"/>
                    <a:pt x="0" y="2879598"/>
                    <a:pt x="0" y="2828671"/>
                  </a:cubicBezTo>
                  <a:cubicBezTo>
                    <a:pt x="0" y="2828671"/>
                    <a:pt x="0" y="2828671"/>
                    <a:pt x="0" y="2828671"/>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14" name="Rectangle 1197">
              <a:extLst>
                <a:ext uri="{FF2B5EF4-FFF2-40B4-BE49-F238E27FC236}">
                  <a16:creationId xmlns:a16="http://schemas.microsoft.com/office/drawing/2014/main" id="{2CDDC6DB-4D2F-403B-A621-A627E56BA59B}"/>
                </a:ext>
              </a:extLst>
            </p:cNvPr>
            <p:cNvSpPr/>
            <p:nvPr/>
          </p:nvSpPr>
          <p:spPr>
            <a:xfrm>
              <a:off x="314084" y="2656820"/>
              <a:ext cx="293498" cy="395091"/>
            </a:xfrm>
            <a:prstGeom prst="rect">
              <a:avLst/>
            </a:prstGeom>
            <a:ln>
              <a:noFill/>
            </a:ln>
          </p:spPr>
          <p:txBody>
            <a:bodyPr vert="horz" lIns="0" tIns="0" rIns="0" bIns="0" rtlCol="0">
              <a:noAutofit/>
            </a:bodyPr>
            <a:lstStyle/>
            <a:p>
              <a:pPr>
                <a:lnSpc>
                  <a:spcPct val="107000"/>
                </a:lnSpc>
                <a:spcAft>
                  <a:spcPts val="600"/>
                </a:spcAft>
              </a:pPr>
              <a:r>
                <a:rPr lang="ru-RU" sz="1800" b="1">
                  <a:latin typeface="Verdana" panose="020B0604030504040204" pitchFamily="34" charset="0"/>
                  <a:ea typeface="Verdana" panose="020B0604030504040204" pitchFamily="34" charset="0"/>
                  <a:cs typeface="Verdana" panose="020B0604030504040204" pitchFamily="34" charset="0"/>
                </a:rPr>
                <a:t>C</a:t>
              </a:r>
              <a:endParaRPr lang="ru-RU" sz="825">
                <a:latin typeface="Calibri" panose="020F0502020204030204" pitchFamily="34" charset="0"/>
                <a:ea typeface="Calibri" panose="020F0502020204030204" pitchFamily="34" charset="0"/>
              </a:endParaRPr>
            </a:p>
          </p:txBody>
        </p:sp>
        <p:sp>
          <p:nvSpPr>
            <p:cNvPr id="15" name="Rectangle 1198">
              <a:extLst>
                <a:ext uri="{FF2B5EF4-FFF2-40B4-BE49-F238E27FC236}">
                  <a16:creationId xmlns:a16="http://schemas.microsoft.com/office/drawing/2014/main" id="{78426C69-D71B-4468-90F7-21C0CE535700}"/>
                </a:ext>
              </a:extLst>
            </p:cNvPr>
            <p:cNvSpPr/>
            <p:nvPr/>
          </p:nvSpPr>
          <p:spPr>
            <a:xfrm>
              <a:off x="535064" y="2656820"/>
              <a:ext cx="194584" cy="395091"/>
            </a:xfrm>
            <a:prstGeom prst="rect">
              <a:avLst/>
            </a:prstGeom>
            <a:ln>
              <a:noFill/>
            </a:ln>
          </p:spPr>
          <p:txBody>
            <a:bodyPr vert="horz" lIns="0" tIns="0" rIns="0" bIns="0" rtlCol="0">
              <a:noAutofit/>
            </a:bodyPr>
            <a:lstStyle/>
            <a:p>
              <a:pPr>
                <a:lnSpc>
                  <a:spcPct val="107000"/>
                </a:lnSpc>
                <a:spcAft>
                  <a:spcPts val="600"/>
                </a:spcAft>
              </a:pPr>
              <a:r>
                <a:rPr lang="ru-RU" sz="1800" b="1">
                  <a:latin typeface="Verdana" panose="020B0604030504040204" pitchFamily="34" charset="0"/>
                  <a:ea typeface="Verdana" panose="020B0604030504040204" pitchFamily="34" charset="0"/>
                  <a:cs typeface="Verdana" panose="020B0604030504040204" pitchFamily="34" charset="0"/>
                </a:rPr>
                <a:t>-</a:t>
              </a:r>
              <a:endParaRPr lang="ru-RU" sz="825">
                <a:latin typeface="Calibri" panose="020F0502020204030204" pitchFamily="34" charset="0"/>
                <a:ea typeface="Calibri" panose="020F0502020204030204" pitchFamily="34" charset="0"/>
              </a:endParaRPr>
            </a:p>
          </p:txBody>
        </p:sp>
        <p:sp>
          <p:nvSpPr>
            <p:cNvPr id="16" name="Rectangle 1199">
              <a:extLst>
                <a:ext uri="{FF2B5EF4-FFF2-40B4-BE49-F238E27FC236}">
                  <a16:creationId xmlns:a16="http://schemas.microsoft.com/office/drawing/2014/main" id="{902A20A0-8B20-4E9E-8B46-5C3F73543A69}"/>
                </a:ext>
              </a:extLst>
            </p:cNvPr>
            <p:cNvSpPr/>
            <p:nvPr/>
          </p:nvSpPr>
          <p:spPr>
            <a:xfrm>
              <a:off x="681368" y="2656820"/>
              <a:ext cx="1079132" cy="395091"/>
            </a:xfrm>
            <a:prstGeom prst="rect">
              <a:avLst/>
            </a:prstGeom>
            <a:ln>
              <a:noFill/>
            </a:ln>
          </p:spPr>
          <p:txBody>
            <a:bodyPr vert="horz" lIns="0" tIns="0" rIns="0" bIns="0" rtlCol="0">
              <a:noAutofit/>
            </a:bodyPr>
            <a:lstStyle/>
            <a:p>
              <a:pPr>
                <a:lnSpc>
                  <a:spcPct val="107000"/>
                </a:lnSpc>
                <a:spcAft>
                  <a:spcPts val="600"/>
                </a:spcAft>
              </a:pPr>
              <a:r>
                <a:rPr lang="ru-RU" sz="1800" b="1">
                  <a:latin typeface="Verdana" panose="020B0604030504040204" pitchFamily="34" charset="0"/>
                  <a:ea typeface="Verdana" panose="020B0604030504040204" pitchFamily="34" charset="0"/>
                  <a:cs typeface="Verdana" panose="020B0604030504040204" pitchFamily="34" charset="0"/>
                </a:rPr>
                <a:t>VMM</a:t>
              </a:r>
              <a:endParaRPr lang="ru-RU" sz="825">
                <a:latin typeface="Calibri" panose="020F0502020204030204" pitchFamily="34" charset="0"/>
                <a:ea typeface="Calibri" panose="020F0502020204030204" pitchFamily="34" charset="0"/>
              </a:endParaRPr>
            </a:p>
          </p:txBody>
        </p:sp>
        <p:sp>
          <p:nvSpPr>
            <p:cNvPr id="17" name="Shape 1200">
              <a:extLst>
                <a:ext uri="{FF2B5EF4-FFF2-40B4-BE49-F238E27FC236}">
                  <a16:creationId xmlns:a16="http://schemas.microsoft.com/office/drawing/2014/main" id="{376C2B12-0F43-4B2F-BC97-E1D646F9B2F0}"/>
                </a:ext>
              </a:extLst>
            </p:cNvPr>
            <p:cNvSpPr/>
            <p:nvPr/>
          </p:nvSpPr>
          <p:spPr>
            <a:xfrm>
              <a:off x="147638" y="230124"/>
              <a:ext cx="1512951" cy="2217674"/>
            </a:xfrm>
            <a:custGeom>
              <a:avLst/>
              <a:gdLst/>
              <a:ahLst/>
              <a:cxnLst/>
              <a:rect l="0" t="0" r="0" b="0"/>
              <a:pathLst>
                <a:path w="1512951" h="2217674">
                  <a:moveTo>
                    <a:pt x="98628" y="0"/>
                  </a:moveTo>
                  <a:lnTo>
                    <a:pt x="1414272" y="0"/>
                  </a:lnTo>
                  <a:cubicBezTo>
                    <a:pt x="1468755" y="0"/>
                    <a:pt x="1512951" y="44196"/>
                    <a:pt x="1512951" y="98679"/>
                  </a:cubicBezTo>
                  <a:lnTo>
                    <a:pt x="1512951" y="2119122"/>
                  </a:lnTo>
                  <a:cubicBezTo>
                    <a:pt x="1512951" y="2173605"/>
                    <a:pt x="1468755" y="2217674"/>
                    <a:pt x="1414272" y="2217674"/>
                  </a:cubicBezTo>
                  <a:lnTo>
                    <a:pt x="98628" y="2217674"/>
                  </a:lnTo>
                  <a:cubicBezTo>
                    <a:pt x="44158" y="2217674"/>
                    <a:pt x="0" y="2173605"/>
                    <a:pt x="0" y="2119122"/>
                  </a:cubicBezTo>
                  <a:lnTo>
                    <a:pt x="0" y="98679"/>
                  </a:lnTo>
                  <a:cubicBezTo>
                    <a:pt x="0" y="44196"/>
                    <a:pt x="44158" y="0"/>
                    <a:pt x="98628" y="0"/>
                  </a:cubicBezTo>
                  <a:close/>
                </a:path>
              </a:pathLst>
            </a:custGeom>
            <a:ln w="0" cap="flat">
              <a:round/>
            </a:ln>
          </p:spPr>
          <p:style>
            <a:lnRef idx="0">
              <a:srgbClr val="000000">
                <a:alpha val="0"/>
              </a:srgbClr>
            </a:lnRef>
            <a:fillRef idx="1">
              <a:srgbClr val="009900"/>
            </a:fillRef>
            <a:effectRef idx="0">
              <a:scrgbClr r="0" g="0" b="0"/>
            </a:effectRef>
            <a:fontRef idx="none"/>
          </p:style>
          <p:txBody>
            <a:bodyPr/>
            <a:lstStyle/>
            <a:p>
              <a:endParaRPr lang="ru-RU" sz="1050"/>
            </a:p>
          </p:txBody>
        </p:sp>
        <p:sp>
          <p:nvSpPr>
            <p:cNvPr id="18" name="Shape 1201">
              <a:extLst>
                <a:ext uri="{FF2B5EF4-FFF2-40B4-BE49-F238E27FC236}">
                  <a16:creationId xmlns:a16="http://schemas.microsoft.com/office/drawing/2014/main" id="{0BECA5E2-C5F3-46F2-AC61-92BF2DCC38C7}"/>
                </a:ext>
              </a:extLst>
            </p:cNvPr>
            <p:cNvSpPr/>
            <p:nvPr/>
          </p:nvSpPr>
          <p:spPr>
            <a:xfrm>
              <a:off x="147638" y="230124"/>
              <a:ext cx="1512951" cy="2217674"/>
            </a:xfrm>
            <a:custGeom>
              <a:avLst/>
              <a:gdLst/>
              <a:ahLst/>
              <a:cxnLst/>
              <a:rect l="0" t="0" r="0" b="0"/>
              <a:pathLst>
                <a:path w="1512951" h="2217674">
                  <a:moveTo>
                    <a:pt x="0" y="98679"/>
                  </a:moveTo>
                  <a:cubicBezTo>
                    <a:pt x="0" y="44196"/>
                    <a:pt x="44158" y="0"/>
                    <a:pt x="98628" y="0"/>
                  </a:cubicBezTo>
                  <a:cubicBezTo>
                    <a:pt x="98628" y="0"/>
                    <a:pt x="98628" y="0"/>
                    <a:pt x="98628" y="0"/>
                  </a:cubicBezTo>
                  <a:lnTo>
                    <a:pt x="98628" y="0"/>
                  </a:lnTo>
                  <a:lnTo>
                    <a:pt x="1414272" y="0"/>
                  </a:lnTo>
                  <a:lnTo>
                    <a:pt x="1414272" y="0"/>
                  </a:lnTo>
                  <a:cubicBezTo>
                    <a:pt x="1468755" y="0"/>
                    <a:pt x="1512951" y="44196"/>
                    <a:pt x="1512951" y="98679"/>
                  </a:cubicBezTo>
                  <a:cubicBezTo>
                    <a:pt x="1512951" y="98679"/>
                    <a:pt x="1512951" y="98679"/>
                    <a:pt x="1512951" y="98679"/>
                  </a:cubicBezTo>
                  <a:lnTo>
                    <a:pt x="1512951" y="98679"/>
                  </a:lnTo>
                  <a:lnTo>
                    <a:pt x="1512951" y="2119122"/>
                  </a:lnTo>
                  <a:lnTo>
                    <a:pt x="1512951" y="2119122"/>
                  </a:lnTo>
                  <a:cubicBezTo>
                    <a:pt x="1512951" y="2173605"/>
                    <a:pt x="1468755" y="2217674"/>
                    <a:pt x="1414272" y="2217674"/>
                  </a:cubicBezTo>
                  <a:cubicBezTo>
                    <a:pt x="1414272" y="2217674"/>
                    <a:pt x="1414272" y="2217674"/>
                    <a:pt x="1414272" y="2217674"/>
                  </a:cubicBezTo>
                  <a:lnTo>
                    <a:pt x="1414272" y="2217674"/>
                  </a:lnTo>
                  <a:lnTo>
                    <a:pt x="98628" y="2217674"/>
                  </a:lnTo>
                  <a:lnTo>
                    <a:pt x="98628" y="2217674"/>
                  </a:lnTo>
                  <a:cubicBezTo>
                    <a:pt x="44158" y="2217674"/>
                    <a:pt x="0" y="2173605"/>
                    <a:pt x="0" y="2119122"/>
                  </a:cubicBezTo>
                  <a:cubicBezTo>
                    <a:pt x="0" y="2119122"/>
                    <a:pt x="0" y="2119122"/>
                    <a:pt x="0" y="2119122"/>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19" name="Rectangle 1202">
              <a:extLst>
                <a:ext uri="{FF2B5EF4-FFF2-40B4-BE49-F238E27FC236}">
                  <a16:creationId xmlns:a16="http://schemas.microsoft.com/office/drawing/2014/main" id="{2981A77F-3708-4C9F-A248-D8B74BCE0692}"/>
                </a:ext>
              </a:extLst>
            </p:cNvPr>
            <p:cNvSpPr/>
            <p:nvPr/>
          </p:nvSpPr>
          <p:spPr>
            <a:xfrm>
              <a:off x="643268" y="2078716"/>
              <a:ext cx="694423" cy="395091"/>
            </a:xfrm>
            <a:prstGeom prst="rect">
              <a:avLst/>
            </a:prstGeom>
            <a:ln>
              <a:noFill/>
            </a:ln>
          </p:spPr>
          <p:txBody>
            <a:bodyPr vert="horz" lIns="0" tIns="0" rIns="0" bIns="0" rtlCol="0">
              <a:noAutofit/>
            </a:bodyPr>
            <a:lstStyle/>
            <a:p>
              <a:pPr>
                <a:lnSpc>
                  <a:spcPct val="107000"/>
                </a:lnSpc>
                <a:spcAft>
                  <a:spcPts val="600"/>
                </a:spcAft>
              </a:pPr>
              <a:r>
                <a:rPr lang="ru-RU" sz="1800" b="1">
                  <a:latin typeface="Verdana" panose="020B0604030504040204" pitchFamily="34" charset="0"/>
                  <a:ea typeface="Verdana" panose="020B0604030504040204" pitchFamily="34" charset="0"/>
                  <a:cs typeface="Verdana" panose="020B0604030504040204" pitchFamily="34" charset="0"/>
                </a:rPr>
                <a:t>VM</a:t>
              </a:r>
              <a:endParaRPr lang="ru-RU" sz="825">
                <a:latin typeface="Calibri" panose="020F0502020204030204" pitchFamily="34" charset="0"/>
                <a:ea typeface="Calibri" panose="020F0502020204030204" pitchFamily="34" charset="0"/>
              </a:endParaRPr>
            </a:p>
          </p:txBody>
        </p:sp>
        <p:sp>
          <p:nvSpPr>
            <p:cNvPr id="20" name="Shape 1203">
              <a:extLst>
                <a:ext uri="{FF2B5EF4-FFF2-40B4-BE49-F238E27FC236}">
                  <a16:creationId xmlns:a16="http://schemas.microsoft.com/office/drawing/2014/main" id="{98033BEC-34BC-4776-81D1-E8FF01100B97}"/>
                </a:ext>
              </a:extLst>
            </p:cNvPr>
            <p:cNvSpPr/>
            <p:nvPr/>
          </p:nvSpPr>
          <p:spPr>
            <a:xfrm>
              <a:off x="579438" y="287274"/>
              <a:ext cx="644525" cy="1628775"/>
            </a:xfrm>
            <a:custGeom>
              <a:avLst/>
              <a:gdLst/>
              <a:ahLst/>
              <a:cxnLst/>
              <a:rect l="0" t="0" r="0" b="0"/>
              <a:pathLst>
                <a:path w="644525" h="1628775">
                  <a:moveTo>
                    <a:pt x="87427" y="0"/>
                  </a:moveTo>
                  <a:lnTo>
                    <a:pt x="557149" y="0"/>
                  </a:lnTo>
                  <a:cubicBezTo>
                    <a:pt x="605409" y="0"/>
                    <a:pt x="644525" y="39116"/>
                    <a:pt x="644525" y="87376"/>
                  </a:cubicBezTo>
                  <a:lnTo>
                    <a:pt x="644525" y="1541399"/>
                  </a:lnTo>
                  <a:cubicBezTo>
                    <a:pt x="644525" y="1589659"/>
                    <a:pt x="605409" y="1628775"/>
                    <a:pt x="557149" y="1628775"/>
                  </a:cubicBezTo>
                  <a:lnTo>
                    <a:pt x="87427" y="1628775"/>
                  </a:lnTo>
                  <a:cubicBezTo>
                    <a:pt x="39141" y="1628775"/>
                    <a:pt x="0" y="1589659"/>
                    <a:pt x="0" y="1541399"/>
                  </a:cubicBezTo>
                  <a:lnTo>
                    <a:pt x="0" y="87376"/>
                  </a:lnTo>
                  <a:cubicBezTo>
                    <a:pt x="0" y="39116"/>
                    <a:pt x="39141" y="0"/>
                    <a:pt x="87427" y="0"/>
                  </a:cubicBezTo>
                  <a:close/>
                </a:path>
              </a:pathLst>
            </a:custGeom>
            <a:ln w="0" cap="flat">
              <a:round/>
            </a:ln>
          </p:spPr>
          <p:style>
            <a:lnRef idx="0">
              <a:srgbClr val="000000">
                <a:alpha val="0"/>
              </a:srgbClr>
            </a:lnRef>
            <a:fillRef idx="1">
              <a:srgbClr val="99CCFF"/>
            </a:fillRef>
            <a:effectRef idx="0">
              <a:scrgbClr r="0" g="0" b="0"/>
            </a:effectRef>
            <a:fontRef idx="none"/>
          </p:style>
          <p:txBody>
            <a:bodyPr/>
            <a:lstStyle/>
            <a:p>
              <a:endParaRPr lang="ru-RU" sz="1050"/>
            </a:p>
          </p:txBody>
        </p:sp>
        <p:sp>
          <p:nvSpPr>
            <p:cNvPr id="21" name="Shape 1204">
              <a:extLst>
                <a:ext uri="{FF2B5EF4-FFF2-40B4-BE49-F238E27FC236}">
                  <a16:creationId xmlns:a16="http://schemas.microsoft.com/office/drawing/2014/main" id="{6E609B6F-3403-43C7-88A1-839C3D4B85F5}"/>
                </a:ext>
              </a:extLst>
            </p:cNvPr>
            <p:cNvSpPr/>
            <p:nvPr/>
          </p:nvSpPr>
          <p:spPr>
            <a:xfrm>
              <a:off x="579438" y="287274"/>
              <a:ext cx="644525" cy="1628775"/>
            </a:xfrm>
            <a:custGeom>
              <a:avLst/>
              <a:gdLst/>
              <a:ahLst/>
              <a:cxnLst/>
              <a:rect l="0" t="0" r="0" b="0"/>
              <a:pathLst>
                <a:path w="644525" h="1628775">
                  <a:moveTo>
                    <a:pt x="87427" y="1628775"/>
                  </a:moveTo>
                  <a:cubicBezTo>
                    <a:pt x="39141" y="1628775"/>
                    <a:pt x="0" y="1589659"/>
                    <a:pt x="0" y="1541399"/>
                  </a:cubicBezTo>
                  <a:cubicBezTo>
                    <a:pt x="0" y="1541399"/>
                    <a:pt x="0" y="1541399"/>
                    <a:pt x="0" y="1541399"/>
                  </a:cubicBezTo>
                  <a:lnTo>
                    <a:pt x="0" y="1541399"/>
                  </a:lnTo>
                  <a:lnTo>
                    <a:pt x="0" y="87376"/>
                  </a:lnTo>
                  <a:lnTo>
                    <a:pt x="0" y="87376"/>
                  </a:lnTo>
                  <a:cubicBezTo>
                    <a:pt x="0" y="39116"/>
                    <a:pt x="39141" y="0"/>
                    <a:pt x="87427" y="0"/>
                  </a:cubicBezTo>
                  <a:cubicBezTo>
                    <a:pt x="87427" y="0"/>
                    <a:pt x="87427" y="0"/>
                    <a:pt x="87427" y="0"/>
                  </a:cubicBezTo>
                  <a:lnTo>
                    <a:pt x="87427" y="0"/>
                  </a:lnTo>
                  <a:lnTo>
                    <a:pt x="557149" y="0"/>
                  </a:lnTo>
                  <a:lnTo>
                    <a:pt x="557149" y="0"/>
                  </a:lnTo>
                  <a:cubicBezTo>
                    <a:pt x="605409" y="0"/>
                    <a:pt x="644525" y="39116"/>
                    <a:pt x="644525" y="87376"/>
                  </a:cubicBezTo>
                  <a:cubicBezTo>
                    <a:pt x="644525" y="87376"/>
                    <a:pt x="644525" y="87376"/>
                    <a:pt x="644525" y="87376"/>
                  </a:cubicBezTo>
                  <a:lnTo>
                    <a:pt x="644525" y="87376"/>
                  </a:lnTo>
                  <a:lnTo>
                    <a:pt x="644525" y="1541399"/>
                  </a:lnTo>
                  <a:lnTo>
                    <a:pt x="644525" y="1541399"/>
                  </a:lnTo>
                  <a:cubicBezTo>
                    <a:pt x="644525" y="1589659"/>
                    <a:pt x="605409" y="1628775"/>
                    <a:pt x="557149" y="1628775"/>
                  </a:cubicBezTo>
                  <a:cubicBezTo>
                    <a:pt x="557149" y="1628775"/>
                    <a:pt x="557149" y="1628775"/>
                    <a:pt x="557149" y="1628775"/>
                  </a:cubicBezTo>
                  <a:close/>
                </a:path>
              </a:pathLst>
            </a:custGeom>
            <a:ln w="50800" cap="flat">
              <a:round/>
            </a:ln>
          </p:spPr>
          <p:style>
            <a:lnRef idx="1">
              <a:srgbClr val="0860A8"/>
            </a:lnRef>
            <a:fillRef idx="0">
              <a:srgbClr val="000000">
                <a:alpha val="0"/>
              </a:srgbClr>
            </a:fillRef>
            <a:effectRef idx="0">
              <a:scrgbClr r="0" g="0" b="0"/>
            </a:effectRef>
            <a:fontRef idx="none"/>
          </p:style>
          <p:txBody>
            <a:bodyPr/>
            <a:lstStyle/>
            <a:p>
              <a:endParaRPr lang="ru-RU" sz="1050"/>
            </a:p>
          </p:txBody>
        </p:sp>
        <p:sp>
          <p:nvSpPr>
            <p:cNvPr id="22" name="Rectangle 1205">
              <a:extLst>
                <a:ext uri="{FF2B5EF4-FFF2-40B4-BE49-F238E27FC236}">
                  <a16:creationId xmlns:a16="http://schemas.microsoft.com/office/drawing/2014/main" id="{590646E4-72BC-4128-898E-260C0AF3B1D0}"/>
                </a:ext>
              </a:extLst>
            </p:cNvPr>
            <p:cNvSpPr/>
            <p:nvPr/>
          </p:nvSpPr>
          <p:spPr>
            <a:xfrm rot="-5399999">
              <a:off x="80379" y="680314"/>
              <a:ext cx="1812472" cy="395091"/>
            </a:xfrm>
            <a:prstGeom prst="rect">
              <a:avLst/>
            </a:prstGeom>
            <a:ln>
              <a:noFill/>
            </a:ln>
          </p:spPr>
          <p:txBody>
            <a:bodyPr vert="horz" lIns="0" tIns="0" rIns="0" bIns="0" rtlCol="0">
              <a:noAutofit/>
            </a:bodyPr>
            <a:lstStyle/>
            <a:p>
              <a:pPr>
                <a:lnSpc>
                  <a:spcPct val="107000"/>
                </a:lnSpc>
                <a:spcAft>
                  <a:spcPts val="600"/>
                </a:spcAft>
              </a:pPr>
              <a:r>
                <a:rPr lang="ru-RU" sz="1800" b="1">
                  <a:solidFill>
                    <a:srgbClr val="FFFFFF"/>
                  </a:solidFill>
                  <a:latin typeface="Verdana" panose="020B0604030504040204" pitchFamily="34" charset="0"/>
                  <a:ea typeface="Verdana" panose="020B0604030504040204" pitchFamily="34" charset="0"/>
                  <a:cs typeface="Verdana" panose="020B0604030504040204" pitchFamily="34" charset="0"/>
                </a:rPr>
                <a:t>Host OS</a:t>
              </a:r>
              <a:endParaRPr lang="ru-RU" sz="825">
                <a:latin typeface="Calibri" panose="020F0502020204030204" pitchFamily="34" charset="0"/>
                <a:ea typeface="Calibri" panose="020F0502020204030204" pitchFamily="34" charset="0"/>
              </a:endParaRPr>
            </a:p>
          </p:txBody>
        </p:sp>
      </p:grpSp>
    </p:spTree>
    <p:extLst>
      <p:ext uri="{BB962C8B-B14F-4D97-AF65-F5344CB8AC3E}">
        <p14:creationId xmlns:p14="http://schemas.microsoft.com/office/powerpoint/2010/main" val="27559152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B5372D-3EA1-4E23-A1CF-DDC78A6F306F}"/>
              </a:ext>
            </a:extLst>
          </p:cNvPr>
          <p:cNvSpPr>
            <a:spLocks noGrp="1"/>
          </p:cNvSpPr>
          <p:nvPr>
            <p:ph type="title"/>
          </p:nvPr>
        </p:nvSpPr>
        <p:spPr/>
        <p:txBody>
          <a:bodyPr/>
          <a:lstStyle/>
          <a:p>
            <a:r>
              <a:rPr lang="ru-RU" dirty="0"/>
              <a:t>Принципы создания </a:t>
            </a:r>
            <a:r>
              <a:rPr lang="en-US" dirty="0"/>
              <a:t>VM</a:t>
            </a:r>
            <a:endParaRPr lang="ru-RU" dirty="0"/>
          </a:p>
        </p:txBody>
      </p:sp>
      <p:sp>
        <p:nvSpPr>
          <p:cNvPr id="3" name="Объект 2">
            <a:extLst>
              <a:ext uri="{FF2B5EF4-FFF2-40B4-BE49-F238E27FC236}">
                <a16:creationId xmlns:a16="http://schemas.microsoft.com/office/drawing/2014/main" id="{EB776CEC-568E-45F2-A99A-1E986F45C0C2}"/>
              </a:ext>
            </a:extLst>
          </p:cNvPr>
          <p:cNvSpPr>
            <a:spLocks noGrp="1"/>
          </p:cNvSpPr>
          <p:nvPr>
            <p:ph idx="1"/>
          </p:nvPr>
        </p:nvSpPr>
        <p:spPr/>
        <p:txBody>
          <a:bodyPr>
            <a:normAutofit fontScale="85000" lnSpcReduction="20000"/>
          </a:bodyPr>
          <a:lstStyle/>
          <a:p>
            <a:pPr marL="257175" indent="-257175" algn="just" fontAlgn="base">
              <a:lnSpc>
                <a:spcPct val="108000"/>
              </a:lnSpc>
              <a:spcAft>
                <a:spcPts val="270"/>
              </a:spcAft>
              <a:buClr>
                <a:srgbClr val="000000"/>
              </a:buClr>
              <a:buSzPts val="2800"/>
              <a:buFont typeface="Arial" panose="020B0604020202020204" pitchFamily="34" charset="0"/>
              <a:buChar char="•"/>
            </a:pPr>
            <a:r>
              <a:rPr lang="ru-RU" sz="2100" b="1"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Этапы создания VM:</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Выбор конфигурации оборудования</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Выбор поддерживаемой ОС</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919"/>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Установка ОС</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257175" indent="-257175" algn="just" fontAlgn="base">
              <a:lnSpc>
                <a:spcPct val="108000"/>
              </a:lnSpc>
              <a:spcAft>
                <a:spcPts val="270"/>
              </a:spcAft>
              <a:buClr>
                <a:srgbClr val="000000"/>
              </a:buClr>
              <a:buSzPts val="2800"/>
              <a:buFont typeface="Arial" panose="020B0604020202020204" pitchFamily="34" charset="0"/>
              <a:buChar char="•"/>
            </a:pPr>
            <a:r>
              <a:rPr lang="ru-RU" sz="2100" b="1"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Альтернативные варианты:</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660"/>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Шаблоны виртуальных машин</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Миграция с физического сервера (P2V)</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Миграция из виртуальных машин других форматов (V2V)</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ru-RU" dirty="0"/>
          </a:p>
        </p:txBody>
      </p:sp>
    </p:spTree>
    <p:extLst>
      <p:ext uri="{BB962C8B-B14F-4D97-AF65-F5344CB8AC3E}">
        <p14:creationId xmlns:p14="http://schemas.microsoft.com/office/powerpoint/2010/main" val="28867456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9D5605-2DD5-4E89-A203-E98DAC9BD416}"/>
              </a:ext>
            </a:extLst>
          </p:cNvPr>
          <p:cNvSpPr>
            <a:spLocks noGrp="1"/>
          </p:cNvSpPr>
          <p:nvPr>
            <p:ph type="title"/>
          </p:nvPr>
        </p:nvSpPr>
        <p:spPr/>
        <p:txBody>
          <a:bodyPr/>
          <a:lstStyle/>
          <a:p>
            <a:r>
              <a:rPr lang="ru-RU" dirty="0"/>
              <a:t>Управление </a:t>
            </a:r>
            <a:r>
              <a:rPr lang="en-US" dirty="0"/>
              <a:t>VM</a:t>
            </a:r>
            <a:endParaRPr lang="ru-RU" dirty="0"/>
          </a:p>
        </p:txBody>
      </p:sp>
      <p:sp>
        <p:nvSpPr>
          <p:cNvPr id="3" name="Объект 2">
            <a:extLst>
              <a:ext uri="{FF2B5EF4-FFF2-40B4-BE49-F238E27FC236}">
                <a16:creationId xmlns:a16="http://schemas.microsoft.com/office/drawing/2014/main" id="{FAED3222-88EA-471F-AC12-7D82EFA016BB}"/>
              </a:ext>
            </a:extLst>
          </p:cNvPr>
          <p:cNvSpPr>
            <a:spLocks noGrp="1"/>
          </p:cNvSpPr>
          <p:nvPr>
            <p:ph idx="1"/>
          </p:nvPr>
        </p:nvSpPr>
        <p:spPr/>
        <p:txBody>
          <a:bodyPr>
            <a:normAutofit fontScale="70000" lnSpcReduction="20000"/>
          </a:bodyPr>
          <a:lstStyle/>
          <a:p>
            <a:pPr marL="0" indent="0" algn="just">
              <a:lnSpc>
                <a:spcPct val="108000"/>
              </a:lnSpc>
              <a:spcAft>
                <a:spcPts val="413"/>
              </a:spcAft>
              <a:buNone/>
            </a:pPr>
            <a:r>
              <a:rPr lang="ru-RU" sz="2400" b="1" dirty="0">
                <a:solidFill>
                  <a:srgbClr val="000000"/>
                </a:solidFill>
                <a:latin typeface="Arial" panose="020B0604020202020204" pitchFamily="34" charset="0"/>
                <a:ea typeface="Arial" panose="020B0604020202020204" pitchFamily="34" charset="0"/>
              </a:rPr>
              <a:t>VMM </a:t>
            </a:r>
            <a:r>
              <a:rPr lang="en-US" sz="2400" b="1" dirty="0">
                <a:solidFill>
                  <a:srgbClr val="000000"/>
                </a:solidFill>
                <a:latin typeface="Arial" panose="020B0604020202020204" pitchFamily="34" charset="0"/>
                <a:ea typeface="Arial" panose="020B0604020202020204" pitchFamily="34" charset="0"/>
              </a:rPr>
              <a:t>+</a:t>
            </a:r>
            <a:r>
              <a:rPr lang="ru-RU" sz="2400" b="1" dirty="0">
                <a:solidFill>
                  <a:srgbClr val="000000"/>
                </a:solidFill>
                <a:latin typeface="Arial" panose="020B0604020202020204" pitchFamily="34" charset="0"/>
                <a:ea typeface="Arial" panose="020B0604020202020204" pitchFamily="34" charset="0"/>
              </a:rPr>
              <a:t> дополнительное ПО:</a:t>
            </a:r>
            <a:endParaRPr lang="ru-RU" sz="900" dirty="0">
              <a:solidFill>
                <a:srgbClr val="000000"/>
              </a:solidFill>
              <a:latin typeface="Calibri" panose="020F0502020204030204" pitchFamily="34" charset="0"/>
              <a:ea typeface="Calibri" panose="020F0502020204030204" pitchFamily="34" charset="0"/>
            </a:endParaRPr>
          </a:p>
          <a:p>
            <a:pPr marL="600075" marR="155258" lvl="1" indent="-257175" fontAlgn="base">
              <a:lnSpc>
                <a:spcPct val="110000"/>
              </a:lnSpc>
              <a:spcAft>
                <a:spcPts val="656"/>
              </a:spcAft>
              <a:buClr>
                <a:srgbClr val="000000"/>
              </a:buClr>
              <a:buSzPts val="2400"/>
              <a:buFont typeface="Arial" panose="020B0604020202020204" pitchFamily="34" charset="0"/>
              <a:buChar char="–"/>
            </a:pPr>
            <a:r>
              <a:rPr lang="ru-RU"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Доступ (удаленный) к </a:t>
            </a:r>
            <a:r>
              <a:rPr lang="ru-RU" u="none" strike="noStrike" dirty="0" err="1">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видеоконсоли</a:t>
            </a:r>
            <a:r>
              <a:rPr lang="ru-RU"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 VM</a:t>
            </a:r>
            <a:endParaRPr lang="ru-RU" sz="6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00075" marR="155258" lvl="1" indent="-257175" fontAlgn="base">
              <a:lnSpc>
                <a:spcPct val="110000"/>
              </a:lnSpc>
              <a:spcAft>
                <a:spcPts val="671"/>
              </a:spcAft>
              <a:buClr>
                <a:srgbClr val="000000"/>
              </a:buClr>
              <a:buSzPts val="2400"/>
              <a:buFont typeface="Arial" panose="020B0604020202020204" pitchFamily="34" charset="0"/>
              <a:buChar char="–"/>
            </a:pPr>
            <a:r>
              <a:rPr lang="ru-RU"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Управление запуском VM</a:t>
            </a:r>
            <a:endParaRPr lang="ru-RU" sz="6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00075" marR="155258" lvl="1" indent="-257175" fontAlgn="base">
              <a:lnSpc>
                <a:spcPct val="110000"/>
              </a:lnSpc>
              <a:spcAft>
                <a:spcPts val="653"/>
              </a:spcAft>
              <a:buClr>
                <a:srgbClr val="000000"/>
              </a:buClr>
              <a:buSzPts val="2400"/>
              <a:buFont typeface="Arial" panose="020B0604020202020204" pitchFamily="34" charset="0"/>
              <a:buChar char="–"/>
            </a:pPr>
            <a:r>
              <a:rPr lang="ru-RU"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Перераспределение ресурсов между VM</a:t>
            </a:r>
            <a:endParaRPr lang="ru-RU" sz="6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00075" marR="155258" lvl="1" indent="-257175" fontAlgn="base">
              <a:lnSpc>
                <a:spcPct val="110000"/>
              </a:lnSpc>
              <a:spcAft>
                <a:spcPts val="645"/>
              </a:spcAft>
              <a:buClr>
                <a:srgbClr val="000000"/>
              </a:buClr>
              <a:buSzPts val="2400"/>
              <a:buFont typeface="Arial" panose="020B0604020202020204" pitchFamily="34" charset="0"/>
              <a:buChar char="–"/>
            </a:pPr>
            <a:r>
              <a:rPr lang="ru-RU"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Создание «снимков» VM</a:t>
            </a:r>
            <a:endParaRPr lang="ru-RU" sz="6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00075" marR="155258" lvl="1" indent="-257175" fontAlgn="base">
              <a:lnSpc>
                <a:spcPct val="110000"/>
              </a:lnSpc>
              <a:spcAft>
                <a:spcPts val="900"/>
              </a:spcAft>
              <a:buClr>
                <a:srgbClr val="000000"/>
              </a:buClr>
              <a:buSzPts val="2400"/>
              <a:buFont typeface="Arial" panose="020B0604020202020204" pitchFamily="34" charset="0"/>
              <a:buChar char="–"/>
            </a:pPr>
            <a:r>
              <a:rPr lang="ru-RU"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Предоставление статистики и </a:t>
            </a:r>
            <a:r>
              <a:rPr lang="ru-RU" u="none" strike="noStrike" dirty="0" err="1">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on-line</a:t>
            </a:r>
            <a:r>
              <a:rPr lang="ru-RU"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 данных</a:t>
            </a:r>
            <a:endParaRPr lang="en-US"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00075" marR="155258" lvl="1" indent="-257175" fontAlgn="base">
              <a:lnSpc>
                <a:spcPct val="110000"/>
              </a:lnSpc>
              <a:spcAft>
                <a:spcPts val="3131"/>
              </a:spcAft>
              <a:buClr>
                <a:srgbClr val="000000"/>
              </a:buClr>
              <a:buSzPts val="2400"/>
              <a:buFont typeface="Arial" panose="020B0604020202020204" pitchFamily="34" charset="0"/>
              <a:buChar char="–"/>
            </a:pPr>
            <a:r>
              <a:rPr lang="ru-RU" dirty="0">
                <a:solidFill>
                  <a:srgbClr val="000000"/>
                </a:solidFill>
                <a:effectLst/>
                <a:latin typeface="Arial" panose="020B0604020202020204" pitchFamily="34" charset="0"/>
                <a:ea typeface="Arial" panose="020B0604020202020204" pitchFamily="34" charset="0"/>
              </a:rPr>
              <a:t>Функции резервного копирования</a:t>
            </a:r>
            <a:endParaRPr lang="ru-RU" dirty="0"/>
          </a:p>
        </p:txBody>
      </p:sp>
    </p:spTree>
    <p:extLst>
      <p:ext uri="{BB962C8B-B14F-4D97-AF65-F5344CB8AC3E}">
        <p14:creationId xmlns:p14="http://schemas.microsoft.com/office/powerpoint/2010/main" val="17936844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35193A-C53E-44B5-8727-0D5AE88BE22D}"/>
              </a:ext>
            </a:extLst>
          </p:cNvPr>
          <p:cNvSpPr>
            <a:spLocks noGrp="1"/>
          </p:cNvSpPr>
          <p:nvPr>
            <p:ph type="title"/>
          </p:nvPr>
        </p:nvSpPr>
        <p:spPr/>
        <p:txBody>
          <a:bodyPr/>
          <a:lstStyle/>
          <a:p>
            <a:r>
              <a:rPr lang="ru-RU" dirty="0"/>
              <a:t>Консолидация серверов</a:t>
            </a:r>
          </a:p>
        </p:txBody>
      </p:sp>
      <p:pic>
        <p:nvPicPr>
          <p:cNvPr id="4" name="Объект 3">
            <a:extLst>
              <a:ext uri="{FF2B5EF4-FFF2-40B4-BE49-F238E27FC236}">
                <a16:creationId xmlns:a16="http://schemas.microsoft.com/office/drawing/2014/main" id="{2C7701E3-D51D-4EDB-9789-558B6F1809F5}"/>
              </a:ext>
            </a:extLst>
          </p:cNvPr>
          <p:cNvPicPr>
            <a:picLocks noGrp="1" noChangeAspect="1"/>
          </p:cNvPicPr>
          <p:nvPr>
            <p:ph idx="1"/>
          </p:nvPr>
        </p:nvPicPr>
        <p:blipFill>
          <a:blip r:embed="rId2"/>
          <a:stretch>
            <a:fillRect/>
          </a:stretch>
        </p:blipFill>
        <p:spPr>
          <a:xfrm>
            <a:off x="1335405" y="1496973"/>
            <a:ext cx="6473190" cy="3007995"/>
          </a:xfrm>
          <a:prstGeom prst="rect">
            <a:avLst/>
          </a:prstGeom>
        </p:spPr>
      </p:pic>
    </p:spTree>
    <p:extLst>
      <p:ext uri="{BB962C8B-B14F-4D97-AF65-F5344CB8AC3E}">
        <p14:creationId xmlns:p14="http://schemas.microsoft.com/office/powerpoint/2010/main" val="2401255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35193A-C53E-44B5-8727-0D5AE88BE22D}"/>
              </a:ext>
            </a:extLst>
          </p:cNvPr>
          <p:cNvSpPr>
            <a:spLocks noGrp="1"/>
          </p:cNvSpPr>
          <p:nvPr>
            <p:ph type="title"/>
          </p:nvPr>
        </p:nvSpPr>
        <p:spPr/>
        <p:txBody>
          <a:bodyPr/>
          <a:lstStyle/>
          <a:p>
            <a:r>
              <a:rPr lang="ru-RU" dirty="0"/>
              <a:t>Консолидация серверов</a:t>
            </a:r>
          </a:p>
        </p:txBody>
      </p:sp>
      <p:sp>
        <p:nvSpPr>
          <p:cNvPr id="5" name="Объект 4">
            <a:extLst>
              <a:ext uri="{FF2B5EF4-FFF2-40B4-BE49-F238E27FC236}">
                <a16:creationId xmlns:a16="http://schemas.microsoft.com/office/drawing/2014/main" id="{D2B40BD0-EBC6-4D30-96F3-D9A2D60BDAB9}"/>
              </a:ext>
            </a:extLst>
          </p:cNvPr>
          <p:cNvSpPr>
            <a:spLocks noGrp="1"/>
          </p:cNvSpPr>
          <p:nvPr>
            <p:ph idx="1"/>
          </p:nvPr>
        </p:nvSpPr>
        <p:spPr/>
        <p:txBody>
          <a:bodyPr>
            <a:normAutofit fontScale="92500" lnSpcReduction="20000"/>
          </a:bodyPr>
          <a:lstStyle/>
          <a:p>
            <a:pPr marL="257175" indent="-257175" algn="just" fontAlgn="base">
              <a:lnSpc>
                <a:spcPct val="108000"/>
              </a:lnSpc>
              <a:spcAft>
                <a:spcPts val="270"/>
              </a:spcAft>
              <a:buClr>
                <a:srgbClr val="000000"/>
              </a:buClr>
              <a:buSzPts val="2800"/>
              <a:buFont typeface="Arial" panose="020B0604020202020204" pitchFamily="34" charset="0"/>
              <a:buChar char="•"/>
            </a:pPr>
            <a:r>
              <a:rPr lang="ru-RU" sz="2100" b="1"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Преимущества консолидации</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Эффективное использование многоядерных систем</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Снижение затрат на оборудование, электропитание, пространство</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Оптимизация затрат на поддержку</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3514"/>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Организация гетерогенных систем</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257175" indent="-257175" algn="just" fontAlgn="base">
              <a:lnSpc>
                <a:spcPct val="108000"/>
              </a:lnSpc>
              <a:spcAft>
                <a:spcPts val="270"/>
              </a:spcAft>
              <a:buClr>
                <a:srgbClr val="000000"/>
              </a:buClr>
              <a:buSzPts val="2800"/>
              <a:buFont typeface="Arial" panose="020B0604020202020204" pitchFamily="34" charset="0"/>
              <a:buChar char="•"/>
            </a:pPr>
            <a:r>
              <a:rPr lang="ru-RU" sz="2100" b="1"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Новые задачи:</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Необходимо обеспечить высокую надежность</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ru-RU" dirty="0"/>
          </a:p>
        </p:txBody>
      </p:sp>
    </p:spTree>
    <p:extLst>
      <p:ext uri="{BB962C8B-B14F-4D97-AF65-F5344CB8AC3E}">
        <p14:creationId xmlns:p14="http://schemas.microsoft.com/office/powerpoint/2010/main" val="20758279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1497B8-E685-46DC-9F50-630A3542DC3C}"/>
              </a:ext>
            </a:extLst>
          </p:cNvPr>
          <p:cNvSpPr>
            <a:spLocks noGrp="1"/>
          </p:cNvSpPr>
          <p:nvPr>
            <p:ph type="title"/>
          </p:nvPr>
        </p:nvSpPr>
        <p:spPr/>
        <p:txBody>
          <a:bodyPr/>
          <a:lstStyle/>
          <a:p>
            <a:r>
              <a:rPr lang="ru-RU" dirty="0"/>
              <a:t>Изоляция сервисов</a:t>
            </a:r>
          </a:p>
        </p:txBody>
      </p:sp>
      <p:pic>
        <p:nvPicPr>
          <p:cNvPr id="4" name="Объект 3">
            <a:extLst>
              <a:ext uri="{FF2B5EF4-FFF2-40B4-BE49-F238E27FC236}">
                <a16:creationId xmlns:a16="http://schemas.microsoft.com/office/drawing/2014/main" id="{3E902873-5A76-4DA0-A6FE-052956AE6045}"/>
              </a:ext>
            </a:extLst>
          </p:cNvPr>
          <p:cNvPicPr>
            <a:picLocks noGrp="1" noChangeAspect="1"/>
          </p:cNvPicPr>
          <p:nvPr>
            <p:ph idx="1"/>
          </p:nvPr>
        </p:nvPicPr>
        <p:blipFill>
          <a:blip r:embed="rId2"/>
          <a:stretch>
            <a:fillRect/>
          </a:stretch>
        </p:blipFill>
        <p:spPr>
          <a:xfrm>
            <a:off x="1335405" y="1496973"/>
            <a:ext cx="6473190" cy="3007995"/>
          </a:xfrm>
          <a:prstGeom prst="rect">
            <a:avLst/>
          </a:prstGeom>
        </p:spPr>
      </p:pic>
    </p:spTree>
    <p:extLst>
      <p:ext uri="{BB962C8B-B14F-4D97-AF65-F5344CB8AC3E}">
        <p14:creationId xmlns:p14="http://schemas.microsoft.com/office/powerpoint/2010/main" val="41431408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3E7D4B-A02C-479E-B6E5-463FC780AAC1}"/>
              </a:ext>
            </a:extLst>
          </p:cNvPr>
          <p:cNvSpPr>
            <a:spLocks noGrp="1"/>
          </p:cNvSpPr>
          <p:nvPr>
            <p:ph type="title"/>
          </p:nvPr>
        </p:nvSpPr>
        <p:spPr/>
        <p:txBody>
          <a:bodyPr/>
          <a:lstStyle/>
          <a:p>
            <a:r>
              <a:rPr lang="ru-RU" dirty="0"/>
              <a:t>Отказоустойчивость</a:t>
            </a:r>
          </a:p>
        </p:txBody>
      </p:sp>
      <p:pic>
        <p:nvPicPr>
          <p:cNvPr id="4" name="Объект 3">
            <a:extLst>
              <a:ext uri="{FF2B5EF4-FFF2-40B4-BE49-F238E27FC236}">
                <a16:creationId xmlns:a16="http://schemas.microsoft.com/office/drawing/2014/main" id="{D95DAA36-5FDD-4ECC-82C8-E1D12C549A47}"/>
              </a:ext>
            </a:extLst>
          </p:cNvPr>
          <p:cNvPicPr>
            <a:picLocks noGrp="1" noChangeAspect="1"/>
          </p:cNvPicPr>
          <p:nvPr>
            <p:ph idx="1"/>
          </p:nvPr>
        </p:nvPicPr>
        <p:blipFill>
          <a:blip r:embed="rId2"/>
          <a:stretch>
            <a:fillRect/>
          </a:stretch>
        </p:blipFill>
        <p:spPr>
          <a:xfrm>
            <a:off x="1690396" y="1369219"/>
            <a:ext cx="5763208" cy="3263504"/>
          </a:xfrm>
          <a:prstGeom prst="rect">
            <a:avLst/>
          </a:prstGeom>
        </p:spPr>
      </p:pic>
    </p:spTree>
    <p:extLst>
      <p:ext uri="{BB962C8B-B14F-4D97-AF65-F5344CB8AC3E}">
        <p14:creationId xmlns:p14="http://schemas.microsoft.com/office/powerpoint/2010/main" val="754089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FA094F-C43F-4EA0-8FB8-0B04977B9AF8}"/>
              </a:ext>
            </a:extLst>
          </p:cNvPr>
          <p:cNvSpPr>
            <a:spLocks noGrp="1"/>
          </p:cNvSpPr>
          <p:nvPr>
            <p:ph type="title"/>
          </p:nvPr>
        </p:nvSpPr>
        <p:spPr/>
        <p:txBody>
          <a:bodyPr/>
          <a:lstStyle/>
          <a:p>
            <a:r>
              <a:rPr lang="ru-RU" dirty="0"/>
              <a:t>Отказоустойчивость</a:t>
            </a:r>
          </a:p>
        </p:txBody>
      </p:sp>
      <p:sp>
        <p:nvSpPr>
          <p:cNvPr id="3" name="Объект 2">
            <a:extLst>
              <a:ext uri="{FF2B5EF4-FFF2-40B4-BE49-F238E27FC236}">
                <a16:creationId xmlns:a16="http://schemas.microsoft.com/office/drawing/2014/main" id="{C4B447F0-99BA-4F62-B42B-4CA6772D6551}"/>
              </a:ext>
            </a:extLst>
          </p:cNvPr>
          <p:cNvSpPr>
            <a:spLocks noGrp="1"/>
          </p:cNvSpPr>
          <p:nvPr>
            <p:ph idx="1"/>
          </p:nvPr>
        </p:nvSpPr>
        <p:spPr/>
        <p:txBody>
          <a:bodyPr>
            <a:normAutofit fontScale="77500" lnSpcReduction="20000"/>
          </a:bodyPr>
          <a:lstStyle/>
          <a:p>
            <a:pPr marL="257175" indent="-257175" algn="just" fontAlgn="base">
              <a:lnSpc>
                <a:spcPct val="108000"/>
              </a:lnSpc>
              <a:spcAft>
                <a:spcPts val="270"/>
              </a:spcAft>
              <a:buClr>
                <a:srgbClr val="000000"/>
              </a:buClr>
              <a:buSzPts val="2800"/>
              <a:buFont typeface="Arial" panose="020B0604020202020204" pitchFamily="34" charset="0"/>
              <a:buChar char="•"/>
            </a:pPr>
            <a:r>
              <a:rPr lang="ru-RU" sz="2100" b="1"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Преимущества виртуализации</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Использование серверов с разными конфигурациями</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Снижение времени недоступности сервиса</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Активное использование всех серверов</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3461"/>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Возможность быстрого переноса всех сервисов на другой сервер при профилактических работах</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257175" indent="-257175" algn="just" fontAlgn="base">
              <a:lnSpc>
                <a:spcPct val="108000"/>
              </a:lnSpc>
              <a:spcAft>
                <a:spcPts val="416"/>
              </a:spcAft>
              <a:buClr>
                <a:srgbClr val="000000"/>
              </a:buClr>
              <a:buSzPts val="2800"/>
              <a:buFont typeface="Arial" panose="020B0604020202020204" pitchFamily="34" charset="0"/>
              <a:buChar char="•"/>
            </a:pPr>
            <a:r>
              <a:rPr lang="ru-RU" sz="2100" b="1"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Динамическое распределение нагрузки</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57213" marR="155258" lvl="1" indent="-214313" fontAlgn="base">
              <a:lnSpc>
                <a:spcPct val="110000"/>
              </a:lnSpc>
              <a:spcAft>
                <a:spcPts val="518"/>
              </a:spcAft>
              <a:buClr>
                <a:srgbClr val="000000"/>
              </a:buClr>
              <a:buSzPts val="2400"/>
              <a:buFont typeface="Arial" panose="020B0604020202020204" pitchFamily="34" charset="0"/>
              <a:buChar char="–"/>
            </a:pPr>
            <a:r>
              <a:rPr lang="ru-RU" sz="18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Миграция VM на другой сервер без остановки ОС</a:t>
            </a:r>
            <a:endParaRPr lang="ru-RU" sz="825"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endParaRPr lang="ru-RU" dirty="0"/>
          </a:p>
        </p:txBody>
      </p:sp>
    </p:spTree>
    <p:extLst>
      <p:ext uri="{BB962C8B-B14F-4D97-AF65-F5344CB8AC3E}">
        <p14:creationId xmlns:p14="http://schemas.microsoft.com/office/powerpoint/2010/main" val="9976483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23917A-B3CE-47C3-BF79-31463E1C55B9}"/>
              </a:ext>
            </a:extLst>
          </p:cNvPr>
          <p:cNvSpPr>
            <a:spLocks noGrp="1"/>
          </p:cNvSpPr>
          <p:nvPr>
            <p:ph type="title"/>
          </p:nvPr>
        </p:nvSpPr>
        <p:spPr>
          <a:xfrm>
            <a:off x="354676" y="676822"/>
            <a:ext cx="8229600" cy="620483"/>
          </a:xfrm>
        </p:spPr>
        <p:txBody>
          <a:bodyPr/>
          <a:lstStyle/>
          <a:p>
            <a:r>
              <a:rPr lang="ru-RU" dirty="0"/>
              <a:t>Тестирование ПО</a:t>
            </a:r>
          </a:p>
        </p:txBody>
      </p:sp>
      <p:sp>
        <p:nvSpPr>
          <p:cNvPr id="3" name="Объект 2">
            <a:extLst>
              <a:ext uri="{FF2B5EF4-FFF2-40B4-BE49-F238E27FC236}">
                <a16:creationId xmlns:a16="http://schemas.microsoft.com/office/drawing/2014/main" id="{0CB51597-3A2F-43E5-81F6-1AFA1508077C}"/>
              </a:ext>
            </a:extLst>
          </p:cNvPr>
          <p:cNvSpPr>
            <a:spLocks noGrp="1"/>
          </p:cNvSpPr>
          <p:nvPr>
            <p:ph idx="1"/>
          </p:nvPr>
        </p:nvSpPr>
        <p:spPr>
          <a:xfrm>
            <a:off x="1574084" y="3846195"/>
            <a:ext cx="7886700" cy="940486"/>
          </a:xfrm>
        </p:spPr>
        <p:txBody>
          <a:bodyPr>
            <a:normAutofit fontScale="55000" lnSpcReduction="20000"/>
          </a:bodyPr>
          <a:lstStyle/>
          <a:p>
            <a:pPr marL="0" indent="0" algn="just">
              <a:lnSpc>
                <a:spcPct val="108000"/>
              </a:lnSpc>
              <a:spcAft>
                <a:spcPts val="270"/>
              </a:spcAft>
              <a:buNone/>
            </a:pPr>
            <a:r>
              <a:rPr lang="ru-RU" sz="2400" b="1" dirty="0">
                <a:solidFill>
                  <a:srgbClr val="000000"/>
                </a:solidFill>
                <a:latin typeface="Arial" panose="020B0604020202020204" pitchFamily="34" charset="0"/>
                <a:ea typeface="Arial" panose="020B0604020202020204" pitchFamily="34" charset="0"/>
              </a:rPr>
              <a:t>Преимущества виртуализации</a:t>
            </a:r>
            <a:endParaRPr lang="ru-RU" sz="900" dirty="0">
              <a:solidFill>
                <a:srgbClr val="000000"/>
              </a:solidFill>
              <a:latin typeface="Calibri" panose="020F0502020204030204" pitchFamily="34" charset="0"/>
              <a:ea typeface="Calibri" panose="020F0502020204030204" pitchFamily="34" charset="0"/>
            </a:endParaRPr>
          </a:p>
          <a:p>
            <a:pPr marR="537210" fontAlgn="base">
              <a:lnSpc>
                <a:spcPct val="107000"/>
              </a:lnSpc>
              <a:spcAft>
                <a:spcPts val="570"/>
              </a:spcAft>
              <a:buClr>
                <a:srgbClr val="000000"/>
              </a:buClr>
              <a:buSzPts val="2400"/>
            </a:pPr>
            <a:r>
              <a:rPr lang="ru-RU" sz="2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Тестирование не требует реальных ресурсов</a:t>
            </a:r>
            <a:endParaRPr lang="ru-RU" sz="9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R="537210" fontAlgn="base">
              <a:lnSpc>
                <a:spcPct val="107000"/>
              </a:lnSpc>
              <a:spcAft>
                <a:spcPts val="570"/>
              </a:spcAft>
              <a:buClr>
                <a:srgbClr val="000000"/>
              </a:buClr>
              <a:buSzPts val="2400"/>
            </a:pPr>
            <a:r>
              <a:rPr lang="ru-RU" sz="2175" dirty="0">
                <a:solidFill>
                  <a:srgbClr val="000000"/>
                </a:solidFill>
                <a:uFill>
                  <a:solidFill>
                    <a:srgbClr val="000000"/>
                  </a:solidFill>
                </a:uFill>
                <a:latin typeface="Arial" panose="020B0604020202020204" pitchFamily="34" charset="0"/>
                <a:cs typeface="Arial" panose="020B0604020202020204" pitchFamily="34" charset="0"/>
              </a:rPr>
              <a:t>Легко провести повторные испытания</a:t>
            </a:r>
          </a:p>
        </p:txBody>
      </p:sp>
      <p:pic>
        <p:nvPicPr>
          <p:cNvPr id="4" name="Рисунок 3">
            <a:extLst>
              <a:ext uri="{FF2B5EF4-FFF2-40B4-BE49-F238E27FC236}">
                <a16:creationId xmlns:a16="http://schemas.microsoft.com/office/drawing/2014/main" id="{1244974A-0D53-4856-9560-6E5730D204E4}"/>
              </a:ext>
            </a:extLst>
          </p:cNvPr>
          <p:cNvPicPr>
            <a:picLocks noChangeAspect="1"/>
          </p:cNvPicPr>
          <p:nvPr/>
        </p:nvPicPr>
        <p:blipFill>
          <a:blip r:embed="rId2"/>
          <a:stretch>
            <a:fillRect/>
          </a:stretch>
        </p:blipFill>
        <p:spPr>
          <a:xfrm>
            <a:off x="1335405" y="1297305"/>
            <a:ext cx="6473190" cy="2548890"/>
          </a:xfrm>
          <a:prstGeom prst="rect">
            <a:avLst/>
          </a:prstGeom>
        </p:spPr>
      </p:pic>
    </p:spTree>
    <p:extLst>
      <p:ext uri="{BB962C8B-B14F-4D97-AF65-F5344CB8AC3E}">
        <p14:creationId xmlns:p14="http://schemas.microsoft.com/office/powerpoint/2010/main" val="25197764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88620" y="628651"/>
            <a:ext cx="6172200" cy="685800"/>
          </a:xfrm>
        </p:spPr>
        <p:txBody>
          <a:bodyPr/>
          <a:lstStyle/>
          <a:p>
            <a:r>
              <a:rPr lang="ru-RU" altLang="ru-RU" sz="2400" dirty="0"/>
              <a:t>Аппаратная поддержка виртуализации</a:t>
            </a:r>
          </a:p>
        </p:txBody>
      </p:sp>
      <p:sp>
        <p:nvSpPr>
          <p:cNvPr id="40963" name="Rectangle 3"/>
          <p:cNvSpPr>
            <a:spLocks noGrp="1" noChangeArrowheads="1"/>
          </p:cNvSpPr>
          <p:nvPr>
            <p:ph type="body" idx="1"/>
          </p:nvPr>
        </p:nvSpPr>
        <p:spPr>
          <a:xfrm>
            <a:off x="1485900" y="1636775"/>
            <a:ext cx="6871716" cy="2957847"/>
          </a:xfrm>
        </p:spPr>
        <p:txBody>
          <a:bodyPr/>
          <a:lstStyle/>
          <a:p>
            <a:pPr marL="101600" indent="0">
              <a:spcBef>
                <a:spcPts val="0"/>
              </a:spcBef>
              <a:buNone/>
            </a:pPr>
            <a:r>
              <a:rPr lang="ru-RU" altLang="ru-RU" sz="1500" dirty="0" smtClean="0"/>
              <a:t>Технологии:</a:t>
            </a:r>
          </a:p>
          <a:p>
            <a:pPr lvl="1">
              <a:spcBef>
                <a:spcPts val="0"/>
              </a:spcBef>
            </a:pPr>
            <a:r>
              <a:rPr lang="ru-RU" altLang="ru-RU" sz="1500" b="1" dirty="0" err="1" smtClean="0">
                <a:solidFill>
                  <a:srgbClr val="800000"/>
                </a:solidFill>
              </a:rPr>
              <a:t>Intel</a:t>
            </a:r>
            <a:r>
              <a:rPr lang="ru-RU" altLang="ru-RU" sz="1500" b="1" dirty="0" smtClean="0">
                <a:solidFill>
                  <a:srgbClr val="800000"/>
                </a:solidFill>
              </a:rPr>
              <a:t> VT</a:t>
            </a:r>
          </a:p>
          <a:p>
            <a:pPr lvl="1">
              <a:spcBef>
                <a:spcPts val="0"/>
              </a:spcBef>
            </a:pPr>
            <a:r>
              <a:rPr lang="ru-RU" altLang="ru-RU" sz="1500" b="1" dirty="0" smtClean="0">
                <a:solidFill>
                  <a:srgbClr val="800000"/>
                </a:solidFill>
              </a:rPr>
              <a:t>AMD </a:t>
            </a:r>
            <a:r>
              <a:rPr lang="ru-RU" altLang="ru-RU" sz="1500" b="1" dirty="0" err="1">
                <a:solidFill>
                  <a:srgbClr val="800000"/>
                </a:solidFill>
              </a:rPr>
              <a:t>Pacific</a:t>
            </a:r>
            <a:r>
              <a:rPr lang="en-US" altLang="ru-RU" sz="1500" b="1" dirty="0" smtClean="0">
                <a:solidFill>
                  <a:srgbClr val="800000"/>
                </a:solidFill>
              </a:rPr>
              <a:t>a</a:t>
            </a:r>
            <a:endParaRPr lang="ru-RU" altLang="ru-RU" sz="1500" b="1" dirty="0" smtClean="0">
              <a:solidFill>
                <a:srgbClr val="800000"/>
              </a:solidFill>
            </a:endParaRPr>
          </a:p>
          <a:p>
            <a:pPr lvl="1">
              <a:spcBef>
                <a:spcPts val="0"/>
              </a:spcBef>
            </a:pPr>
            <a:endParaRPr lang="ru-RU" altLang="ru-RU" sz="1500" b="1" dirty="0">
              <a:solidFill>
                <a:srgbClr val="800000"/>
              </a:solidFill>
            </a:endParaRPr>
          </a:p>
          <a:p>
            <a:pPr marL="101600" indent="0">
              <a:spcBef>
                <a:spcPts val="0"/>
              </a:spcBef>
              <a:buNone/>
            </a:pPr>
            <a:r>
              <a:rPr lang="ru-RU" altLang="ru-RU" sz="1500" dirty="0"/>
              <a:t>Используют идеи и решения, отработанные на виртуальных системах IBM VM (начиная с IBM </a:t>
            </a:r>
            <a:r>
              <a:rPr lang="ru-RU" altLang="ru-RU" sz="1500" dirty="0" err="1"/>
              <a:t>System</a:t>
            </a:r>
            <a:r>
              <a:rPr lang="ru-RU" altLang="ru-RU" sz="1500" dirty="0"/>
              <a:t> 370 – первой машины, обладающей аппаратной поддержкой </a:t>
            </a:r>
            <a:r>
              <a:rPr lang="en-US" altLang="ru-RU" sz="1500" dirty="0"/>
              <a:t>VM)</a:t>
            </a:r>
            <a:endParaRPr lang="ru-RU" altLang="ru-RU" sz="1500" dirty="0"/>
          </a:p>
          <a:p>
            <a:pPr marL="101600" indent="0">
              <a:spcBef>
                <a:spcPts val="0"/>
              </a:spcBef>
              <a:buNone/>
            </a:pPr>
            <a:r>
              <a:rPr lang="ru-RU" altLang="ru-RU" sz="1500" dirty="0"/>
              <a:t>Поддержка гипервизоров при полной виртуализации и </a:t>
            </a:r>
            <a:r>
              <a:rPr lang="ru-RU" altLang="ru-RU" sz="1500" dirty="0" err="1"/>
              <a:t>паравиртуализации</a:t>
            </a:r>
            <a:endParaRPr lang="ru-RU" altLang="ru-RU" sz="1500" dirty="0"/>
          </a:p>
        </p:txBody>
      </p:sp>
    </p:spTree>
    <p:extLst>
      <p:ext uri="{BB962C8B-B14F-4D97-AF65-F5344CB8AC3E}">
        <p14:creationId xmlns:p14="http://schemas.microsoft.com/office/powerpoint/2010/main" val="42255089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50162" y="598313"/>
            <a:ext cx="6172200" cy="457200"/>
          </a:xfrm>
        </p:spPr>
        <p:txBody>
          <a:bodyPr/>
          <a:lstStyle/>
          <a:p>
            <a:r>
              <a:rPr lang="ru-RU" altLang="ru-RU" sz="2400" dirty="0" err="1">
                <a:solidFill>
                  <a:schemeClr val="tx1"/>
                </a:solidFill>
              </a:rPr>
              <a:t>Intel</a:t>
            </a:r>
            <a:r>
              <a:rPr lang="ru-RU" altLang="ru-RU" sz="2400" dirty="0">
                <a:solidFill>
                  <a:schemeClr val="tx1"/>
                </a:solidFill>
              </a:rPr>
              <a:t> </a:t>
            </a:r>
            <a:r>
              <a:rPr lang="ru-RU" altLang="ru-RU" sz="2400" dirty="0" err="1">
                <a:solidFill>
                  <a:schemeClr val="tx1"/>
                </a:solidFill>
              </a:rPr>
              <a:t>Virtualization</a:t>
            </a:r>
            <a:r>
              <a:rPr lang="ru-RU" altLang="ru-RU" sz="2400" dirty="0">
                <a:solidFill>
                  <a:schemeClr val="tx1"/>
                </a:solidFill>
              </a:rPr>
              <a:t> </a:t>
            </a:r>
            <a:r>
              <a:rPr lang="ru-RU" altLang="ru-RU" sz="2400" dirty="0" err="1">
                <a:solidFill>
                  <a:schemeClr val="tx1"/>
                </a:solidFill>
              </a:rPr>
              <a:t>Technology</a:t>
            </a:r>
            <a:r>
              <a:rPr lang="ru-RU" altLang="ru-RU" sz="2400" dirty="0">
                <a:solidFill>
                  <a:schemeClr val="tx1"/>
                </a:solidFill>
              </a:rPr>
              <a:t> </a:t>
            </a:r>
            <a:r>
              <a:rPr lang="ru-RU" altLang="ru-RU" sz="2400" dirty="0" err="1">
                <a:solidFill>
                  <a:schemeClr val="tx1"/>
                </a:solidFill>
              </a:rPr>
              <a:t>for</a:t>
            </a:r>
            <a:r>
              <a:rPr lang="ru-RU" altLang="ru-RU" sz="2400" dirty="0">
                <a:solidFill>
                  <a:schemeClr val="tx1"/>
                </a:solidFill>
              </a:rPr>
              <a:t> x86 (VT-x)</a:t>
            </a:r>
          </a:p>
        </p:txBody>
      </p:sp>
      <p:sp>
        <p:nvSpPr>
          <p:cNvPr id="11268" name="Rectangle 4"/>
          <p:cNvSpPr>
            <a:spLocks noChangeArrowheads="1"/>
          </p:cNvSpPr>
          <p:nvPr/>
        </p:nvSpPr>
        <p:spPr bwMode="auto">
          <a:xfrm>
            <a:off x="332377" y="1156097"/>
            <a:ext cx="5052725" cy="326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Aft>
                <a:spcPct val="80000"/>
              </a:spcAft>
            </a:pPr>
            <a:r>
              <a:rPr lang="ru-RU" altLang="ru-RU" sz="1200" dirty="0"/>
              <a:t>Гипервизор (</a:t>
            </a:r>
            <a:r>
              <a:rPr lang="en-US" altLang="ru-RU" sz="1200" dirty="0"/>
              <a:t>VMM) </a:t>
            </a:r>
            <a:r>
              <a:rPr lang="ru-RU" altLang="ru-RU" sz="1200" dirty="0"/>
              <a:t>запускается </a:t>
            </a:r>
            <a:r>
              <a:rPr lang="ru-RU" altLang="ru-RU" sz="1200" u="sng" dirty="0"/>
              <a:t>как приложение базовой ОС</a:t>
            </a:r>
            <a:r>
              <a:rPr lang="ru-RU" altLang="ru-RU" sz="1200" dirty="0"/>
              <a:t> (</a:t>
            </a:r>
            <a:r>
              <a:rPr lang="en-US" altLang="ru-RU" sz="1200" dirty="0"/>
              <a:t>VMWare Workstation </a:t>
            </a:r>
            <a:r>
              <a:rPr lang="ru-RU" altLang="ru-RU" sz="1200" dirty="0"/>
              <a:t>и прочие), все виртуальные машины (</a:t>
            </a:r>
            <a:r>
              <a:rPr lang="en-US" altLang="ru-RU" sz="1200" dirty="0"/>
              <a:t>VM)</a:t>
            </a:r>
            <a:r>
              <a:rPr lang="ru-RU" altLang="ru-RU" sz="1200" dirty="0"/>
              <a:t> с гостевыми ОС управляются </a:t>
            </a:r>
            <a:r>
              <a:rPr lang="en-US" altLang="ru-RU" sz="1200" dirty="0"/>
              <a:t>VMM</a:t>
            </a:r>
            <a:r>
              <a:rPr lang="ru-RU" altLang="ru-RU" sz="1200" dirty="0"/>
              <a:t>.</a:t>
            </a:r>
          </a:p>
          <a:p>
            <a:pPr>
              <a:spcAft>
                <a:spcPct val="80000"/>
              </a:spcAft>
            </a:pPr>
            <a:r>
              <a:rPr lang="ru-RU" altLang="ru-RU" sz="1200" dirty="0"/>
              <a:t>Специальный режим работы процессора - режим выполнения виртуальной машины </a:t>
            </a:r>
            <a:r>
              <a:rPr lang="ru-RU" altLang="ru-RU" sz="1200" b="1" dirty="0" err="1"/>
              <a:t>Virtual</a:t>
            </a:r>
            <a:r>
              <a:rPr lang="ru-RU" altLang="ru-RU" sz="1200" b="1" dirty="0"/>
              <a:t> </a:t>
            </a:r>
            <a:r>
              <a:rPr lang="ru-RU" altLang="ru-RU" sz="1200" b="1" dirty="0" err="1"/>
              <a:t>Machine</a:t>
            </a:r>
            <a:r>
              <a:rPr lang="ru-RU" altLang="ru-RU" sz="1200" b="1" dirty="0"/>
              <a:t> </a:t>
            </a:r>
            <a:r>
              <a:rPr lang="ru-RU" altLang="ru-RU" sz="1200" b="1" dirty="0" err="1"/>
              <a:t>eXecution</a:t>
            </a:r>
            <a:r>
              <a:rPr lang="ru-RU" altLang="ru-RU" sz="1200" b="1" dirty="0"/>
              <a:t> </a:t>
            </a:r>
            <a:r>
              <a:rPr lang="ru-RU" altLang="ru-RU" sz="1200" b="1" dirty="0" err="1"/>
              <a:t>Mode</a:t>
            </a:r>
            <a:r>
              <a:rPr lang="ru-RU" altLang="ru-RU" sz="1200" b="1" dirty="0"/>
              <a:t> (VMX).</a:t>
            </a:r>
          </a:p>
          <a:p>
            <a:pPr>
              <a:spcAft>
                <a:spcPct val="80000"/>
              </a:spcAft>
            </a:pPr>
            <a:r>
              <a:rPr lang="ru-RU" altLang="ru-RU" sz="1200" dirty="0"/>
              <a:t>В режиме VMX два типа выполнения программного кода: </a:t>
            </a:r>
            <a:r>
              <a:rPr lang="ru-RU" altLang="ru-RU" sz="1200" b="1" dirty="0"/>
              <a:t>VMX-</a:t>
            </a:r>
            <a:r>
              <a:rPr lang="ru-RU" altLang="ru-RU" sz="1200" b="1" dirty="0" err="1"/>
              <a:t>root</a:t>
            </a:r>
            <a:r>
              <a:rPr lang="ru-RU" altLang="ru-RU" sz="1200" dirty="0"/>
              <a:t> и </a:t>
            </a:r>
            <a:r>
              <a:rPr lang="ru-RU" altLang="ru-RU" sz="1200" b="1" dirty="0"/>
              <a:t>VMX-</a:t>
            </a:r>
            <a:r>
              <a:rPr lang="ru-RU" altLang="ru-RU" sz="1200" b="1" dirty="0" err="1"/>
              <a:t>non</a:t>
            </a:r>
            <a:r>
              <a:rPr lang="ru-RU" altLang="ru-RU" sz="1200" b="1" dirty="0"/>
              <a:t>-</a:t>
            </a:r>
            <a:r>
              <a:rPr lang="ru-RU" altLang="ru-RU" sz="1200" b="1" dirty="0" err="1"/>
              <a:t>root</a:t>
            </a:r>
            <a:r>
              <a:rPr lang="ru-RU" altLang="ru-RU" sz="1200" dirty="0"/>
              <a:t>. </a:t>
            </a:r>
          </a:p>
          <a:p>
            <a:pPr marL="171450" indent="-171450" algn="just">
              <a:spcAft>
                <a:spcPct val="80000"/>
              </a:spcAft>
              <a:buFont typeface="Arial" panose="020B0604020202020204" pitchFamily="34" charset="0"/>
              <a:buChar char="•"/>
            </a:pPr>
            <a:r>
              <a:rPr lang="ru-RU" altLang="ru-RU" sz="1200" b="1" dirty="0"/>
              <a:t>VMX-</a:t>
            </a:r>
            <a:r>
              <a:rPr lang="ru-RU" altLang="ru-RU" sz="1200" b="1" dirty="0" err="1"/>
              <a:t>root</a:t>
            </a:r>
            <a:r>
              <a:rPr lang="ru-RU" altLang="ru-RU" sz="1200" dirty="0"/>
              <a:t> выполняется на процессоре практически так же, как и вне режима VMX, за исключением того, что в данном режиме предусмотрены дополнительные наборы инструкций процессора, а также </a:t>
            </a:r>
            <a:r>
              <a:rPr lang="ru-RU" altLang="ru-RU" sz="1200" dirty="0" smtClean="0"/>
              <a:t>некоторые ограничения </a:t>
            </a:r>
            <a:r>
              <a:rPr lang="ru-RU" altLang="ru-RU" sz="1200" dirty="0"/>
              <a:t>на значения, загружаемые в управляющие регистры. Гипервизор всегда выполняет свой код как VMX-</a:t>
            </a:r>
            <a:r>
              <a:rPr lang="ru-RU" altLang="ru-RU" sz="1200" dirty="0" err="1"/>
              <a:t>root</a:t>
            </a:r>
            <a:r>
              <a:rPr lang="ru-RU" altLang="ru-RU" sz="1200" dirty="0"/>
              <a:t>.</a:t>
            </a:r>
          </a:p>
          <a:p>
            <a:pPr>
              <a:spcAft>
                <a:spcPct val="80000"/>
              </a:spcAft>
              <a:buFontTx/>
              <a:buChar char="•"/>
            </a:pPr>
            <a:endParaRPr lang="ru-RU" altLang="ru-RU" sz="1200" dirty="0"/>
          </a:p>
        </p:txBody>
      </p:sp>
      <p:sp>
        <p:nvSpPr>
          <p:cNvPr id="11273" name="Text Box 9"/>
          <p:cNvSpPr txBox="1">
            <a:spLocks noChangeArrowheads="1"/>
          </p:cNvSpPr>
          <p:nvPr/>
        </p:nvSpPr>
        <p:spPr bwMode="auto">
          <a:xfrm>
            <a:off x="1754982" y="4067359"/>
            <a:ext cx="658891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71450" indent="-171450" algn="just">
              <a:spcAft>
                <a:spcPct val="40000"/>
              </a:spcAft>
              <a:buFont typeface="Arial" panose="020B0604020202020204" pitchFamily="34" charset="0"/>
              <a:buChar char="•"/>
            </a:pPr>
            <a:r>
              <a:rPr lang="ru-RU" altLang="ru-RU" sz="1200" b="1" dirty="0" smtClean="0"/>
              <a:t>VMX-</a:t>
            </a:r>
            <a:r>
              <a:rPr lang="ru-RU" altLang="ru-RU" sz="1200" b="1" dirty="0" err="1" smtClean="0"/>
              <a:t>non</a:t>
            </a:r>
            <a:r>
              <a:rPr lang="ru-RU" altLang="ru-RU" sz="1200" b="1" dirty="0" smtClean="0"/>
              <a:t>-</a:t>
            </a:r>
            <a:r>
              <a:rPr lang="ru-RU" altLang="ru-RU" sz="1200" b="1" dirty="0" err="1" smtClean="0"/>
              <a:t>root</a:t>
            </a:r>
            <a:r>
              <a:rPr lang="ru-RU" altLang="ru-RU" sz="1200" dirty="0" smtClean="0"/>
              <a:t> </a:t>
            </a:r>
            <a:r>
              <a:rPr lang="ru-RU" altLang="ru-RU" sz="1200" dirty="0"/>
              <a:t>предусмотрен для гостевой операционной системы. Взаимодействие гостевой операционной системы с процессором происходит посредством гипервизора. Вместо некоторых инструкций - выполнение выхода из виртуальной машины и передача управления гипервизору. VMX-режим для кода VMX-</a:t>
            </a:r>
            <a:r>
              <a:rPr lang="ru-RU" altLang="ru-RU" sz="1200" dirty="0" err="1"/>
              <a:t>non</a:t>
            </a:r>
            <a:r>
              <a:rPr lang="ru-RU" altLang="ru-RU" sz="1200" dirty="0"/>
              <a:t>-</a:t>
            </a:r>
            <a:r>
              <a:rPr lang="ru-RU" altLang="ru-RU" sz="1200" dirty="0" err="1"/>
              <a:t>root</a:t>
            </a:r>
            <a:r>
              <a:rPr lang="ru-RU" altLang="ru-RU" sz="1200" dirty="0"/>
              <a:t> не требует каких-либо модификаций гостевой ОС.</a:t>
            </a:r>
          </a:p>
        </p:txBody>
      </p:sp>
      <p:pic>
        <p:nvPicPr>
          <p:cNvPr id="11276" name="Picture 12" descr="VT-x basics_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6460" y="936641"/>
            <a:ext cx="3320653" cy="318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57262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FD53716-97EC-471F-8C85-7DDC8F6E3441}"/>
              </a:ext>
            </a:extLst>
          </p:cNvPr>
          <p:cNvSpPr>
            <a:spLocks noGrp="1"/>
          </p:cNvSpPr>
          <p:nvPr>
            <p:ph idx="1"/>
          </p:nvPr>
        </p:nvSpPr>
        <p:spPr/>
        <p:txBody>
          <a:bodyPr>
            <a:normAutofit fontScale="92500" lnSpcReduction="10000"/>
          </a:bodyPr>
          <a:lstStyle/>
          <a:p>
            <a:pPr marL="13097" indent="0" algn="just">
              <a:lnSpc>
                <a:spcPct val="108000"/>
              </a:lnSpc>
              <a:spcAft>
                <a:spcPts val="270"/>
              </a:spcAft>
              <a:buNone/>
            </a:pPr>
            <a:r>
              <a:rPr lang="ru-RU" sz="2400" b="1" dirty="0">
                <a:solidFill>
                  <a:srgbClr val="000000"/>
                </a:solidFill>
                <a:latin typeface="Arial" panose="020B0604020202020204" pitchFamily="34" charset="0"/>
                <a:ea typeface="Arial" panose="020B0604020202020204" pitchFamily="34" charset="0"/>
              </a:rPr>
              <a:t>Совокупность технологий для увеличения производительности VM:</a:t>
            </a:r>
            <a:endParaRPr lang="ru-RU" sz="900" dirty="0">
              <a:solidFill>
                <a:srgbClr val="000000"/>
              </a:solidFill>
              <a:latin typeface="Calibri" panose="020F0502020204030204" pitchFamily="34" charset="0"/>
              <a:ea typeface="Calibri" panose="020F0502020204030204" pitchFamily="34" charset="0"/>
            </a:endParaRPr>
          </a:p>
          <a:p>
            <a:pPr marL="257175" marR="155258" indent="-257175" fontAlgn="base">
              <a:lnSpc>
                <a:spcPct val="110000"/>
              </a:lnSpc>
              <a:spcAft>
                <a:spcPts val="518"/>
              </a:spcAft>
              <a:buClr>
                <a:srgbClr val="000000"/>
              </a:buClr>
              <a:buSzPts val="2400"/>
              <a:buFont typeface="Arial" panose="020B0604020202020204" pitchFamily="34" charset="0"/>
              <a:buChar char="–"/>
            </a:pPr>
            <a:r>
              <a:rPr lang="ru-RU" sz="2100" b="1"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VT-x </a:t>
            </a:r>
            <a:r>
              <a:rPr lang="ru-RU" sz="2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 оптимизация работы с ЦПУ (Xeon, Core 2 Duo)</a:t>
            </a:r>
            <a:endParaRPr lang="ru-RU" sz="9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257175" marR="155258" indent="-257175" fontAlgn="base">
              <a:lnSpc>
                <a:spcPct val="110000"/>
              </a:lnSpc>
              <a:spcAft>
                <a:spcPts val="623"/>
              </a:spcAft>
              <a:buClr>
                <a:srgbClr val="000000"/>
              </a:buClr>
              <a:buSzPts val="2400"/>
              <a:buFont typeface="Arial" panose="020B0604020202020204" pitchFamily="34" charset="0"/>
              <a:buChar char="–"/>
            </a:pPr>
            <a:r>
              <a:rPr lang="ru-RU" sz="2100" b="1"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VT-i </a:t>
            </a:r>
            <a:r>
              <a:rPr lang="ru-RU" sz="2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 аналог VT-x в процессорах Itanium</a:t>
            </a:r>
            <a:endParaRPr lang="ru-RU" sz="9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257175" marR="155258" indent="-257175" fontAlgn="base">
              <a:lnSpc>
                <a:spcPct val="110000"/>
              </a:lnSpc>
              <a:spcAft>
                <a:spcPts val="664"/>
              </a:spcAft>
              <a:buClr>
                <a:srgbClr val="000000"/>
              </a:buClr>
              <a:buSzPts val="2400"/>
              <a:buFont typeface="Arial" panose="020B0604020202020204" pitchFamily="34" charset="0"/>
              <a:buChar char="–"/>
            </a:pPr>
            <a:r>
              <a:rPr lang="ru-RU" sz="2100" b="1"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VT-d </a:t>
            </a:r>
            <a:r>
              <a:rPr lang="ru-RU" sz="2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rPr>
              <a:t>– оптимизация работы с I/O (чипсет)</a:t>
            </a:r>
            <a:endParaRPr lang="ru-RU" sz="9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257175" marR="155258" indent="-257175" fontAlgn="base">
              <a:lnSpc>
                <a:spcPct val="110000"/>
              </a:lnSpc>
              <a:spcAft>
                <a:spcPts val="664"/>
              </a:spcAft>
              <a:buClr>
                <a:srgbClr val="000000"/>
              </a:buClr>
              <a:buSzPts val="2400"/>
              <a:buFont typeface="Arial" panose="020B0604020202020204" pitchFamily="34" charset="0"/>
              <a:buChar char="–"/>
            </a:pPr>
            <a:r>
              <a:rPr lang="ru-RU" b="1" dirty="0">
                <a:solidFill>
                  <a:srgbClr val="000000"/>
                </a:solidFill>
                <a:uFill>
                  <a:solidFill>
                    <a:srgbClr val="000000"/>
                  </a:solidFill>
                </a:uFill>
                <a:latin typeface="Arial" panose="020B0604020202020204" pitchFamily="34" charset="0"/>
                <a:cs typeface="Arial" panose="020B0604020202020204" pitchFamily="34" charset="0"/>
              </a:rPr>
              <a:t>VT-c – </a:t>
            </a:r>
            <a:r>
              <a:rPr lang="ru-RU" dirty="0">
                <a:solidFill>
                  <a:srgbClr val="000000"/>
                </a:solidFill>
                <a:uFill>
                  <a:solidFill>
                    <a:srgbClr val="000000"/>
                  </a:solidFill>
                </a:uFill>
                <a:latin typeface="Arial" panose="020B0604020202020204" pitchFamily="34" charset="0"/>
                <a:cs typeface="Arial" panose="020B0604020202020204" pitchFamily="34" charset="0"/>
              </a:rPr>
              <a:t>повышение эффективности сетевых интерфейсов (в сетевых картах Intel)</a:t>
            </a:r>
          </a:p>
        </p:txBody>
      </p:sp>
      <p:sp>
        <p:nvSpPr>
          <p:cNvPr id="5" name="Заголовок 4"/>
          <p:cNvSpPr>
            <a:spLocks noGrp="1"/>
          </p:cNvSpPr>
          <p:nvPr>
            <p:ph type="title"/>
          </p:nvPr>
        </p:nvSpPr>
        <p:spPr/>
        <p:txBody>
          <a:bodyPr>
            <a:normAutofit/>
          </a:bodyPr>
          <a:lstStyle/>
          <a:p>
            <a:r>
              <a:rPr lang="ru-RU" altLang="ru-RU" dirty="0" err="1">
                <a:solidFill>
                  <a:schemeClr val="tx1"/>
                </a:solidFill>
              </a:rPr>
              <a:t>Intel</a:t>
            </a:r>
            <a:r>
              <a:rPr lang="ru-RU" altLang="ru-RU" dirty="0">
                <a:solidFill>
                  <a:schemeClr val="tx1"/>
                </a:solidFill>
              </a:rPr>
              <a:t> </a:t>
            </a:r>
            <a:r>
              <a:rPr lang="ru-RU" altLang="ru-RU" dirty="0" err="1">
                <a:solidFill>
                  <a:schemeClr val="tx1"/>
                </a:solidFill>
              </a:rPr>
              <a:t>Virtualization</a:t>
            </a:r>
            <a:r>
              <a:rPr lang="ru-RU" altLang="ru-RU" dirty="0">
                <a:solidFill>
                  <a:schemeClr val="tx1"/>
                </a:solidFill>
              </a:rPr>
              <a:t> </a:t>
            </a:r>
            <a:r>
              <a:rPr lang="ru-RU" altLang="ru-RU" dirty="0" err="1">
                <a:solidFill>
                  <a:schemeClr val="tx1"/>
                </a:solidFill>
              </a:rPr>
              <a:t>Technology</a:t>
            </a:r>
            <a:r>
              <a:rPr lang="ru-RU" altLang="ru-RU" dirty="0">
                <a:solidFill>
                  <a:schemeClr val="tx1"/>
                </a:solidFill>
              </a:rPr>
              <a:t> </a:t>
            </a:r>
            <a:r>
              <a:rPr lang="ru-RU" altLang="ru-RU" dirty="0" err="1">
                <a:solidFill>
                  <a:schemeClr val="tx1"/>
                </a:solidFill>
              </a:rPr>
              <a:t>for</a:t>
            </a:r>
            <a:r>
              <a:rPr lang="ru-RU" altLang="ru-RU" dirty="0">
                <a:solidFill>
                  <a:schemeClr val="tx1"/>
                </a:solidFill>
              </a:rPr>
              <a:t> x86 (VT-x</a:t>
            </a:r>
            <a:r>
              <a:rPr lang="ru-RU" altLang="ru-RU" dirty="0" smtClean="0">
                <a:solidFill>
                  <a:schemeClr val="tx1"/>
                </a:solidFill>
              </a:rPr>
              <a:t>)</a:t>
            </a:r>
            <a:endParaRPr lang="ru-RU" dirty="0"/>
          </a:p>
        </p:txBody>
      </p:sp>
    </p:spTree>
    <p:extLst>
      <p:ext uri="{BB962C8B-B14F-4D97-AF65-F5344CB8AC3E}">
        <p14:creationId xmlns:p14="http://schemas.microsoft.com/office/powerpoint/2010/main" val="1705217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24662" y="692873"/>
            <a:ext cx="6172200" cy="457200"/>
          </a:xfrm>
        </p:spPr>
        <p:txBody>
          <a:bodyPr/>
          <a:lstStyle/>
          <a:p>
            <a:r>
              <a:rPr lang="ru-RU" altLang="ru-RU" sz="2400" dirty="0"/>
              <a:t>AMD </a:t>
            </a:r>
            <a:r>
              <a:rPr lang="ru-RU" altLang="ru-RU" sz="2400" dirty="0" err="1"/>
              <a:t>Pacific</a:t>
            </a:r>
            <a:endParaRPr lang="ru-RU" altLang="ru-RU" sz="2400" dirty="0"/>
          </a:p>
        </p:txBody>
      </p:sp>
      <p:sp>
        <p:nvSpPr>
          <p:cNvPr id="8196" name="Rectangle 4"/>
          <p:cNvSpPr>
            <a:spLocks noGrp="1" noChangeArrowheads="1"/>
          </p:cNvSpPr>
          <p:nvPr>
            <p:ph type="body" idx="1"/>
          </p:nvPr>
        </p:nvSpPr>
        <p:spPr>
          <a:xfrm>
            <a:off x="724662" y="1216152"/>
            <a:ext cx="6654546" cy="1166288"/>
          </a:xfrm>
          <a:noFill/>
          <a:ln/>
        </p:spPr>
        <p:txBody>
          <a:bodyPr>
            <a:normAutofit fontScale="92500" lnSpcReduction="10000"/>
          </a:bodyPr>
          <a:lstStyle/>
          <a:p>
            <a:pPr>
              <a:spcAft>
                <a:spcPct val="40000"/>
              </a:spcAft>
            </a:pPr>
            <a:r>
              <a:rPr lang="ru-RU" altLang="ru-RU" sz="1500" dirty="0"/>
              <a:t>Расширение </a:t>
            </a:r>
            <a:r>
              <a:rPr lang="en-US" altLang="ru-RU" sz="1500" b="1" dirty="0"/>
              <a:t>Security and Virtual Machine (SVM)</a:t>
            </a:r>
          </a:p>
          <a:p>
            <a:pPr algn="just">
              <a:spcAft>
                <a:spcPct val="40000"/>
              </a:spcAft>
            </a:pPr>
            <a:r>
              <a:rPr lang="ru-RU" altLang="ru-RU" sz="1500" dirty="0"/>
              <a:t>Гипервизор является </a:t>
            </a:r>
            <a:r>
              <a:rPr lang="ru-RU" altLang="ru-RU" sz="1500" u="sng" dirty="0"/>
              <a:t>системным кодом</a:t>
            </a:r>
            <a:r>
              <a:rPr lang="ru-RU" altLang="ru-RU" sz="1500" dirty="0"/>
              <a:t>, запускаемым из нулевого уровня, и выполняет роль </a:t>
            </a:r>
            <a:r>
              <a:rPr lang="ru-RU" altLang="ru-RU" sz="1500" u="sng" dirty="0"/>
              <a:t>ядра некоторой основной операционной системы</a:t>
            </a:r>
            <a:r>
              <a:rPr lang="ru-RU" altLang="ru-RU" sz="1500" dirty="0"/>
              <a:t> и только он работает с физическим оборудованием. </a:t>
            </a:r>
            <a:endParaRPr lang="ru-RU" altLang="ru-RU" sz="1500" dirty="0">
              <a:latin typeface="Arial Narrow" panose="020B0606020202030204" pitchFamily="34" charset="0"/>
            </a:endParaRPr>
          </a:p>
        </p:txBody>
      </p:sp>
      <p:pic>
        <p:nvPicPr>
          <p:cNvPr id="8198" name="Picture 6" descr="Pacific basics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6662" y="2321719"/>
            <a:ext cx="3656410" cy="2821781"/>
          </a:xfrm>
          <a:prstGeom prst="rect">
            <a:avLst/>
          </a:prstGeom>
          <a:noFill/>
          <a:extLst>
            <a:ext uri="{909E8E84-426E-40DD-AFC4-6F175D3DCCD1}">
              <a14:hiddenFill xmlns:a14="http://schemas.microsoft.com/office/drawing/2010/main">
                <a:solidFill>
                  <a:srgbClr val="FFFFFF"/>
                </a:solidFill>
              </a14:hiddenFill>
            </a:ext>
          </a:extLst>
        </p:spPr>
      </p:pic>
      <p:sp>
        <p:nvSpPr>
          <p:cNvPr id="8199" name="Rectangle 7"/>
          <p:cNvSpPr>
            <a:spLocks noChangeArrowheads="1"/>
          </p:cNvSpPr>
          <p:nvPr/>
        </p:nvSpPr>
        <p:spPr bwMode="auto">
          <a:xfrm>
            <a:off x="724662" y="2448519"/>
            <a:ext cx="4487418" cy="2080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457200" indent="-355600" algn="just">
              <a:lnSpc>
                <a:spcPct val="90000"/>
              </a:lnSpc>
              <a:spcBef>
                <a:spcPts val="400"/>
              </a:spcBef>
              <a:spcAft>
                <a:spcPct val="40000"/>
              </a:spcAft>
              <a:buClr>
                <a:schemeClr val="dk1"/>
              </a:buClr>
              <a:buSzPts val="2000"/>
              <a:buFont typeface="Calibri"/>
              <a:buChar char="•"/>
            </a:pPr>
            <a:r>
              <a:rPr lang="ru-RU" altLang="ru-RU" dirty="0">
                <a:solidFill>
                  <a:schemeClr val="dk1"/>
                </a:solidFill>
                <a:latin typeface="Calibri"/>
                <a:ea typeface="Calibri"/>
                <a:cs typeface="Calibri"/>
                <a:sym typeface="Calibri"/>
              </a:rPr>
              <a:t>В AMD </a:t>
            </a:r>
            <a:r>
              <a:rPr lang="ru-RU" altLang="ru-RU" dirty="0" err="1">
                <a:solidFill>
                  <a:schemeClr val="dk1"/>
                </a:solidFill>
                <a:latin typeface="Calibri"/>
                <a:ea typeface="Calibri"/>
                <a:cs typeface="Calibri"/>
                <a:sym typeface="Calibri"/>
              </a:rPr>
              <a:t>Pacific</a:t>
            </a:r>
            <a:r>
              <a:rPr lang="ru-RU" altLang="ru-RU" dirty="0">
                <a:solidFill>
                  <a:schemeClr val="dk1"/>
                </a:solidFill>
                <a:latin typeface="Calibri"/>
                <a:ea typeface="Calibri"/>
                <a:cs typeface="Calibri"/>
                <a:sym typeface="Calibri"/>
              </a:rPr>
              <a:t> нет никакого различия между </a:t>
            </a:r>
            <a:r>
              <a:rPr lang="en-US" altLang="ru-RU" dirty="0">
                <a:solidFill>
                  <a:schemeClr val="dk1"/>
                </a:solidFill>
                <a:latin typeface="Calibri"/>
                <a:ea typeface="Calibri"/>
                <a:cs typeface="Calibri"/>
                <a:sym typeface="Calibri"/>
              </a:rPr>
              <a:t>host</a:t>
            </a:r>
            <a:r>
              <a:rPr lang="ru-RU" altLang="ru-RU" dirty="0">
                <a:solidFill>
                  <a:schemeClr val="dk1"/>
                </a:solidFill>
                <a:latin typeface="Calibri"/>
                <a:ea typeface="Calibri"/>
                <a:cs typeface="Calibri"/>
                <a:sym typeface="Calibri"/>
              </a:rPr>
              <a:t> ОС и гостевыми ОС, как в технологии </a:t>
            </a:r>
            <a:r>
              <a:rPr lang="ru-RU" altLang="ru-RU" dirty="0" err="1">
                <a:solidFill>
                  <a:schemeClr val="dk1"/>
                </a:solidFill>
                <a:latin typeface="Calibri"/>
                <a:ea typeface="Calibri"/>
                <a:cs typeface="Calibri"/>
                <a:sym typeface="Calibri"/>
              </a:rPr>
              <a:t>Intel</a:t>
            </a:r>
            <a:r>
              <a:rPr lang="ru-RU" altLang="ru-RU" dirty="0">
                <a:solidFill>
                  <a:schemeClr val="dk1"/>
                </a:solidFill>
                <a:latin typeface="Calibri"/>
                <a:ea typeface="Calibri"/>
                <a:cs typeface="Calibri"/>
                <a:sym typeface="Calibri"/>
              </a:rPr>
              <a:t> VT. Все операционные системы считаются гостевыми и для каждой из них гипервизор создает свою виртуальную машину. </a:t>
            </a:r>
          </a:p>
        </p:txBody>
      </p:sp>
    </p:spTree>
    <p:extLst>
      <p:ext uri="{BB962C8B-B14F-4D97-AF65-F5344CB8AC3E}">
        <p14:creationId xmlns:p14="http://schemas.microsoft.com/office/powerpoint/2010/main" val="17377871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17220" y="685801"/>
            <a:ext cx="6172200" cy="479822"/>
          </a:xfrm>
        </p:spPr>
        <p:txBody>
          <a:bodyPr/>
          <a:lstStyle/>
          <a:p>
            <a:r>
              <a:rPr lang="ru-RU" altLang="ru-RU" sz="2400" dirty="0"/>
              <a:t>AMD </a:t>
            </a:r>
            <a:r>
              <a:rPr lang="ru-RU" altLang="ru-RU" sz="2400" dirty="0" err="1"/>
              <a:t>Pacific</a:t>
            </a:r>
            <a:r>
              <a:rPr lang="en-US" altLang="ru-RU" sz="2400" dirty="0"/>
              <a:t>:</a:t>
            </a:r>
            <a:r>
              <a:rPr lang="ru-RU" altLang="ru-RU" sz="2400" dirty="0"/>
              <a:t> Запуск </a:t>
            </a:r>
            <a:r>
              <a:rPr lang="en-US" altLang="ru-RU" sz="2400" dirty="0"/>
              <a:t>VM</a:t>
            </a:r>
            <a:endParaRPr lang="ru-RU" altLang="ru-RU" sz="2400" dirty="0"/>
          </a:p>
        </p:txBody>
      </p:sp>
      <p:sp>
        <p:nvSpPr>
          <p:cNvPr id="16387" name="Rectangle 3"/>
          <p:cNvSpPr>
            <a:spLocks noGrp="1" noChangeArrowheads="1"/>
          </p:cNvSpPr>
          <p:nvPr>
            <p:ph type="body" idx="1"/>
          </p:nvPr>
        </p:nvSpPr>
        <p:spPr>
          <a:xfrm>
            <a:off x="374904" y="1389888"/>
            <a:ext cx="7283196" cy="3920490"/>
          </a:xfrm>
        </p:spPr>
        <p:txBody>
          <a:bodyPr>
            <a:normAutofit/>
          </a:bodyPr>
          <a:lstStyle/>
          <a:p>
            <a:pPr>
              <a:lnSpc>
                <a:spcPct val="90000"/>
              </a:lnSpc>
              <a:spcAft>
                <a:spcPct val="40000"/>
              </a:spcAft>
            </a:pPr>
            <a:r>
              <a:rPr lang="ru-RU" altLang="ru-RU" sz="1350" dirty="0"/>
              <a:t>Запуск командой </a:t>
            </a:r>
            <a:r>
              <a:rPr lang="en-US" altLang="ru-RU" sz="1350" b="1" u="sng" dirty="0"/>
              <a:t>VMRUN</a:t>
            </a:r>
            <a:r>
              <a:rPr lang="en-US" altLang="ru-RU" sz="1350" dirty="0"/>
              <a:t> [</a:t>
            </a:r>
            <a:r>
              <a:rPr lang="ru-RU" altLang="ru-RU" sz="1350" dirty="0"/>
              <a:t>указатель на </a:t>
            </a:r>
            <a:r>
              <a:rPr lang="en-US" altLang="ru-RU" sz="1350" b="1" dirty="0"/>
              <a:t>VMCB</a:t>
            </a:r>
            <a:r>
              <a:rPr lang="en-US" altLang="ru-RU" sz="1350" dirty="0"/>
              <a:t> </a:t>
            </a:r>
            <a:r>
              <a:rPr lang="ru-RU" altLang="ru-RU" sz="1350" dirty="0"/>
              <a:t>вызываемой </a:t>
            </a:r>
            <a:r>
              <a:rPr lang="en-US" altLang="ru-RU" sz="1350" dirty="0"/>
              <a:t>VM]</a:t>
            </a:r>
          </a:p>
          <a:p>
            <a:pPr>
              <a:lnSpc>
                <a:spcPct val="90000"/>
              </a:lnSpc>
              <a:spcAft>
                <a:spcPct val="20000"/>
              </a:spcAft>
            </a:pPr>
            <a:r>
              <a:rPr lang="en-US" altLang="ru-RU" sz="1350" b="1" dirty="0"/>
              <a:t>VMCB (Virtual Machine Control Block)</a:t>
            </a:r>
            <a:r>
              <a:rPr lang="en-US" altLang="ru-RU" sz="1350" dirty="0"/>
              <a:t> – </a:t>
            </a:r>
            <a:r>
              <a:rPr lang="ru-RU" altLang="ru-RU" sz="1350" dirty="0"/>
              <a:t>область оперативной памяти (несколько </a:t>
            </a:r>
            <a:r>
              <a:rPr lang="en-US" altLang="ru-RU" sz="1350" dirty="0"/>
              <a:t>KB</a:t>
            </a:r>
            <a:r>
              <a:rPr lang="ru-RU" altLang="ru-RU" sz="1350" dirty="0"/>
              <a:t>), где хранятся:</a:t>
            </a:r>
          </a:p>
          <a:p>
            <a:pPr lvl="1">
              <a:lnSpc>
                <a:spcPct val="90000"/>
              </a:lnSpc>
              <a:spcAft>
                <a:spcPct val="10000"/>
              </a:spcAft>
            </a:pPr>
            <a:r>
              <a:rPr lang="ru-RU" altLang="ru-RU" sz="1350" dirty="0"/>
              <a:t>список событий и инструкций для перехвата гипервизором</a:t>
            </a:r>
          </a:p>
          <a:p>
            <a:pPr lvl="1">
              <a:lnSpc>
                <a:spcPct val="90000"/>
              </a:lnSpc>
              <a:spcAft>
                <a:spcPct val="10000"/>
              </a:spcAft>
            </a:pPr>
            <a:r>
              <a:rPr lang="ru-RU" altLang="ru-RU" sz="1350" dirty="0"/>
              <a:t>управляющие регистры, определяющие доступ к физическим ресурсам процессора (виртуальная память, пространство </a:t>
            </a:r>
            <a:r>
              <a:rPr lang="en-US" altLang="ru-RU" sz="1350" dirty="0"/>
              <a:t>I/O </a:t>
            </a:r>
            <a:r>
              <a:rPr lang="ru-RU" altLang="ru-RU" sz="1350" dirty="0"/>
              <a:t>и др.)</a:t>
            </a:r>
          </a:p>
          <a:p>
            <a:pPr lvl="1">
              <a:lnSpc>
                <a:spcPct val="90000"/>
              </a:lnSpc>
              <a:spcAft>
                <a:spcPct val="10000"/>
              </a:spcAft>
            </a:pPr>
            <a:r>
              <a:rPr lang="en-US" altLang="ru-RU" sz="1350" i="1" dirty="0">
                <a:solidFill>
                  <a:srgbClr val="989400"/>
                </a:solidFill>
              </a:rPr>
              <a:t>guest processor state</a:t>
            </a:r>
            <a:r>
              <a:rPr lang="en-US" altLang="ru-RU" sz="1350" dirty="0"/>
              <a:t> (</a:t>
            </a:r>
            <a:r>
              <a:rPr lang="ru-RU" altLang="ru-RU" sz="1350" dirty="0"/>
              <a:t>последнее состояние запускаемого виртуального процессора)</a:t>
            </a:r>
          </a:p>
          <a:p>
            <a:pPr lvl="1">
              <a:lnSpc>
                <a:spcPct val="90000"/>
              </a:lnSpc>
              <a:spcAft>
                <a:spcPct val="40000"/>
              </a:spcAft>
            </a:pPr>
            <a:r>
              <a:rPr lang="ru-RU" altLang="ru-RU" sz="1350" dirty="0"/>
              <a:t>причина последнего выхода из </a:t>
            </a:r>
            <a:r>
              <a:rPr lang="en-US" altLang="ru-RU" sz="1350" dirty="0"/>
              <a:t>VM</a:t>
            </a:r>
            <a:r>
              <a:rPr lang="ru-RU" altLang="ru-RU" sz="1350" dirty="0"/>
              <a:t> (поле </a:t>
            </a:r>
            <a:r>
              <a:rPr lang="en-US" altLang="ru-RU" sz="1350" i="1" dirty="0">
                <a:solidFill>
                  <a:srgbClr val="4D4D4D"/>
                </a:solidFill>
              </a:rPr>
              <a:t>EXITCODE</a:t>
            </a:r>
            <a:r>
              <a:rPr lang="ru-RU" altLang="ru-RU" sz="1350" i="1" dirty="0"/>
              <a:t>)</a:t>
            </a:r>
            <a:endParaRPr lang="ru-RU" altLang="ru-RU" sz="1350" dirty="0"/>
          </a:p>
          <a:p>
            <a:pPr>
              <a:lnSpc>
                <a:spcPct val="90000"/>
              </a:lnSpc>
              <a:spcBef>
                <a:spcPct val="50000"/>
              </a:spcBef>
              <a:spcAft>
                <a:spcPct val="40000"/>
              </a:spcAft>
            </a:pPr>
            <a:r>
              <a:rPr lang="ru-RU" altLang="ru-RU" sz="1350" dirty="0"/>
              <a:t>В отличие от</a:t>
            </a:r>
            <a:r>
              <a:rPr lang="en-US" altLang="ru-RU" sz="1350" dirty="0"/>
              <a:t> VMCS </a:t>
            </a:r>
            <a:r>
              <a:rPr lang="ru-RU" altLang="ru-RU" sz="1350" i="1" u="sng" dirty="0"/>
              <a:t>в </a:t>
            </a:r>
            <a:r>
              <a:rPr lang="en-US" altLang="ru-RU" sz="1350" i="1" u="sng" dirty="0"/>
              <a:t>VMCB </a:t>
            </a:r>
            <a:r>
              <a:rPr lang="ru-RU" altLang="ru-RU" sz="1350" i="1" u="sng" dirty="0"/>
              <a:t>не хранится </a:t>
            </a:r>
            <a:r>
              <a:rPr lang="ru-RU" altLang="ru-RU" sz="1350" i="1" u="sng" dirty="0">
                <a:solidFill>
                  <a:srgbClr val="008E00"/>
                </a:solidFill>
              </a:rPr>
              <a:t>состояние </a:t>
            </a:r>
            <a:r>
              <a:rPr lang="en-US" altLang="ru-RU" sz="1350" i="1" u="sng" dirty="0">
                <a:solidFill>
                  <a:srgbClr val="008E00"/>
                </a:solidFill>
              </a:rPr>
              <a:t>host</a:t>
            </a:r>
            <a:r>
              <a:rPr lang="en-US" altLang="ru-RU" sz="1350" i="1" u="sng" dirty="0"/>
              <a:t> </a:t>
            </a:r>
            <a:r>
              <a:rPr lang="ru-RU" altLang="ru-RU" sz="1350" i="1" u="sng" dirty="0"/>
              <a:t>процессора</a:t>
            </a:r>
            <a:r>
              <a:rPr lang="ru-RU" altLang="ru-RU" sz="1350" dirty="0"/>
              <a:t>; оно частично либо полностью записывается во внутреннюю память процессора (</a:t>
            </a:r>
            <a:r>
              <a:rPr lang="en-US" altLang="ru-RU" sz="1350" dirty="0"/>
              <a:t>hidden on-chip memory)</a:t>
            </a:r>
            <a:r>
              <a:rPr lang="ru-RU" altLang="ru-RU" sz="1350" dirty="0"/>
              <a:t>, а также может частично храниться в специально отведенной области физической </a:t>
            </a:r>
            <a:r>
              <a:rPr lang="ru-RU" altLang="ru-RU" sz="1350" dirty="0" smtClean="0"/>
              <a:t>памяти</a:t>
            </a:r>
            <a:endParaRPr lang="ru-RU" altLang="ru-RU" sz="1350" dirty="0"/>
          </a:p>
        </p:txBody>
      </p:sp>
    </p:spTree>
    <p:extLst>
      <p:ext uri="{BB962C8B-B14F-4D97-AF65-F5344CB8AC3E}">
        <p14:creationId xmlns:p14="http://schemas.microsoft.com/office/powerpoint/2010/main" val="38640750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82396" y="1051561"/>
            <a:ext cx="6172200" cy="536972"/>
          </a:xfrm>
        </p:spPr>
        <p:txBody>
          <a:bodyPr/>
          <a:lstStyle/>
          <a:p>
            <a:r>
              <a:rPr lang="en-US" altLang="ru-RU" sz="2400" dirty="0" smtClean="0"/>
              <a:t>Nested </a:t>
            </a:r>
            <a:r>
              <a:rPr lang="en-US" altLang="ru-RU" sz="2400" dirty="0"/>
              <a:t>Paging</a:t>
            </a:r>
            <a:endParaRPr lang="ru-RU" altLang="ru-RU" sz="2400" dirty="0"/>
          </a:p>
        </p:txBody>
      </p:sp>
      <p:sp>
        <p:nvSpPr>
          <p:cNvPr id="21507" name="Rectangle 3"/>
          <p:cNvSpPr>
            <a:spLocks noGrp="1" noChangeArrowheads="1"/>
          </p:cNvSpPr>
          <p:nvPr>
            <p:ph type="body" idx="1"/>
          </p:nvPr>
        </p:nvSpPr>
        <p:spPr>
          <a:xfrm>
            <a:off x="800100" y="1773936"/>
            <a:ext cx="6858000" cy="2000250"/>
          </a:xfrm>
        </p:spPr>
        <p:txBody>
          <a:bodyPr>
            <a:noAutofit/>
          </a:bodyPr>
          <a:lstStyle/>
          <a:p>
            <a:r>
              <a:rPr lang="en-US" altLang="ru-RU" sz="1800" b="1" dirty="0"/>
              <a:t>Nested Paging</a:t>
            </a:r>
            <a:r>
              <a:rPr lang="en-US" altLang="ru-RU" sz="1800" dirty="0"/>
              <a:t> – </a:t>
            </a:r>
            <a:r>
              <a:rPr lang="ru-RU" altLang="ru-RU" sz="1800" dirty="0"/>
              <a:t>трансляция виртуальных адресов в физические без вмешательства </a:t>
            </a:r>
            <a:r>
              <a:rPr lang="en-US" altLang="ru-RU" sz="1800" dirty="0"/>
              <a:t>VMM </a:t>
            </a:r>
            <a:r>
              <a:rPr lang="ru-RU" altLang="ru-RU" sz="1800" dirty="0" smtClean="0"/>
              <a:t>Два </a:t>
            </a:r>
            <a:r>
              <a:rPr lang="ru-RU" altLang="ru-RU" sz="1800" dirty="0"/>
              <a:t>уровня трансляции:</a:t>
            </a:r>
          </a:p>
          <a:p>
            <a:pPr lvl="1"/>
            <a:r>
              <a:rPr lang="en-US" altLang="ru-RU" sz="1800" b="1" dirty="0"/>
              <a:t>Guest Page Table (</a:t>
            </a:r>
            <a:r>
              <a:rPr lang="en-US" altLang="ru-RU" sz="1800" b="1" dirty="0" err="1"/>
              <a:t>gPT</a:t>
            </a:r>
            <a:r>
              <a:rPr lang="en-US" altLang="ru-RU" sz="1800" b="1" dirty="0"/>
              <a:t>)</a:t>
            </a:r>
            <a:r>
              <a:rPr lang="en-US" altLang="ru-RU" sz="1800" dirty="0"/>
              <a:t> – </a:t>
            </a:r>
            <a:r>
              <a:rPr lang="ru-RU" altLang="ru-RU" sz="1800" dirty="0"/>
              <a:t>преобразование </a:t>
            </a:r>
            <a:r>
              <a:rPr lang="en-US" altLang="ru-RU" sz="1800" i="1" dirty="0">
                <a:solidFill>
                  <a:srgbClr val="000056"/>
                </a:solidFill>
              </a:rPr>
              <a:t>guest virtual address =&gt; guest physical address</a:t>
            </a:r>
            <a:r>
              <a:rPr lang="en-US" altLang="ru-RU" sz="1800" dirty="0"/>
              <a:t>;</a:t>
            </a:r>
            <a:r>
              <a:rPr lang="en-US" altLang="ru-RU" sz="1800" i="1" dirty="0"/>
              <a:t> </a:t>
            </a:r>
            <a:r>
              <a:rPr lang="ru-RU" altLang="ru-RU" sz="1800" dirty="0"/>
              <a:t>находится в физической памяти </a:t>
            </a:r>
            <a:r>
              <a:rPr lang="en-US" altLang="ru-RU" sz="1800" dirty="0" smtClean="0"/>
              <a:t>VM</a:t>
            </a:r>
            <a:endParaRPr lang="en-US" altLang="ru-RU" sz="1800" dirty="0">
              <a:solidFill>
                <a:srgbClr val="3333CC"/>
              </a:solidFill>
            </a:endParaRPr>
          </a:p>
          <a:p>
            <a:pPr lvl="1"/>
            <a:r>
              <a:rPr lang="en-US" altLang="ru-RU" sz="1800" b="1" dirty="0"/>
              <a:t>Host Page Table (</a:t>
            </a:r>
            <a:r>
              <a:rPr lang="en-US" altLang="ru-RU" sz="1800" b="1" dirty="0" err="1"/>
              <a:t>hPT</a:t>
            </a:r>
            <a:r>
              <a:rPr lang="en-US" altLang="ru-RU" sz="1800" b="1" dirty="0"/>
              <a:t>)</a:t>
            </a:r>
            <a:r>
              <a:rPr lang="en-US" altLang="ru-RU" sz="1800" dirty="0"/>
              <a:t> – </a:t>
            </a:r>
            <a:r>
              <a:rPr lang="ru-RU" altLang="ru-RU" sz="1800" dirty="0"/>
              <a:t>преобразование </a:t>
            </a:r>
            <a:r>
              <a:rPr lang="en-US" altLang="ru-RU" sz="1800" i="1" dirty="0">
                <a:solidFill>
                  <a:srgbClr val="000056"/>
                </a:solidFill>
              </a:rPr>
              <a:t>host virtual address =&gt; host physical address</a:t>
            </a:r>
            <a:r>
              <a:rPr lang="en-US" altLang="ru-RU" sz="1800" dirty="0"/>
              <a:t>;</a:t>
            </a:r>
            <a:r>
              <a:rPr lang="en-US" altLang="ru-RU" sz="1800" i="1" dirty="0"/>
              <a:t> </a:t>
            </a:r>
            <a:r>
              <a:rPr lang="ru-RU" altLang="ru-RU" sz="1800" dirty="0"/>
              <a:t>находится в физической памяти </a:t>
            </a:r>
            <a:r>
              <a:rPr lang="ru-RU" altLang="ru-RU" sz="1800" dirty="0" smtClean="0"/>
              <a:t>процессора</a:t>
            </a:r>
            <a:endParaRPr lang="ru-RU" altLang="ru-RU" sz="1800" dirty="0">
              <a:solidFill>
                <a:srgbClr val="3333CC"/>
              </a:solidFill>
            </a:endParaRPr>
          </a:p>
        </p:txBody>
      </p:sp>
    </p:spTree>
    <p:extLst>
      <p:ext uri="{BB962C8B-B14F-4D97-AF65-F5344CB8AC3E}">
        <p14:creationId xmlns:p14="http://schemas.microsoft.com/office/powerpoint/2010/main" val="33397765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5"/>
          <p:cNvSpPr txBox="1">
            <a:spLocks noGrp="1"/>
          </p:cNvSpPr>
          <p:nvPr>
            <p:ph type="body" idx="1"/>
          </p:nvPr>
        </p:nvSpPr>
        <p:spPr>
          <a:xfrm>
            <a:off x="457200" y="1759937"/>
            <a:ext cx="8229600" cy="2834686"/>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Font typeface="Calibri"/>
              <a:buChar char="•"/>
            </a:pPr>
            <a:r>
              <a:rPr lang="ru-RU"/>
              <a:t>Одним из критически важных вызовов при виртуализации является то как превращать память в виртуальную. Получаемая гостевая ОС должна обладать тем же поведением, что и ОС без виртуализации.</a:t>
            </a:r>
            <a:endParaRPr/>
          </a:p>
          <a:p>
            <a:pPr marL="342900" lvl="0" indent="-342900" algn="just" rtl="0">
              <a:spcBef>
                <a:spcPts val="480"/>
              </a:spcBef>
              <a:spcAft>
                <a:spcPts val="0"/>
              </a:spcAft>
              <a:buClr>
                <a:schemeClr val="dk1"/>
              </a:buClr>
              <a:buSzPts val="2400"/>
              <a:buFont typeface="Calibri"/>
              <a:buChar char="•"/>
            </a:pPr>
            <a:r>
              <a:rPr lang="ru-RU"/>
              <a:t>Гостевая ОС не должна получать прямого доступа к физической памяти, а вместо этого обращения перехватываются и обратываются имеющимся VMM.</a:t>
            </a:r>
            <a:endParaRPr/>
          </a:p>
        </p:txBody>
      </p:sp>
      <p:sp>
        <p:nvSpPr>
          <p:cNvPr id="257" name="Google Shape;257;p25"/>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258" name="Google Shape;258;p25"/>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a:t>Виртуализация памяти</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6"/>
          <p:cNvSpPr txBox="1">
            <a:spLocks noGrp="1"/>
          </p:cNvSpPr>
          <p:nvPr>
            <p:ph type="body" idx="1"/>
          </p:nvPr>
        </p:nvSpPr>
        <p:spPr>
          <a:xfrm>
            <a:off x="457200" y="1759937"/>
            <a:ext cx="8229600" cy="283468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FF0000"/>
              </a:buClr>
              <a:buSzPts val="2000"/>
              <a:buFont typeface="Calibri"/>
              <a:buChar char="•"/>
            </a:pPr>
            <a:r>
              <a:rPr lang="ru-RU" sz="2000" b="1">
                <a:solidFill>
                  <a:srgbClr val="FF0000"/>
                </a:solidFill>
              </a:rPr>
              <a:t>Гостевая виртуальная память</a:t>
            </a:r>
            <a:r>
              <a:rPr lang="ru-RU" sz="2000"/>
              <a:t>: Это именно то, что видно самому процессу гостевой ОС в качестве пространства исполнения.</a:t>
            </a:r>
            <a:endParaRPr/>
          </a:p>
          <a:p>
            <a:pPr marL="342900" lvl="0" indent="-342900" algn="l" rtl="0">
              <a:spcBef>
                <a:spcPts val="400"/>
              </a:spcBef>
              <a:spcAft>
                <a:spcPts val="0"/>
              </a:spcAft>
              <a:buClr>
                <a:srgbClr val="FF0000"/>
              </a:buClr>
              <a:buSzPts val="2000"/>
              <a:buFont typeface="Calibri"/>
              <a:buChar char="•"/>
            </a:pPr>
            <a:r>
              <a:rPr lang="ru-RU" sz="2000" b="1">
                <a:solidFill>
                  <a:srgbClr val="FF0000"/>
                </a:solidFill>
              </a:rPr>
              <a:t>Гостевая физическая память</a:t>
            </a:r>
            <a:r>
              <a:rPr lang="ru-RU" sz="2000"/>
              <a:t>: Это то, что видит гостевая ОС</a:t>
            </a:r>
            <a:endParaRPr/>
          </a:p>
          <a:p>
            <a:pPr marL="342900" lvl="0" indent="-342900" algn="l" rtl="0">
              <a:spcBef>
                <a:spcPts val="400"/>
              </a:spcBef>
              <a:spcAft>
                <a:spcPts val="0"/>
              </a:spcAft>
              <a:buClr>
                <a:srgbClr val="FF0000"/>
              </a:buClr>
              <a:buSzPts val="2000"/>
              <a:buFont typeface="Calibri"/>
              <a:buChar char="•"/>
            </a:pPr>
            <a:r>
              <a:rPr lang="ru-RU" sz="2000" b="1">
                <a:solidFill>
                  <a:srgbClr val="FF0000"/>
                </a:solidFill>
              </a:rPr>
              <a:t>Системная физическая память</a:t>
            </a:r>
            <a:r>
              <a:rPr lang="ru-RU" sz="2000"/>
              <a:t>: Это то, что наблюдает VMM.</a:t>
            </a:r>
            <a:endParaRPr/>
          </a:p>
          <a:p>
            <a:pPr marL="342900" lvl="0" indent="-215900" algn="l" rtl="0">
              <a:spcBef>
                <a:spcPts val="400"/>
              </a:spcBef>
              <a:spcAft>
                <a:spcPts val="0"/>
              </a:spcAft>
              <a:buClr>
                <a:schemeClr val="dk1"/>
              </a:buClr>
              <a:buSzPts val="2000"/>
              <a:buFont typeface="Calibri"/>
              <a:buNone/>
            </a:pPr>
            <a:endParaRPr sz="2000"/>
          </a:p>
        </p:txBody>
      </p:sp>
      <p:sp>
        <p:nvSpPr>
          <p:cNvPr id="264" name="Google Shape;264;p26"/>
          <p:cNvSpPr txBox="1">
            <a:spLocks noGrp="1"/>
          </p:cNvSpPr>
          <p:nvPr>
            <p:ph type="ftr" idx="11"/>
          </p:nvPr>
        </p:nvSpPr>
        <p:spPr>
          <a:xfrm>
            <a:off x="4030768" y="185639"/>
            <a:ext cx="4656032"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ru-RU"/>
              <a:t>Колонтитул</a:t>
            </a:r>
            <a:endParaRPr/>
          </a:p>
        </p:txBody>
      </p:sp>
      <p:sp>
        <p:nvSpPr>
          <p:cNvPr id="265" name="Google Shape;265;p26"/>
          <p:cNvSpPr txBox="1">
            <a:spLocks noGrp="1"/>
          </p:cNvSpPr>
          <p:nvPr>
            <p:ph type="title"/>
          </p:nvPr>
        </p:nvSpPr>
        <p:spPr>
          <a:xfrm>
            <a:off x="457200" y="927382"/>
            <a:ext cx="8229600" cy="62048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ru-RU"/>
              <a:t>Три абстракции памяти</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6"/>
        <p:cNvGrpSpPr/>
        <p:nvPr/>
      </p:nvGrpSpPr>
      <p:grpSpPr>
        <a:xfrm>
          <a:off x="0" y="0"/>
          <a:ext cx="0" cy="0"/>
          <a:chOff x="0" y="0"/>
          <a:chExt cx="0" cy="0"/>
        </a:xfrm>
      </p:grpSpPr>
      <p:sp>
        <p:nvSpPr>
          <p:cNvPr id="417" name="Google Shape;417;p48"/>
          <p:cNvSpPr txBox="1">
            <a:spLocks noGrp="1"/>
          </p:cNvSpPr>
          <p:nvPr>
            <p:ph type="title"/>
          </p:nvPr>
        </p:nvSpPr>
        <p:spPr>
          <a:xfrm>
            <a:off x="457200" y="1700037"/>
            <a:ext cx="8229600" cy="62048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3200"/>
              <a:buFont typeface="Calibri"/>
              <a:buNone/>
            </a:pPr>
            <a:r>
              <a:rPr lang="ru-RU"/>
              <a:t>Спасибо за внимание!</a:t>
            </a:r>
            <a:endParaRPr/>
          </a:p>
        </p:txBody>
      </p:sp>
      <p:sp>
        <p:nvSpPr>
          <p:cNvPr id="418" name="Google Shape;418;p48"/>
          <p:cNvSpPr txBox="1">
            <a:spLocks noGrp="1"/>
          </p:cNvSpPr>
          <p:nvPr>
            <p:ph type="body" idx="1"/>
          </p:nvPr>
        </p:nvSpPr>
        <p:spPr>
          <a:xfrm>
            <a:off x="457200" y="2490643"/>
            <a:ext cx="8229600" cy="59412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FFFFFF"/>
              </a:buClr>
              <a:buSzPts val="2000"/>
              <a:buFont typeface="Calibri"/>
              <a:buNone/>
            </a:pPr>
            <a:r>
              <a:rPr lang="ru-RU"/>
              <a:t>www.ifmo.ru</a:t>
            </a:r>
            <a:endParaRPr/>
          </a:p>
        </p:txBody>
      </p:sp>
    </p:spTree>
  </p:cSld>
  <p:clrMapOvr>
    <a:masterClrMapping/>
  </p:clrMapOvr>
</p:sld>
</file>

<file path=ppt/theme/theme1.xml><?xml version="1.0" encoding="utf-8"?>
<a:theme xmlns:a="http://schemas.openxmlformats.org/drawingml/2006/main" name="Cover">
  <a:themeElements>
    <a:clrScheme name="Custom 1">
      <a:dk1>
        <a:srgbClr val="0230AC"/>
      </a:dk1>
      <a:lt1>
        <a:srgbClr val="FFFFFF"/>
      </a:lt1>
      <a:dk2>
        <a:srgbClr val="0230AC"/>
      </a:dk2>
      <a:lt2>
        <a:srgbClr val="FFFFFF"/>
      </a:lt2>
      <a:accent1>
        <a:srgbClr val="EC0044"/>
      </a:accent1>
      <a:accent2>
        <a:srgbClr val="0230AC"/>
      </a:accent2>
      <a:accent3>
        <a:srgbClr val="8F32AC"/>
      </a:accent3>
      <a:accent4>
        <a:srgbClr val="0057AC"/>
      </a:accent4>
      <a:accent5>
        <a:srgbClr val="EC5A00"/>
      </a:accent5>
      <a:accent6>
        <a:srgbClr val="ECEC00"/>
      </a:accent6>
      <a:hlink>
        <a:srgbClr val="4BBCFF"/>
      </a:hlink>
      <a:folHlink>
        <a:srgbClr val="C000C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over">
  <a:themeElements>
    <a:clrScheme name="Другая 1">
      <a:dk1>
        <a:srgbClr val="000000"/>
      </a:dk1>
      <a:lt1>
        <a:srgbClr val="FFFFFF"/>
      </a:lt1>
      <a:dk2>
        <a:srgbClr val="000000"/>
      </a:dk2>
      <a:lt2>
        <a:srgbClr val="F8F8F8"/>
      </a:lt2>
      <a:accent1>
        <a:srgbClr val="EC0B43"/>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3218</Words>
  <Application>Microsoft Office PowerPoint</Application>
  <PresentationFormat>Экран (16:9)</PresentationFormat>
  <Paragraphs>311</Paragraphs>
  <Slides>54</Slides>
  <Notes>18</Notes>
  <HiddenSlides>0</HiddenSlides>
  <MMClips>0</MMClips>
  <ScaleCrop>false</ScaleCrop>
  <HeadingPairs>
    <vt:vector size="6" baseType="variant">
      <vt:variant>
        <vt:lpstr>Использованные шрифты</vt:lpstr>
      </vt:variant>
      <vt:variant>
        <vt:i4>8</vt:i4>
      </vt:variant>
      <vt:variant>
        <vt:lpstr>Тема</vt:lpstr>
      </vt:variant>
      <vt:variant>
        <vt:i4>2</vt:i4>
      </vt:variant>
      <vt:variant>
        <vt:lpstr>Заголовки слайдов</vt:lpstr>
      </vt:variant>
      <vt:variant>
        <vt:i4>54</vt:i4>
      </vt:variant>
    </vt:vector>
  </HeadingPairs>
  <TitlesOfParts>
    <vt:vector size="64" baseType="lpstr">
      <vt:lpstr>Arial</vt:lpstr>
      <vt:lpstr>Arial Narrow</vt:lpstr>
      <vt:lpstr>Arial,Bold</vt:lpstr>
      <vt:lpstr>Calibri</vt:lpstr>
      <vt:lpstr>Times New Roman</vt:lpstr>
      <vt:lpstr>Ubuntu</vt:lpstr>
      <vt:lpstr>Verdana</vt:lpstr>
      <vt:lpstr>Wingdings</vt:lpstr>
      <vt:lpstr>Cover</vt:lpstr>
      <vt:lpstr>1_Cover</vt:lpstr>
      <vt:lpstr>Виртуализация-знакомство</vt:lpstr>
      <vt:lpstr>Прогнозы доходов от публичных облачных сервисов</vt:lpstr>
      <vt:lpstr>Определение облака</vt:lpstr>
      <vt:lpstr>История развития Облака</vt:lpstr>
      <vt:lpstr>Презентация PowerPoint</vt:lpstr>
      <vt:lpstr>Презентация PowerPoint</vt:lpstr>
      <vt:lpstr>Концепция разделения времени</vt:lpstr>
      <vt:lpstr>Высокоскоростное переключение между задачами</vt:lpstr>
      <vt:lpstr>Презентация PowerPoint</vt:lpstr>
      <vt:lpstr>Первая ОС с поддержкой виртуализации</vt:lpstr>
      <vt:lpstr>Гипервизор</vt:lpstr>
      <vt:lpstr>Виртуализация в СССР</vt:lpstr>
      <vt:lpstr>Хронология развития ТВ</vt:lpstr>
      <vt:lpstr>Развитие ключевых технологий</vt:lpstr>
      <vt:lpstr>Развитие ключевых технологий</vt:lpstr>
      <vt:lpstr>Если бы не было виртуализации</vt:lpstr>
      <vt:lpstr>Что такое виртуализация?</vt:lpstr>
      <vt:lpstr>Основные понятия</vt:lpstr>
      <vt:lpstr>Гипервизор (Hypervisor)</vt:lpstr>
      <vt:lpstr>Гипервизор (Hypervisor)</vt:lpstr>
      <vt:lpstr>Виртуализация платформ</vt:lpstr>
      <vt:lpstr>Виртуализация платформ</vt:lpstr>
      <vt:lpstr>Виртуализация ресурсов</vt:lpstr>
      <vt:lpstr>Уровни изоляции</vt:lpstr>
      <vt:lpstr>Ресурсы VM</vt:lpstr>
      <vt:lpstr>Нюансы работы с процессором</vt:lpstr>
      <vt:lpstr>Привилегии и виртуализация</vt:lpstr>
      <vt:lpstr>Депривилегизация (Ring compression)</vt:lpstr>
      <vt:lpstr>Управление памятью</vt:lpstr>
      <vt:lpstr>Работа с файловой системой</vt:lpstr>
      <vt:lpstr>Сетевое взаимодействие</vt:lpstr>
      <vt:lpstr>4 типа VMM (менеджеров виртуальных машин)</vt:lpstr>
      <vt:lpstr>4 типа VMM (менеджеров виртуальных машин)</vt:lpstr>
      <vt:lpstr>Специфика Host-based</vt:lpstr>
      <vt:lpstr>Специфика Hypervisor</vt:lpstr>
      <vt:lpstr>Специфика Micro-hypervisor</vt:lpstr>
      <vt:lpstr>Специфика Containers</vt:lpstr>
      <vt:lpstr>Принципы создания VM</vt:lpstr>
      <vt:lpstr>Управление VM</vt:lpstr>
      <vt:lpstr>Консолидация серверов</vt:lpstr>
      <vt:lpstr>Консолидация серверов</vt:lpstr>
      <vt:lpstr>Изоляция сервисов</vt:lpstr>
      <vt:lpstr>Отказоустойчивость</vt:lpstr>
      <vt:lpstr>Отказоустойчивость</vt:lpstr>
      <vt:lpstr>Тестирование ПО</vt:lpstr>
      <vt:lpstr>Аппаратная поддержка виртуализации</vt:lpstr>
      <vt:lpstr>Intel Virtualization Technology for x86 (VT-x)</vt:lpstr>
      <vt:lpstr>Intel Virtualization Technology for x86 (VT-x)</vt:lpstr>
      <vt:lpstr>AMD Pacific</vt:lpstr>
      <vt:lpstr>AMD Pacific: Запуск VM</vt:lpstr>
      <vt:lpstr>Nested Paging</vt:lpstr>
      <vt:lpstr>Виртуализация памяти</vt:lpstr>
      <vt:lpstr>Три абстракции памяти</vt:lpstr>
      <vt:lpstr>Спасибо за внимание!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Виртуализация-знакомство</dc:title>
  <dc:creator>Al</dc:creator>
  <cp:lastModifiedBy>Белозубов Александр Владимирович</cp:lastModifiedBy>
  <cp:revision>12</cp:revision>
  <dcterms:created xsi:type="dcterms:W3CDTF">2014-06-27T12:30:22Z</dcterms:created>
  <dcterms:modified xsi:type="dcterms:W3CDTF">2022-09-13T08:16:16Z</dcterms:modified>
</cp:coreProperties>
</file>