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58" r:id="rId4"/>
    <p:sldId id="259" r:id="rId5"/>
    <p:sldId id="260" r:id="rId6"/>
    <p:sldId id="261" r:id="rId7"/>
    <p:sldId id="262" r:id="rId8"/>
    <p:sldId id="263" r:id="rId9"/>
    <p:sldId id="268" r:id="rId10"/>
    <p:sldId id="275" r:id="rId11"/>
    <p:sldId id="276" r:id="rId12"/>
    <p:sldId id="277" r:id="rId13"/>
    <p:sldId id="278" r:id="rId14"/>
    <p:sldId id="279" r:id="rId15"/>
    <p:sldId id="280" r:id="rId16"/>
    <p:sldId id="281" r:id="rId17"/>
    <p:sldId id="269" r:id="rId18"/>
    <p:sldId id="270" r:id="rId19"/>
    <p:sldId id="271" r:id="rId20"/>
    <p:sldId id="272" r:id="rId21"/>
    <p:sldId id="273" r:id="rId22"/>
    <p:sldId id="274" r:id="rId23"/>
    <p:sldId id="288" r:id="rId24"/>
    <p:sldId id="267" r:id="rId25"/>
    <p:sldId id="282" r:id="rId26"/>
    <p:sldId id="283" r:id="rId27"/>
    <p:sldId id="284" r:id="rId28"/>
    <p:sldId id="285" r:id="rId29"/>
    <p:sldId id="287" r:id="rId30"/>
    <p:sldId id="286" r:id="rId31"/>
    <p:sldId id="264" r:id="rId32"/>
    <p:sldId id="290" r:id="rId33"/>
    <p:sldId id="289"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1049" autoAdjust="0"/>
  </p:normalViewPr>
  <p:slideViewPr>
    <p:cSldViewPr snapToGrid="0">
      <p:cViewPr varScale="1">
        <p:scale>
          <a:sx n="66" d="100"/>
          <a:sy n="66" d="100"/>
        </p:scale>
        <p:origin x="22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B6AADE-8EB0-4FAB-BB7B-99B527572897}" type="datetimeFigureOut">
              <a:rPr lang="ru-RU" smtClean="0"/>
              <a:t>26.09.2022</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604DF-7B4F-4819-9696-CA432EB97D0F}" type="slidenum">
              <a:rPr lang="ru-RU" smtClean="0"/>
              <a:t>‹#›</a:t>
            </a:fld>
            <a:endParaRPr lang="ru-RU"/>
          </a:p>
        </p:txBody>
      </p:sp>
    </p:spTree>
    <p:extLst>
      <p:ext uri="{BB962C8B-B14F-4D97-AF65-F5344CB8AC3E}">
        <p14:creationId xmlns:p14="http://schemas.microsoft.com/office/powerpoint/2010/main" val="1968193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Гипервизор типа 1</a:t>
            </a:r>
          </a:p>
          <a:p>
            <a:r>
              <a:rPr lang="ru-RU" dirty="0"/>
              <a:t>Гипервизор типа 1 работает непосредственно на физическом оборудовании компьютера, напрямую взаимодействуя с его процессором, памятью и физическим хранилищем. По этой причине гипервизоры типа 1 также называют «аппаратными гипервизорами». Гипервизор типа 1 заменяет операционную систему хоста.</a:t>
            </a:r>
          </a:p>
          <a:p>
            <a:endParaRPr lang="ru-RU" dirty="0"/>
          </a:p>
          <a:p>
            <a:r>
              <a:rPr lang="ru-RU" dirty="0"/>
              <a:t>Плюсы: гипервизоры 1 типа высокоэффективны, так как имеют прямой доступ к физическому оборудованию. Это также делает их безопаснее, так как между ними и центральным процессором нет ничего, что злоумышленник мог бы взломать.</a:t>
            </a:r>
          </a:p>
          <a:p>
            <a:r>
              <a:rPr lang="ru-RU" dirty="0"/>
              <a:t>Минусы: гипервизору типа 1 часто требуется отдельная управляющая машина для администрирования различных ВМ и управления аппаратным обеспечением хоста.</a:t>
            </a:r>
          </a:p>
          <a:p>
            <a:r>
              <a:rPr lang="ru-RU" dirty="0"/>
              <a:t>Гипервизор типа 2</a:t>
            </a:r>
          </a:p>
          <a:p>
            <a:r>
              <a:rPr lang="ru-RU" dirty="0"/>
              <a:t>Гипервизор типа 2 не работает непосредственно на базовом оборудовании. Он работает как приложение в ОС. В серверных средах гипервизоры типа 2 появляются редко. Они больше подходят для отдельных пользователей ПК, которым необходимо параллельно запускать на одном компьютере несколько ОС. Например, это могут быть инженеры, специалисты по безопасности, анализирующие вредоносный код, или же обычные пользователи, которым нужен доступ к приложениям, работающим только на других программных платформах.</a:t>
            </a:r>
          </a:p>
          <a:p>
            <a:endParaRPr lang="ru-RU" dirty="0"/>
          </a:p>
          <a:p>
            <a:r>
              <a:rPr lang="ru-RU" dirty="0"/>
              <a:t>Гипервизоры типа 2 часто содержат дополнительные наборы инструментов, которые пользователи могут установить в гостевой ОС. Эти инструменты улучшают соединения между гостевой и основной ОС, часто позволяя пользователю работать с ними через буфер обмена или получать доступ к файлам и папкам ОС хоста из гостевой виртуальной машины.</a:t>
            </a:r>
          </a:p>
          <a:p>
            <a:endParaRPr lang="ru-RU" dirty="0"/>
          </a:p>
          <a:p>
            <a:r>
              <a:rPr lang="ru-RU" dirty="0"/>
              <a:t>Плюсы: гипервизор типа 2 обеспечивает быстрый и удобный доступ к альтернативной гостевой ОС, работающей параллельно с основной ОС в системе хоста. Это делает его идеальным вариантом для конечных пользователей с точки зрения производительности. Например, потребитель может использовать его для доступа к своим любимым инструментам разработки на базе Linux посредством системы диктовки речи, которая есть только в Windows.</a:t>
            </a:r>
          </a:p>
          <a:p>
            <a:r>
              <a:rPr lang="ru-RU" dirty="0"/>
              <a:t>Минусы: гипервизор типа 2 должен обращаться к вычислительным, сетевым ресурсам и памяти через ОС хоста, которая по умолчанию имеет привилегированный доступ к физическим ресурсам. Это увеличивает время отклика, негативно сказываясь на производительности. Помимо этого, в потенциале могут возникнуть проблемы с безопасностью: если злоумышленник взломает ОС хоста, он сможет управлять любой гостевой ОС, работающей в гипервизоре типа 2.</a:t>
            </a:r>
          </a:p>
        </p:txBody>
      </p:sp>
      <p:sp>
        <p:nvSpPr>
          <p:cNvPr id="4" name="Номер слайда 3"/>
          <p:cNvSpPr>
            <a:spLocks noGrp="1"/>
          </p:cNvSpPr>
          <p:nvPr>
            <p:ph type="sldNum" sz="quarter" idx="5"/>
          </p:nvPr>
        </p:nvSpPr>
        <p:spPr/>
        <p:txBody>
          <a:bodyPr/>
          <a:lstStyle/>
          <a:p>
            <a:fld id="{3AA604DF-7B4F-4819-9696-CA432EB97D0F}" type="slidenum">
              <a:rPr lang="ru-RU" smtClean="0"/>
              <a:t>2</a:t>
            </a:fld>
            <a:endParaRPr lang="ru-RU"/>
          </a:p>
        </p:txBody>
      </p:sp>
    </p:spTree>
    <p:extLst>
      <p:ext uri="{BB962C8B-B14F-4D97-AF65-F5344CB8AC3E}">
        <p14:creationId xmlns:p14="http://schemas.microsoft.com/office/powerpoint/2010/main" val="2579965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171450" indent="-171450">
              <a:buFont typeface="Arial" panose="020B0604020202020204" pitchFamily="34" charset="0"/>
              <a:buChar char="•"/>
            </a:pPr>
            <a:r>
              <a:rPr lang="ru-RU" dirty="0"/>
              <a:t>Гипервизор </a:t>
            </a:r>
            <a:r>
              <a:rPr lang="ru-RU" dirty="0" err="1"/>
              <a:t>ESXi</a:t>
            </a:r>
            <a:r>
              <a:rPr lang="ru-RU" dirty="0"/>
              <a:t>: VMware </a:t>
            </a:r>
            <a:r>
              <a:rPr lang="ru-RU" dirty="0" err="1"/>
              <a:t>ESXi</a:t>
            </a:r>
            <a:r>
              <a:rPr lang="ru-RU" dirty="0"/>
              <a:t> (</a:t>
            </a:r>
            <a:r>
              <a:rPr lang="ru-RU" dirty="0" err="1"/>
              <a:t>Elastic</a:t>
            </a:r>
            <a:r>
              <a:rPr lang="ru-RU" dirty="0"/>
              <a:t> Sky X Integrated) — это гипервизор типа 1 (аппаратный), предназначенный для виртуализации серверов в ЦОД. </a:t>
            </a:r>
            <a:r>
              <a:rPr lang="ru-RU" dirty="0" err="1"/>
              <a:t>ESXi</a:t>
            </a:r>
            <a:r>
              <a:rPr lang="ru-RU" dirty="0"/>
              <a:t> управляет коллекциями виртуальных машин VMware.</a:t>
            </a:r>
          </a:p>
          <a:p>
            <a:pPr marL="171450" indent="-171450">
              <a:buFont typeface="Arial" panose="020B0604020202020204" pitchFamily="34" charset="0"/>
              <a:buChar char="•"/>
            </a:pPr>
            <a:r>
              <a:rPr lang="ru-RU" dirty="0"/>
              <a:t>Гипервизор </a:t>
            </a:r>
            <a:r>
              <a:rPr lang="ru-RU" dirty="0" err="1"/>
              <a:t>VSphere</a:t>
            </a:r>
            <a:r>
              <a:rPr lang="ru-RU" dirty="0"/>
              <a:t>: клиенты могут использовать VMware </a:t>
            </a:r>
            <a:r>
              <a:rPr lang="ru-RU" dirty="0" err="1"/>
              <a:t>ESXi</a:t>
            </a:r>
            <a:r>
              <a:rPr lang="ru-RU" dirty="0"/>
              <a:t> бесплатно в составе бесплатного гипервизора </a:t>
            </a:r>
            <a:r>
              <a:rPr lang="ru-RU" dirty="0" err="1"/>
              <a:t>vSphere</a:t>
            </a:r>
            <a:r>
              <a:rPr lang="ru-RU" dirty="0"/>
              <a:t>, представляющего собой базовое решение для виртуализации серверов. Компаниям, использующим корпоративные облачные среды, лучше приобрести лицензионную версию </a:t>
            </a:r>
            <a:r>
              <a:rPr lang="ru-RU" dirty="0" err="1"/>
              <a:t>vSphere</a:t>
            </a:r>
            <a:r>
              <a:rPr lang="ru-RU" dirty="0"/>
              <a:t> — это полнофункциональная система, в которую входит лицензия на VMware </a:t>
            </a:r>
            <a:r>
              <a:rPr lang="ru-RU" dirty="0" err="1"/>
              <a:t>vCenter</a:t>
            </a:r>
            <a:r>
              <a:rPr lang="ru-RU" dirty="0"/>
              <a:t> Server. Это отдельный сервер для администрирования сред </a:t>
            </a:r>
            <a:r>
              <a:rPr lang="ru-RU" dirty="0" err="1"/>
              <a:t>vSphere</a:t>
            </a:r>
            <a:r>
              <a:rPr lang="ru-RU" dirty="0"/>
              <a:t>, работающих на физических хостах. </a:t>
            </a:r>
            <a:r>
              <a:rPr lang="ru-RU" dirty="0" err="1"/>
              <a:t>VSphere</a:t>
            </a:r>
            <a:r>
              <a:rPr lang="ru-RU" dirty="0"/>
              <a:t> может работать как в локальном частном облаке организации, так и в общедоступном облаке.</a:t>
            </a:r>
          </a:p>
          <a:p>
            <a:endParaRPr lang="en-US" dirty="0"/>
          </a:p>
          <a:p>
            <a:r>
              <a:rPr lang="ru-RU" dirty="0"/>
              <a:t>Также VMware предлагает два основных семейства гипервизоров типа 2 для пользователей настольных компьютеров и ноутбуков:</a:t>
            </a:r>
          </a:p>
          <a:p>
            <a:endParaRPr lang="ru-RU" dirty="0"/>
          </a:p>
          <a:p>
            <a:pPr marL="171450" indent="-171450">
              <a:buFont typeface="Arial" panose="020B0604020202020204" pitchFamily="34" charset="0"/>
              <a:buChar char="•"/>
            </a:pPr>
            <a:r>
              <a:rPr lang="ru-RU" dirty="0"/>
              <a:t>VMware Fusion: это предложение, ориентированное на </a:t>
            </a:r>
            <a:r>
              <a:rPr lang="ru-RU" dirty="0" err="1"/>
              <a:t>MacOS</a:t>
            </a:r>
            <a:r>
              <a:rPr lang="ru-RU" dirty="0"/>
              <a:t>. Оно позволяет пользователям Mac запускать широкий спектр гостевых операционных систем.</a:t>
            </a:r>
          </a:p>
          <a:p>
            <a:pPr marL="171450" indent="-171450">
              <a:buFont typeface="Arial" panose="020B0604020202020204" pitchFamily="34" charset="0"/>
              <a:buChar char="•"/>
            </a:pPr>
            <a:r>
              <a:rPr lang="ru-RU" dirty="0" err="1"/>
              <a:t>Workstation</a:t>
            </a:r>
            <a:r>
              <a:rPr lang="ru-RU" dirty="0"/>
              <a:t>: платформа VMware, ориентированная на Linux и Windows. Поставляется в двух вариантах: платная версия Pro и бесплатная версия Player для личного использования. Версия Pro, как и Fusion, позволяет запускать на одном ПК несколько операционных систем и подключается к VMware </a:t>
            </a:r>
            <a:r>
              <a:rPr lang="ru-RU" dirty="0" err="1"/>
              <a:t>vSphere</a:t>
            </a:r>
            <a:r>
              <a:rPr lang="ru-RU" dirty="0"/>
              <a:t>. Версия </a:t>
            </a:r>
            <a:r>
              <a:rPr lang="ru-RU" dirty="0" err="1"/>
              <a:t>Workstation</a:t>
            </a:r>
            <a:r>
              <a:rPr lang="ru-RU" dirty="0"/>
              <a:t> Player поддерживает только одну гостевую ОС.</a:t>
            </a:r>
          </a:p>
        </p:txBody>
      </p:sp>
      <p:sp>
        <p:nvSpPr>
          <p:cNvPr id="4" name="Номер слайда 3"/>
          <p:cNvSpPr>
            <a:spLocks noGrp="1"/>
          </p:cNvSpPr>
          <p:nvPr>
            <p:ph type="sldNum" sz="quarter" idx="5"/>
          </p:nvPr>
        </p:nvSpPr>
        <p:spPr/>
        <p:txBody>
          <a:bodyPr/>
          <a:lstStyle/>
          <a:p>
            <a:fld id="{3AA604DF-7B4F-4819-9696-CA432EB97D0F}" type="slidenum">
              <a:rPr lang="ru-RU" smtClean="0"/>
              <a:t>4</a:t>
            </a:fld>
            <a:endParaRPr lang="ru-RU"/>
          </a:p>
        </p:txBody>
      </p:sp>
    </p:spTree>
    <p:extLst>
      <p:ext uri="{BB962C8B-B14F-4D97-AF65-F5344CB8AC3E}">
        <p14:creationId xmlns:p14="http://schemas.microsoft.com/office/powerpoint/2010/main" val="592256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VirtualBox: </a:t>
            </a:r>
            <a:r>
              <a:rPr lang="ru-RU" dirty="0"/>
              <a:t>гипервизор типа 2, работающий в ОС </a:t>
            </a:r>
            <a:r>
              <a:rPr lang="en-US" dirty="0"/>
              <a:t>Linux, Mac OS </a:t>
            </a:r>
            <a:r>
              <a:rPr lang="ru-RU" dirty="0"/>
              <a:t>и </a:t>
            </a:r>
            <a:r>
              <a:rPr lang="en-US" dirty="0"/>
              <a:t>Windows. Oracle </a:t>
            </a:r>
            <a:r>
              <a:rPr lang="ru-RU" dirty="0"/>
              <a:t>унаследовала этот продукт в 2010 году, когда купила </a:t>
            </a:r>
            <a:r>
              <a:rPr lang="en-US" dirty="0"/>
              <a:t>Sun Microsystems.</a:t>
            </a:r>
            <a:endParaRPr lang="ru-RU" dirty="0"/>
          </a:p>
        </p:txBody>
      </p:sp>
      <p:sp>
        <p:nvSpPr>
          <p:cNvPr id="4" name="Номер слайда 3"/>
          <p:cNvSpPr>
            <a:spLocks noGrp="1"/>
          </p:cNvSpPr>
          <p:nvPr>
            <p:ph type="sldNum" sz="quarter" idx="5"/>
          </p:nvPr>
        </p:nvSpPr>
        <p:spPr/>
        <p:txBody>
          <a:bodyPr/>
          <a:lstStyle/>
          <a:p>
            <a:fld id="{3AA604DF-7B4F-4819-9696-CA432EB97D0F}" type="slidenum">
              <a:rPr lang="ru-RU" smtClean="0"/>
              <a:t>5</a:t>
            </a:fld>
            <a:endParaRPr lang="ru-RU"/>
          </a:p>
        </p:txBody>
      </p:sp>
    </p:spTree>
    <p:extLst>
      <p:ext uri="{BB962C8B-B14F-4D97-AF65-F5344CB8AC3E}">
        <p14:creationId xmlns:p14="http://schemas.microsoft.com/office/powerpoint/2010/main" val="3697363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Hyper-V — это гипервизор Microsoft, разработанный для использования в системах Windows. В 2008 году он поставлялся в составе Windows Server, то есть для его использования клиентам приходилось устанавливать всю ОС Windows. Впоследствии Microsoft выпустила отдельную версию под названием Hyper-V Server, работающую на Windows Server Core. Это позволило администраторам запускать Hyper-V без установки полной версии Windows Server. Hyper-V также доступен для клиентов Windows.</a:t>
            </a:r>
          </a:p>
          <a:p>
            <a:endParaRPr lang="ru-RU" dirty="0"/>
          </a:p>
          <a:p>
            <a:r>
              <a:rPr lang="ru-RU" dirty="0"/>
              <a:t>Microsoft определяет Hyper-V как гипервизор 1 типа, хотя он работает иначе, чем у многих конкурентов. Hyper-V устанавливается в Windows, но работает непосредственно на физическом оборудовании, помещаясь под ОС хоста. В дальнейшем все гостевые операционные системы работают через гипервизор, но ОС хоста получает особый доступ к оборудованию, что дает ей преимущество в производительности.</a:t>
            </a:r>
          </a:p>
        </p:txBody>
      </p:sp>
      <p:sp>
        <p:nvSpPr>
          <p:cNvPr id="4" name="Номер слайда 3"/>
          <p:cNvSpPr>
            <a:spLocks noGrp="1"/>
          </p:cNvSpPr>
          <p:nvPr>
            <p:ph type="sldNum" sz="quarter" idx="5"/>
          </p:nvPr>
        </p:nvSpPr>
        <p:spPr/>
        <p:txBody>
          <a:bodyPr/>
          <a:lstStyle/>
          <a:p>
            <a:fld id="{3AA604DF-7B4F-4819-9696-CA432EB97D0F}" type="slidenum">
              <a:rPr lang="ru-RU" smtClean="0"/>
              <a:t>6</a:t>
            </a:fld>
            <a:endParaRPr lang="ru-RU"/>
          </a:p>
        </p:txBody>
      </p:sp>
    </p:spTree>
    <p:extLst>
      <p:ext uri="{BB962C8B-B14F-4D97-AF65-F5344CB8AC3E}">
        <p14:creationId xmlns:p14="http://schemas.microsoft.com/office/powerpoint/2010/main" val="1901494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Citrix </a:t>
            </a:r>
            <a:r>
              <a:rPr lang="ru-RU" dirty="0" err="1"/>
              <a:t>XenServer</a:t>
            </a:r>
            <a:endParaRPr lang="ru-RU" dirty="0"/>
          </a:p>
          <a:p>
            <a:r>
              <a:rPr lang="ru-RU" dirty="0" err="1"/>
              <a:t>XenServer</a:t>
            </a:r>
            <a:r>
              <a:rPr lang="ru-RU" dirty="0"/>
              <a:t>, который сейчас известен как Citrix </a:t>
            </a:r>
            <a:r>
              <a:rPr lang="ru-RU" dirty="0" err="1"/>
              <a:t>Hypervisor</a:t>
            </a:r>
            <a:r>
              <a:rPr lang="ru-RU" dirty="0"/>
              <a:t>, представляет собой коммерческий гипервизор 1 типа, поддерживающий ОС Linux и Windows. </a:t>
            </a:r>
            <a:r>
              <a:rPr lang="ru-RU" dirty="0" err="1"/>
              <a:t>XenServer</a:t>
            </a:r>
            <a:r>
              <a:rPr lang="ru-RU" dirty="0"/>
              <a:t> родился из проекта </a:t>
            </a:r>
            <a:r>
              <a:rPr lang="ru-RU" dirty="0" err="1"/>
              <a:t>Xen</a:t>
            </a:r>
            <a:r>
              <a:rPr lang="ru-RU" dirty="0"/>
              <a:t> с открытым исходным кодом (внешняя ссылка).</a:t>
            </a:r>
          </a:p>
        </p:txBody>
      </p:sp>
      <p:sp>
        <p:nvSpPr>
          <p:cNvPr id="4" name="Номер слайда 3"/>
          <p:cNvSpPr>
            <a:spLocks noGrp="1"/>
          </p:cNvSpPr>
          <p:nvPr>
            <p:ph type="sldNum" sz="quarter" idx="5"/>
          </p:nvPr>
        </p:nvSpPr>
        <p:spPr/>
        <p:txBody>
          <a:bodyPr/>
          <a:lstStyle/>
          <a:p>
            <a:fld id="{3AA604DF-7B4F-4819-9696-CA432EB97D0F}" type="slidenum">
              <a:rPr lang="ru-RU" smtClean="0"/>
              <a:t>7</a:t>
            </a:fld>
            <a:endParaRPr lang="ru-RU"/>
          </a:p>
        </p:txBody>
      </p:sp>
    </p:spTree>
    <p:extLst>
      <p:ext uri="{BB962C8B-B14F-4D97-AF65-F5344CB8AC3E}">
        <p14:creationId xmlns:p14="http://schemas.microsoft.com/office/powerpoint/2010/main" val="3698902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Некоторые гипервизоры, например KVM, начинались как проекты с открытым исходным кодом. Тесная связь Red Hat с сообществом разработчиков ПО с открытым исходным кодом сделала KVM ядром всех основных дистрибутивов для виртуализации </a:t>
            </a:r>
            <a:r>
              <a:rPr lang="ru-RU" dirty="0" err="1"/>
              <a:t>OpenStack</a:t>
            </a:r>
            <a:r>
              <a:rPr lang="ru-RU" dirty="0"/>
              <a:t> и Linux.</a:t>
            </a:r>
          </a:p>
          <a:p>
            <a:endParaRPr lang="ru-RU" dirty="0"/>
          </a:p>
          <a:p>
            <a:r>
              <a:rPr lang="ru-RU" dirty="0"/>
              <a:t>Гипервизоры с открытым исходным кодом также доступны в бесплатных конфигурациях. KVM можно загрузить отдельно или в составе открытого решения для виртуализации </a:t>
            </a:r>
            <a:r>
              <a:rPr lang="ru-RU" dirty="0" err="1"/>
              <a:t>oVirt</a:t>
            </a:r>
            <a:r>
              <a:rPr lang="ru-RU" dirty="0"/>
              <a:t>, давним сторонником которого является Red Hat.</a:t>
            </a:r>
          </a:p>
          <a:p>
            <a:endParaRPr lang="ru-RU" dirty="0"/>
          </a:p>
          <a:p>
            <a:r>
              <a:rPr lang="en-US" b="1" i="0" dirty="0">
                <a:solidFill>
                  <a:srgbClr val="252525"/>
                </a:solidFill>
                <a:effectLst/>
                <a:latin typeface="open sans" panose="020B0606030504020204" pitchFamily="34" charset="0"/>
              </a:rPr>
              <a:t>KVM</a:t>
            </a:r>
            <a:r>
              <a:rPr lang="en-US" b="0" i="0" dirty="0">
                <a:solidFill>
                  <a:srgbClr val="252525"/>
                </a:solidFill>
                <a:effectLst/>
                <a:latin typeface="open sans" panose="020B0606030504020204" pitchFamily="34" charset="0"/>
              </a:rPr>
              <a:t> (</a:t>
            </a:r>
            <a:r>
              <a:rPr lang="en-US" b="1" i="0" dirty="0">
                <a:solidFill>
                  <a:srgbClr val="252525"/>
                </a:solidFill>
                <a:effectLst/>
                <a:latin typeface="open sans" panose="020B0606030504020204" pitchFamily="34" charset="0"/>
              </a:rPr>
              <a:t>Kernel-based Virtual Machine</a:t>
            </a:r>
            <a:r>
              <a:rPr lang="en-US" b="0" i="0" dirty="0">
                <a:solidFill>
                  <a:srgbClr val="252525"/>
                </a:solidFill>
                <a:effectLst/>
                <a:latin typeface="open sans" panose="020B0606030504020204" pitchFamily="34" charset="0"/>
              </a:rPr>
              <a:t>) — </a:t>
            </a:r>
            <a:r>
              <a:rPr lang="ru-RU" b="0" i="0" dirty="0">
                <a:solidFill>
                  <a:srgbClr val="252525"/>
                </a:solidFill>
                <a:effectLst/>
                <a:latin typeface="open sans" panose="020B0606030504020204" pitchFamily="34" charset="0"/>
              </a:rPr>
              <a:t>программное решение, обеспечивающее виртуализацию в среде </a:t>
            </a:r>
            <a:r>
              <a:rPr lang="en-US" b="0" i="0" dirty="0">
                <a:solidFill>
                  <a:srgbClr val="252525"/>
                </a:solidFill>
                <a:effectLst/>
                <a:latin typeface="open sans" panose="020B0606030504020204" pitchFamily="34" charset="0"/>
              </a:rPr>
              <a:t>Linux </a:t>
            </a:r>
            <a:r>
              <a:rPr lang="ru-RU" b="0" i="0" dirty="0">
                <a:solidFill>
                  <a:srgbClr val="252525"/>
                </a:solidFill>
                <a:effectLst/>
                <a:latin typeface="open sans" panose="020B0606030504020204" pitchFamily="34" charset="0"/>
              </a:rPr>
              <a:t>на платформе </a:t>
            </a:r>
            <a:r>
              <a:rPr lang="en-US" b="0" i="0" dirty="0">
                <a:solidFill>
                  <a:srgbClr val="252525"/>
                </a:solidFill>
                <a:effectLst/>
                <a:latin typeface="open sans" panose="020B0606030504020204" pitchFamily="34" charset="0"/>
              </a:rPr>
              <a:t>x86, </a:t>
            </a:r>
            <a:r>
              <a:rPr lang="ru-RU" b="0" i="0" dirty="0">
                <a:solidFill>
                  <a:srgbClr val="252525"/>
                </a:solidFill>
                <a:effectLst/>
                <a:latin typeface="open sans" panose="020B0606030504020204" pitchFamily="34" charset="0"/>
              </a:rPr>
              <a:t>которая поддерживает аппаратную виртуализацию на базе </a:t>
            </a:r>
            <a:r>
              <a:rPr lang="en-US" b="0" i="0" dirty="0">
                <a:solidFill>
                  <a:srgbClr val="252525"/>
                </a:solidFill>
                <a:effectLst/>
                <a:latin typeface="open sans" panose="020B0606030504020204" pitchFamily="34" charset="0"/>
              </a:rPr>
              <a:t>Intel VT (Virtualization Technology) </a:t>
            </a:r>
            <a:r>
              <a:rPr lang="ru-RU" b="0" i="0" dirty="0">
                <a:solidFill>
                  <a:srgbClr val="252525"/>
                </a:solidFill>
                <a:effectLst/>
                <a:latin typeface="open sans" panose="020B0606030504020204" pitchFamily="34" charset="0"/>
              </a:rPr>
              <a:t>либо </a:t>
            </a:r>
            <a:r>
              <a:rPr lang="en-US" b="0" i="0" dirty="0">
                <a:solidFill>
                  <a:srgbClr val="252525"/>
                </a:solidFill>
                <a:effectLst/>
                <a:latin typeface="open sans" panose="020B0606030504020204" pitchFamily="34" charset="0"/>
              </a:rPr>
              <a:t>AMD SVM (Secure Virtual Machine).</a:t>
            </a:r>
            <a:endParaRPr lang="ru-RU" b="0" i="0" dirty="0">
              <a:solidFill>
                <a:srgbClr val="252525"/>
              </a:solidFill>
              <a:effectLst/>
              <a:latin typeface="open sans" panose="020B0606030504020204" pitchFamily="34" charset="0"/>
            </a:endParaRPr>
          </a:p>
          <a:p>
            <a:endParaRPr lang="en-US" dirty="0"/>
          </a:p>
          <a:p>
            <a:pPr algn="l" fontAlgn="base"/>
            <a:r>
              <a:rPr lang="ru-RU" b="0" i="0" dirty="0">
                <a:solidFill>
                  <a:srgbClr val="525252"/>
                </a:solidFill>
                <a:effectLst/>
                <a:latin typeface="IBM Plex Sans" panose="020B0503050203000203" pitchFamily="34" charset="0"/>
              </a:rPr>
              <a:t>Гипервизор и KVM</a:t>
            </a:r>
          </a:p>
          <a:p>
            <a:pPr algn="l" fontAlgn="base"/>
            <a:r>
              <a:rPr lang="ru-RU" b="0" i="0" dirty="0">
                <a:solidFill>
                  <a:srgbClr val="525252"/>
                </a:solidFill>
                <a:effectLst/>
                <a:latin typeface="IBM Plex Sans" panose="020B0503050203000203" pitchFamily="34" charset="0"/>
              </a:rPr>
              <a:t>В Linux также есть функции гипервизора, встроенные в ее ядро ОС. В 2007 году виртуальная машина на основе ядра (KVM) вошла в состав основной ветки ядра Linux и дополняет QEMU — гипервизор, полностью </a:t>
            </a:r>
            <a:r>
              <a:rPr lang="ru-RU" b="0" i="0" dirty="0" err="1">
                <a:solidFill>
                  <a:srgbClr val="525252"/>
                </a:solidFill>
                <a:effectLst/>
                <a:latin typeface="IBM Plex Sans" panose="020B0503050203000203" pitchFamily="34" charset="0"/>
              </a:rPr>
              <a:t>программно</a:t>
            </a:r>
            <a:r>
              <a:rPr lang="ru-RU" b="0" i="0" dirty="0">
                <a:solidFill>
                  <a:srgbClr val="525252"/>
                </a:solidFill>
                <a:effectLst/>
                <a:latin typeface="IBM Plex Sans" panose="020B0503050203000203" pitchFamily="34" charset="0"/>
              </a:rPr>
              <a:t> эмулирующий процессор физической машины.</a:t>
            </a:r>
          </a:p>
          <a:p>
            <a:pPr algn="l" fontAlgn="base"/>
            <a:r>
              <a:rPr lang="ru-RU" b="0" i="0" dirty="0">
                <a:solidFill>
                  <a:srgbClr val="525252"/>
                </a:solidFill>
                <a:effectLst/>
                <a:latin typeface="IBM Plex Sans" panose="020B0503050203000203" pitchFamily="34" charset="0"/>
              </a:rPr>
              <a:t>KVM поддерживает расширения виртуализации, которые Intel и AMD встроили в свои процессорные архитектуры для лучшей поддержки гипервизоров. Благодаря этим расширениям, называемым Intel VT и AMD-V соответственно, процессор помогает гипервизору управлять несколькими виртуальными машинами. Если эти расширения доступны, ядро Linux может использовать KVM. В противном случае оно возвращается к QEMU.</a:t>
            </a:r>
          </a:p>
          <a:p>
            <a:endParaRPr lang="en-US" dirty="0"/>
          </a:p>
          <a:p>
            <a:r>
              <a:rPr lang="ru-RU" dirty="0"/>
              <a:t>Гипервизор Red Hat</a:t>
            </a:r>
          </a:p>
          <a:p>
            <a:r>
              <a:rPr lang="ru-RU" dirty="0"/>
              <a:t>Для гипервизора Red Hat Enterprise </a:t>
            </a:r>
            <a:r>
              <a:rPr lang="ru-RU" dirty="0" err="1"/>
              <a:t>Virtualization</a:t>
            </a:r>
            <a:r>
              <a:rPr lang="ru-RU" dirty="0"/>
              <a:t> </a:t>
            </a:r>
            <a:r>
              <a:rPr lang="ru-RU" dirty="0" err="1"/>
              <a:t>Hypervisor</a:t>
            </a:r>
            <a:r>
              <a:rPr lang="ru-RU" dirty="0"/>
              <a:t> компания Red Hat взяла за основу гипервизор KVM. Его решение для виртуализации расширяет возможности гипервизора. Сюда входит диспетчер виртуализации, предоставляющий централизованную систему управления с графическим пользовательским интерфейсом на основе поиска и безопасными технологиями виртуализации, которые защищают гипервизор от атак, направленных на хост или виртуальные машины. Гипервизор Red Hat способен работать со многими операционными системами, включая Ubuntu.</a:t>
            </a:r>
            <a:endParaRPr lang="en-US" dirty="0"/>
          </a:p>
          <a:p>
            <a:endParaRPr lang="ru-RU" dirty="0"/>
          </a:p>
        </p:txBody>
      </p:sp>
      <p:sp>
        <p:nvSpPr>
          <p:cNvPr id="4" name="Номер слайда 3"/>
          <p:cNvSpPr>
            <a:spLocks noGrp="1"/>
          </p:cNvSpPr>
          <p:nvPr>
            <p:ph type="sldNum" sz="quarter" idx="5"/>
          </p:nvPr>
        </p:nvSpPr>
        <p:spPr/>
        <p:txBody>
          <a:bodyPr/>
          <a:lstStyle/>
          <a:p>
            <a:fld id="{3AA604DF-7B4F-4819-9696-CA432EB97D0F}" type="slidenum">
              <a:rPr lang="ru-RU" smtClean="0"/>
              <a:t>8</a:t>
            </a:fld>
            <a:endParaRPr lang="ru-RU"/>
          </a:p>
        </p:txBody>
      </p:sp>
    </p:spTree>
    <p:extLst>
      <p:ext uri="{BB962C8B-B14F-4D97-AF65-F5344CB8AC3E}">
        <p14:creationId xmlns:p14="http://schemas.microsoft.com/office/powerpoint/2010/main" val="3771294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VMware</a:t>
            </a:r>
          </a:p>
          <a:p>
            <a:r>
              <a:rPr lang="ru-RU" dirty="0"/>
              <a:t>VMware можно назвать флагманом рынка виртуализации. Компания основана 10 февраля 1998 года пятью техническими специалистами во главе с Дианой Грин (</a:t>
            </a:r>
            <a:r>
              <a:rPr lang="ru-RU" dirty="0" err="1"/>
              <a:t>Diane</a:t>
            </a:r>
            <a:r>
              <a:rPr lang="ru-RU" dirty="0"/>
              <a:t> </a:t>
            </a:r>
            <a:r>
              <a:rPr lang="ru-RU" dirty="0" err="1"/>
              <a:t>Greene</a:t>
            </a:r>
            <a:r>
              <a:rPr lang="ru-RU" dirty="0"/>
              <a:t>). Уже в 1999 году они представили свой первый продукт </a:t>
            </a:r>
            <a:r>
              <a:rPr lang="ru-RU" dirty="0" err="1"/>
              <a:t>Workstation</a:t>
            </a:r>
            <a:r>
              <a:rPr lang="ru-RU" dirty="0"/>
              <a:t> 1.0, который стал началом коммерчески успешного взлёта компании. Продукт был предназначен для «десктопной» виртуализации. Чтобы выйти на рынок Enterprise-решений, VMware в 2002 году представили свой первый гипервизор ESX Server 1.5, который эволюционировал в платформу виртуализации VMware </a:t>
            </a:r>
            <a:r>
              <a:rPr lang="ru-RU" dirty="0" err="1"/>
              <a:t>vSphere</a:t>
            </a:r>
            <a:r>
              <a:rPr lang="ru-RU" dirty="0"/>
              <a:t>.</a:t>
            </a:r>
          </a:p>
          <a:p>
            <a:endParaRPr lang="ru-RU" dirty="0"/>
          </a:p>
          <a:p>
            <a:pPr algn="l"/>
            <a:r>
              <a:rPr lang="ru-RU" b="1" i="0" dirty="0" err="1">
                <a:solidFill>
                  <a:srgbClr val="474849"/>
                </a:solidFill>
                <a:effectLst/>
                <a:latin typeface="var(--heading-font-family)"/>
              </a:rPr>
              <a:t>Xen</a:t>
            </a:r>
            <a:endParaRPr lang="ru-RU" b="1" i="0" dirty="0">
              <a:solidFill>
                <a:srgbClr val="474849"/>
              </a:solidFill>
              <a:effectLst/>
              <a:latin typeface="var(--heading-font-family)"/>
            </a:endParaRPr>
          </a:p>
          <a:p>
            <a:pPr algn="l"/>
            <a:r>
              <a:rPr lang="ru-RU" b="0" i="0" dirty="0">
                <a:solidFill>
                  <a:srgbClr val="474849"/>
                </a:solidFill>
                <a:effectLst/>
                <a:latin typeface="Roboto" panose="020B0604020202020204" pitchFamily="2" charset="0"/>
              </a:rPr>
              <a:t>История </a:t>
            </a:r>
            <a:r>
              <a:rPr lang="ru-RU" b="0" i="0" dirty="0" err="1">
                <a:solidFill>
                  <a:srgbClr val="474849"/>
                </a:solidFill>
                <a:effectLst/>
                <a:latin typeface="Roboto" panose="020B0604020202020204" pitchFamily="2" charset="0"/>
              </a:rPr>
              <a:t>Xen</a:t>
            </a:r>
            <a:r>
              <a:rPr lang="ru-RU" b="0" i="0" dirty="0">
                <a:solidFill>
                  <a:srgbClr val="474849"/>
                </a:solidFill>
                <a:effectLst/>
                <a:latin typeface="Roboto" panose="020B0604020202020204" pitchFamily="2" charset="0"/>
              </a:rPr>
              <a:t> корнями уходит в исследовательский проект в Кембриджском университете под руководством Яна </a:t>
            </a:r>
            <a:r>
              <a:rPr lang="ru-RU" b="0" i="0" dirty="0" err="1">
                <a:solidFill>
                  <a:srgbClr val="474849"/>
                </a:solidFill>
                <a:effectLst/>
                <a:latin typeface="Roboto" panose="020B0604020202020204" pitchFamily="2" charset="0"/>
              </a:rPr>
              <a:t>Пратта</a:t>
            </a:r>
            <a:r>
              <a:rPr lang="ru-RU" b="0" i="0" dirty="0">
                <a:solidFill>
                  <a:srgbClr val="474849"/>
                </a:solidFill>
                <a:effectLst/>
                <a:latin typeface="Roboto" panose="020B0604020202020204" pitchFamily="2" charset="0"/>
              </a:rPr>
              <a:t> (</a:t>
            </a:r>
            <a:r>
              <a:rPr lang="ru-RU" b="0" i="0" dirty="0" err="1">
                <a:solidFill>
                  <a:srgbClr val="474849"/>
                </a:solidFill>
                <a:effectLst/>
                <a:latin typeface="Roboto" panose="020B0604020202020204" pitchFamily="2" charset="0"/>
              </a:rPr>
              <a:t>Ian</a:t>
            </a:r>
            <a:r>
              <a:rPr lang="ru-RU" b="0" i="0" dirty="0">
                <a:solidFill>
                  <a:srgbClr val="474849"/>
                </a:solidFill>
                <a:effectLst/>
                <a:latin typeface="Roboto" panose="020B0604020202020204" pitchFamily="2" charset="0"/>
              </a:rPr>
              <a:t> Pratt) и </a:t>
            </a:r>
            <a:r>
              <a:rPr lang="ru-RU" b="0" i="0" dirty="0" err="1">
                <a:solidFill>
                  <a:srgbClr val="474849"/>
                </a:solidFill>
                <a:effectLst/>
                <a:latin typeface="Roboto" panose="020B0604020202020204" pitchFamily="2" charset="0"/>
              </a:rPr>
              <a:t>Кейр</a:t>
            </a:r>
            <a:r>
              <a:rPr lang="ru-RU" b="0" i="0" dirty="0">
                <a:solidFill>
                  <a:srgbClr val="474849"/>
                </a:solidFill>
                <a:effectLst/>
                <a:latin typeface="Roboto" panose="020B0604020202020204" pitchFamily="2" charset="0"/>
              </a:rPr>
              <a:t> Фрейзер (</a:t>
            </a:r>
            <a:r>
              <a:rPr lang="ru-RU" b="0" i="0" dirty="0" err="1">
                <a:solidFill>
                  <a:srgbClr val="474849"/>
                </a:solidFill>
                <a:effectLst/>
                <a:latin typeface="Roboto" panose="020B0604020202020204" pitchFamily="2" charset="0"/>
              </a:rPr>
              <a:t>Keir</a:t>
            </a:r>
            <a:r>
              <a:rPr lang="ru-RU" b="0" i="0" dirty="0">
                <a:solidFill>
                  <a:srgbClr val="474849"/>
                </a:solidFill>
                <a:effectLst/>
                <a:latin typeface="Roboto" panose="020B0604020202020204" pitchFamily="2" charset="0"/>
              </a:rPr>
              <a:t> </a:t>
            </a:r>
            <a:r>
              <a:rPr lang="ru-RU" b="0" i="0" dirty="0" err="1">
                <a:solidFill>
                  <a:srgbClr val="474849"/>
                </a:solidFill>
                <a:effectLst/>
                <a:latin typeface="Roboto" panose="020B0604020202020204" pitchFamily="2" charset="0"/>
              </a:rPr>
              <a:t>Fraser</a:t>
            </a:r>
            <a:r>
              <a:rPr lang="ru-RU" b="0" i="0" dirty="0">
                <a:solidFill>
                  <a:srgbClr val="474849"/>
                </a:solidFill>
                <a:effectLst/>
                <a:latin typeface="Roboto" panose="020B0604020202020204" pitchFamily="2" charset="0"/>
              </a:rPr>
              <a:t>). Первая версия была анонсирована в 2004 г. и вскоре с другими выпускниками университета была основана компания </a:t>
            </a:r>
            <a:r>
              <a:rPr lang="ru-RU" b="0" i="0" dirty="0" err="1">
                <a:solidFill>
                  <a:srgbClr val="474849"/>
                </a:solidFill>
                <a:effectLst/>
                <a:latin typeface="Roboto" panose="020B0604020202020204" pitchFamily="2" charset="0"/>
              </a:rPr>
              <a:t>XenSource</a:t>
            </a:r>
            <a:r>
              <a:rPr lang="ru-RU" b="0" i="0" dirty="0">
                <a:solidFill>
                  <a:srgbClr val="474849"/>
                </a:solidFill>
                <a:effectLst/>
                <a:latin typeface="Roboto" panose="020B0604020202020204" pitchFamily="2" charset="0"/>
              </a:rPr>
              <a:t> Inc, целью которой было продвижение </a:t>
            </a:r>
            <a:r>
              <a:rPr lang="ru-RU" b="0" i="0" dirty="0" err="1">
                <a:solidFill>
                  <a:srgbClr val="474849"/>
                </a:solidFill>
                <a:effectLst/>
                <a:latin typeface="Roboto" panose="020B0604020202020204" pitchFamily="2" charset="0"/>
              </a:rPr>
              <a:t>Xen</a:t>
            </a:r>
            <a:r>
              <a:rPr lang="ru-RU" b="0" i="0" dirty="0">
                <a:solidFill>
                  <a:srgbClr val="474849"/>
                </a:solidFill>
                <a:effectLst/>
                <a:latin typeface="Roboto" panose="020B0604020202020204" pitchFamily="2" charset="0"/>
              </a:rPr>
              <a:t> на корпоративном рынке. 22 октября 2007 г. Citrix Systems завершила поглощение </a:t>
            </a:r>
            <a:r>
              <a:rPr lang="ru-RU" b="0" i="0" dirty="0" err="1">
                <a:solidFill>
                  <a:srgbClr val="474849"/>
                </a:solidFill>
                <a:effectLst/>
                <a:latin typeface="Roboto" panose="020B0604020202020204" pitchFamily="2" charset="0"/>
              </a:rPr>
              <a:t>XenSource</a:t>
            </a:r>
            <a:r>
              <a:rPr lang="ru-RU" b="0" i="0" dirty="0">
                <a:solidFill>
                  <a:srgbClr val="474849"/>
                </a:solidFill>
                <a:effectLst/>
                <a:latin typeface="Roboto" panose="020B0604020202020204" pitchFamily="2" charset="0"/>
              </a:rPr>
              <a:t> Inc, начав предлагать корпоративным клиентам </a:t>
            </a:r>
            <a:r>
              <a:rPr lang="ru-RU" b="0" i="0" dirty="0" err="1">
                <a:solidFill>
                  <a:srgbClr val="474849"/>
                </a:solidFill>
                <a:effectLst/>
                <a:latin typeface="Roboto" panose="020B0604020202020204" pitchFamily="2" charset="0"/>
              </a:rPr>
              <a:t>XenServer</a:t>
            </a:r>
            <a:r>
              <a:rPr lang="ru-RU" b="0" i="0" dirty="0">
                <a:solidFill>
                  <a:srgbClr val="474849"/>
                </a:solidFill>
                <a:effectLst/>
                <a:latin typeface="Roboto" panose="020B0604020202020204" pitchFamily="2" charset="0"/>
              </a:rPr>
              <a:t>, который позже был переименован в Citrix </a:t>
            </a:r>
            <a:r>
              <a:rPr lang="ru-RU" b="0" i="0" dirty="0" err="1">
                <a:solidFill>
                  <a:srgbClr val="474849"/>
                </a:solidFill>
                <a:effectLst/>
                <a:latin typeface="Roboto" panose="020B0604020202020204" pitchFamily="2" charset="0"/>
              </a:rPr>
              <a:t>Hypervisor</a:t>
            </a:r>
            <a:r>
              <a:rPr lang="ru-RU" b="0" i="0" dirty="0">
                <a:solidFill>
                  <a:srgbClr val="474849"/>
                </a:solidFill>
                <a:effectLst/>
                <a:latin typeface="Roboto" panose="020B0604020202020204" pitchFamily="2" charset="0"/>
              </a:rPr>
              <a:t>.</a:t>
            </a:r>
          </a:p>
          <a:p>
            <a:endParaRPr lang="ru-RU" dirty="0"/>
          </a:p>
          <a:p>
            <a:r>
              <a:rPr lang="en-US" dirty="0"/>
              <a:t>KVM</a:t>
            </a:r>
          </a:p>
          <a:p>
            <a:r>
              <a:rPr lang="en-US" dirty="0"/>
              <a:t>KVM (Kernel-based Virtual Machine) — </a:t>
            </a:r>
            <a:r>
              <a:rPr lang="ru-RU" dirty="0"/>
              <a:t>программное решение, обеспечивающее виртуализацию в среде </a:t>
            </a:r>
            <a:r>
              <a:rPr lang="en-US" dirty="0"/>
              <a:t>Linux. KVM </a:t>
            </a:r>
            <a:r>
              <a:rPr lang="ru-RU" dirty="0"/>
              <a:t>создано усилиями компании </a:t>
            </a:r>
            <a:r>
              <a:rPr lang="en-US" dirty="0" err="1"/>
              <a:t>Qumranet</a:t>
            </a:r>
            <a:r>
              <a:rPr lang="en-US" dirty="0"/>
              <a:t>, </a:t>
            </a:r>
            <a:r>
              <a:rPr lang="ru-RU" dirty="0"/>
              <a:t>которая была куплена </a:t>
            </a:r>
            <a:r>
              <a:rPr lang="en-US" dirty="0"/>
              <a:t>Red Hat </a:t>
            </a:r>
            <a:r>
              <a:rPr lang="ru-RU" dirty="0"/>
              <a:t>за $107 млн. 4 сентября 2008 года. После сделки </a:t>
            </a:r>
            <a:r>
              <a:rPr lang="en-US" dirty="0"/>
              <a:t>KVM (</a:t>
            </a:r>
            <a:r>
              <a:rPr lang="ru-RU" dirty="0"/>
              <a:t>наряду с системой управления виртуализацией </a:t>
            </a:r>
            <a:r>
              <a:rPr lang="en-US" dirty="0" err="1"/>
              <a:t>oVirt</a:t>
            </a:r>
            <a:r>
              <a:rPr lang="en-US" dirty="0"/>
              <a:t>) </a:t>
            </a:r>
            <a:r>
              <a:rPr lang="ru-RU" dirty="0"/>
              <a:t>вошла в состав платформы виртуализации </a:t>
            </a:r>
            <a:r>
              <a:rPr lang="en-US" dirty="0"/>
              <a:t>Red Hat Enterprise Virtualization (RHEV). 28 </a:t>
            </a:r>
            <a:r>
              <a:rPr lang="ru-RU" dirty="0"/>
              <a:t>октября 2018 года </a:t>
            </a:r>
            <a:r>
              <a:rPr lang="en-US" dirty="0"/>
              <a:t>IBM </a:t>
            </a:r>
            <a:r>
              <a:rPr lang="ru-RU" dirty="0"/>
              <a:t>выкупила </a:t>
            </a:r>
            <a:r>
              <a:rPr lang="en-US" dirty="0"/>
              <a:t>Red Hat </a:t>
            </a:r>
            <a:r>
              <a:rPr lang="ru-RU" dirty="0"/>
              <a:t>за 34 миллиарда долларов.</a:t>
            </a:r>
          </a:p>
          <a:p>
            <a:endParaRPr lang="ru-RU" dirty="0"/>
          </a:p>
          <a:p>
            <a:r>
              <a:rPr lang="ru-RU" dirty="0"/>
              <a:t>Hyper-V</a:t>
            </a:r>
          </a:p>
          <a:p>
            <a:r>
              <a:rPr lang="ru-RU" dirty="0"/>
              <a:t>В Microsoft бросились догонять уходящий поезд виртуализации в 2008 году, представив свой гипервизор Hyper-V (кодовое имя </a:t>
            </a:r>
            <a:r>
              <a:rPr lang="ru-RU" dirty="0" err="1"/>
              <a:t>Viridian</a:t>
            </a:r>
            <a:r>
              <a:rPr lang="ru-RU" dirty="0"/>
              <a:t>) в составе MS Windows Server 2008. С целью составить конкуренцию на рынке виртуализации, Microsoft представила Hyper-V Server как бесплатную операционную систему с единственной ролью: быть сервером виртуализации.</a:t>
            </a:r>
          </a:p>
        </p:txBody>
      </p:sp>
      <p:sp>
        <p:nvSpPr>
          <p:cNvPr id="4" name="Номер слайда 3"/>
          <p:cNvSpPr>
            <a:spLocks noGrp="1"/>
          </p:cNvSpPr>
          <p:nvPr>
            <p:ph type="sldNum" sz="quarter" idx="5"/>
          </p:nvPr>
        </p:nvSpPr>
        <p:spPr/>
        <p:txBody>
          <a:bodyPr/>
          <a:lstStyle/>
          <a:p>
            <a:fld id="{3AA604DF-7B4F-4819-9696-CA432EB97D0F}" type="slidenum">
              <a:rPr lang="ru-RU" smtClean="0"/>
              <a:t>9</a:t>
            </a:fld>
            <a:endParaRPr lang="ru-RU"/>
          </a:p>
        </p:txBody>
      </p:sp>
    </p:spTree>
    <p:extLst>
      <p:ext uri="{BB962C8B-B14F-4D97-AF65-F5344CB8AC3E}">
        <p14:creationId xmlns:p14="http://schemas.microsoft.com/office/powerpoint/2010/main" val="2650430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sz="1200" dirty="0" smtClean="0"/>
              <a:t>Функционал </a:t>
            </a:r>
            <a:r>
              <a:rPr lang="ru-RU" sz="1200" dirty="0" err="1" smtClean="0"/>
              <a:t>VMware</a:t>
            </a:r>
            <a:r>
              <a:rPr lang="ru-RU" sz="1200" dirty="0" smtClean="0"/>
              <a:t> </a:t>
            </a:r>
            <a:r>
              <a:rPr lang="ru-RU" sz="1200" dirty="0" err="1" smtClean="0"/>
              <a:t>vSphere</a:t>
            </a:r>
            <a:r>
              <a:rPr lang="ru-RU" sz="1200" dirty="0" smtClean="0"/>
              <a:t>:</a:t>
            </a:r>
          </a:p>
          <a:p>
            <a:pPr algn="just"/>
            <a:r>
              <a:rPr lang="ru-RU" sz="1200" dirty="0" err="1" smtClean="0"/>
              <a:t>vCenter</a:t>
            </a:r>
            <a:r>
              <a:rPr lang="ru-RU" sz="1200" dirty="0" smtClean="0"/>
              <a:t> </a:t>
            </a:r>
            <a:r>
              <a:rPr lang="ru-RU" sz="1200" dirty="0" err="1" smtClean="0"/>
              <a:t>Server</a:t>
            </a:r>
            <a:r>
              <a:rPr lang="ru-RU" sz="1200" dirty="0" smtClean="0"/>
              <a:t>: инструмент централизованного управления, используемый для настройки, предоставления и управления виртуальными IT средами.</a:t>
            </a:r>
          </a:p>
          <a:p>
            <a:pPr algn="just"/>
            <a:r>
              <a:rPr lang="ru-RU" sz="1200" dirty="0" err="1" smtClean="0"/>
              <a:t>vSphere</a:t>
            </a:r>
            <a:r>
              <a:rPr lang="ru-RU" sz="1200" dirty="0" smtClean="0"/>
              <a:t> </a:t>
            </a:r>
            <a:r>
              <a:rPr lang="ru-RU" sz="1200" dirty="0" err="1" smtClean="0"/>
              <a:t>Clien</a:t>
            </a:r>
            <a:r>
              <a:rPr lang="ru-RU" sz="1200" dirty="0" smtClean="0"/>
              <a:t>: </a:t>
            </a:r>
            <a:r>
              <a:rPr lang="ru-RU" sz="1200" dirty="0" err="1" smtClean="0"/>
              <a:t>vSphere</a:t>
            </a:r>
            <a:r>
              <a:rPr lang="ru-RU" sz="1200" dirty="0" smtClean="0"/>
              <a:t> 6.7 имеет финальную версию </a:t>
            </a:r>
            <a:r>
              <a:rPr lang="ru-RU" sz="1200" dirty="0" err="1" smtClean="0"/>
              <a:t>vSphere</a:t>
            </a:r>
            <a:r>
              <a:rPr lang="ru-RU" sz="1200" dirty="0" smtClean="0"/>
              <a:t> </a:t>
            </a:r>
            <a:r>
              <a:rPr lang="ru-RU" sz="1200" dirty="0" err="1" smtClean="0"/>
              <a:t>Web</a:t>
            </a:r>
            <a:r>
              <a:rPr lang="ru-RU" sz="1200" dirty="0" smtClean="0"/>
              <a:t> </a:t>
            </a:r>
            <a:r>
              <a:rPr lang="ru-RU" sz="1200" dirty="0" err="1" smtClean="0"/>
              <a:t>Client</a:t>
            </a:r>
            <a:r>
              <a:rPr lang="ru-RU" sz="1200" dirty="0" smtClean="0"/>
              <a:t> на основе </a:t>
            </a:r>
            <a:r>
              <a:rPr lang="ru-RU" sz="1200" dirty="0" err="1" smtClean="0"/>
              <a:t>Flash</a:t>
            </a:r>
            <a:r>
              <a:rPr lang="ru-RU" sz="1200" dirty="0" smtClean="0"/>
              <a:t>. Новые рабочие процессы в обновленном выпуске </a:t>
            </a:r>
            <a:r>
              <a:rPr lang="ru-RU" sz="1200" dirty="0" err="1" smtClean="0"/>
              <a:t>vSphere</a:t>
            </a:r>
            <a:r>
              <a:rPr lang="ru-RU" sz="1200" dirty="0" smtClean="0"/>
              <a:t> </a:t>
            </a:r>
            <a:r>
              <a:rPr lang="ru-RU" sz="1200" dirty="0" err="1" smtClean="0"/>
              <a:t>Client</a:t>
            </a:r>
            <a:r>
              <a:rPr lang="ru-RU" sz="1200" dirty="0" smtClean="0"/>
              <a:t> включают </a:t>
            </a:r>
            <a:r>
              <a:rPr lang="ru-RU" sz="1200" dirty="0" err="1" smtClean="0"/>
              <a:t>vSphere</a:t>
            </a:r>
            <a:r>
              <a:rPr lang="ru-RU" sz="1200" dirty="0" smtClean="0"/>
              <a:t> </a:t>
            </a:r>
            <a:r>
              <a:rPr lang="ru-RU" sz="1200" dirty="0" err="1" smtClean="0"/>
              <a:t>Update</a:t>
            </a:r>
            <a:r>
              <a:rPr lang="ru-RU" sz="1200" dirty="0" smtClean="0"/>
              <a:t> </a:t>
            </a:r>
            <a:r>
              <a:rPr lang="ru-RU" sz="1200" dirty="0" err="1" smtClean="0"/>
              <a:t>Manager</a:t>
            </a:r>
            <a:r>
              <a:rPr lang="ru-RU" sz="1200" dirty="0" smtClean="0"/>
              <a:t>, библиотеку контента, </a:t>
            </a:r>
            <a:r>
              <a:rPr lang="ru-RU" sz="1200" dirty="0" err="1" smtClean="0"/>
              <a:t>vSAN</a:t>
            </a:r>
            <a:r>
              <a:rPr lang="ru-RU" sz="1200" dirty="0" smtClean="0"/>
              <a:t>, политики хранения, профили хостов, схему топологии </a:t>
            </a:r>
            <a:r>
              <a:rPr lang="ru-RU" sz="1200" dirty="0" err="1" smtClean="0"/>
              <a:t>VMware</a:t>
            </a:r>
            <a:r>
              <a:rPr lang="ru-RU" sz="1200" dirty="0" smtClean="0"/>
              <a:t> </a:t>
            </a:r>
            <a:r>
              <a:rPr lang="ru-RU" sz="1200" dirty="0" err="1" smtClean="0"/>
              <a:t>vSphere</a:t>
            </a:r>
            <a:r>
              <a:rPr lang="ru-RU" sz="1200" dirty="0" smtClean="0"/>
              <a:t> </a:t>
            </a:r>
            <a:r>
              <a:rPr lang="ru-RU" sz="1200" dirty="0" err="1" smtClean="0"/>
              <a:t>Distributed</a:t>
            </a:r>
            <a:r>
              <a:rPr lang="ru-RU" sz="1200" dirty="0" smtClean="0"/>
              <a:t> </a:t>
            </a:r>
            <a:r>
              <a:rPr lang="ru-RU" sz="1200" dirty="0" err="1" smtClean="0"/>
              <a:t>Switch</a:t>
            </a:r>
            <a:r>
              <a:rPr lang="ru-RU" sz="1200" dirty="0" smtClean="0"/>
              <a:t> и лицензирование.</a:t>
            </a:r>
          </a:p>
          <a:p>
            <a:pPr algn="just"/>
            <a:r>
              <a:rPr lang="ru-RU" sz="1200" dirty="0" err="1" smtClean="0"/>
              <a:t>vSphere</a:t>
            </a:r>
            <a:r>
              <a:rPr lang="ru-RU" sz="1200" dirty="0" smtClean="0"/>
              <a:t> SDK: предоставляет интерфейсы для сторонних решений для доступа к </a:t>
            </a:r>
            <a:r>
              <a:rPr lang="ru-RU" sz="1200" dirty="0" err="1" smtClean="0"/>
              <a:t>vSphere</a:t>
            </a:r>
            <a:r>
              <a:rPr lang="ru-RU" sz="1200" dirty="0" smtClean="0"/>
              <a:t>.</a:t>
            </a:r>
          </a:p>
          <a:p>
            <a:pPr algn="just"/>
            <a:r>
              <a:rPr lang="ru-RU" sz="1200" dirty="0" smtClean="0"/>
              <a:t>VM </a:t>
            </a:r>
            <a:r>
              <a:rPr lang="ru-RU" sz="1200" dirty="0" err="1" smtClean="0"/>
              <a:t>File</a:t>
            </a:r>
            <a:r>
              <a:rPr lang="ru-RU" sz="1200" dirty="0" smtClean="0"/>
              <a:t> </a:t>
            </a:r>
            <a:r>
              <a:rPr lang="ru-RU" sz="1200" dirty="0" err="1" smtClean="0"/>
              <a:t>System</a:t>
            </a:r>
            <a:r>
              <a:rPr lang="ru-RU" sz="1200" dirty="0" smtClean="0"/>
              <a:t>: кластерная файловая система для VM.</a:t>
            </a:r>
          </a:p>
          <a:p>
            <a:pPr algn="just"/>
            <a:r>
              <a:rPr lang="ru-RU" sz="1200" dirty="0" err="1" smtClean="0"/>
              <a:t>Virtual</a:t>
            </a:r>
            <a:r>
              <a:rPr lang="ru-RU" sz="1200" dirty="0" smtClean="0"/>
              <a:t> SMP: позволяет одной виртуальной машине одновременно использовать несколько физических процессоров.</a:t>
            </a:r>
          </a:p>
          <a:p>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13</a:t>
            </a:fld>
            <a:endParaRPr lang="ru-RU"/>
          </a:p>
        </p:txBody>
      </p:sp>
    </p:spTree>
    <p:extLst>
      <p:ext uri="{BB962C8B-B14F-4D97-AF65-F5344CB8AC3E}">
        <p14:creationId xmlns:p14="http://schemas.microsoft.com/office/powerpoint/2010/main" val="3201099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dirty="0" err="1" smtClean="0"/>
              <a:t>vMotion</a:t>
            </a:r>
            <a:r>
              <a:rPr lang="ru-RU" sz="1200" dirty="0" smtClean="0"/>
              <a:t>: активная миграция с целостностью транзакций.</a:t>
            </a:r>
          </a:p>
          <a:p>
            <a:r>
              <a:rPr lang="ru-RU" sz="1200" dirty="0" err="1" smtClean="0"/>
              <a:t>Storage</a:t>
            </a:r>
            <a:r>
              <a:rPr lang="ru-RU" sz="1200" dirty="0" smtClean="0"/>
              <a:t> </a:t>
            </a:r>
            <a:r>
              <a:rPr lang="ru-RU" sz="1200" dirty="0" err="1" smtClean="0"/>
              <a:t>vMotion</a:t>
            </a:r>
            <a:r>
              <a:rPr lang="ru-RU" sz="1200" dirty="0" smtClean="0"/>
              <a:t>: обеспечивает миграцию файлов виртуальных машин из одного места в другое без прерывания обслуживания.</a:t>
            </a:r>
          </a:p>
          <a:p>
            <a:r>
              <a:rPr lang="ru-RU" sz="1200" dirty="0" smtClean="0"/>
              <a:t>Высокая доступность: в случае сбоя одного сервера виртуальная машина перемещается на другой сервер с резервной емкостью для обеспечения непрерывности бизнес-процессов.</a:t>
            </a:r>
          </a:p>
          <a:p>
            <a:r>
              <a:rPr lang="ru-RU" sz="1200" dirty="0" smtClean="0"/>
              <a:t>Планировщик распределенных ресурсов (DRS): автоматически назначает и балансирует вычисления по аппаратным ресурсам, доступным для виртуальных машин.</a:t>
            </a:r>
          </a:p>
          <a:p>
            <a:r>
              <a:rPr lang="ru-RU" sz="1200" dirty="0" smtClean="0"/>
              <a:t>Отказоустойчивость: создает копию основной виртуальной машины, чтобы обеспечить ее постоянную доступность.</a:t>
            </a:r>
          </a:p>
          <a:p>
            <a:r>
              <a:rPr lang="ru-RU" sz="1200" dirty="0" smtClean="0"/>
              <a:t>Распределенный коммутатор (VDS): охватывает несколько хостов </a:t>
            </a:r>
            <a:r>
              <a:rPr lang="ru-RU" sz="1200" dirty="0" err="1" smtClean="0"/>
              <a:t>ESXi</a:t>
            </a:r>
            <a:r>
              <a:rPr lang="ru-RU" sz="1200" dirty="0" smtClean="0"/>
              <a:t> и позволяет значительно сократить объем работ по обслуживанию сети.</a:t>
            </a:r>
          </a:p>
          <a:p>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14</a:t>
            </a:fld>
            <a:endParaRPr lang="ru-RU"/>
          </a:p>
        </p:txBody>
      </p:sp>
    </p:spTree>
    <p:extLst>
      <p:ext uri="{BB962C8B-B14F-4D97-AF65-F5344CB8AC3E}">
        <p14:creationId xmlns:p14="http://schemas.microsoft.com/office/powerpoint/2010/main" val="3326421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sz="1200" dirty="0" smtClean="0"/>
              <a:t>Гипервизор </a:t>
            </a:r>
            <a:r>
              <a:rPr lang="ru-RU" sz="1200" dirty="0" err="1" smtClean="0"/>
              <a:t>Hyper</a:t>
            </a:r>
            <a:r>
              <a:rPr lang="ru-RU" sz="1200" dirty="0" smtClean="0"/>
              <a:t>-V не поддерживает технологию, которая используется для проброса аппаратных USB-портов, что не позволяет подключать, например, аппаратные лицензионные ключи 1С к виртуальным машинам. Данные технологии обычно называются USB </a:t>
            </a:r>
            <a:r>
              <a:rPr lang="ru-RU" sz="1200" dirty="0" err="1" smtClean="0"/>
              <a:t>Redirection</a:t>
            </a:r>
            <a:r>
              <a:rPr lang="ru-RU" sz="1200" dirty="0" smtClean="0"/>
              <a:t> или USB </a:t>
            </a:r>
            <a:r>
              <a:rPr lang="ru-RU" sz="1200" dirty="0" err="1" smtClean="0"/>
              <a:t>Passthrough</a:t>
            </a:r>
            <a:r>
              <a:rPr lang="ru-RU" sz="1200" dirty="0" smtClean="0"/>
              <a:t>. </a:t>
            </a:r>
            <a:r>
              <a:rPr lang="ru-RU" sz="1200" dirty="0" err="1" smtClean="0"/>
              <a:t>Microsoft</a:t>
            </a:r>
            <a:r>
              <a:rPr lang="ru-RU" sz="1200" dirty="0" smtClean="0"/>
              <a:t> предлагает использовать вместо этого </a:t>
            </a:r>
            <a:r>
              <a:rPr lang="ru-RU" sz="1200" dirty="0" err="1" smtClean="0"/>
              <a:t>Discrete</a:t>
            </a:r>
            <a:r>
              <a:rPr lang="ru-RU" sz="1200" dirty="0" smtClean="0"/>
              <a:t> </a:t>
            </a:r>
            <a:r>
              <a:rPr lang="ru-RU" sz="1200" dirty="0" err="1" smtClean="0"/>
              <a:t>Device</a:t>
            </a:r>
            <a:r>
              <a:rPr lang="ru-RU" sz="1200" dirty="0" smtClean="0"/>
              <a:t> </a:t>
            </a:r>
            <a:r>
              <a:rPr lang="ru-RU" sz="1200" dirty="0" err="1" smtClean="0"/>
              <a:t>Assignment</a:t>
            </a:r>
            <a:r>
              <a:rPr lang="ru-RU" sz="1200" dirty="0" smtClean="0"/>
              <a:t> (DDA).</a:t>
            </a:r>
          </a:p>
          <a:p>
            <a:pPr algn="just"/>
            <a:r>
              <a:rPr lang="ru-RU" sz="1200" dirty="0" err="1" smtClean="0"/>
              <a:t>Hyper</a:t>
            </a:r>
            <a:r>
              <a:rPr lang="ru-RU" sz="1200" dirty="0" smtClean="0"/>
              <a:t>-V не умеет «на лету» добавлять CPU, вам придётся осуществлять добавление в </a:t>
            </a:r>
            <a:r>
              <a:rPr lang="ru-RU" sz="1200" dirty="0" err="1" smtClean="0"/>
              <a:t>offline</a:t>
            </a:r>
            <a:r>
              <a:rPr lang="ru-RU" sz="1200" dirty="0" smtClean="0"/>
              <a:t> режиме через остановку сервиса, что вызовет простой (</a:t>
            </a:r>
            <a:r>
              <a:rPr lang="ru-RU" sz="1200" dirty="0" err="1" smtClean="0"/>
              <a:t>DownTime</a:t>
            </a:r>
            <a:r>
              <a:rPr lang="ru-RU" sz="1200" dirty="0" smtClean="0"/>
              <a:t>).</a:t>
            </a:r>
          </a:p>
          <a:p>
            <a:pPr algn="just"/>
            <a:r>
              <a:rPr lang="ru-RU" sz="1200" dirty="0" smtClean="0"/>
              <a:t>Количество гостевых операционных систем, которые могут работать внутри виртуальной машины, у </a:t>
            </a:r>
            <a:r>
              <a:rPr lang="ru-RU" sz="1200" dirty="0" err="1" smtClean="0"/>
              <a:t>Hyper</a:t>
            </a:r>
            <a:r>
              <a:rPr lang="ru-RU" sz="1200" dirty="0" smtClean="0"/>
              <a:t>-V значительно меньше </a:t>
            </a:r>
            <a:r>
              <a:rPr lang="ru-RU" sz="1200" dirty="0" err="1" smtClean="0"/>
              <a:t>VMware</a:t>
            </a:r>
            <a:r>
              <a:rPr lang="ru-RU" sz="1200" dirty="0" smtClean="0"/>
              <a:t>, поэтому рекомендуется проверить актуальный список, если вам требуется запустить раритетного гостя.</a:t>
            </a:r>
          </a:p>
          <a:p>
            <a:pPr algn="just"/>
            <a:r>
              <a:rPr lang="ru-RU" sz="1200" dirty="0" smtClean="0"/>
              <a:t>Стоит признать, что </a:t>
            </a:r>
            <a:r>
              <a:rPr lang="ru-RU" sz="1200" dirty="0" err="1" smtClean="0"/>
              <a:t>Hyper</a:t>
            </a:r>
            <a:r>
              <a:rPr lang="ru-RU" sz="1200" dirty="0" smtClean="0"/>
              <a:t>-V позволяет уменьшать размер диска, а не только увеличивать, как </a:t>
            </a:r>
            <a:r>
              <a:rPr lang="ru-RU" sz="1200" dirty="0" err="1" smtClean="0"/>
              <a:t>VMware</a:t>
            </a:r>
            <a:r>
              <a:rPr lang="ru-RU" sz="1200" dirty="0" smtClean="0"/>
              <a:t>, но на практике, к сожалению, аппетиты только растут и чаще всего виртуальный сервер будет требовать всё больше занятого места.</a:t>
            </a:r>
          </a:p>
          <a:p>
            <a:pPr algn="just"/>
            <a:r>
              <a:rPr lang="ru-RU" sz="1200" dirty="0" err="1" smtClean="0"/>
              <a:t>Microsoft</a:t>
            </a:r>
            <a:r>
              <a:rPr lang="ru-RU" sz="1200" dirty="0" smtClean="0"/>
              <a:t> первой реализовала в своём гипервизоре </a:t>
            </a:r>
            <a:r>
              <a:rPr lang="ru-RU" sz="1200" dirty="0" err="1" smtClean="0"/>
              <a:t>Hyper</a:t>
            </a:r>
            <a:r>
              <a:rPr lang="ru-RU" sz="1200" dirty="0" smtClean="0"/>
              <a:t>-V технологию VM-</a:t>
            </a:r>
            <a:r>
              <a:rPr lang="ru-RU" sz="1200" dirty="0" err="1" smtClean="0"/>
              <a:t>GenerationID</a:t>
            </a:r>
            <a:r>
              <a:rPr lang="ru-RU" sz="1200" dirty="0" smtClean="0"/>
              <a:t>, которая пригодится администраторам службы каталогов, использующим сложные схемы </a:t>
            </a:r>
            <a:r>
              <a:rPr lang="ru-RU" sz="1200" dirty="0" err="1" smtClean="0"/>
              <a:t>Active</a:t>
            </a:r>
            <a:r>
              <a:rPr lang="ru-RU" sz="1200" dirty="0" smtClean="0"/>
              <a:t> </a:t>
            </a:r>
            <a:r>
              <a:rPr lang="ru-RU" sz="1200" dirty="0" err="1" smtClean="0"/>
              <a:t>Directory</a:t>
            </a:r>
            <a:r>
              <a:rPr lang="ru-RU" sz="1200" dirty="0" smtClean="0"/>
              <a:t> со множеством контроллеров в виртуальных средах. Благодаря VM-</a:t>
            </a:r>
            <a:r>
              <a:rPr lang="ru-RU" sz="1200" dirty="0" err="1" smtClean="0"/>
              <a:t>GenerationID</a:t>
            </a:r>
            <a:r>
              <a:rPr lang="ru-RU" sz="1200" dirty="0" smtClean="0"/>
              <a:t> можно избежать множества проблем при откате к старому снимку или при восстановлении её из резервной копии. Стоит отметить, что </a:t>
            </a:r>
            <a:r>
              <a:rPr lang="ru-RU" sz="1200" dirty="0" err="1" smtClean="0"/>
              <a:t>VMware</a:t>
            </a:r>
            <a:r>
              <a:rPr lang="ru-RU" sz="1200" dirty="0" smtClean="0"/>
              <a:t> также реализовала поддержку VM-</a:t>
            </a:r>
            <a:r>
              <a:rPr lang="ru-RU" sz="1200" dirty="0" err="1" smtClean="0"/>
              <a:t>GenerationID</a:t>
            </a:r>
            <a:r>
              <a:rPr lang="ru-RU" sz="1200" dirty="0" smtClean="0"/>
              <a:t> с версии </a:t>
            </a:r>
            <a:r>
              <a:rPr lang="ru-RU" sz="1200" dirty="0" err="1" smtClean="0"/>
              <a:t>vSphere</a:t>
            </a:r>
            <a:r>
              <a:rPr lang="ru-RU" sz="1200" dirty="0" smtClean="0"/>
              <a:t> 5.0 </a:t>
            </a:r>
            <a:r>
              <a:rPr lang="ru-RU" sz="1200" dirty="0" err="1" smtClean="0"/>
              <a:t>Update</a:t>
            </a:r>
            <a:r>
              <a:rPr lang="ru-RU" sz="1200" dirty="0" smtClean="0"/>
              <a:t> 2.</a:t>
            </a:r>
          </a:p>
          <a:p>
            <a:endParaRPr lang="ru-RU" dirty="0"/>
          </a:p>
        </p:txBody>
      </p:sp>
      <p:sp>
        <p:nvSpPr>
          <p:cNvPr id="4" name="Номер слайда 3"/>
          <p:cNvSpPr>
            <a:spLocks noGrp="1"/>
          </p:cNvSpPr>
          <p:nvPr>
            <p:ph type="sldNum" sz="quarter" idx="5"/>
          </p:nvPr>
        </p:nvSpPr>
        <p:spPr/>
        <p:txBody>
          <a:bodyPr/>
          <a:lstStyle/>
          <a:p>
            <a:fld id="{3AA604DF-7B4F-4819-9696-CA432EB97D0F}" type="slidenum">
              <a:rPr lang="ru-RU" smtClean="0"/>
              <a:t>17</a:t>
            </a:fld>
            <a:endParaRPr lang="ru-RU"/>
          </a:p>
        </p:txBody>
      </p:sp>
    </p:spTree>
    <p:extLst>
      <p:ext uri="{BB962C8B-B14F-4D97-AF65-F5344CB8AC3E}">
        <p14:creationId xmlns:p14="http://schemas.microsoft.com/office/powerpoint/2010/main" val="3360570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Citrix </a:t>
            </a:r>
            <a:r>
              <a:rPr lang="ru-RU" dirty="0" err="1"/>
              <a:t>Xen</a:t>
            </a:r>
            <a:r>
              <a:rPr lang="ru-RU" dirty="0"/>
              <a:t> одно время мог похвастать </a:t>
            </a:r>
            <a:r>
              <a:rPr lang="ru-RU" dirty="0" err="1"/>
              <a:t>паравиртуализацией</a:t>
            </a:r>
            <a:r>
              <a:rPr lang="ru-RU" dirty="0"/>
              <a:t>, которая требует модифицировать гостевую операционную систему, что невозможно для закрытых систем типа MS Windows, для более быстрой работы и снижения накладных расходов (</a:t>
            </a:r>
            <a:r>
              <a:rPr lang="ru-RU" dirty="0" err="1"/>
              <a:t>overhead</a:t>
            </a:r>
            <a:r>
              <a:rPr lang="ru-RU" dirty="0"/>
              <a:t>) на виртуализацию. Но с той поры прошло много лет, и все игроки на рынке виртуализации и аппаратного обеспечения приблизили работу гостя к производительности схожей «как на голом железе», что нивелирует плюсы </a:t>
            </a:r>
            <a:r>
              <a:rPr lang="ru-RU" dirty="0" err="1"/>
              <a:t>паравиртуализации</a:t>
            </a:r>
            <a:r>
              <a:rPr lang="ru-RU" dirty="0"/>
              <a:t>. А контейнеры и вовсе отобрали лавры быстрого гостя для UNIX- и Linux-гостей.</a:t>
            </a:r>
          </a:p>
          <a:p>
            <a:endParaRPr lang="ru-RU" dirty="0"/>
          </a:p>
          <a:p>
            <a:r>
              <a:rPr lang="ru-RU" dirty="0"/>
              <a:t>Citrix с </a:t>
            </a:r>
            <a:r>
              <a:rPr lang="ru-RU" dirty="0" err="1"/>
              <a:t>Xen</a:t>
            </a:r>
            <a:r>
              <a:rPr lang="ru-RU" dirty="0"/>
              <a:t> подвергся усилению конкуренции со стороны решений с открытым кодом от KVM и </a:t>
            </a:r>
            <a:r>
              <a:rPr lang="ru-RU" dirty="0" err="1"/>
              <a:t>OpenStack</a:t>
            </a:r>
            <a:r>
              <a:rPr lang="ru-RU" dirty="0"/>
              <a:t>, а также отсутствию поддержки поставщиков и сообщества, в отличие от KVM и </a:t>
            </a:r>
            <a:r>
              <a:rPr lang="ru-RU" dirty="0" err="1"/>
              <a:t>OpenStack</a:t>
            </a:r>
            <a:r>
              <a:rPr lang="ru-RU" dirty="0"/>
              <a:t>.</a:t>
            </a:r>
          </a:p>
          <a:p>
            <a:endParaRPr lang="ru-RU" dirty="0"/>
          </a:p>
          <a:p>
            <a:r>
              <a:rPr lang="ru-RU" dirty="0"/>
              <a:t>На сегодняшний день одной из сильных сторон можно назвать продвинутые возможности по предоставлению внутри виртуальной машины 3D аппаратной акселерации GPU от производителей Intel, AMD, NVIDIA.</a:t>
            </a:r>
          </a:p>
          <a:p>
            <a:endParaRPr lang="ru-RU" dirty="0"/>
          </a:p>
          <a:p>
            <a:r>
              <a:rPr lang="ru-RU" dirty="0"/>
              <a:t>К особенностям гипервизора можно отнести:</a:t>
            </a:r>
          </a:p>
          <a:p>
            <a:endParaRPr lang="ru-RU" dirty="0"/>
          </a:p>
          <a:p>
            <a:r>
              <a:rPr lang="ru-RU" dirty="0"/>
              <a:t>Проброс топовых GPU внутрь гостя GPU </a:t>
            </a:r>
            <a:r>
              <a:rPr lang="ru-RU" dirty="0" err="1"/>
              <a:t>Pass-through</a:t>
            </a:r>
            <a:r>
              <a:rPr lang="ru-RU" dirty="0"/>
              <a:t> (для конкретного виртуального гостя — конкретный GPU в физическом сервере)</a:t>
            </a:r>
          </a:p>
          <a:p>
            <a:r>
              <a:rPr lang="ru-RU" dirty="0"/>
              <a:t>GPU </a:t>
            </a:r>
            <a:r>
              <a:rPr lang="ru-RU" dirty="0" err="1"/>
              <a:t>Virtualization</a:t>
            </a:r>
            <a:r>
              <a:rPr lang="ru-RU" dirty="0"/>
              <a:t> — возможность множеству виртуальных машин получить доступ к GPU хоста, что лучше, чем программная эмуляция</a:t>
            </a:r>
          </a:p>
          <a:p>
            <a:r>
              <a:rPr lang="ru-RU" dirty="0" err="1"/>
              <a:t>vGPU</a:t>
            </a:r>
            <a:r>
              <a:rPr lang="ru-RU" dirty="0"/>
              <a:t> Live </a:t>
            </a:r>
            <a:r>
              <a:rPr lang="ru-RU" dirty="0" err="1"/>
              <a:t>Migration</a:t>
            </a:r>
            <a:r>
              <a:rPr lang="ru-RU" dirty="0"/>
              <a:t> — позволяет виртуальной машине перемещаться между хостами без потерь с доступом к GPU</a:t>
            </a:r>
          </a:p>
          <a:p>
            <a:r>
              <a:rPr lang="ru-RU" dirty="0"/>
              <a:t>Такие технологии очень востребованы в секторах Computer-</a:t>
            </a:r>
            <a:r>
              <a:rPr lang="ru-RU" dirty="0" err="1"/>
              <a:t>Aided</a:t>
            </a:r>
            <a:r>
              <a:rPr lang="ru-RU" dirty="0"/>
              <a:t> Design (CAD) и Computer-</a:t>
            </a:r>
            <a:r>
              <a:rPr lang="ru-RU" dirty="0" err="1"/>
              <a:t>Aided</a:t>
            </a:r>
            <a:r>
              <a:rPr lang="ru-RU" dirty="0"/>
              <a:t> </a:t>
            </a:r>
            <a:r>
              <a:rPr lang="ru-RU" dirty="0" err="1"/>
              <a:t>Manufacture</a:t>
            </a:r>
            <a:r>
              <a:rPr lang="ru-RU" dirty="0"/>
              <a:t> (CAM), что позволяет виртуализировать рабочее место специалистов по компьютерному моделированию, чертёжников, проектировщиков и т.д.</a:t>
            </a:r>
          </a:p>
        </p:txBody>
      </p:sp>
      <p:sp>
        <p:nvSpPr>
          <p:cNvPr id="4" name="Номер слайда 3"/>
          <p:cNvSpPr>
            <a:spLocks noGrp="1"/>
          </p:cNvSpPr>
          <p:nvPr>
            <p:ph type="sldNum" sz="quarter" idx="5"/>
          </p:nvPr>
        </p:nvSpPr>
        <p:spPr/>
        <p:txBody>
          <a:bodyPr/>
          <a:lstStyle/>
          <a:p>
            <a:fld id="{3AA604DF-7B4F-4819-9696-CA432EB97D0F}" type="slidenum">
              <a:rPr lang="ru-RU" smtClean="0"/>
              <a:t>19</a:t>
            </a:fld>
            <a:endParaRPr lang="ru-RU"/>
          </a:p>
        </p:txBody>
      </p:sp>
    </p:spTree>
    <p:extLst>
      <p:ext uri="{BB962C8B-B14F-4D97-AF65-F5344CB8AC3E}">
        <p14:creationId xmlns:p14="http://schemas.microsoft.com/office/powerpoint/2010/main" val="4224310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23</a:t>
            </a:fld>
            <a:endParaRPr lang="ru-RU"/>
          </a:p>
        </p:txBody>
      </p:sp>
    </p:spTree>
    <p:extLst>
      <p:ext uri="{BB962C8B-B14F-4D97-AF65-F5344CB8AC3E}">
        <p14:creationId xmlns:p14="http://schemas.microsoft.com/office/powerpoint/2010/main" val="2282469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smtClean="0">
                <a:solidFill>
                  <a:schemeClr val="tx1"/>
                </a:solidFill>
                <a:effectLst/>
                <a:latin typeface="+mn-lt"/>
                <a:ea typeface="+mn-ea"/>
                <a:cs typeface="+mn-cs"/>
              </a:rPr>
              <a:t>Принцип работы</a:t>
            </a:r>
          </a:p>
          <a:p>
            <a:r>
              <a:rPr lang="ru-RU" sz="1200" b="0" i="0" kern="1200" dirty="0" smtClean="0">
                <a:solidFill>
                  <a:schemeClr val="tx1"/>
                </a:solidFill>
                <a:effectLst/>
                <a:latin typeface="+mn-lt"/>
                <a:ea typeface="+mn-ea"/>
                <a:cs typeface="+mn-cs"/>
              </a:rPr>
              <a:t>Решение </a:t>
            </a:r>
            <a:r>
              <a:rPr lang="ru-RU" sz="1200" b="0" i="0" kern="1200" dirty="0" err="1" smtClean="0">
                <a:solidFill>
                  <a:schemeClr val="tx1"/>
                </a:solidFill>
                <a:effectLst/>
                <a:latin typeface="+mn-lt"/>
                <a:ea typeface="+mn-ea"/>
                <a:cs typeface="+mn-cs"/>
              </a:rPr>
              <a:t>OpenStack</a:t>
            </a:r>
            <a:r>
              <a:rPr lang="ru-RU" sz="1200" b="0" i="0" kern="1200" dirty="0" smtClean="0">
                <a:solidFill>
                  <a:schemeClr val="tx1"/>
                </a:solidFill>
                <a:effectLst/>
                <a:latin typeface="+mn-lt"/>
                <a:ea typeface="+mn-ea"/>
                <a:cs typeface="+mn-cs"/>
              </a:rPr>
              <a:t> состоит из компонентов (например, </a:t>
            </a:r>
            <a:r>
              <a:rPr lang="ru-RU" sz="1200" b="0" i="0" kern="1200" dirty="0" err="1" smtClean="0">
                <a:solidFill>
                  <a:schemeClr val="tx1"/>
                </a:solidFill>
                <a:effectLst/>
                <a:latin typeface="+mn-lt"/>
                <a:ea typeface="+mn-ea"/>
                <a:cs typeface="+mn-cs"/>
              </a:rPr>
              <a:t>Nova</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Swift</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Keystone</a:t>
            </a:r>
            <a:r>
              <a:rPr lang="ru-RU" sz="1200" b="0" i="0" kern="1200" dirty="0" smtClean="0">
                <a:solidFill>
                  <a:schemeClr val="tx1"/>
                </a:solidFill>
                <a:effectLst/>
                <a:latin typeface="+mn-lt"/>
                <a:ea typeface="+mn-ea"/>
                <a:cs typeface="+mn-cs"/>
              </a:rPr>
              <a:t> и других), которые администраторы самостоятельно выбирают для текущей задачи. Модули легко интегрируются между собой, что обеспечивает стабильную работу продукта.</a:t>
            </a:r>
          </a:p>
          <a:p>
            <a:r>
              <a:rPr lang="ru-RU" sz="1200" b="0" i="0" kern="1200" dirty="0" smtClean="0">
                <a:solidFill>
                  <a:schemeClr val="tx1"/>
                </a:solidFill>
                <a:effectLst/>
                <a:latin typeface="+mn-lt"/>
                <a:ea typeface="+mn-ea"/>
                <a:cs typeface="+mn-cs"/>
              </a:rPr>
              <a:t>После создания собственного решения администраторы в будущем могут легко дополнять его другими компонентами.</a:t>
            </a:r>
          </a:p>
          <a:p>
            <a:r>
              <a:rPr lang="ru-RU" sz="1200" b="0" i="0" kern="1200" dirty="0" smtClean="0">
                <a:solidFill>
                  <a:schemeClr val="tx1"/>
                </a:solidFill>
                <a:effectLst/>
                <a:latin typeface="+mn-lt"/>
                <a:ea typeface="+mn-ea"/>
                <a:cs typeface="+mn-cs"/>
              </a:rPr>
              <a:t>Список модулей большой и он постоянно обновляется. При необходимости конечный пользователь может обратиться в сообщество разработчиков для получения технической поддержки.</a:t>
            </a:r>
          </a:p>
          <a:p>
            <a:r>
              <a:rPr lang="ru-RU" sz="1400" b="1" i="0" kern="1200" dirty="0" smtClean="0">
                <a:solidFill>
                  <a:schemeClr val="tx1"/>
                </a:solidFill>
                <a:effectLst/>
                <a:latin typeface="+mn-lt"/>
                <a:ea typeface="+mn-ea"/>
                <a:cs typeface="+mn-cs"/>
              </a:rPr>
              <a:t>Состав</a:t>
            </a:r>
          </a:p>
          <a:p>
            <a:r>
              <a:rPr lang="ru-RU" sz="1200" b="0" i="0" kern="1200" dirty="0" smtClean="0">
                <a:solidFill>
                  <a:schemeClr val="tx1"/>
                </a:solidFill>
                <a:effectLst/>
                <a:latin typeface="+mn-lt"/>
                <a:ea typeface="+mn-ea"/>
                <a:cs typeface="+mn-cs"/>
              </a:rPr>
              <a:t>Проект </a:t>
            </a:r>
            <a:r>
              <a:rPr lang="ru-RU" sz="1200" b="0" i="0" kern="1200" dirty="0" err="1" smtClean="0">
                <a:solidFill>
                  <a:schemeClr val="tx1"/>
                </a:solidFill>
                <a:effectLst/>
                <a:latin typeface="+mn-lt"/>
                <a:ea typeface="+mn-ea"/>
                <a:cs typeface="+mn-cs"/>
              </a:rPr>
              <a:t>OpenStack</a:t>
            </a:r>
            <a:r>
              <a:rPr lang="ru-RU" sz="1200" b="0" i="0" kern="1200" dirty="0" smtClean="0">
                <a:solidFill>
                  <a:schemeClr val="tx1"/>
                </a:solidFill>
                <a:effectLst/>
                <a:latin typeface="+mn-lt"/>
                <a:ea typeface="+mn-ea"/>
                <a:cs typeface="+mn-cs"/>
              </a:rPr>
              <a:t> состоит из следующих модулей:</a:t>
            </a:r>
          </a:p>
          <a:p>
            <a:pPr marL="228600" indent="-228600">
              <a:buFont typeface="+mj-lt"/>
              <a:buAutoNum type="arabicPeriod"/>
            </a:pPr>
            <a:r>
              <a:rPr lang="ru-RU" sz="1200" b="1" i="0" kern="1200" dirty="0" smtClean="0">
                <a:solidFill>
                  <a:schemeClr val="tx1"/>
                </a:solidFill>
                <a:effectLst/>
                <a:latin typeface="+mn-lt"/>
                <a:ea typeface="+mn-ea"/>
                <a:cs typeface="+mn-cs"/>
              </a:rPr>
              <a:t>Контроллер вычислительных мощностей </a:t>
            </a:r>
            <a:r>
              <a:rPr lang="ru-RU" sz="1200" b="1" i="0" kern="1200" dirty="0" err="1" smtClean="0">
                <a:solidFill>
                  <a:schemeClr val="tx1"/>
                </a:solidFill>
                <a:effectLst/>
                <a:latin typeface="+mn-lt"/>
                <a:ea typeface="+mn-ea"/>
                <a:cs typeface="+mn-cs"/>
              </a:rPr>
              <a:t>Nova</a:t>
            </a:r>
            <a:r>
              <a:rPr lang="ru-RU" sz="1200" b="0" i="0" kern="1200" dirty="0" smtClean="0">
                <a:solidFill>
                  <a:schemeClr val="tx1"/>
                </a:solidFill>
                <a:effectLst/>
                <a:latin typeface="+mn-lt"/>
                <a:ea typeface="+mn-ea"/>
                <a:cs typeface="+mn-cs"/>
              </a:rPr>
              <a:t>. Отвечает за старт, перезапуск и остановку виртуальных машин, развернутых при помощи специализированного программного обеспечения (</a:t>
            </a:r>
            <a:r>
              <a:rPr lang="ru-RU" sz="1200" b="0" i="0" kern="1200" dirty="0" err="1" smtClean="0">
                <a:solidFill>
                  <a:schemeClr val="tx1"/>
                </a:solidFill>
                <a:effectLst/>
                <a:latin typeface="+mn-lt"/>
                <a:ea typeface="+mn-ea"/>
                <a:cs typeface="+mn-cs"/>
              </a:rPr>
              <a:t>VMware</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Citrix</a:t>
            </a:r>
            <a:r>
              <a:rPr lang="ru-RU" sz="1200" b="0" i="0" kern="1200" dirty="0" smtClean="0">
                <a:solidFill>
                  <a:schemeClr val="tx1"/>
                </a:solidFill>
                <a:effectLst/>
                <a:latin typeface="+mn-lt"/>
                <a:ea typeface="+mn-ea"/>
                <a:cs typeface="+mn-cs"/>
              </a:rPr>
              <a:t>, KVM и т. д.). Управляет аппаратными решениями, которые относятся к классу </a:t>
            </a:r>
            <a:r>
              <a:rPr lang="ru-RU" sz="1200" b="0" i="0" kern="1200" dirty="0" err="1" smtClean="0">
                <a:solidFill>
                  <a:schemeClr val="tx1"/>
                </a:solidFill>
                <a:effectLst/>
                <a:latin typeface="+mn-lt"/>
                <a:ea typeface="+mn-ea"/>
                <a:cs typeface="+mn-cs"/>
              </a:rPr>
              <a:t>Bare</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Metal</a:t>
            </a:r>
            <a:r>
              <a:rPr lang="ru-RU" sz="1200" b="0" i="0" kern="1200" dirty="0" smtClean="0">
                <a:solidFill>
                  <a:schemeClr val="tx1"/>
                </a:solidFill>
                <a:effectLst/>
                <a:latin typeface="+mn-lt"/>
                <a:ea typeface="+mn-ea"/>
                <a:cs typeface="+mn-cs"/>
              </a:rPr>
              <a:t> и HPC.</a:t>
            </a:r>
          </a:p>
          <a:p>
            <a:pPr marL="228600" indent="-228600">
              <a:buFont typeface="+mj-lt"/>
              <a:buAutoNum type="arabicPeriod"/>
            </a:pPr>
            <a:r>
              <a:rPr lang="ru-RU" sz="1200" b="1" i="0" kern="1200" dirty="0" err="1" smtClean="0">
                <a:solidFill>
                  <a:schemeClr val="tx1"/>
                </a:solidFill>
                <a:effectLst/>
                <a:latin typeface="+mn-lt"/>
                <a:ea typeface="+mn-ea"/>
                <a:cs typeface="+mn-cs"/>
              </a:rPr>
              <a:t>Glance</a:t>
            </a:r>
            <a:r>
              <a:rPr lang="ru-RU" sz="1200" b="0" i="0" kern="1200" dirty="0" smtClean="0">
                <a:solidFill>
                  <a:schemeClr val="tx1"/>
                </a:solidFill>
                <a:effectLst/>
                <a:latin typeface="+mn-lt"/>
                <a:ea typeface="+mn-ea"/>
                <a:cs typeface="+mn-cs"/>
              </a:rPr>
              <a:t>. Модуль отвечают за обнаружение и извлечение образов виртуальных хостов. Управляет виртуальными образами, но не хранит их.</a:t>
            </a:r>
          </a:p>
          <a:p>
            <a:pPr marL="228600" indent="-228600">
              <a:buFont typeface="+mj-lt"/>
              <a:buAutoNum type="arabicPeriod"/>
            </a:pPr>
            <a:r>
              <a:rPr lang="ru-RU" sz="1200" b="1" i="0" kern="1200" dirty="0" err="1" smtClean="0">
                <a:solidFill>
                  <a:schemeClr val="tx1"/>
                </a:solidFill>
                <a:effectLst/>
                <a:latin typeface="+mn-lt"/>
                <a:ea typeface="+mn-ea"/>
                <a:cs typeface="+mn-cs"/>
              </a:rPr>
              <a:t>Swift</a:t>
            </a:r>
            <a:r>
              <a:rPr lang="ru-RU" sz="1200" b="0" i="0" kern="1200" dirty="0" smtClean="0">
                <a:solidFill>
                  <a:schemeClr val="tx1"/>
                </a:solidFill>
                <a:effectLst/>
                <a:latin typeface="+mn-lt"/>
                <a:ea typeface="+mn-ea"/>
                <a:cs typeface="+mn-cs"/>
              </a:rPr>
              <a:t>. Распределенное хранилище виртуальных хостов с высоким уровнем отказоустойчивости и надежности. Представляет собой виртуальное СХД с собственной операционной системой, которое работает только с объектами. Модуль интегрируется напрямую в программы.</a:t>
            </a:r>
          </a:p>
          <a:p>
            <a:pPr marL="228600" indent="-228600">
              <a:buFont typeface="+mj-lt"/>
              <a:buAutoNum type="arabicPeriod"/>
            </a:pPr>
            <a:r>
              <a:rPr lang="ru-RU" sz="1200" b="1" i="0" kern="1200" dirty="0" err="1" smtClean="0">
                <a:solidFill>
                  <a:schemeClr val="tx1"/>
                </a:solidFill>
                <a:effectLst/>
                <a:latin typeface="+mn-lt"/>
                <a:ea typeface="+mn-ea"/>
                <a:cs typeface="+mn-cs"/>
              </a:rPr>
              <a:t>Cinder</a:t>
            </a:r>
            <a:r>
              <a:rPr lang="ru-RU" sz="1200" b="0" i="0" kern="1200" dirty="0" smtClean="0">
                <a:solidFill>
                  <a:schemeClr val="tx1"/>
                </a:solidFill>
                <a:effectLst/>
                <a:latin typeface="+mn-lt"/>
                <a:ea typeface="+mn-ea"/>
                <a:cs typeface="+mn-cs"/>
              </a:rPr>
              <a:t>. Виртуальное СХД, аналогичное </a:t>
            </a:r>
            <a:r>
              <a:rPr lang="ru-RU" sz="1200" b="0" i="0" kern="1200" dirty="0" err="1" smtClean="0">
                <a:solidFill>
                  <a:schemeClr val="tx1"/>
                </a:solidFill>
                <a:effectLst/>
                <a:latin typeface="+mn-lt"/>
                <a:ea typeface="+mn-ea"/>
                <a:cs typeface="+mn-cs"/>
              </a:rPr>
              <a:t>Swift</a:t>
            </a:r>
            <a:r>
              <a:rPr lang="ru-RU" sz="1200" b="0" i="0" kern="1200" dirty="0" smtClean="0">
                <a:solidFill>
                  <a:schemeClr val="tx1"/>
                </a:solidFill>
                <a:effectLst/>
                <a:latin typeface="+mn-lt"/>
                <a:ea typeface="+mn-ea"/>
                <a:cs typeface="+mn-cs"/>
              </a:rPr>
              <a:t>, но работает только с блоками данных, а не объектами. Конечный пользователь при работе запрашивает информацию из блока независимо от его физического месторасположения. В качестве сетевых протоколов в данном модуле не используются протокол </a:t>
            </a:r>
            <a:r>
              <a:rPr lang="ru-RU" sz="1200" b="0" i="0" kern="1200" dirty="0" err="1" smtClean="0">
                <a:solidFill>
                  <a:schemeClr val="tx1"/>
                </a:solidFill>
                <a:effectLst/>
                <a:latin typeface="+mn-lt"/>
                <a:ea typeface="+mn-ea"/>
                <a:cs typeface="+mn-cs"/>
              </a:rPr>
              <a:t>Fibre</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Channel</a:t>
            </a:r>
            <a:r>
              <a:rPr lang="ru-RU" sz="1200" b="0" i="0" kern="1200" dirty="0" smtClean="0">
                <a:solidFill>
                  <a:schemeClr val="tx1"/>
                </a:solidFill>
                <a:effectLst/>
                <a:latin typeface="+mn-lt"/>
                <a:ea typeface="+mn-ea"/>
                <a:cs typeface="+mn-cs"/>
              </a:rPr>
              <a:t>.</a:t>
            </a:r>
          </a:p>
          <a:p>
            <a:pPr marL="228600" indent="-228600">
              <a:buFont typeface="+mj-lt"/>
              <a:buAutoNum type="arabicPeriod"/>
            </a:pPr>
            <a:r>
              <a:rPr lang="ru-RU" sz="1200" b="1" i="0" kern="1200" dirty="0" err="1" smtClean="0">
                <a:solidFill>
                  <a:schemeClr val="tx1"/>
                </a:solidFill>
                <a:effectLst/>
                <a:latin typeface="+mn-lt"/>
                <a:ea typeface="+mn-ea"/>
                <a:cs typeface="+mn-cs"/>
              </a:rPr>
              <a:t>Neutron</a:t>
            </a:r>
            <a:r>
              <a:rPr lang="ru-RU" sz="1200" b="0" i="0" kern="1200" dirty="0" smtClean="0">
                <a:solidFill>
                  <a:schemeClr val="tx1"/>
                </a:solidFill>
                <a:effectLst/>
                <a:latin typeface="+mn-lt"/>
                <a:ea typeface="+mn-ea"/>
                <a:cs typeface="+mn-cs"/>
              </a:rPr>
              <a:t> отвечает за сетевые подключения внутри </a:t>
            </a:r>
            <a:r>
              <a:rPr lang="ru-RU" sz="1200" b="0" i="0" kern="1200" dirty="0" err="1" smtClean="0">
                <a:solidFill>
                  <a:schemeClr val="tx1"/>
                </a:solidFill>
                <a:effectLst/>
                <a:latin typeface="+mn-lt"/>
                <a:ea typeface="+mn-ea"/>
                <a:cs typeface="+mn-cs"/>
              </a:rPr>
              <a:t>OpenStack</a:t>
            </a:r>
            <a:r>
              <a:rPr lang="ru-RU" sz="1200" b="0" i="0" kern="1200" dirty="0" smtClean="0">
                <a:solidFill>
                  <a:schemeClr val="tx1"/>
                </a:solidFill>
                <a:effectLst/>
                <a:latin typeface="+mn-lt"/>
                <a:ea typeface="+mn-ea"/>
                <a:cs typeface="+mn-cs"/>
              </a:rPr>
              <a:t> между разными интерфейсами компонентов. Модуль расширяется при помощи плагинов, которые обеспечивают совместимость с другими сетевыми протоколами коммерческого происхождения.</a:t>
            </a:r>
          </a:p>
          <a:p>
            <a:pPr marL="228600" indent="-228600">
              <a:buFont typeface="+mj-lt"/>
              <a:buAutoNum type="arabicPeriod"/>
            </a:pPr>
            <a:r>
              <a:rPr lang="ru-RU" sz="1200" b="1" i="0" kern="1200" dirty="0" err="1" smtClean="0">
                <a:solidFill>
                  <a:schemeClr val="tx1"/>
                </a:solidFill>
                <a:effectLst/>
                <a:latin typeface="+mn-lt"/>
                <a:ea typeface="+mn-ea"/>
                <a:cs typeface="+mn-cs"/>
              </a:rPr>
              <a:t>Keystone</a:t>
            </a:r>
            <a:r>
              <a:rPr lang="ru-RU" sz="1200" b="0" i="0" kern="1200" dirty="0" smtClean="0">
                <a:solidFill>
                  <a:schemeClr val="tx1"/>
                </a:solidFill>
                <a:effectLst/>
                <a:latin typeface="+mn-lt"/>
                <a:ea typeface="+mn-ea"/>
                <a:cs typeface="+mn-cs"/>
              </a:rPr>
              <a:t> представляет собой сервис идентификации и аутентификации пользователей. В него включена поддержка авторизации на основе </a:t>
            </a:r>
            <a:r>
              <a:rPr lang="ru-RU" sz="1200" b="0" i="0" kern="1200" dirty="0" err="1" smtClean="0">
                <a:solidFill>
                  <a:schemeClr val="tx1"/>
                </a:solidFill>
                <a:effectLst/>
                <a:latin typeface="+mn-lt"/>
                <a:ea typeface="+mn-ea"/>
                <a:cs typeface="+mn-cs"/>
              </a:rPr>
              <a:t>токенов</a:t>
            </a:r>
            <a:r>
              <a:rPr lang="ru-RU" sz="1200" b="0" i="0" kern="1200" dirty="0" smtClean="0">
                <a:solidFill>
                  <a:schemeClr val="tx1"/>
                </a:solidFill>
                <a:effectLst/>
                <a:latin typeface="+mn-lt"/>
                <a:ea typeface="+mn-ea"/>
                <a:cs typeface="+mn-cs"/>
              </a:rPr>
              <a:t>. Запрос на идентификацию может быть отправлен любым компонентом </a:t>
            </a:r>
            <a:r>
              <a:rPr lang="ru-RU" sz="1200" b="0" i="0" kern="1200" dirty="0" err="1" smtClean="0">
                <a:solidFill>
                  <a:schemeClr val="tx1"/>
                </a:solidFill>
                <a:effectLst/>
                <a:latin typeface="+mn-lt"/>
                <a:ea typeface="+mn-ea"/>
                <a:cs typeface="+mn-cs"/>
              </a:rPr>
              <a:t>OpenStack</a:t>
            </a:r>
            <a:r>
              <a:rPr lang="ru-RU" sz="1200" b="0" i="0" kern="1200" dirty="0" smtClean="0">
                <a:solidFill>
                  <a:schemeClr val="tx1"/>
                </a:solidFill>
                <a:effectLst/>
                <a:latin typeface="+mn-lt"/>
                <a:ea typeface="+mn-ea"/>
                <a:cs typeface="+mn-cs"/>
              </a:rPr>
              <a:t> на основе уникальной цифровой подписи каждого </a:t>
            </a:r>
            <a:r>
              <a:rPr lang="ru-RU" sz="1200" b="0" i="0" kern="1200" dirty="0" err="1" smtClean="0">
                <a:solidFill>
                  <a:schemeClr val="tx1"/>
                </a:solidFill>
                <a:effectLst/>
                <a:latin typeface="+mn-lt"/>
                <a:ea typeface="+mn-ea"/>
                <a:cs typeface="+mn-cs"/>
              </a:rPr>
              <a:t>токена</a:t>
            </a:r>
            <a:r>
              <a:rPr lang="ru-RU" sz="1200" b="0" i="0" kern="1200" dirty="0" smtClean="0">
                <a:solidFill>
                  <a:schemeClr val="tx1"/>
                </a:solidFill>
                <a:effectLst/>
                <a:latin typeface="+mn-lt"/>
                <a:ea typeface="+mn-ea"/>
                <a:cs typeface="+mn-cs"/>
              </a:rPr>
              <a:t>. Такой подход упрощает процесс авторизации, позволяя не нагружать модуль </a:t>
            </a:r>
            <a:r>
              <a:rPr lang="ru-RU" sz="1200" b="0" i="0" kern="1200" dirty="0" err="1" smtClean="0">
                <a:solidFill>
                  <a:schemeClr val="tx1"/>
                </a:solidFill>
                <a:effectLst/>
                <a:latin typeface="+mn-lt"/>
                <a:ea typeface="+mn-ea"/>
                <a:cs typeface="+mn-cs"/>
              </a:rPr>
              <a:t>Keystone</a:t>
            </a:r>
            <a:r>
              <a:rPr lang="ru-RU" sz="1200" b="0" i="0" kern="1200" dirty="0" smtClean="0">
                <a:solidFill>
                  <a:schemeClr val="tx1"/>
                </a:solidFill>
                <a:effectLst/>
                <a:latin typeface="+mn-lt"/>
                <a:ea typeface="+mn-ea"/>
                <a:cs typeface="+mn-cs"/>
              </a:rPr>
              <a:t>.</a:t>
            </a:r>
          </a:p>
          <a:p>
            <a:pPr marL="228600" indent="-228600">
              <a:buFont typeface="+mj-lt"/>
              <a:buAutoNum type="arabicPeriod"/>
            </a:pPr>
            <a:r>
              <a:rPr lang="ru-RU" sz="1200" b="1" i="0" kern="1200" dirty="0" err="1" smtClean="0">
                <a:solidFill>
                  <a:schemeClr val="tx1"/>
                </a:solidFill>
                <a:effectLst/>
                <a:latin typeface="+mn-lt"/>
                <a:ea typeface="+mn-ea"/>
                <a:cs typeface="+mn-cs"/>
              </a:rPr>
              <a:t>Watcher</a:t>
            </a:r>
            <a:r>
              <a:rPr lang="ru-RU" sz="1200" b="0" i="0" kern="1200" dirty="0" smtClean="0">
                <a:solidFill>
                  <a:schemeClr val="tx1"/>
                </a:solidFill>
                <a:effectLst/>
                <a:latin typeface="+mn-lt"/>
                <a:ea typeface="+mn-ea"/>
                <a:cs typeface="+mn-cs"/>
              </a:rPr>
              <a:t> выполняет роль </a:t>
            </a:r>
            <a:r>
              <a:rPr lang="ru-RU" sz="1200" b="0" i="0" kern="1200" dirty="0" err="1" smtClean="0">
                <a:solidFill>
                  <a:schemeClr val="tx1"/>
                </a:solidFill>
                <a:effectLst/>
                <a:latin typeface="+mn-lt"/>
                <a:ea typeface="+mn-ea"/>
                <a:cs typeface="+mn-cs"/>
              </a:rPr>
              <a:t>балансировщика</a:t>
            </a:r>
            <a:r>
              <a:rPr lang="ru-RU" sz="1200" b="0" i="0" kern="1200" dirty="0" smtClean="0">
                <a:solidFill>
                  <a:schemeClr val="tx1"/>
                </a:solidFill>
                <a:effectLst/>
                <a:latin typeface="+mn-lt"/>
                <a:ea typeface="+mn-ea"/>
                <a:cs typeface="+mn-cs"/>
              </a:rPr>
              <a:t> нагрузки внутри </a:t>
            </a:r>
            <a:r>
              <a:rPr lang="ru-RU" sz="1200" b="0" i="0" kern="1200" dirty="0" err="1" smtClean="0">
                <a:solidFill>
                  <a:schemeClr val="tx1"/>
                </a:solidFill>
                <a:effectLst/>
                <a:latin typeface="+mn-lt"/>
                <a:ea typeface="+mn-ea"/>
                <a:cs typeface="+mn-cs"/>
              </a:rPr>
              <a:t>OpenStack</a:t>
            </a:r>
            <a:r>
              <a:rPr lang="ru-RU" sz="1200" b="0" i="0" kern="1200" dirty="0" smtClean="0">
                <a:solidFill>
                  <a:schemeClr val="tx1"/>
                </a:solidFill>
                <a:effectLst/>
                <a:latin typeface="+mn-lt"/>
                <a:ea typeface="+mn-ea"/>
                <a:cs typeface="+mn-cs"/>
              </a:rPr>
              <a:t>. Оптимизирует вычислительные ресурсы для уменьшения нагрузки на один компонент.</a:t>
            </a:r>
          </a:p>
          <a:p>
            <a:pPr marL="228600" indent="-228600">
              <a:buFont typeface="+mj-lt"/>
              <a:buAutoNum type="arabicPeriod"/>
            </a:pPr>
            <a:r>
              <a:rPr lang="ru-RU" sz="1200" b="1" i="0" kern="1200" dirty="0" err="1" smtClean="0">
                <a:solidFill>
                  <a:schemeClr val="tx1"/>
                </a:solidFill>
                <a:effectLst/>
                <a:latin typeface="+mn-lt"/>
                <a:ea typeface="+mn-ea"/>
                <a:cs typeface="+mn-cs"/>
              </a:rPr>
              <a:t>Horizon</a:t>
            </a:r>
            <a:r>
              <a:rPr lang="ru-RU" sz="1200" b="0" i="0" kern="1200" dirty="0" smtClean="0">
                <a:solidFill>
                  <a:schemeClr val="tx1"/>
                </a:solidFill>
                <a:effectLst/>
                <a:latin typeface="+mn-lt"/>
                <a:ea typeface="+mn-ea"/>
                <a:cs typeface="+mn-cs"/>
              </a:rPr>
              <a:t> отвечает за мониторинг операций, которые происходят внутри построенного решения </a:t>
            </a:r>
            <a:r>
              <a:rPr lang="ru-RU" sz="1200" b="0" i="0" kern="1200" dirty="0" err="1" smtClean="0">
                <a:solidFill>
                  <a:schemeClr val="tx1"/>
                </a:solidFill>
                <a:effectLst/>
                <a:latin typeface="+mn-lt"/>
                <a:ea typeface="+mn-ea"/>
                <a:cs typeface="+mn-cs"/>
              </a:rPr>
              <a:t>OpenStack</a:t>
            </a:r>
            <a:r>
              <a:rPr lang="ru-RU" sz="1200" b="0" i="0" kern="1200" dirty="0" smtClean="0">
                <a:solidFill>
                  <a:schemeClr val="tx1"/>
                </a:solidFill>
                <a:effectLst/>
                <a:latin typeface="+mn-lt"/>
                <a:ea typeface="+mn-ea"/>
                <a:cs typeface="+mn-cs"/>
              </a:rPr>
              <a:t>. Администраторы получают единую информационную панель, в которой собрана вся информация.</a:t>
            </a:r>
          </a:p>
          <a:p>
            <a:endParaRPr lang="en-US" sz="1200" b="0" i="0" kern="1200" dirty="0" smtClean="0">
              <a:solidFill>
                <a:schemeClr val="tx1"/>
              </a:solidFill>
              <a:effectLst/>
              <a:latin typeface="+mn-lt"/>
              <a:ea typeface="+mn-ea"/>
              <a:cs typeface="+mn-cs"/>
            </a:endParaRPr>
          </a:p>
          <a:p>
            <a:r>
              <a:rPr lang="ru-RU" sz="1200" b="0" i="0" kern="1200" dirty="0" err="1" smtClean="0">
                <a:solidFill>
                  <a:schemeClr val="tx1"/>
                </a:solidFill>
                <a:effectLst/>
                <a:latin typeface="+mn-lt"/>
                <a:ea typeface="+mn-ea"/>
                <a:cs typeface="+mn-cs"/>
              </a:rPr>
              <a:t>OpenStack</a:t>
            </a:r>
            <a:r>
              <a:rPr lang="ru-RU" sz="1200" b="0" i="0" kern="1200" dirty="0" smtClean="0">
                <a:solidFill>
                  <a:schemeClr val="tx1"/>
                </a:solidFill>
                <a:effectLst/>
                <a:latin typeface="+mn-lt"/>
                <a:ea typeface="+mn-ea"/>
                <a:cs typeface="+mn-cs"/>
              </a:rPr>
              <a:t> появился на рынке облачных решений 10 лет назад, но зарекомендовал себя как надежный продукт. Работает по принципу конструктора. Клиент выбирает модули, которые ему необходимы, чтобы закрыть текущие потребности, и собирает единое решение.</a:t>
            </a:r>
          </a:p>
          <a:p>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25</a:t>
            </a:fld>
            <a:endParaRPr lang="ru-RU"/>
          </a:p>
        </p:txBody>
      </p:sp>
    </p:spTree>
    <p:extLst>
      <p:ext uri="{BB962C8B-B14F-4D97-AF65-F5344CB8AC3E}">
        <p14:creationId xmlns:p14="http://schemas.microsoft.com/office/powerpoint/2010/main" val="82331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Основные возможности ПО </a:t>
            </a:r>
            <a:r>
              <a:rPr lang="ru-RU" sz="1200" b="0" i="0" kern="1200" dirty="0" err="1" smtClean="0">
                <a:solidFill>
                  <a:schemeClr val="tx1"/>
                </a:solidFill>
                <a:effectLst/>
                <a:latin typeface="+mn-lt"/>
                <a:ea typeface="+mn-ea"/>
                <a:cs typeface="+mn-cs"/>
              </a:rPr>
              <a:t>CloudStack</a:t>
            </a:r>
            <a:r>
              <a:rPr lang="ru-RU" sz="1200" b="0" i="0" kern="1200" dirty="0" smtClean="0">
                <a:solidFill>
                  <a:schemeClr val="tx1"/>
                </a:solidFill>
                <a:effectLst/>
                <a:latin typeface="+mn-lt"/>
                <a:ea typeface="+mn-ea"/>
                <a:cs typeface="+mn-cs"/>
              </a:rPr>
              <a:t>:</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Встроенная высокая доступность для хостов и виртуальных машин</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Веб-интерфейс AJAX для управления</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Совместимость с </a:t>
            </a:r>
            <a:r>
              <a:rPr lang="ru-RU" sz="1200" b="0" i="0" u="none" strike="noStrike" kern="1200" dirty="0" smtClean="0">
                <a:solidFill>
                  <a:schemeClr val="tx1"/>
                </a:solidFill>
                <a:effectLst/>
                <a:latin typeface="+mn-lt"/>
                <a:ea typeface="+mn-ea"/>
                <a:cs typeface="+mn-cs"/>
              </a:rPr>
              <a:t>AWS API</a:t>
            </a:r>
            <a:endParaRPr lang="ru-RU"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Независимость от гипервизора</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Управление снимками состояния виртуальных машин</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Метрики использования</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Управление сетью (</a:t>
            </a:r>
            <a:r>
              <a:rPr lang="ru-RU" sz="1200" b="0" i="0" u="none" strike="noStrike" kern="1200" dirty="0" smtClean="0">
                <a:solidFill>
                  <a:schemeClr val="tx1"/>
                </a:solidFill>
                <a:effectLst/>
                <a:latin typeface="+mn-lt"/>
                <a:ea typeface="+mn-ea"/>
                <a:cs typeface="+mn-cs"/>
              </a:rPr>
              <a:t>VLAN</a:t>
            </a:r>
            <a:r>
              <a:rPr lang="ru-RU" sz="1200" b="0" i="0" kern="1200" dirty="0" smtClean="0">
                <a:solidFill>
                  <a:schemeClr val="tx1"/>
                </a:solidFill>
                <a:effectLst/>
                <a:latin typeface="+mn-lt"/>
                <a:ea typeface="+mn-ea"/>
                <a:cs typeface="+mn-cs"/>
              </a:rPr>
              <a:t>, группы безопасности)</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Виртуальные </a:t>
            </a:r>
            <a:r>
              <a:rPr lang="ru-RU" sz="1200" b="0" i="0" u="none" strike="noStrike" kern="1200" dirty="0" smtClean="0">
                <a:solidFill>
                  <a:schemeClr val="tx1"/>
                </a:solidFill>
                <a:effectLst/>
                <a:latin typeface="+mn-lt"/>
                <a:ea typeface="+mn-ea"/>
                <a:cs typeface="+mn-cs"/>
              </a:rPr>
              <a:t>маршрутизаторы</a:t>
            </a:r>
            <a:r>
              <a:rPr lang="ru-RU" sz="1200" b="0" i="0" kern="1200" dirty="0" smtClean="0">
                <a:solidFill>
                  <a:schemeClr val="tx1"/>
                </a:solidFill>
                <a:effectLst/>
                <a:latin typeface="+mn-lt"/>
                <a:ea typeface="+mn-ea"/>
                <a:cs typeface="+mn-cs"/>
              </a:rPr>
              <a:t>, </a:t>
            </a:r>
            <a:r>
              <a:rPr lang="ru-RU" sz="1200" b="0" i="0" u="none" strike="noStrike" kern="1200" dirty="0" smtClean="0">
                <a:solidFill>
                  <a:schemeClr val="tx1"/>
                </a:solidFill>
                <a:effectLst/>
                <a:latin typeface="+mn-lt"/>
                <a:ea typeface="+mn-ea"/>
                <a:cs typeface="+mn-cs"/>
              </a:rPr>
              <a:t>брандмауэры</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балансировщики</a:t>
            </a:r>
            <a:r>
              <a:rPr lang="ru-RU" sz="1200" b="0" i="0" kern="1200" dirty="0" smtClean="0">
                <a:solidFill>
                  <a:schemeClr val="tx1"/>
                </a:solidFill>
                <a:effectLst/>
                <a:latin typeface="+mn-lt"/>
                <a:ea typeface="+mn-ea"/>
                <a:cs typeface="+mn-cs"/>
              </a:rPr>
              <a:t> нагрузки</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Поддержка множества ролей</a:t>
            </a:r>
          </a:p>
          <a:p>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26</a:t>
            </a:fld>
            <a:endParaRPr lang="ru-RU"/>
          </a:p>
        </p:txBody>
      </p:sp>
    </p:spTree>
    <p:extLst>
      <p:ext uri="{BB962C8B-B14F-4D97-AF65-F5344CB8AC3E}">
        <p14:creationId xmlns:p14="http://schemas.microsoft.com/office/powerpoint/2010/main" val="29000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Основные возможности ПО </a:t>
            </a:r>
            <a:r>
              <a:rPr lang="ru-RU" sz="1200" b="0" i="0" kern="1200" dirty="0" err="1" smtClean="0">
                <a:solidFill>
                  <a:schemeClr val="tx1"/>
                </a:solidFill>
                <a:effectLst/>
                <a:latin typeface="+mn-lt"/>
                <a:ea typeface="+mn-ea"/>
                <a:cs typeface="+mn-cs"/>
              </a:rPr>
              <a:t>CloudStack</a:t>
            </a:r>
            <a:r>
              <a:rPr lang="ru-RU" sz="1200" b="0" i="0" kern="1200" dirty="0" smtClean="0">
                <a:solidFill>
                  <a:schemeClr val="tx1"/>
                </a:solidFill>
                <a:effectLst/>
                <a:latin typeface="+mn-lt"/>
                <a:ea typeface="+mn-ea"/>
                <a:cs typeface="+mn-cs"/>
              </a:rPr>
              <a:t>:</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Встроенная высокая доступность для хостов и виртуальных машин</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Веб-интерфейс AJAX для управления</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Совместимость с </a:t>
            </a:r>
            <a:r>
              <a:rPr lang="ru-RU" sz="1200" b="0" i="0" u="none" strike="noStrike" kern="1200" dirty="0" smtClean="0">
                <a:solidFill>
                  <a:schemeClr val="tx1"/>
                </a:solidFill>
                <a:effectLst/>
                <a:latin typeface="+mn-lt"/>
                <a:ea typeface="+mn-ea"/>
                <a:cs typeface="+mn-cs"/>
              </a:rPr>
              <a:t>AWS API</a:t>
            </a:r>
            <a:endParaRPr lang="ru-RU"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Независимость от гипервизора</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Управление снимками состояния виртуальных машин</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Метрики использования</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Управление сетью (</a:t>
            </a:r>
            <a:r>
              <a:rPr lang="ru-RU" sz="1200" b="0" i="0" u="none" strike="noStrike" kern="1200" dirty="0" smtClean="0">
                <a:solidFill>
                  <a:schemeClr val="tx1"/>
                </a:solidFill>
                <a:effectLst/>
                <a:latin typeface="+mn-lt"/>
                <a:ea typeface="+mn-ea"/>
                <a:cs typeface="+mn-cs"/>
              </a:rPr>
              <a:t>VLAN</a:t>
            </a:r>
            <a:r>
              <a:rPr lang="ru-RU" sz="1200" b="0" i="0" kern="1200" dirty="0" smtClean="0">
                <a:solidFill>
                  <a:schemeClr val="tx1"/>
                </a:solidFill>
                <a:effectLst/>
                <a:latin typeface="+mn-lt"/>
                <a:ea typeface="+mn-ea"/>
                <a:cs typeface="+mn-cs"/>
              </a:rPr>
              <a:t>, группы безопасности)</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Виртуальные </a:t>
            </a:r>
            <a:r>
              <a:rPr lang="ru-RU" sz="1200" b="0" i="0" u="none" strike="noStrike" kern="1200" dirty="0" smtClean="0">
                <a:solidFill>
                  <a:schemeClr val="tx1"/>
                </a:solidFill>
                <a:effectLst/>
                <a:latin typeface="+mn-lt"/>
                <a:ea typeface="+mn-ea"/>
                <a:cs typeface="+mn-cs"/>
              </a:rPr>
              <a:t>маршрутизаторы</a:t>
            </a:r>
            <a:r>
              <a:rPr lang="ru-RU" sz="1200" b="0" i="0" kern="1200" dirty="0" smtClean="0">
                <a:solidFill>
                  <a:schemeClr val="tx1"/>
                </a:solidFill>
                <a:effectLst/>
                <a:latin typeface="+mn-lt"/>
                <a:ea typeface="+mn-ea"/>
                <a:cs typeface="+mn-cs"/>
              </a:rPr>
              <a:t>, </a:t>
            </a:r>
            <a:r>
              <a:rPr lang="ru-RU" sz="1200" b="0" i="0" u="none" strike="noStrike" kern="1200" dirty="0" smtClean="0">
                <a:solidFill>
                  <a:schemeClr val="tx1"/>
                </a:solidFill>
                <a:effectLst/>
                <a:latin typeface="+mn-lt"/>
                <a:ea typeface="+mn-ea"/>
                <a:cs typeface="+mn-cs"/>
              </a:rPr>
              <a:t>брандмауэры</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балансировщики</a:t>
            </a:r>
            <a:r>
              <a:rPr lang="ru-RU" sz="1200" b="0" i="0" kern="1200" dirty="0" smtClean="0">
                <a:solidFill>
                  <a:schemeClr val="tx1"/>
                </a:solidFill>
                <a:effectLst/>
                <a:latin typeface="+mn-lt"/>
                <a:ea typeface="+mn-ea"/>
                <a:cs typeface="+mn-cs"/>
              </a:rPr>
              <a:t> нагрузки</a:t>
            </a:r>
          </a:p>
          <a:p>
            <a:pPr marL="171450" indent="-171450">
              <a:buFont typeface="Arial" panose="020B0604020202020204" pitchFamily="34" charset="0"/>
              <a:buChar char="•"/>
            </a:pPr>
            <a:r>
              <a:rPr lang="ru-RU" sz="1200" b="0" i="0" kern="1200" dirty="0" smtClean="0">
                <a:solidFill>
                  <a:schemeClr val="tx1"/>
                </a:solidFill>
                <a:effectLst/>
                <a:latin typeface="+mn-lt"/>
                <a:ea typeface="+mn-ea"/>
                <a:cs typeface="+mn-cs"/>
              </a:rPr>
              <a:t>Поддержка множества ролей</a:t>
            </a:r>
          </a:p>
          <a:p>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27</a:t>
            </a:fld>
            <a:endParaRPr lang="ru-RU"/>
          </a:p>
        </p:txBody>
      </p:sp>
    </p:spTree>
    <p:extLst>
      <p:ext uri="{BB962C8B-B14F-4D97-AF65-F5344CB8AC3E}">
        <p14:creationId xmlns:p14="http://schemas.microsoft.com/office/powerpoint/2010/main" val="32694538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Система позволяет создавать </a:t>
            </a:r>
            <a:r>
              <a:rPr lang="ru-RU" sz="1200" b="0" i="0" kern="1200" dirty="0" err="1" smtClean="0">
                <a:solidFill>
                  <a:schemeClr val="tx1"/>
                </a:solidFill>
                <a:effectLst/>
                <a:latin typeface="+mn-lt"/>
                <a:ea typeface="+mn-ea"/>
                <a:cs typeface="+mn-cs"/>
              </a:rPr>
              <a:t>Cloud</a:t>
            </a:r>
            <a:r>
              <a:rPr lang="ru-RU" sz="1200" b="0" i="0" kern="1200" dirty="0" smtClean="0">
                <a:solidFill>
                  <a:schemeClr val="tx1"/>
                </a:solidFill>
                <a:effectLst/>
                <a:latin typeface="+mn-lt"/>
                <a:ea typeface="+mn-ea"/>
                <a:cs typeface="+mn-cs"/>
              </a:rPr>
              <a:t>-окружения трех типов: </a:t>
            </a:r>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Приватные </a:t>
            </a:r>
            <a:r>
              <a:rPr lang="ru-RU" sz="1200" b="0" i="0" kern="1200" dirty="0" err="1" smtClean="0">
                <a:solidFill>
                  <a:schemeClr val="tx1"/>
                </a:solidFill>
                <a:effectLst/>
                <a:latin typeface="+mn-lt"/>
                <a:ea typeface="+mn-ea"/>
                <a:cs typeface="+mn-cs"/>
              </a:rPr>
              <a:t>cloud</a:t>
            </a:r>
            <a:r>
              <a:rPr lang="ru-RU" sz="1200" b="0" i="0" kern="1200" dirty="0" smtClean="0">
                <a:solidFill>
                  <a:schemeClr val="tx1"/>
                </a:solidFill>
                <a:effectLst/>
                <a:latin typeface="+mn-lt"/>
                <a:ea typeface="+mn-ea"/>
                <a:cs typeface="+mn-cs"/>
              </a:rPr>
              <a:t>-системы, доступные только внутри организации, полностью подконтрольные и выполненные на собственных мощностях. В качестве системы виртуализации поддерживается использование </a:t>
            </a:r>
            <a:r>
              <a:rPr lang="ru-RU" sz="1200" b="0" i="0" kern="1200" dirty="0" err="1" smtClean="0">
                <a:solidFill>
                  <a:schemeClr val="tx1"/>
                </a:solidFill>
                <a:effectLst/>
                <a:latin typeface="+mn-lt"/>
                <a:ea typeface="+mn-ea"/>
                <a:cs typeface="+mn-cs"/>
              </a:rPr>
              <a:t>Xen</a:t>
            </a:r>
            <a:r>
              <a:rPr lang="ru-RU" sz="1200" b="0" i="0" kern="1200" dirty="0" smtClean="0">
                <a:solidFill>
                  <a:schemeClr val="tx1"/>
                </a:solidFill>
                <a:effectLst/>
                <a:latin typeface="+mn-lt"/>
                <a:ea typeface="+mn-ea"/>
                <a:cs typeface="+mn-cs"/>
              </a:rPr>
              <a:t>, KVM и </a:t>
            </a:r>
            <a:r>
              <a:rPr lang="ru-RU" sz="1200" b="0" i="0" kern="1200" dirty="0" err="1" smtClean="0">
                <a:solidFill>
                  <a:schemeClr val="tx1"/>
                </a:solidFill>
                <a:effectLst/>
                <a:latin typeface="+mn-lt"/>
                <a:ea typeface="+mn-ea"/>
                <a:cs typeface="+mn-cs"/>
              </a:rPr>
              <a:t>VMware</a:t>
            </a:r>
            <a:r>
              <a:rPr lang="ru-RU" sz="1200" b="0"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Публичные </a:t>
            </a:r>
            <a:r>
              <a:rPr lang="ru-RU" sz="1200" b="0" i="0" kern="1200" dirty="0" err="1" smtClean="0">
                <a:solidFill>
                  <a:schemeClr val="tx1"/>
                </a:solidFill>
                <a:effectLst/>
                <a:latin typeface="+mn-lt"/>
                <a:ea typeface="+mn-ea"/>
                <a:cs typeface="+mn-cs"/>
              </a:rPr>
              <a:t>cloud</a:t>
            </a:r>
            <a:r>
              <a:rPr lang="ru-RU" sz="1200" b="0" i="0" kern="1200" dirty="0" smtClean="0">
                <a:solidFill>
                  <a:schemeClr val="tx1"/>
                </a:solidFill>
                <a:effectLst/>
                <a:latin typeface="+mn-lt"/>
                <a:ea typeface="+mn-ea"/>
                <a:cs typeface="+mn-cs"/>
              </a:rPr>
              <a:t>-окружения, работающие в инфраструктуре внешних сервис-провайдеров, таких как </a:t>
            </a:r>
            <a:r>
              <a:rPr lang="ru-RU" sz="1200" b="0" i="0" kern="1200" dirty="0" err="1" smtClean="0">
                <a:solidFill>
                  <a:schemeClr val="tx1"/>
                </a:solidFill>
                <a:effectLst/>
                <a:latin typeface="+mn-lt"/>
                <a:ea typeface="+mn-ea"/>
                <a:cs typeface="+mn-cs"/>
              </a:rPr>
              <a:t>Amazon</a:t>
            </a:r>
            <a:r>
              <a:rPr lang="ru-RU" sz="1200" b="0" i="0" kern="1200" dirty="0" smtClean="0">
                <a:solidFill>
                  <a:schemeClr val="tx1"/>
                </a:solidFill>
                <a:effectLst/>
                <a:latin typeface="+mn-lt"/>
                <a:ea typeface="+mn-ea"/>
                <a:cs typeface="+mn-cs"/>
              </a:rPr>
              <a:t> EC2. Для доступа к публичным </a:t>
            </a:r>
            <a:r>
              <a:rPr lang="ru-RU" sz="1200" b="0" i="0" kern="1200" dirty="0" err="1" smtClean="0">
                <a:solidFill>
                  <a:schemeClr val="tx1"/>
                </a:solidFill>
                <a:effectLst/>
                <a:latin typeface="+mn-lt"/>
                <a:ea typeface="+mn-ea"/>
                <a:cs typeface="+mn-cs"/>
              </a:rPr>
              <a:t>cloud</a:t>
            </a:r>
            <a:r>
              <a:rPr lang="ru-RU" sz="1200" b="0" i="0" kern="1200" dirty="0" smtClean="0">
                <a:solidFill>
                  <a:schemeClr val="tx1"/>
                </a:solidFill>
                <a:effectLst/>
                <a:latin typeface="+mn-lt"/>
                <a:ea typeface="+mn-ea"/>
                <a:cs typeface="+mn-cs"/>
              </a:rPr>
              <a:t>-окружениям </a:t>
            </a:r>
            <a:r>
              <a:rPr lang="ru-RU" sz="1200" b="0" i="0" kern="1200" dirty="0" err="1" smtClean="0">
                <a:solidFill>
                  <a:schemeClr val="tx1"/>
                </a:solidFill>
                <a:effectLst/>
                <a:latin typeface="+mn-lt"/>
                <a:ea typeface="+mn-ea"/>
                <a:cs typeface="+mn-cs"/>
              </a:rPr>
              <a:t>OpenNebula</a:t>
            </a:r>
            <a:r>
              <a:rPr lang="ru-RU" sz="1200" b="0" i="0" kern="1200" dirty="0" smtClean="0">
                <a:solidFill>
                  <a:schemeClr val="tx1"/>
                </a:solidFill>
                <a:effectLst/>
                <a:latin typeface="+mn-lt"/>
                <a:ea typeface="+mn-ea"/>
                <a:cs typeface="+mn-cs"/>
              </a:rPr>
              <a:t> поддерживает такие API, как EC2 </a:t>
            </a:r>
            <a:r>
              <a:rPr lang="ru-RU" sz="1200" b="0" i="0" kern="1200" dirty="0" err="1" smtClean="0">
                <a:solidFill>
                  <a:schemeClr val="tx1"/>
                </a:solidFill>
                <a:effectLst/>
                <a:latin typeface="+mn-lt"/>
                <a:ea typeface="+mn-ea"/>
                <a:cs typeface="+mn-cs"/>
              </a:rPr>
              <a:t>Query</a:t>
            </a:r>
            <a:r>
              <a:rPr lang="ru-RU" sz="1200" b="0" i="0" kern="1200" dirty="0" smtClean="0">
                <a:solidFill>
                  <a:schemeClr val="tx1"/>
                </a:solidFill>
                <a:effectLst/>
                <a:latin typeface="+mn-lt"/>
                <a:ea typeface="+mn-ea"/>
                <a:cs typeface="+mn-cs"/>
              </a:rPr>
              <a:t>, OGF OCCI и </a:t>
            </a:r>
            <a:r>
              <a:rPr lang="ru-RU" sz="1200" b="0" i="0" kern="1200" dirty="0" err="1" smtClean="0">
                <a:solidFill>
                  <a:schemeClr val="tx1"/>
                </a:solidFill>
                <a:effectLst/>
                <a:latin typeface="+mn-lt"/>
                <a:ea typeface="+mn-ea"/>
                <a:cs typeface="+mn-cs"/>
              </a:rPr>
              <a:t>vCloud</a:t>
            </a:r>
            <a:r>
              <a:rPr lang="ru-RU" sz="1200" b="0"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Гибридные </a:t>
            </a:r>
            <a:r>
              <a:rPr lang="ru-RU" sz="1200" b="0" i="0" kern="1200" dirty="0" err="1" smtClean="0">
                <a:solidFill>
                  <a:schemeClr val="tx1"/>
                </a:solidFill>
                <a:effectLst/>
                <a:latin typeface="+mn-lt"/>
                <a:ea typeface="+mn-ea"/>
                <a:cs typeface="+mn-cs"/>
              </a:rPr>
              <a:t>cloud</a:t>
            </a:r>
            <a:r>
              <a:rPr lang="ru-RU" sz="1200" b="0" i="0" kern="1200" dirty="0" smtClean="0">
                <a:solidFill>
                  <a:schemeClr val="tx1"/>
                </a:solidFill>
                <a:effectLst/>
                <a:latin typeface="+mn-lt"/>
                <a:ea typeface="+mn-ea"/>
                <a:cs typeface="+mn-cs"/>
              </a:rPr>
              <a:t>-системы, сочетающие элементы публичных и приватных </a:t>
            </a:r>
            <a:r>
              <a:rPr lang="ru-RU" sz="1200" b="0" i="0" kern="1200" dirty="0" err="1" smtClean="0">
                <a:solidFill>
                  <a:schemeClr val="tx1"/>
                </a:solidFill>
                <a:effectLst/>
                <a:latin typeface="+mn-lt"/>
                <a:ea typeface="+mn-ea"/>
                <a:cs typeface="+mn-cs"/>
              </a:rPr>
              <a:t>cloud</a:t>
            </a:r>
            <a:r>
              <a:rPr lang="ru-RU" sz="1200" b="0" i="0" kern="1200" dirty="0" smtClean="0">
                <a:solidFill>
                  <a:schemeClr val="tx1"/>
                </a:solidFill>
                <a:effectLst/>
                <a:latin typeface="+mn-lt"/>
                <a:ea typeface="+mn-ea"/>
                <a:cs typeface="+mn-cs"/>
              </a:rPr>
              <a:t>-систем. Например, определенная критически важная часть инфраструктуры можно работать в приватном облаке, а вторичные системы вынесены во внешние облака, или изначально вся система построена как приватная, но при нехватке ресурсов в пиковые моменты к работе привлекаются мощности публичных сервисов. </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Ключевые возможности:</a:t>
            </a:r>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Для менеджера по управлению инфраструктурой:</a:t>
            </a:r>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ru-RU" sz="1200" b="0" i="0" kern="1200" dirty="0" smtClean="0">
                <a:solidFill>
                  <a:schemeClr val="tx1"/>
                </a:solidFill>
                <a:effectLst/>
                <a:latin typeface="+mn-lt"/>
                <a:ea typeface="+mn-ea"/>
                <a:cs typeface="+mn-cs"/>
              </a:rPr>
              <a:t>Динамическое изменение размера физической инфраструктуры через добавление или удаление узлов на лету и разбиение кластера на виртуальные разделы, позволяющие выделять только необходимый объем ресурсов для функционирования определенного сервиса; </a:t>
            </a:r>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ru-RU" sz="1200" b="0" i="0" kern="1200" dirty="0" smtClean="0">
                <a:solidFill>
                  <a:schemeClr val="tx1"/>
                </a:solidFill>
                <a:effectLst/>
                <a:latin typeface="+mn-lt"/>
                <a:ea typeface="+mn-ea"/>
                <a:cs typeface="+mn-cs"/>
              </a:rPr>
              <a:t>Централизованный интерфейс для управления всеми элементами виртуальной и физической распределенной инфраструктуры; </a:t>
            </a:r>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ru-RU" sz="1200" b="0" i="0" kern="1200" dirty="0" smtClean="0">
                <a:solidFill>
                  <a:schemeClr val="tx1"/>
                </a:solidFill>
                <a:effectLst/>
                <a:latin typeface="+mn-lt"/>
                <a:ea typeface="+mn-ea"/>
                <a:cs typeface="+mn-cs"/>
              </a:rPr>
              <a:t>Высокая степень задействования доступных ресурсов, возможность подключения внешних ресурсов, предоставления ресурсов в аренду или организации совместного использования инфраструктуры между несколькими департаментами; </a:t>
            </a:r>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ru-RU" sz="1200" b="0" i="0" kern="1200" dirty="0" smtClean="0">
                <a:solidFill>
                  <a:schemeClr val="tx1"/>
                </a:solidFill>
                <a:effectLst/>
                <a:latin typeface="+mn-lt"/>
                <a:ea typeface="+mn-ea"/>
                <a:cs typeface="+mn-cs"/>
              </a:rPr>
              <a:t>Сокращение издержек за счет уменьшения числа физических серверов, уменьшение затрат на администрирование, обслуживание, энергоснабжение и охлаждение (вместо физических серверов предоставляются виртуальные серверы, которые более полно используют доступные физические ресурсы - например, группа мало загруженных серверов теперь может работать на одной физической машине); </a:t>
            </a:r>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ru-RU" sz="1200" b="0" i="0" kern="1200" dirty="0" smtClean="0">
                <a:solidFill>
                  <a:schemeClr val="tx1"/>
                </a:solidFill>
                <a:effectLst/>
                <a:latin typeface="+mn-lt"/>
                <a:ea typeface="+mn-ea"/>
                <a:cs typeface="+mn-cs"/>
              </a:rPr>
              <a:t>Возможность быстрого увеличения серверной мощности за счет подключения ресурсов внешних </a:t>
            </a:r>
            <a:r>
              <a:rPr lang="ru-RU" sz="1200" b="0" i="0" kern="1200" dirty="0" err="1" smtClean="0">
                <a:solidFill>
                  <a:schemeClr val="tx1"/>
                </a:solidFill>
                <a:effectLst/>
                <a:latin typeface="+mn-lt"/>
                <a:ea typeface="+mn-ea"/>
                <a:cs typeface="+mn-cs"/>
              </a:rPr>
              <a:t>cloud</a:t>
            </a:r>
            <a:r>
              <a:rPr lang="ru-RU" sz="1200" b="0" i="0" kern="1200" dirty="0" smtClean="0">
                <a:solidFill>
                  <a:schemeClr val="tx1"/>
                </a:solidFill>
                <a:effectLst/>
                <a:latin typeface="+mn-lt"/>
                <a:ea typeface="+mn-ea"/>
                <a:cs typeface="+mn-cs"/>
              </a:rPr>
              <a:t>-сервисов в моменты пиковой нагрузки; </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Для пользователя: </a:t>
            </a:r>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ru-RU" sz="1200" b="0" i="0" kern="1200" dirty="0" smtClean="0">
                <a:solidFill>
                  <a:schemeClr val="tx1"/>
                </a:solidFill>
                <a:effectLst/>
                <a:latin typeface="+mn-lt"/>
                <a:ea typeface="+mn-ea"/>
                <a:cs typeface="+mn-cs"/>
              </a:rPr>
              <a:t>Более быстрое получение запрошенного сервиса (виртуальный сервер поднять значительно быстрее, чем купить и установить физический сервер); </a:t>
            </a:r>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ru-RU" sz="1200" b="0" i="0" kern="1200" dirty="0" smtClean="0">
                <a:solidFill>
                  <a:schemeClr val="tx1"/>
                </a:solidFill>
                <a:effectLst/>
                <a:latin typeface="+mn-lt"/>
                <a:ea typeface="+mn-ea"/>
                <a:cs typeface="+mn-cs"/>
              </a:rPr>
              <a:t>Поддержка развертывания гетерогенных операционных окружений в рамках единой совместно используемой инфраструктуры; </a:t>
            </a:r>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ru-RU" sz="1200" b="0" i="0" kern="1200" dirty="0" smtClean="0">
                <a:solidFill>
                  <a:schemeClr val="tx1"/>
                </a:solidFill>
                <a:effectLst/>
                <a:latin typeface="+mn-lt"/>
                <a:ea typeface="+mn-ea"/>
                <a:cs typeface="+mn-cs"/>
              </a:rPr>
              <a:t>Полный контроль за жизненным циклом виртуальных серверов.</a:t>
            </a:r>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29</a:t>
            </a:fld>
            <a:endParaRPr lang="ru-RU"/>
          </a:p>
        </p:txBody>
      </p:sp>
    </p:spTree>
    <p:extLst>
      <p:ext uri="{BB962C8B-B14F-4D97-AF65-F5344CB8AC3E}">
        <p14:creationId xmlns:p14="http://schemas.microsoft.com/office/powerpoint/2010/main" val="2004502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https://blog.altuninvv.ru/astralinux/124-%D1%83%D1%81%D1%82%D0%B0%D0%BD%D0%BE%D0%B2%D0%BA%D0%B0-opennebula-%D0%BD%D0%B0-astra-linux-%D0%B0%D0%BB%D1%8C%D1%82%D0%B5%D1%80%D0%BD%D0%B0%D1%82%D0%B8%D0%B2%D0%B0-hyper-v-%D0%BF%D0%BE%D0%B4-linux-%D1%87%D0%B0%D1%81%D1%82%D1%8C-1</a:t>
            </a:r>
            <a:endParaRPr lang="ru-RU" dirty="0" smtClean="0"/>
          </a:p>
          <a:p>
            <a:endParaRPr lang="en-US" dirty="0" smtClean="0"/>
          </a:p>
          <a:p>
            <a:endParaRPr lang="en-US" dirty="0" smtClean="0"/>
          </a:p>
          <a:p>
            <a:r>
              <a:rPr lang="en-US" dirty="0" smtClean="0"/>
              <a:t>https://blog.altuninvv.ru/astralinux/125-%D1%83%D1%81%D1%82%D0%B0%D0%BD%D0%BE%D0%B2%D0%BA%D0%B0-windows-server-%D0%B2-opennebula-%D0%BD%D0%B0-astra-linux-%D0%B0%D0%BB%D1%8C%D1%82%D0%B5%D1%80%D0%BD%D0%B0%D1%82%D0%B8%D0%B2%D0%B0-hyper-v-%D0%BF%D0%BE%D0%B4-linux-%D1%87%D0%B0%D1%81%D1%82%D1%8C-2</a:t>
            </a:r>
          </a:p>
          <a:p>
            <a:endParaRPr lang="en-US" dirty="0" smtClean="0"/>
          </a:p>
          <a:p>
            <a:endParaRPr lang="en-US" dirty="0" smtClean="0"/>
          </a:p>
          <a:p>
            <a:r>
              <a:rPr lang="en-US" dirty="0" smtClean="0"/>
              <a:t>https://blog.altuninvv.ru/astralinux/126-%D0%B2%D0%BB%D0%BE%D0%B6%D0%B5%D0%BD%D0%BD%D0%B0%D1%8F-%D0%B2%D0%B8%D1%80%D1%82%D1%83%D0%B0%D0%BB%D0%B8%D0%B7%D0%B0%D1%86%D0%B8%D1%8F-%D0%B2-opennebula-%D0%B0%D0%BB%D1%8C%D1%82%D0%B5%D1%80%D0%BD%D0%B0%D1%82%D0%B8%D0%B2%D0%B0-hyper-v-%D0%BF%D0%BE%D0%B4-linux-%D1%87%D0%B0%D1%81%D1%82%D1%8C-2</a:t>
            </a:r>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30</a:t>
            </a:fld>
            <a:endParaRPr lang="ru-RU"/>
          </a:p>
        </p:txBody>
      </p:sp>
    </p:spTree>
    <p:extLst>
      <p:ext uri="{BB962C8B-B14F-4D97-AF65-F5344CB8AC3E}">
        <p14:creationId xmlns:p14="http://schemas.microsoft.com/office/powerpoint/2010/main" val="18749705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AA604DF-7B4F-4819-9696-CA432EB97D0F}" type="slidenum">
              <a:rPr lang="ru-RU" smtClean="0"/>
              <a:t>31</a:t>
            </a:fld>
            <a:endParaRPr lang="ru-RU"/>
          </a:p>
        </p:txBody>
      </p:sp>
    </p:spTree>
    <p:extLst>
      <p:ext uri="{BB962C8B-B14F-4D97-AF65-F5344CB8AC3E}">
        <p14:creationId xmlns:p14="http://schemas.microsoft.com/office/powerpoint/2010/main" val="2270540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32</a:t>
            </a:fld>
            <a:endParaRPr lang="ru-RU"/>
          </a:p>
        </p:txBody>
      </p:sp>
    </p:spTree>
    <p:extLst>
      <p:ext uri="{BB962C8B-B14F-4D97-AF65-F5344CB8AC3E}">
        <p14:creationId xmlns:p14="http://schemas.microsoft.com/office/powerpoint/2010/main" val="4174032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https://webhamster.ru/mytetrashare/index/mtb0/13129128434kqhiukabc</a:t>
            </a:r>
          </a:p>
          <a:p>
            <a:endParaRPr lang="en-US" dirty="0" smtClean="0"/>
          </a:p>
          <a:p>
            <a:r>
              <a:rPr lang="en-US" dirty="0" smtClean="0"/>
              <a:t>https://access.redhat.com/documentation/en-us/red_hat_enterprise_linux/7/html/virtualization_deployment_and_administration_guide/index</a:t>
            </a:r>
          </a:p>
          <a:p>
            <a:endParaRPr lang="en-US" dirty="0" smtClean="0"/>
          </a:p>
          <a:p>
            <a:r>
              <a:rPr lang="en-US" dirty="0" smtClean="0"/>
              <a:t>https://winitpro.ru/index.php/2020/02/10/virsh-upravlenie-virtualnymi-mashinami-kvm/</a:t>
            </a:r>
          </a:p>
          <a:p>
            <a:endParaRPr lang="en-US" dirty="0" smtClean="0"/>
          </a:p>
          <a:p>
            <a:r>
              <a:rPr lang="en-US" smtClean="0"/>
              <a:t>https://itman.in/kvm-manage-virsh/</a:t>
            </a:r>
            <a:endParaRPr lang="ru-RU" dirty="0"/>
          </a:p>
        </p:txBody>
      </p:sp>
      <p:sp>
        <p:nvSpPr>
          <p:cNvPr id="4" name="Номер слайда 3"/>
          <p:cNvSpPr>
            <a:spLocks noGrp="1"/>
          </p:cNvSpPr>
          <p:nvPr>
            <p:ph type="sldNum" sz="quarter" idx="10"/>
          </p:nvPr>
        </p:nvSpPr>
        <p:spPr/>
        <p:txBody>
          <a:bodyPr/>
          <a:lstStyle/>
          <a:p>
            <a:fld id="{3AA604DF-7B4F-4819-9696-CA432EB97D0F}" type="slidenum">
              <a:rPr lang="ru-RU" smtClean="0"/>
              <a:t>33</a:t>
            </a:fld>
            <a:endParaRPr lang="ru-RU"/>
          </a:p>
        </p:txBody>
      </p:sp>
    </p:spTree>
    <p:extLst>
      <p:ext uri="{BB962C8B-B14F-4D97-AF65-F5344CB8AC3E}">
        <p14:creationId xmlns:p14="http://schemas.microsoft.com/office/powerpoint/2010/main" val="19823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298288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1053858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1282313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3E54BD17-F7BC-48CC-8FC1-00EC70F0502C}" type="datetimeFigureOut">
              <a:rPr lang="ru-RU" smtClean="0"/>
              <a:t>26.09.2022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284283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3E54BD17-F7BC-48CC-8FC1-00EC70F0502C}" type="datetimeFigureOut">
              <a:rPr lang="ru-RU" smtClean="0"/>
              <a:t>26.09.2022</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736044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3E54BD17-F7BC-48CC-8FC1-00EC70F0502C}" type="datetimeFigureOut">
              <a:rPr lang="ru-RU" smtClean="0"/>
              <a:t>26.09.2022</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1334861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54BD17-F7BC-48CC-8FC1-00EC70F0502C}" type="datetimeFigureOut">
              <a:rPr lang="ru-RU" smtClean="0"/>
              <a:t>26.09.2022</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1524905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ru-RU" smtClean="0"/>
              <a:t>Образец заголовка</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3E54BD17-F7BC-48CC-8FC1-00EC70F0502C}" type="datetimeFigureOut">
              <a:rPr lang="ru-RU" smtClean="0"/>
              <a:t>26.09.2022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1782700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3E54BD17-F7BC-48CC-8FC1-00EC70F0502C}" type="datetimeFigureOut">
              <a:rPr lang="ru-RU" smtClean="0"/>
              <a:t>26.09.2022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742997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4111045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smtClean="0"/>
              <a:t>Образец заголовка</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75948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1075030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smtClean="0"/>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17203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ru-RU" smtClean="0"/>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1605098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3145682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3E54BD17-F7BC-48CC-8FC1-00EC70F0502C}" type="datetimeFigureOut">
              <a:rPr lang="ru-RU" smtClean="0"/>
              <a:t>26.09.2022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4AE673-0E03-431E-9D12-1140FFE98416}" type="slidenum">
              <a:rPr lang="ru-RU" smtClean="0"/>
              <a:t>‹#›</a:t>
            </a:fld>
            <a:endParaRPr lang="ru-RU"/>
          </a:p>
        </p:txBody>
      </p:sp>
    </p:spTree>
    <p:extLst>
      <p:ext uri="{BB962C8B-B14F-4D97-AF65-F5344CB8AC3E}">
        <p14:creationId xmlns:p14="http://schemas.microsoft.com/office/powerpoint/2010/main" val="3299776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54BD17-F7BC-48CC-8FC1-00EC70F0502C}" type="datetimeFigureOut">
              <a:rPr lang="ru-RU" smtClean="0"/>
              <a:t>26.09.2022</a:t>
            </a:fld>
            <a:endParaRPr lang="ru-RU"/>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44AE673-0E03-431E-9D12-1140FFE98416}" type="slidenum">
              <a:rPr lang="ru-RU" smtClean="0"/>
              <a:t>‹#›</a:t>
            </a:fld>
            <a:endParaRPr lang="ru-RU"/>
          </a:p>
        </p:txBody>
      </p:sp>
    </p:spTree>
    <p:extLst>
      <p:ext uri="{BB962C8B-B14F-4D97-AF65-F5344CB8AC3E}">
        <p14:creationId xmlns:p14="http://schemas.microsoft.com/office/powerpoint/2010/main" val="12367883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A0670F-4079-4433-9AC8-A1A4E76850B1}"/>
              </a:ext>
            </a:extLst>
          </p:cNvPr>
          <p:cNvSpPr>
            <a:spLocks noGrp="1"/>
          </p:cNvSpPr>
          <p:nvPr>
            <p:ph type="ctrTitle"/>
          </p:nvPr>
        </p:nvSpPr>
        <p:spPr/>
        <p:txBody>
          <a:bodyPr/>
          <a:lstStyle/>
          <a:p>
            <a:r>
              <a:rPr lang="ru-RU" dirty="0"/>
              <a:t>Гипервизоры</a:t>
            </a:r>
          </a:p>
        </p:txBody>
      </p:sp>
      <p:sp>
        <p:nvSpPr>
          <p:cNvPr id="3" name="Подзаголовок 2">
            <a:extLst>
              <a:ext uri="{FF2B5EF4-FFF2-40B4-BE49-F238E27FC236}">
                <a16:creationId xmlns:a16="http://schemas.microsoft.com/office/drawing/2014/main" id="{D1EFBA9D-BFD6-4B1C-B60C-03E397DC80E3}"/>
              </a:ext>
            </a:extLst>
          </p:cNvPr>
          <p:cNvSpPr>
            <a:spLocks noGrp="1"/>
          </p:cNvSpPr>
          <p:nvPr>
            <p:ph type="subTitle" idx="1"/>
          </p:nvPr>
        </p:nvSpPr>
        <p:spPr/>
        <p:txBody>
          <a:bodyPr/>
          <a:lstStyle/>
          <a:p>
            <a:endParaRPr lang="ru-RU"/>
          </a:p>
        </p:txBody>
      </p:sp>
    </p:spTree>
    <p:extLst>
      <p:ext uri="{BB962C8B-B14F-4D97-AF65-F5344CB8AC3E}">
        <p14:creationId xmlns:p14="http://schemas.microsoft.com/office/powerpoint/2010/main" val="528573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5DF84B-1695-4704-A51B-592C6050F445}"/>
              </a:ext>
            </a:extLst>
          </p:cNvPr>
          <p:cNvSpPr>
            <a:spLocks noGrp="1"/>
          </p:cNvSpPr>
          <p:nvPr>
            <p:ph type="title"/>
          </p:nvPr>
        </p:nvSpPr>
        <p:spPr/>
        <p:txBody>
          <a:bodyPr/>
          <a:lstStyle/>
          <a:p>
            <a:r>
              <a:rPr lang="ru-RU" dirty="0"/>
              <a:t>Гипервизор</a:t>
            </a:r>
          </a:p>
        </p:txBody>
      </p:sp>
      <p:sp>
        <p:nvSpPr>
          <p:cNvPr id="3" name="Объект 2">
            <a:extLst>
              <a:ext uri="{FF2B5EF4-FFF2-40B4-BE49-F238E27FC236}">
                <a16:creationId xmlns:a16="http://schemas.microsoft.com/office/drawing/2014/main" id="{6B3AEB73-8DE5-4B6A-A4A8-E07910E88DEA}"/>
              </a:ext>
            </a:extLst>
          </p:cNvPr>
          <p:cNvSpPr>
            <a:spLocks noGrp="1"/>
          </p:cNvSpPr>
          <p:nvPr>
            <p:ph idx="1"/>
          </p:nvPr>
        </p:nvSpPr>
        <p:spPr/>
        <p:txBody>
          <a:bodyPr/>
          <a:lstStyle/>
          <a:p>
            <a:r>
              <a:rPr lang="ru-RU" dirty="0"/>
              <a:t>Гипервизор типа 1</a:t>
            </a:r>
            <a:endParaRPr lang="en-US" dirty="0"/>
          </a:p>
          <a:p>
            <a:r>
              <a:rPr lang="ru-RU" dirty="0"/>
              <a:t>Гипервизор типа 2</a:t>
            </a:r>
            <a:endParaRPr lang="en-US" dirty="0"/>
          </a:p>
          <a:p>
            <a:endParaRPr lang="ru-RU" dirty="0"/>
          </a:p>
        </p:txBody>
      </p:sp>
      <p:pic>
        <p:nvPicPr>
          <p:cNvPr id="2052" name="Picture 4" descr="Что такое виртуализация сервера, как она работает и зачем нужн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0089" y="1690688"/>
            <a:ext cx="5715000" cy="3409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983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E226F2-736F-4F4F-B81E-3F859F05C52E}"/>
              </a:ext>
            </a:extLst>
          </p:cNvPr>
          <p:cNvSpPr>
            <a:spLocks noGrp="1"/>
          </p:cNvSpPr>
          <p:nvPr>
            <p:ph type="title"/>
          </p:nvPr>
        </p:nvSpPr>
        <p:spPr/>
        <p:txBody>
          <a:bodyPr/>
          <a:lstStyle/>
          <a:p>
            <a:r>
              <a:rPr lang="ru-RU" dirty="0"/>
              <a:t>Примеры</a:t>
            </a:r>
          </a:p>
        </p:txBody>
      </p:sp>
      <p:sp>
        <p:nvSpPr>
          <p:cNvPr id="3" name="Объект 2">
            <a:extLst>
              <a:ext uri="{FF2B5EF4-FFF2-40B4-BE49-F238E27FC236}">
                <a16:creationId xmlns:a16="http://schemas.microsoft.com/office/drawing/2014/main" id="{BC706565-5A3E-4811-BF30-5A88E29A6345}"/>
              </a:ext>
            </a:extLst>
          </p:cNvPr>
          <p:cNvSpPr>
            <a:spLocks noGrp="1"/>
          </p:cNvSpPr>
          <p:nvPr>
            <p:ph idx="1"/>
          </p:nvPr>
        </p:nvSpPr>
        <p:spPr/>
        <p:txBody>
          <a:bodyPr/>
          <a:lstStyle/>
          <a:p>
            <a:r>
              <a:rPr lang="ru-RU" dirty="0"/>
              <a:t>Гипервизоры </a:t>
            </a:r>
            <a:r>
              <a:rPr lang="en-US" dirty="0" err="1"/>
              <a:t>Vmware</a:t>
            </a:r>
            <a:endParaRPr lang="en-US" dirty="0"/>
          </a:p>
          <a:p>
            <a:r>
              <a:rPr lang="ru-RU" dirty="0"/>
              <a:t>Гипервизор</a:t>
            </a:r>
            <a:r>
              <a:rPr lang="en-US" dirty="0"/>
              <a:t> VirtualBox</a:t>
            </a:r>
          </a:p>
          <a:p>
            <a:r>
              <a:rPr lang="ru-RU" dirty="0"/>
              <a:t>Гипервизор </a:t>
            </a:r>
            <a:r>
              <a:rPr lang="en-US" dirty="0"/>
              <a:t>Hyper-V</a:t>
            </a:r>
          </a:p>
          <a:p>
            <a:r>
              <a:rPr lang="ru-RU" dirty="0"/>
              <a:t>Гипервизор</a:t>
            </a:r>
            <a:r>
              <a:rPr lang="en-US" dirty="0"/>
              <a:t> Citrix</a:t>
            </a:r>
          </a:p>
          <a:p>
            <a:r>
              <a:rPr lang="ru-RU" dirty="0"/>
              <a:t>Гипервизоры с открытым исходным кодом</a:t>
            </a:r>
          </a:p>
        </p:txBody>
      </p:sp>
      <p:pic>
        <p:nvPicPr>
          <p:cNvPr id="3074" name="Picture 2" descr="Гипервизоры в облачных вычислениях | Cloud4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3789" y="1204686"/>
            <a:ext cx="5095313" cy="2709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917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E8BA20-9DC9-45ED-989F-F2122CC29997}"/>
              </a:ext>
            </a:extLst>
          </p:cNvPr>
          <p:cNvSpPr>
            <a:spLocks noGrp="1"/>
          </p:cNvSpPr>
          <p:nvPr>
            <p:ph type="title"/>
          </p:nvPr>
        </p:nvSpPr>
        <p:spPr/>
        <p:txBody>
          <a:bodyPr/>
          <a:lstStyle/>
          <a:p>
            <a:r>
              <a:rPr lang="ru-RU" dirty="0"/>
              <a:t>Гипервизоры </a:t>
            </a:r>
            <a:r>
              <a:rPr lang="en-US" dirty="0" err="1"/>
              <a:t>Vmware</a:t>
            </a:r>
            <a:endParaRPr lang="ru-RU" dirty="0"/>
          </a:p>
        </p:txBody>
      </p:sp>
      <p:sp>
        <p:nvSpPr>
          <p:cNvPr id="3" name="Объект 2">
            <a:extLst>
              <a:ext uri="{FF2B5EF4-FFF2-40B4-BE49-F238E27FC236}">
                <a16:creationId xmlns:a16="http://schemas.microsoft.com/office/drawing/2014/main" id="{E72BAB39-1292-4419-BF00-5606D35798BE}"/>
              </a:ext>
            </a:extLst>
          </p:cNvPr>
          <p:cNvSpPr>
            <a:spLocks noGrp="1"/>
          </p:cNvSpPr>
          <p:nvPr>
            <p:ph idx="1"/>
          </p:nvPr>
        </p:nvSpPr>
        <p:spPr/>
        <p:txBody>
          <a:bodyPr/>
          <a:lstStyle/>
          <a:p>
            <a:r>
              <a:rPr lang="ru-RU" dirty="0"/>
              <a:t>Гипервизор </a:t>
            </a:r>
            <a:r>
              <a:rPr lang="en-US" dirty="0" err="1"/>
              <a:t>ESXi</a:t>
            </a:r>
            <a:r>
              <a:rPr lang="en-US" dirty="0"/>
              <a:t>: VMware </a:t>
            </a:r>
            <a:r>
              <a:rPr lang="en-US" dirty="0" err="1"/>
              <a:t>ESXi</a:t>
            </a:r>
            <a:r>
              <a:rPr lang="en-US" dirty="0"/>
              <a:t> (Elastic Sky X Integrated)</a:t>
            </a:r>
          </a:p>
          <a:p>
            <a:r>
              <a:rPr lang="ru-RU" dirty="0"/>
              <a:t>Гипервизор </a:t>
            </a:r>
            <a:r>
              <a:rPr lang="en-US" dirty="0" err="1"/>
              <a:t>Vsphere</a:t>
            </a:r>
            <a:endParaRPr lang="en-US" dirty="0"/>
          </a:p>
          <a:p>
            <a:r>
              <a:rPr lang="en-US" dirty="0"/>
              <a:t>VMware Fusion</a:t>
            </a:r>
          </a:p>
          <a:p>
            <a:r>
              <a:rPr lang="en-US" dirty="0"/>
              <a:t>Workstation</a:t>
            </a:r>
          </a:p>
          <a:p>
            <a:endParaRPr lang="ru-RU" dirty="0"/>
          </a:p>
        </p:txBody>
      </p:sp>
      <p:pic>
        <p:nvPicPr>
          <p:cNvPr id="4" name="Рисунок 3"/>
          <p:cNvPicPr>
            <a:picLocks noChangeAspect="1"/>
          </p:cNvPicPr>
          <p:nvPr/>
        </p:nvPicPr>
        <p:blipFill>
          <a:blip r:embed="rId3"/>
          <a:stretch>
            <a:fillRect/>
          </a:stretch>
        </p:blipFill>
        <p:spPr>
          <a:xfrm>
            <a:off x="8807122" y="608447"/>
            <a:ext cx="2333714" cy="838917"/>
          </a:xfrm>
          <a:prstGeom prst="rect">
            <a:avLst/>
          </a:prstGeom>
        </p:spPr>
      </p:pic>
      <p:pic>
        <p:nvPicPr>
          <p:cNvPr id="4098" name="Picture 2" descr="VMware vSphere 7 Essentials Kit for 3 hosts (Max 2 processors per hos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04603" y="2501900"/>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08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A2FEF3-B25F-46A4-B7CF-91E3C41D068D}"/>
              </a:ext>
            </a:extLst>
          </p:cNvPr>
          <p:cNvSpPr>
            <a:spLocks noGrp="1"/>
          </p:cNvSpPr>
          <p:nvPr>
            <p:ph type="title"/>
          </p:nvPr>
        </p:nvSpPr>
        <p:spPr/>
        <p:txBody>
          <a:bodyPr/>
          <a:lstStyle/>
          <a:p>
            <a:r>
              <a:rPr lang="ru-RU" dirty="0"/>
              <a:t>Гипервизор </a:t>
            </a:r>
            <a:r>
              <a:rPr lang="en-US" dirty="0"/>
              <a:t>VirtualBox</a:t>
            </a:r>
            <a:endParaRPr lang="ru-RU" dirty="0"/>
          </a:p>
        </p:txBody>
      </p:sp>
      <p:sp>
        <p:nvSpPr>
          <p:cNvPr id="3" name="Объект 2">
            <a:extLst>
              <a:ext uri="{FF2B5EF4-FFF2-40B4-BE49-F238E27FC236}">
                <a16:creationId xmlns:a16="http://schemas.microsoft.com/office/drawing/2014/main" id="{D6B8973F-754B-4F62-8392-F24A4D8BA18E}"/>
              </a:ext>
            </a:extLst>
          </p:cNvPr>
          <p:cNvSpPr>
            <a:spLocks noGrp="1"/>
          </p:cNvSpPr>
          <p:nvPr>
            <p:ph idx="1"/>
          </p:nvPr>
        </p:nvSpPr>
        <p:spPr/>
        <p:txBody>
          <a:bodyPr/>
          <a:lstStyle/>
          <a:p>
            <a:r>
              <a:rPr lang="en-US" dirty="0" err="1" smtClean="0"/>
              <a:t>VirtualBox</a:t>
            </a:r>
            <a:r>
              <a:rPr lang="en-US" dirty="0" smtClean="0"/>
              <a:t> </a:t>
            </a:r>
            <a:r>
              <a:rPr lang="ru-RU" dirty="0" smtClean="0"/>
              <a:t>гипервизор </a:t>
            </a:r>
            <a:r>
              <a:rPr lang="ru-RU" dirty="0"/>
              <a:t>типа 2</a:t>
            </a:r>
          </a:p>
        </p:txBody>
      </p:sp>
      <p:pic>
        <p:nvPicPr>
          <p:cNvPr id="5122" name="Picture 2" descr="Скачать Virtualbox 6.1 для Windows (На русском) через торрент"/>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3150" y="3116489"/>
            <a:ext cx="5581650" cy="286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434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926E09-D38F-449F-A34A-FF26FF68B026}"/>
              </a:ext>
            </a:extLst>
          </p:cNvPr>
          <p:cNvSpPr>
            <a:spLocks noGrp="1"/>
          </p:cNvSpPr>
          <p:nvPr>
            <p:ph type="title"/>
          </p:nvPr>
        </p:nvSpPr>
        <p:spPr/>
        <p:txBody>
          <a:bodyPr/>
          <a:lstStyle/>
          <a:p>
            <a:r>
              <a:rPr lang="ru-RU" dirty="0"/>
              <a:t>Гипервизор </a:t>
            </a:r>
            <a:r>
              <a:rPr lang="en-US" dirty="0"/>
              <a:t>Hyper-V</a:t>
            </a:r>
            <a:endParaRPr lang="ru-RU" dirty="0"/>
          </a:p>
        </p:txBody>
      </p:sp>
      <p:sp>
        <p:nvSpPr>
          <p:cNvPr id="3" name="Объект 2">
            <a:extLst>
              <a:ext uri="{FF2B5EF4-FFF2-40B4-BE49-F238E27FC236}">
                <a16:creationId xmlns:a16="http://schemas.microsoft.com/office/drawing/2014/main" id="{7652401F-F5E8-4D9E-9B54-64E57E165D29}"/>
              </a:ext>
            </a:extLst>
          </p:cNvPr>
          <p:cNvSpPr>
            <a:spLocks noGrp="1"/>
          </p:cNvSpPr>
          <p:nvPr>
            <p:ph idx="1"/>
          </p:nvPr>
        </p:nvSpPr>
        <p:spPr/>
        <p:txBody>
          <a:bodyPr/>
          <a:lstStyle/>
          <a:p>
            <a:pPr marL="0" indent="0">
              <a:buNone/>
            </a:pPr>
            <a:r>
              <a:rPr lang="ru-RU" dirty="0"/>
              <a:t>Hyper-V — это гипервизор Microsoft, разработанный для использования в системах Windows.</a:t>
            </a:r>
          </a:p>
        </p:txBody>
      </p:sp>
      <p:pic>
        <p:nvPicPr>
          <p:cNvPr id="6146" name="Picture 2" descr="Microsoft включает поддержку Hyper-V для устройств Windows на CPU ARM |  Компьютерные технологии и Игры - Best F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8513" y="2906186"/>
            <a:ext cx="5225143" cy="3542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957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D0512A-2F67-46C2-AF22-98737D3DFE39}"/>
              </a:ext>
            </a:extLst>
          </p:cNvPr>
          <p:cNvSpPr>
            <a:spLocks noGrp="1"/>
          </p:cNvSpPr>
          <p:nvPr>
            <p:ph type="title"/>
          </p:nvPr>
        </p:nvSpPr>
        <p:spPr/>
        <p:txBody>
          <a:bodyPr/>
          <a:lstStyle/>
          <a:p>
            <a:r>
              <a:rPr lang="ru-RU" dirty="0"/>
              <a:t>Гипервизор </a:t>
            </a:r>
            <a:r>
              <a:rPr lang="en-US" dirty="0"/>
              <a:t>Citrix</a:t>
            </a:r>
          </a:p>
        </p:txBody>
      </p:sp>
      <p:sp>
        <p:nvSpPr>
          <p:cNvPr id="3" name="Объект 2">
            <a:extLst>
              <a:ext uri="{FF2B5EF4-FFF2-40B4-BE49-F238E27FC236}">
                <a16:creationId xmlns:a16="http://schemas.microsoft.com/office/drawing/2014/main" id="{AF7A3A79-3F53-4223-AF9D-2589E7B8A3D3}"/>
              </a:ext>
            </a:extLst>
          </p:cNvPr>
          <p:cNvSpPr>
            <a:spLocks noGrp="1"/>
          </p:cNvSpPr>
          <p:nvPr>
            <p:ph idx="1"/>
          </p:nvPr>
        </p:nvSpPr>
        <p:spPr/>
        <p:txBody>
          <a:bodyPr/>
          <a:lstStyle/>
          <a:p>
            <a:r>
              <a:rPr lang="en-US" dirty="0"/>
              <a:t>Citrix </a:t>
            </a:r>
            <a:r>
              <a:rPr lang="en-US" dirty="0" err="1"/>
              <a:t>XenServer</a:t>
            </a:r>
            <a:r>
              <a:rPr lang="en-US" dirty="0"/>
              <a:t> - </a:t>
            </a:r>
            <a:r>
              <a:rPr lang="ru-RU" dirty="0"/>
              <a:t>сейчас известен как </a:t>
            </a:r>
            <a:r>
              <a:rPr lang="en-US" dirty="0"/>
              <a:t>Citrix Hypervisor</a:t>
            </a:r>
            <a:endParaRPr lang="ru-RU" dirty="0"/>
          </a:p>
        </p:txBody>
      </p:sp>
      <p:pic>
        <p:nvPicPr>
          <p:cNvPr id="7170" name="Picture 2" descr="Citrix Hypervisor 8.2 LTSR What&amp;#39;s N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8661" y="3040969"/>
            <a:ext cx="4876800" cy="1628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578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446567-7C96-4709-A98B-DF11F39DE5BC}"/>
              </a:ext>
            </a:extLst>
          </p:cNvPr>
          <p:cNvSpPr>
            <a:spLocks noGrp="1"/>
          </p:cNvSpPr>
          <p:nvPr>
            <p:ph type="title"/>
          </p:nvPr>
        </p:nvSpPr>
        <p:spPr/>
        <p:txBody>
          <a:bodyPr/>
          <a:lstStyle/>
          <a:p>
            <a:r>
              <a:rPr lang="ru-RU" dirty="0"/>
              <a:t>Гипервизоры с открытым исходным кодом</a:t>
            </a:r>
          </a:p>
        </p:txBody>
      </p:sp>
      <p:sp>
        <p:nvSpPr>
          <p:cNvPr id="3" name="Объект 2">
            <a:extLst>
              <a:ext uri="{FF2B5EF4-FFF2-40B4-BE49-F238E27FC236}">
                <a16:creationId xmlns:a16="http://schemas.microsoft.com/office/drawing/2014/main" id="{A35498A2-A6E0-426B-A5E9-C57009AFBFAE}"/>
              </a:ext>
            </a:extLst>
          </p:cNvPr>
          <p:cNvSpPr>
            <a:spLocks noGrp="1"/>
          </p:cNvSpPr>
          <p:nvPr>
            <p:ph idx="1"/>
          </p:nvPr>
        </p:nvSpPr>
        <p:spPr/>
        <p:txBody>
          <a:bodyPr/>
          <a:lstStyle/>
          <a:p>
            <a:r>
              <a:rPr lang="ru-RU" dirty="0"/>
              <a:t>Гипервизор </a:t>
            </a:r>
            <a:r>
              <a:rPr lang="en-US" dirty="0"/>
              <a:t>KVM</a:t>
            </a:r>
          </a:p>
          <a:p>
            <a:r>
              <a:rPr lang="ru-RU" dirty="0"/>
              <a:t>Гипервизор </a:t>
            </a:r>
            <a:r>
              <a:rPr lang="en-US" dirty="0"/>
              <a:t>Red Hat</a:t>
            </a:r>
          </a:p>
          <a:p>
            <a:endParaRPr lang="ru-RU" dirty="0"/>
          </a:p>
        </p:txBody>
      </p:sp>
      <p:pic>
        <p:nvPicPr>
          <p:cNvPr id="8194" name="Picture 2" descr="Red Hat Virtualization (подписка на техподдержку и обновления Premium на 2  сокета), на 1 год — купить лицензию Red Hat Virtualization, цена на  официальном сайте Store.Softline.r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7454" y="3346283"/>
            <a:ext cx="3581400" cy="186690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Auto-hébergement et virtualisation avec QEMU/KVM - Root66 : Association  pour la promotion des logiciels libr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5472" y="1839829"/>
            <a:ext cx="1905000" cy="120967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آموزش تنظیمات Network در KVM و ساخت VirtualBridge - ویرگول"/>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0857" y="3239345"/>
            <a:ext cx="5763986" cy="3032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711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D26D88-6C4F-48A9-9965-7D2DCE3DE83A}"/>
              </a:ext>
            </a:extLst>
          </p:cNvPr>
          <p:cNvSpPr>
            <a:spLocks noGrp="1"/>
          </p:cNvSpPr>
          <p:nvPr>
            <p:ph type="title"/>
          </p:nvPr>
        </p:nvSpPr>
        <p:spPr/>
        <p:txBody>
          <a:bodyPr/>
          <a:lstStyle/>
          <a:p>
            <a:r>
              <a:rPr lang="ru-RU" dirty="0"/>
              <a:t>История</a:t>
            </a:r>
          </a:p>
        </p:txBody>
      </p:sp>
      <p:pic>
        <p:nvPicPr>
          <p:cNvPr id="9218" name="Picture 2" descr="Articles relating to Virtualization with the use of KVM, Citrix XenServer,  XEN, Hyper-V, XCP and other technologies |Solvegen, Inc.- Blo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1138" y="2468562"/>
            <a:ext cx="7428319" cy="2814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975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CED8D7-996C-458E-87C9-BBA74E817657}"/>
              </a:ext>
            </a:extLst>
          </p:cNvPr>
          <p:cNvSpPr>
            <a:spLocks noGrp="1"/>
          </p:cNvSpPr>
          <p:nvPr>
            <p:ph type="title"/>
          </p:nvPr>
        </p:nvSpPr>
        <p:spPr/>
        <p:txBody>
          <a:bodyPr>
            <a:normAutofit fontScale="90000"/>
          </a:bodyPr>
          <a:lstStyle/>
          <a:p>
            <a:r>
              <a:rPr lang="ru-RU" dirty="0"/>
              <a:t>Сравнение лучшего программного обеспечения для виртуализации серверов</a:t>
            </a:r>
          </a:p>
        </p:txBody>
      </p:sp>
      <p:sp>
        <p:nvSpPr>
          <p:cNvPr id="3" name="Объект 2">
            <a:extLst>
              <a:ext uri="{FF2B5EF4-FFF2-40B4-BE49-F238E27FC236}">
                <a16:creationId xmlns:a16="http://schemas.microsoft.com/office/drawing/2014/main" id="{C8F6ED1F-9D70-4E82-BED5-3EBEEE6E4D21}"/>
              </a:ext>
            </a:extLst>
          </p:cNvPr>
          <p:cNvSpPr>
            <a:spLocks noGrp="1"/>
          </p:cNvSpPr>
          <p:nvPr>
            <p:ph idx="1"/>
          </p:nvPr>
        </p:nvSpPr>
        <p:spPr/>
        <p:txBody>
          <a:bodyPr/>
          <a:lstStyle/>
          <a:p>
            <a:r>
              <a:rPr lang="en-US" dirty="0"/>
              <a:t>Hyper-V</a:t>
            </a:r>
            <a:endParaRPr lang="ru-RU" dirty="0"/>
          </a:p>
          <a:p>
            <a:r>
              <a:rPr lang="en-US" b="0" i="0" dirty="0">
                <a:solidFill>
                  <a:srgbClr val="111111"/>
                </a:solidFill>
                <a:effectLst/>
                <a:latin typeface="Fira Sans" panose="020B0503050000020004" pitchFamily="34" charset="0"/>
              </a:rPr>
              <a:t>KVM</a:t>
            </a:r>
          </a:p>
          <a:p>
            <a:r>
              <a:rPr lang="en-US" dirty="0"/>
              <a:t>vSphere</a:t>
            </a:r>
            <a:endParaRPr lang="ru-RU" dirty="0"/>
          </a:p>
          <a:p>
            <a:r>
              <a:rPr lang="en-US" dirty="0" err="1"/>
              <a:t>XenServer</a:t>
            </a:r>
            <a:endParaRPr lang="ru-RU" dirty="0"/>
          </a:p>
        </p:txBody>
      </p:sp>
      <p:pic>
        <p:nvPicPr>
          <p:cNvPr id="10242" name="Picture 2" descr="Сравниваем лучшее программное обеспечение для виртуализации в 2020 году:  Hyper-V, KVM, vSphere и XenServer / Блог компании OTUS / Хабр"/>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2913" y="2471414"/>
            <a:ext cx="6484711" cy="3705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123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697911-1EA8-42D1-B715-56424F2EB42C}"/>
              </a:ext>
            </a:extLst>
          </p:cNvPr>
          <p:cNvSpPr>
            <a:spLocks noGrp="1"/>
          </p:cNvSpPr>
          <p:nvPr>
            <p:ph type="title"/>
          </p:nvPr>
        </p:nvSpPr>
        <p:spPr/>
        <p:txBody>
          <a:bodyPr/>
          <a:lstStyle/>
          <a:p>
            <a:r>
              <a:rPr lang="en-US" dirty="0"/>
              <a:t>Hyper-V</a:t>
            </a:r>
            <a:endParaRPr lang="ru-RU" dirty="0"/>
          </a:p>
        </p:txBody>
      </p:sp>
      <p:pic>
        <p:nvPicPr>
          <p:cNvPr id="4" name="Объект 3">
            <a:extLst>
              <a:ext uri="{FF2B5EF4-FFF2-40B4-BE49-F238E27FC236}">
                <a16:creationId xmlns:a16="http://schemas.microsoft.com/office/drawing/2014/main" id="{9DD5847A-A9CD-43F6-AB15-8512C241ED04}"/>
              </a:ext>
            </a:extLst>
          </p:cNvPr>
          <p:cNvPicPr>
            <a:picLocks noGrp="1" noChangeAspect="1"/>
          </p:cNvPicPr>
          <p:nvPr>
            <p:ph idx="1"/>
          </p:nvPr>
        </p:nvPicPr>
        <p:blipFill>
          <a:blip r:embed="rId2"/>
          <a:stretch>
            <a:fillRect/>
          </a:stretch>
        </p:blipFill>
        <p:spPr>
          <a:xfrm>
            <a:off x="6526924" y="1937326"/>
            <a:ext cx="5457497" cy="4126108"/>
          </a:xfrm>
          <a:prstGeom prst="rect">
            <a:avLst/>
          </a:prstGeom>
        </p:spPr>
      </p:pic>
      <p:sp>
        <p:nvSpPr>
          <p:cNvPr id="6" name="TextBox 5">
            <a:extLst>
              <a:ext uri="{FF2B5EF4-FFF2-40B4-BE49-F238E27FC236}">
                <a16:creationId xmlns:a16="http://schemas.microsoft.com/office/drawing/2014/main" id="{4F20F8F3-A8D9-498D-B257-5C619057AA5C}"/>
              </a:ext>
            </a:extLst>
          </p:cNvPr>
          <p:cNvSpPr txBox="1"/>
          <p:nvPr/>
        </p:nvSpPr>
        <p:spPr>
          <a:xfrm>
            <a:off x="650327" y="1690688"/>
            <a:ext cx="5640114" cy="3477875"/>
          </a:xfrm>
          <a:prstGeom prst="rect">
            <a:avLst/>
          </a:prstGeom>
          <a:noFill/>
        </p:spPr>
        <p:txBody>
          <a:bodyPr wrap="square">
            <a:spAutoFit/>
          </a:bodyPr>
          <a:lstStyle/>
          <a:p>
            <a:r>
              <a:rPr lang="ru-RU" sz="2000" dirty="0"/>
              <a:t>Функционал </a:t>
            </a:r>
            <a:r>
              <a:rPr lang="en-US" sz="2000" dirty="0"/>
              <a:t>Microsoft Hyper-V </a:t>
            </a:r>
            <a:r>
              <a:rPr lang="ru-RU" sz="2000" dirty="0"/>
              <a:t>для </a:t>
            </a:r>
            <a:r>
              <a:rPr lang="en-US" sz="2000" dirty="0"/>
              <a:t>Windows Server 2019:</a:t>
            </a:r>
          </a:p>
          <a:p>
            <a:endParaRPr lang="en-US" sz="2000" dirty="0"/>
          </a:p>
          <a:p>
            <a:pPr marL="285750" indent="-285750">
              <a:buFont typeface="Arial" panose="020B0604020202020204" pitchFamily="34" charset="0"/>
              <a:buChar char="•"/>
            </a:pPr>
            <a:r>
              <a:rPr lang="ru-RU" sz="2000" dirty="0"/>
              <a:t>Поддержка постоянной памяти</a:t>
            </a:r>
          </a:p>
          <a:p>
            <a:pPr marL="285750" indent="-285750">
              <a:buFont typeface="Arial" panose="020B0604020202020204" pitchFamily="34" charset="0"/>
              <a:buChar char="•"/>
            </a:pPr>
            <a:r>
              <a:rPr lang="ru-RU" sz="2000" dirty="0"/>
              <a:t>Обновления экранированных </a:t>
            </a:r>
            <a:r>
              <a:rPr lang="en-US" sz="2000" dirty="0"/>
              <a:t>VM</a:t>
            </a:r>
          </a:p>
          <a:p>
            <a:pPr marL="285750" indent="-285750">
              <a:buFont typeface="Arial" panose="020B0604020202020204" pitchFamily="34" charset="0"/>
              <a:buChar char="•"/>
            </a:pPr>
            <a:r>
              <a:rPr lang="ru-RU" sz="2000" dirty="0"/>
              <a:t>Простые двухузловые кластеры</a:t>
            </a:r>
          </a:p>
          <a:p>
            <a:pPr marL="285750" indent="-285750">
              <a:buFont typeface="Arial" panose="020B0604020202020204" pitchFamily="34" charset="0"/>
              <a:buChar char="•"/>
            </a:pPr>
            <a:r>
              <a:rPr lang="ru-RU" sz="2000" dirty="0" err="1"/>
              <a:t>Дедупликация</a:t>
            </a:r>
            <a:r>
              <a:rPr lang="ru-RU" sz="2000" dirty="0"/>
              <a:t> </a:t>
            </a:r>
            <a:r>
              <a:rPr lang="en-US" sz="2000" dirty="0" err="1"/>
              <a:t>ReFS</a:t>
            </a:r>
            <a:endParaRPr lang="en-US" sz="2000" dirty="0"/>
          </a:p>
          <a:p>
            <a:pPr marL="285750" indent="-285750">
              <a:buFont typeface="Arial" panose="020B0604020202020204" pitchFamily="34" charset="0"/>
              <a:buChar char="•"/>
            </a:pPr>
            <a:r>
              <a:rPr lang="ru-RU" sz="2000" dirty="0"/>
              <a:t>Оптимизация локальных дисковых пространств (</a:t>
            </a:r>
            <a:r>
              <a:rPr lang="en-US" sz="2000" dirty="0"/>
              <a:t>Storage Spaces Direct)</a:t>
            </a:r>
          </a:p>
          <a:p>
            <a:pPr marL="285750" indent="-285750">
              <a:buFont typeface="Arial" panose="020B0604020202020204" pitchFamily="34" charset="0"/>
              <a:buChar char="•"/>
            </a:pPr>
            <a:r>
              <a:rPr lang="ru-RU" sz="2000" dirty="0"/>
              <a:t>Центр администрирования </a:t>
            </a:r>
            <a:r>
              <a:rPr lang="en-US" sz="2000" dirty="0"/>
              <a:t>Windows</a:t>
            </a:r>
          </a:p>
          <a:p>
            <a:pPr marL="285750" indent="-285750">
              <a:buFont typeface="Arial" panose="020B0604020202020204" pitchFamily="34" charset="0"/>
              <a:buChar char="•"/>
            </a:pPr>
            <a:r>
              <a:rPr lang="ru-RU" sz="2000" dirty="0"/>
              <a:t>Зашифрованные подсети</a:t>
            </a:r>
          </a:p>
        </p:txBody>
      </p:sp>
    </p:spTree>
    <p:extLst>
      <p:ext uri="{BB962C8B-B14F-4D97-AF65-F5344CB8AC3E}">
        <p14:creationId xmlns:p14="http://schemas.microsoft.com/office/powerpoint/2010/main" val="168988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6C81DC-3498-4054-A544-D1512313235F}"/>
              </a:ext>
            </a:extLst>
          </p:cNvPr>
          <p:cNvSpPr>
            <a:spLocks noGrp="1"/>
          </p:cNvSpPr>
          <p:nvPr>
            <p:ph type="title"/>
          </p:nvPr>
        </p:nvSpPr>
        <p:spPr/>
        <p:txBody>
          <a:bodyPr/>
          <a:lstStyle/>
          <a:p>
            <a:r>
              <a:rPr lang="en-US" dirty="0"/>
              <a:t>KVM</a:t>
            </a:r>
            <a:endParaRPr lang="ru-RU" dirty="0"/>
          </a:p>
        </p:txBody>
      </p:sp>
      <p:sp>
        <p:nvSpPr>
          <p:cNvPr id="3" name="Объект 2">
            <a:extLst>
              <a:ext uri="{FF2B5EF4-FFF2-40B4-BE49-F238E27FC236}">
                <a16:creationId xmlns:a16="http://schemas.microsoft.com/office/drawing/2014/main" id="{07A78C86-16BB-4701-8A79-C3FB69842D01}"/>
              </a:ext>
            </a:extLst>
          </p:cNvPr>
          <p:cNvSpPr>
            <a:spLocks noGrp="1"/>
          </p:cNvSpPr>
          <p:nvPr>
            <p:ph idx="1"/>
          </p:nvPr>
        </p:nvSpPr>
        <p:spPr/>
        <p:txBody>
          <a:bodyPr>
            <a:normAutofit fontScale="85000" lnSpcReduction="20000"/>
          </a:bodyPr>
          <a:lstStyle/>
          <a:p>
            <a:pPr marL="0" indent="0">
              <a:buNone/>
            </a:pPr>
            <a:r>
              <a:rPr lang="ru-RU" dirty="0"/>
              <a:t>Функционал </a:t>
            </a:r>
            <a:r>
              <a:rPr lang="en-US" dirty="0"/>
              <a:t>Red Hat KVM:</a:t>
            </a:r>
          </a:p>
          <a:p>
            <a:r>
              <a:rPr lang="ru-RU" dirty="0"/>
              <a:t>Поддержка контейнеров</a:t>
            </a:r>
          </a:p>
          <a:p>
            <a:r>
              <a:rPr lang="ru-RU" dirty="0"/>
              <a:t>Масштабируемость</a:t>
            </a:r>
          </a:p>
          <a:p>
            <a:r>
              <a:rPr lang="en-US" dirty="0"/>
              <a:t>Overcommit </a:t>
            </a:r>
            <a:r>
              <a:rPr lang="ru-RU" dirty="0"/>
              <a:t>ресурсов</a:t>
            </a:r>
          </a:p>
          <a:p>
            <a:r>
              <a:rPr lang="en-US" dirty="0"/>
              <a:t>Disk I/O throttling</a:t>
            </a:r>
          </a:p>
          <a:p>
            <a:r>
              <a:rPr lang="ru-RU" dirty="0"/>
              <a:t>Горячая замена виртуальных ресурсов</a:t>
            </a:r>
          </a:p>
          <a:p>
            <a:r>
              <a:rPr lang="ru-RU" dirty="0"/>
              <a:t>Недорогое решение для виртуализации</a:t>
            </a:r>
          </a:p>
          <a:p>
            <a:r>
              <a:rPr lang="en-US" dirty="0"/>
              <a:t>Red Hat Enterprise Virtualization </a:t>
            </a:r>
            <a:r>
              <a:rPr lang="ru-RU" dirty="0"/>
              <a:t>программирование и </a:t>
            </a:r>
            <a:r>
              <a:rPr lang="en-US" dirty="0"/>
              <a:t>API</a:t>
            </a:r>
          </a:p>
          <a:p>
            <a:r>
              <a:rPr lang="ru-RU" dirty="0"/>
              <a:t>Живая миграция и миграция хранилища</a:t>
            </a:r>
          </a:p>
          <a:p>
            <a:r>
              <a:rPr lang="ru-RU" dirty="0"/>
              <a:t>Назначение любых </a:t>
            </a:r>
            <a:r>
              <a:rPr lang="en-US" dirty="0"/>
              <a:t>PCI </a:t>
            </a:r>
            <a:r>
              <a:rPr lang="ru-RU" dirty="0"/>
              <a:t>устройств виртуальным машинам</a:t>
            </a:r>
          </a:p>
          <a:p>
            <a:r>
              <a:rPr lang="ru-RU" dirty="0"/>
              <a:t>Интеграция </a:t>
            </a:r>
            <a:r>
              <a:rPr lang="en-US" dirty="0"/>
              <a:t>Red Hat Satellite</a:t>
            </a:r>
          </a:p>
          <a:p>
            <a:r>
              <a:rPr lang="ru-RU" dirty="0"/>
              <a:t>Поддержка восстановления после сбоя (</a:t>
            </a:r>
            <a:r>
              <a:rPr lang="en-US" dirty="0"/>
              <a:t>Disaster Recovery)</a:t>
            </a:r>
            <a:endParaRPr lang="ru-RU" dirty="0"/>
          </a:p>
        </p:txBody>
      </p:sp>
      <p:pic>
        <p:nvPicPr>
          <p:cNvPr id="4" name="Рисунок 3">
            <a:extLst>
              <a:ext uri="{FF2B5EF4-FFF2-40B4-BE49-F238E27FC236}">
                <a16:creationId xmlns:a16="http://schemas.microsoft.com/office/drawing/2014/main" id="{D414B451-F9D1-4771-81BC-3F8BDA322DC3}"/>
              </a:ext>
            </a:extLst>
          </p:cNvPr>
          <p:cNvPicPr>
            <a:picLocks noChangeAspect="1"/>
          </p:cNvPicPr>
          <p:nvPr/>
        </p:nvPicPr>
        <p:blipFill>
          <a:blip r:embed="rId2"/>
          <a:stretch>
            <a:fillRect/>
          </a:stretch>
        </p:blipFill>
        <p:spPr>
          <a:xfrm>
            <a:off x="5478188" y="885825"/>
            <a:ext cx="6343650" cy="2543175"/>
          </a:xfrm>
          <a:prstGeom prst="rect">
            <a:avLst/>
          </a:prstGeom>
        </p:spPr>
      </p:pic>
    </p:spTree>
    <p:extLst>
      <p:ext uri="{BB962C8B-B14F-4D97-AF65-F5344CB8AC3E}">
        <p14:creationId xmlns:p14="http://schemas.microsoft.com/office/powerpoint/2010/main" val="1076309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B4D65C-81CE-460F-A831-AB1C990F6CC5}"/>
              </a:ext>
            </a:extLst>
          </p:cNvPr>
          <p:cNvSpPr>
            <a:spLocks noGrp="1"/>
          </p:cNvSpPr>
          <p:nvPr>
            <p:ph type="title"/>
          </p:nvPr>
        </p:nvSpPr>
        <p:spPr/>
        <p:txBody>
          <a:bodyPr/>
          <a:lstStyle/>
          <a:p>
            <a:r>
              <a:rPr lang="en-US" dirty="0"/>
              <a:t>vSphere</a:t>
            </a:r>
            <a:endParaRPr lang="ru-RU" dirty="0"/>
          </a:p>
        </p:txBody>
      </p:sp>
      <p:sp>
        <p:nvSpPr>
          <p:cNvPr id="3" name="Объект 2">
            <a:extLst>
              <a:ext uri="{FF2B5EF4-FFF2-40B4-BE49-F238E27FC236}">
                <a16:creationId xmlns:a16="http://schemas.microsoft.com/office/drawing/2014/main" id="{2D81438A-A903-404E-8310-CCC3059FA0E5}"/>
              </a:ext>
            </a:extLst>
          </p:cNvPr>
          <p:cNvSpPr>
            <a:spLocks noGrp="1"/>
          </p:cNvSpPr>
          <p:nvPr>
            <p:ph idx="1"/>
          </p:nvPr>
        </p:nvSpPr>
        <p:spPr>
          <a:xfrm>
            <a:off x="649014" y="1631404"/>
            <a:ext cx="6800879" cy="4351338"/>
          </a:xfrm>
        </p:spPr>
        <p:txBody>
          <a:bodyPr>
            <a:normAutofit fontScale="85000" lnSpcReduction="20000"/>
          </a:bodyPr>
          <a:lstStyle/>
          <a:p>
            <a:pPr marL="0" indent="0" algn="just">
              <a:buNone/>
            </a:pPr>
            <a:r>
              <a:rPr lang="ru-RU" sz="2000" dirty="0"/>
              <a:t>Функционал VMware </a:t>
            </a:r>
            <a:r>
              <a:rPr lang="ru-RU" sz="2000" dirty="0" err="1"/>
              <a:t>vSphere</a:t>
            </a:r>
            <a:r>
              <a:rPr lang="ru-RU" sz="2000" dirty="0"/>
              <a:t>:</a:t>
            </a:r>
          </a:p>
          <a:p>
            <a:pPr algn="just"/>
            <a:r>
              <a:rPr lang="ru-RU" sz="2000" dirty="0" err="1"/>
              <a:t>vCenter</a:t>
            </a:r>
            <a:r>
              <a:rPr lang="ru-RU" sz="2000" dirty="0"/>
              <a:t> Server: инструмент централизованного управления, используемый для настройки, предоставления и управления виртуальными IT средами.</a:t>
            </a:r>
          </a:p>
          <a:p>
            <a:pPr algn="just"/>
            <a:r>
              <a:rPr lang="ru-RU" sz="2000" dirty="0" err="1"/>
              <a:t>vSphere</a:t>
            </a:r>
            <a:r>
              <a:rPr lang="ru-RU" sz="2000" dirty="0"/>
              <a:t> </a:t>
            </a:r>
            <a:r>
              <a:rPr lang="ru-RU" sz="2000" dirty="0" err="1"/>
              <a:t>Clien</a:t>
            </a:r>
            <a:r>
              <a:rPr lang="ru-RU" sz="2000" dirty="0"/>
              <a:t>: </a:t>
            </a:r>
            <a:r>
              <a:rPr lang="ru-RU" sz="2000" dirty="0" err="1"/>
              <a:t>vSphere</a:t>
            </a:r>
            <a:r>
              <a:rPr lang="ru-RU" sz="2000" dirty="0"/>
              <a:t> 6.7 имеет финальную версию </a:t>
            </a:r>
            <a:r>
              <a:rPr lang="ru-RU" sz="2000" dirty="0" err="1"/>
              <a:t>vSphere</a:t>
            </a:r>
            <a:r>
              <a:rPr lang="ru-RU" sz="2000" dirty="0"/>
              <a:t> Web Client на основе Flash. Новые рабочие процессы в обновленном выпуске </a:t>
            </a:r>
            <a:r>
              <a:rPr lang="ru-RU" sz="2000" dirty="0" err="1"/>
              <a:t>vSphere</a:t>
            </a:r>
            <a:r>
              <a:rPr lang="ru-RU" sz="2000" dirty="0"/>
              <a:t> Client включают </a:t>
            </a:r>
            <a:r>
              <a:rPr lang="ru-RU" sz="2000" dirty="0" err="1"/>
              <a:t>vSphere</a:t>
            </a:r>
            <a:r>
              <a:rPr lang="ru-RU" sz="2000" dirty="0"/>
              <a:t> Update Manager, библиотеку контента, </a:t>
            </a:r>
            <a:r>
              <a:rPr lang="ru-RU" sz="2000" dirty="0" err="1"/>
              <a:t>vSAN</a:t>
            </a:r>
            <a:r>
              <a:rPr lang="ru-RU" sz="2000" dirty="0"/>
              <a:t>, политики хранения, профили хостов, схему топологии VMware </a:t>
            </a:r>
            <a:r>
              <a:rPr lang="ru-RU" sz="2000" dirty="0" err="1"/>
              <a:t>vSphere</a:t>
            </a:r>
            <a:r>
              <a:rPr lang="ru-RU" sz="2000" dirty="0"/>
              <a:t> </a:t>
            </a:r>
            <a:r>
              <a:rPr lang="ru-RU" sz="2000" dirty="0" err="1"/>
              <a:t>Distributed</a:t>
            </a:r>
            <a:r>
              <a:rPr lang="ru-RU" sz="2000" dirty="0"/>
              <a:t> </a:t>
            </a:r>
            <a:r>
              <a:rPr lang="ru-RU" sz="2000" dirty="0" err="1"/>
              <a:t>Switch</a:t>
            </a:r>
            <a:r>
              <a:rPr lang="ru-RU" sz="2000" dirty="0"/>
              <a:t> и лицензирование.</a:t>
            </a:r>
          </a:p>
          <a:p>
            <a:pPr algn="just"/>
            <a:r>
              <a:rPr lang="ru-RU" sz="2000" dirty="0" err="1"/>
              <a:t>vSphere</a:t>
            </a:r>
            <a:r>
              <a:rPr lang="ru-RU" sz="2000" dirty="0"/>
              <a:t> SDK: предоставляет интерфейсы для сторонних решений для доступа к </a:t>
            </a:r>
            <a:r>
              <a:rPr lang="ru-RU" sz="2000" dirty="0" err="1"/>
              <a:t>vSphere</a:t>
            </a:r>
            <a:r>
              <a:rPr lang="ru-RU" sz="2000" dirty="0"/>
              <a:t>.</a:t>
            </a:r>
          </a:p>
          <a:p>
            <a:pPr algn="just"/>
            <a:r>
              <a:rPr lang="ru-RU" sz="2000" dirty="0"/>
              <a:t>VM File System: кластерная файловая система для VM.</a:t>
            </a:r>
          </a:p>
          <a:p>
            <a:pPr algn="just"/>
            <a:r>
              <a:rPr lang="ru-RU" sz="2000" dirty="0"/>
              <a:t>Virtual SMP: позволяет одной виртуальной машине одновременно использовать несколько физических процессоров.</a:t>
            </a:r>
          </a:p>
        </p:txBody>
      </p:sp>
      <p:pic>
        <p:nvPicPr>
          <p:cNvPr id="4" name="Рисунок 3">
            <a:extLst>
              <a:ext uri="{FF2B5EF4-FFF2-40B4-BE49-F238E27FC236}">
                <a16:creationId xmlns:a16="http://schemas.microsoft.com/office/drawing/2014/main" id="{0B29B04C-D0B2-4DAA-B936-60C6F1475EF6}"/>
              </a:ext>
            </a:extLst>
          </p:cNvPr>
          <p:cNvPicPr>
            <a:picLocks noChangeAspect="1"/>
          </p:cNvPicPr>
          <p:nvPr/>
        </p:nvPicPr>
        <p:blipFill>
          <a:blip r:embed="rId3"/>
          <a:stretch>
            <a:fillRect/>
          </a:stretch>
        </p:blipFill>
        <p:spPr>
          <a:xfrm>
            <a:off x="7449893" y="1497724"/>
            <a:ext cx="4623373" cy="4485018"/>
          </a:xfrm>
          <a:prstGeom prst="rect">
            <a:avLst/>
          </a:prstGeom>
        </p:spPr>
      </p:pic>
    </p:spTree>
    <p:extLst>
      <p:ext uri="{BB962C8B-B14F-4D97-AF65-F5344CB8AC3E}">
        <p14:creationId xmlns:p14="http://schemas.microsoft.com/office/powerpoint/2010/main" val="1278162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B4D65C-81CE-460F-A831-AB1C990F6CC5}"/>
              </a:ext>
            </a:extLst>
          </p:cNvPr>
          <p:cNvSpPr>
            <a:spLocks noGrp="1"/>
          </p:cNvSpPr>
          <p:nvPr>
            <p:ph type="title"/>
          </p:nvPr>
        </p:nvSpPr>
        <p:spPr/>
        <p:txBody>
          <a:bodyPr/>
          <a:lstStyle/>
          <a:p>
            <a:r>
              <a:rPr lang="en-US" dirty="0"/>
              <a:t>vSphere</a:t>
            </a:r>
            <a:endParaRPr lang="ru-RU" dirty="0"/>
          </a:p>
        </p:txBody>
      </p:sp>
      <p:sp>
        <p:nvSpPr>
          <p:cNvPr id="3" name="Объект 2">
            <a:extLst>
              <a:ext uri="{FF2B5EF4-FFF2-40B4-BE49-F238E27FC236}">
                <a16:creationId xmlns:a16="http://schemas.microsoft.com/office/drawing/2014/main" id="{2D81438A-A903-404E-8310-CCC3059FA0E5}"/>
              </a:ext>
            </a:extLst>
          </p:cNvPr>
          <p:cNvSpPr>
            <a:spLocks noGrp="1"/>
          </p:cNvSpPr>
          <p:nvPr>
            <p:ph idx="1"/>
          </p:nvPr>
        </p:nvSpPr>
        <p:spPr>
          <a:xfrm>
            <a:off x="535811" y="1270000"/>
            <a:ext cx="6413938" cy="4351338"/>
          </a:xfrm>
        </p:spPr>
        <p:txBody>
          <a:bodyPr>
            <a:noAutofit/>
          </a:bodyPr>
          <a:lstStyle/>
          <a:p>
            <a:pPr marL="0" indent="0">
              <a:buNone/>
            </a:pPr>
            <a:r>
              <a:rPr lang="ru-RU" sz="1800" dirty="0"/>
              <a:t>Функционал VMware </a:t>
            </a:r>
            <a:r>
              <a:rPr lang="ru-RU" sz="1800" dirty="0" err="1"/>
              <a:t>vSphere</a:t>
            </a:r>
            <a:r>
              <a:rPr lang="ru-RU" sz="1800" dirty="0"/>
              <a:t>:</a:t>
            </a:r>
          </a:p>
          <a:p>
            <a:r>
              <a:rPr lang="ru-RU" sz="1800" dirty="0" err="1"/>
              <a:t>vMotion</a:t>
            </a:r>
            <a:r>
              <a:rPr lang="ru-RU" sz="1800" dirty="0"/>
              <a:t>: активная миграция с целостностью транзакций.</a:t>
            </a:r>
          </a:p>
          <a:p>
            <a:r>
              <a:rPr lang="ru-RU" sz="1800" dirty="0"/>
              <a:t>Storage </a:t>
            </a:r>
            <a:r>
              <a:rPr lang="ru-RU" sz="1800" dirty="0" err="1"/>
              <a:t>vMotion</a:t>
            </a:r>
            <a:r>
              <a:rPr lang="ru-RU" sz="1800" dirty="0"/>
              <a:t>: обеспечивает миграцию файлов виртуальных машин из одного места в другое без прерывания обслуживания.</a:t>
            </a:r>
          </a:p>
          <a:p>
            <a:r>
              <a:rPr lang="ru-RU" sz="1800" dirty="0"/>
              <a:t>Высокая доступность: в случае сбоя одного сервера виртуальная машина перемещается на другой сервер с резервной емкостью для обеспечения непрерывности бизнес-процессов.</a:t>
            </a:r>
          </a:p>
          <a:p>
            <a:r>
              <a:rPr lang="ru-RU" sz="1800" dirty="0"/>
              <a:t>Планировщик распределенных ресурсов (DRS): автоматически назначает и балансирует вычисления по аппаратным ресурсам, доступным для виртуальных машин.</a:t>
            </a:r>
          </a:p>
          <a:p>
            <a:r>
              <a:rPr lang="ru-RU" sz="1800" dirty="0"/>
              <a:t>Отказоустойчивость: создает копию основной виртуальной машины, чтобы обеспечить ее постоянную доступность.</a:t>
            </a:r>
          </a:p>
          <a:p>
            <a:r>
              <a:rPr lang="ru-RU" sz="1800" dirty="0"/>
              <a:t>Распределенный коммутатор (VDS): охватывает несколько хостов </a:t>
            </a:r>
            <a:r>
              <a:rPr lang="ru-RU" sz="1800" dirty="0" err="1"/>
              <a:t>ESXi</a:t>
            </a:r>
            <a:r>
              <a:rPr lang="ru-RU" sz="1800" dirty="0"/>
              <a:t> и позволяет значительно сократить объем работ по обслуживанию сети.</a:t>
            </a:r>
          </a:p>
        </p:txBody>
      </p:sp>
      <p:pic>
        <p:nvPicPr>
          <p:cNvPr id="4" name="Рисунок 3">
            <a:extLst>
              <a:ext uri="{FF2B5EF4-FFF2-40B4-BE49-F238E27FC236}">
                <a16:creationId xmlns:a16="http://schemas.microsoft.com/office/drawing/2014/main" id="{0B29B04C-D0B2-4DAA-B936-60C6F1475EF6}"/>
              </a:ext>
            </a:extLst>
          </p:cNvPr>
          <p:cNvPicPr>
            <a:picLocks noChangeAspect="1"/>
          </p:cNvPicPr>
          <p:nvPr/>
        </p:nvPicPr>
        <p:blipFill>
          <a:blip r:embed="rId3"/>
          <a:stretch>
            <a:fillRect/>
          </a:stretch>
        </p:blipFill>
        <p:spPr>
          <a:xfrm>
            <a:off x="6808225" y="875258"/>
            <a:ext cx="5265041" cy="5107484"/>
          </a:xfrm>
          <a:prstGeom prst="rect">
            <a:avLst/>
          </a:prstGeom>
        </p:spPr>
      </p:pic>
    </p:spTree>
    <p:extLst>
      <p:ext uri="{BB962C8B-B14F-4D97-AF65-F5344CB8AC3E}">
        <p14:creationId xmlns:p14="http://schemas.microsoft.com/office/powerpoint/2010/main" val="2272532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4FDCD5-3B80-432B-B568-A9845AA7B5A2}"/>
              </a:ext>
            </a:extLst>
          </p:cNvPr>
          <p:cNvSpPr>
            <a:spLocks noGrp="1"/>
          </p:cNvSpPr>
          <p:nvPr>
            <p:ph type="title"/>
          </p:nvPr>
        </p:nvSpPr>
        <p:spPr/>
        <p:txBody>
          <a:bodyPr/>
          <a:lstStyle/>
          <a:p>
            <a:r>
              <a:rPr lang="en-US" dirty="0" err="1"/>
              <a:t>XenServer</a:t>
            </a:r>
            <a:endParaRPr lang="ru-RU" dirty="0"/>
          </a:p>
        </p:txBody>
      </p:sp>
      <p:sp>
        <p:nvSpPr>
          <p:cNvPr id="3" name="Объект 2">
            <a:extLst>
              <a:ext uri="{FF2B5EF4-FFF2-40B4-BE49-F238E27FC236}">
                <a16:creationId xmlns:a16="http://schemas.microsoft.com/office/drawing/2014/main" id="{DC8068DD-B618-4E1A-96CD-43D69A9C7AE0}"/>
              </a:ext>
            </a:extLst>
          </p:cNvPr>
          <p:cNvSpPr>
            <a:spLocks noGrp="1"/>
          </p:cNvSpPr>
          <p:nvPr>
            <p:ph idx="1"/>
          </p:nvPr>
        </p:nvSpPr>
        <p:spPr/>
        <p:txBody>
          <a:bodyPr>
            <a:normAutofit fontScale="92500" lnSpcReduction="20000"/>
          </a:bodyPr>
          <a:lstStyle/>
          <a:p>
            <a:pPr marL="0" indent="0">
              <a:buNone/>
            </a:pPr>
            <a:r>
              <a:rPr lang="ru-RU" dirty="0"/>
              <a:t>Функционал Citrix </a:t>
            </a:r>
            <a:r>
              <a:rPr lang="ru-RU" dirty="0" err="1"/>
              <a:t>XenServer</a:t>
            </a:r>
            <a:r>
              <a:rPr lang="ru-RU" dirty="0"/>
              <a:t>:</a:t>
            </a:r>
          </a:p>
          <a:p>
            <a:r>
              <a:rPr lang="ru-RU" dirty="0"/>
              <a:t>Восстановление узла</a:t>
            </a:r>
          </a:p>
          <a:p>
            <a:r>
              <a:rPr lang="ru-RU" dirty="0"/>
              <a:t>Защита хоста от сбоев</a:t>
            </a:r>
          </a:p>
          <a:p>
            <a:r>
              <a:rPr lang="ru-RU" dirty="0" err="1"/>
              <a:t>Мультисерверное</a:t>
            </a:r>
            <a:r>
              <a:rPr lang="ru-RU" dirty="0"/>
              <a:t> управление</a:t>
            </a:r>
          </a:p>
          <a:p>
            <a:r>
              <a:rPr lang="ru-RU" dirty="0"/>
              <a:t>Управление динамической памятью</a:t>
            </a:r>
          </a:p>
          <a:p>
            <a:r>
              <a:rPr lang="ru-RU" dirty="0"/>
              <a:t>Интеграция Active Directory</a:t>
            </a:r>
          </a:p>
          <a:p>
            <a:r>
              <a:rPr lang="ru-RU" dirty="0"/>
              <a:t>Администрирование и контроль на основе ролей (RBAC)</a:t>
            </a:r>
          </a:p>
          <a:p>
            <a:r>
              <a:rPr lang="ru-RU" dirty="0"/>
              <a:t>Пулы смешанных ресурсов с маскированием ЦП</a:t>
            </a:r>
          </a:p>
          <a:p>
            <a:r>
              <a:rPr lang="ru-RU" dirty="0"/>
              <a:t>Контроллер распределенного виртуального коммутатора</a:t>
            </a:r>
          </a:p>
          <a:p>
            <a:r>
              <a:rPr lang="ru-RU" dirty="0"/>
              <a:t>Встроенное в память кэширование операций чтения</a:t>
            </a:r>
          </a:p>
          <a:p>
            <a:r>
              <a:rPr lang="ru-RU" dirty="0"/>
              <a:t>Живая миграция виртуальных машин и хранилище </a:t>
            </a:r>
            <a:r>
              <a:rPr lang="ru-RU" dirty="0" err="1"/>
              <a:t>XenMotion</a:t>
            </a:r>
            <a:endParaRPr lang="ru-RU" dirty="0"/>
          </a:p>
        </p:txBody>
      </p:sp>
      <p:pic>
        <p:nvPicPr>
          <p:cNvPr id="4" name="Рисунок 3">
            <a:extLst>
              <a:ext uri="{FF2B5EF4-FFF2-40B4-BE49-F238E27FC236}">
                <a16:creationId xmlns:a16="http://schemas.microsoft.com/office/drawing/2014/main" id="{1E5D5EFB-91D3-4B0A-AE2D-5DDBFD32F817}"/>
              </a:ext>
            </a:extLst>
          </p:cNvPr>
          <p:cNvPicPr>
            <a:picLocks noChangeAspect="1"/>
          </p:cNvPicPr>
          <p:nvPr/>
        </p:nvPicPr>
        <p:blipFill>
          <a:blip r:embed="rId2"/>
          <a:stretch>
            <a:fillRect/>
          </a:stretch>
        </p:blipFill>
        <p:spPr>
          <a:xfrm>
            <a:off x="6096000" y="1247885"/>
            <a:ext cx="5612523" cy="2728310"/>
          </a:xfrm>
          <a:prstGeom prst="rect">
            <a:avLst/>
          </a:prstGeom>
        </p:spPr>
      </p:pic>
    </p:spTree>
    <p:extLst>
      <p:ext uri="{BB962C8B-B14F-4D97-AF65-F5344CB8AC3E}">
        <p14:creationId xmlns:p14="http://schemas.microsoft.com/office/powerpoint/2010/main" val="239368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838B838-C4EA-4A94-B87C-8247AF1A1104}"/>
              </a:ext>
            </a:extLst>
          </p:cNvPr>
          <p:cNvSpPr>
            <a:spLocks noGrp="1"/>
          </p:cNvSpPr>
          <p:nvPr>
            <p:ph type="title"/>
          </p:nvPr>
        </p:nvSpPr>
        <p:spPr/>
        <p:txBody>
          <a:bodyPr>
            <a:normAutofit/>
          </a:bodyPr>
          <a:lstStyle/>
          <a:p>
            <a:r>
              <a:rPr lang="ru-RU" sz="4000" dirty="0"/>
              <a:t>Сводка по </a:t>
            </a:r>
            <a:r>
              <a:rPr lang="en-US" sz="4000" dirty="0"/>
              <a:t>vSphere, </a:t>
            </a:r>
            <a:r>
              <a:rPr lang="en-US" sz="4000" dirty="0" err="1"/>
              <a:t>XenServer</a:t>
            </a:r>
            <a:r>
              <a:rPr lang="en-US" sz="4000" dirty="0"/>
              <a:t>, Hyper-V </a:t>
            </a:r>
            <a:r>
              <a:rPr lang="ru-RU" sz="4000" dirty="0"/>
              <a:t>и </a:t>
            </a:r>
            <a:r>
              <a:rPr lang="en-US" sz="4000" dirty="0"/>
              <a:t>KVM</a:t>
            </a:r>
            <a:endParaRPr lang="ru-RU" sz="4000" dirty="0"/>
          </a:p>
        </p:txBody>
      </p:sp>
      <p:pic>
        <p:nvPicPr>
          <p:cNvPr id="4" name="Объект 3">
            <a:extLst>
              <a:ext uri="{FF2B5EF4-FFF2-40B4-BE49-F238E27FC236}">
                <a16:creationId xmlns:a16="http://schemas.microsoft.com/office/drawing/2014/main" id="{84DDEBDE-BF93-4E5F-8C38-23F44DB2A8F1}"/>
              </a:ext>
            </a:extLst>
          </p:cNvPr>
          <p:cNvPicPr>
            <a:picLocks noGrp="1" noChangeAspect="1"/>
          </p:cNvPicPr>
          <p:nvPr>
            <p:ph idx="1"/>
          </p:nvPr>
        </p:nvPicPr>
        <p:blipFill>
          <a:blip r:embed="rId2"/>
          <a:stretch>
            <a:fillRect/>
          </a:stretch>
        </p:blipFill>
        <p:spPr>
          <a:xfrm>
            <a:off x="2564573" y="2160588"/>
            <a:ext cx="4822891" cy="3881437"/>
          </a:xfrm>
          <a:prstGeom prst="rect">
            <a:avLst/>
          </a:prstGeom>
        </p:spPr>
      </p:pic>
    </p:spTree>
    <p:extLst>
      <p:ext uri="{BB962C8B-B14F-4D97-AF65-F5344CB8AC3E}">
        <p14:creationId xmlns:p14="http://schemas.microsoft.com/office/powerpoint/2010/main" val="4026654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63FC2C-C75E-4C7B-9ABD-CD332D9DA246}"/>
              </a:ext>
            </a:extLst>
          </p:cNvPr>
          <p:cNvSpPr>
            <a:spLocks noGrp="1"/>
          </p:cNvSpPr>
          <p:nvPr>
            <p:ph type="title"/>
          </p:nvPr>
        </p:nvSpPr>
        <p:spPr/>
        <p:txBody>
          <a:bodyPr/>
          <a:lstStyle/>
          <a:p>
            <a:r>
              <a:rPr lang="en-US" dirty="0"/>
              <a:t>VMware </a:t>
            </a:r>
            <a:r>
              <a:rPr lang="ru-RU" dirty="0"/>
              <a:t>против </a:t>
            </a:r>
            <a:r>
              <a:rPr lang="en-US" dirty="0"/>
              <a:t>Microsoft Hyper-V</a:t>
            </a:r>
            <a:endParaRPr lang="ru-RU" dirty="0"/>
          </a:p>
        </p:txBody>
      </p:sp>
      <p:sp>
        <p:nvSpPr>
          <p:cNvPr id="3" name="Объект 2">
            <a:extLst>
              <a:ext uri="{FF2B5EF4-FFF2-40B4-BE49-F238E27FC236}">
                <a16:creationId xmlns:a16="http://schemas.microsoft.com/office/drawing/2014/main" id="{492B4CE7-81A5-4D4E-85ED-DDEB84FD994A}"/>
              </a:ext>
            </a:extLst>
          </p:cNvPr>
          <p:cNvSpPr>
            <a:spLocks noGrp="1"/>
          </p:cNvSpPr>
          <p:nvPr>
            <p:ph idx="1"/>
          </p:nvPr>
        </p:nvSpPr>
        <p:spPr>
          <a:xfrm>
            <a:off x="677334" y="1270000"/>
            <a:ext cx="10515600" cy="4351338"/>
          </a:xfrm>
        </p:spPr>
        <p:txBody>
          <a:bodyPr>
            <a:noAutofit/>
          </a:bodyPr>
          <a:lstStyle/>
          <a:p>
            <a:pPr algn="just"/>
            <a:r>
              <a:rPr lang="ru-RU" sz="1800" dirty="0"/>
              <a:t>Гипервизор Hyper-V не поддерживает технологию, которая используется для проброса аппаратных USB-портов, что не позволяет подключать, например, аппаратные лицензионные ключи 1С к виртуальным машинам. Данные технологии обычно называются USB </a:t>
            </a:r>
            <a:r>
              <a:rPr lang="ru-RU" sz="1800" dirty="0" err="1"/>
              <a:t>Redirection</a:t>
            </a:r>
            <a:r>
              <a:rPr lang="ru-RU" sz="1800" dirty="0"/>
              <a:t> или USB </a:t>
            </a:r>
            <a:r>
              <a:rPr lang="ru-RU" sz="1800" dirty="0" err="1"/>
              <a:t>Passthrough</a:t>
            </a:r>
            <a:r>
              <a:rPr lang="ru-RU" sz="1800" dirty="0"/>
              <a:t>. Microsoft предлагает использовать вместо этого </a:t>
            </a:r>
            <a:r>
              <a:rPr lang="ru-RU" sz="1800" dirty="0" err="1"/>
              <a:t>Discrete</a:t>
            </a:r>
            <a:r>
              <a:rPr lang="ru-RU" sz="1800" dirty="0"/>
              <a:t> Device </a:t>
            </a:r>
            <a:r>
              <a:rPr lang="ru-RU" sz="1800" dirty="0" err="1"/>
              <a:t>Assignment</a:t>
            </a:r>
            <a:r>
              <a:rPr lang="ru-RU" sz="1800" dirty="0"/>
              <a:t> (DDA).</a:t>
            </a:r>
          </a:p>
          <a:p>
            <a:pPr algn="just"/>
            <a:r>
              <a:rPr lang="ru-RU" sz="1800" dirty="0"/>
              <a:t>Hyper-V не умеет «на лету» добавлять CPU, вам придётся осуществлять добавление в </a:t>
            </a:r>
            <a:r>
              <a:rPr lang="ru-RU" sz="1800" dirty="0" err="1"/>
              <a:t>offline</a:t>
            </a:r>
            <a:r>
              <a:rPr lang="ru-RU" sz="1800" dirty="0"/>
              <a:t> режиме через остановку сервиса, что вызовет простой (</a:t>
            </a:r>
            <a:r>
              <a:rPr lang="ru-RU" sz="1800" dirty="0" err="1"/>
              <a:t>DownTime</a:t>
            </a:r>
            <a:r>
              <a:rPr lang="ru-RU" sz="1800" dirty="0"/>
              <a:t>).</a:t>
            </a:r>
          </a:p>
          <a:p>
            <a:pPr algn="just"/>
            <a:r>
              <a:rPr lang="ru-RU" sz="1800" dirty="0"/>
              <a:t>Количество гостевых операционных систем, которые могут работать внутри виртуальной машины, у Hyper-V значительно меньше VMware, поэтому рекомендуется проверить актуальный список, если вам требуется запустить раритетного гостя.</a:t>
            </a:r>
          </a:p>
          <a:p>
            <a:pPr algn="just"/>
            <a:r>
              <a:rPr lang="ru-RU" sz="1800" dirty="0"/>
              <a:t>Стоит признать, что Hyper-V позволяет уменьшать размер диска, а не только увеличивать, как VMware, но на практике, к сожалению, аппетиты только растут и чаще всего виртуальный сервер будет требовать всё больше занятого места.</a:t>
            </a:r>
          </a:p>
          <a:p>
            <a:pPr algn="just"/>
            <a:r>
              <a:rPr lang="ru-RU" sz="1800" dirty="0"/>
              <a:t>Microsoft первой реализовала в своём гипервизоре Hyper-V технологию VM-</a:t>
            </a:r>
            <a:r>
              <a:rPr lang="ru-RU" sz="1800" dirty="0" err="1"/>
              <a:t>GenerationID</a:t>
            </a:r>
            <a:r>
              <a:rPr lang="ru-RU" sz="1800" dirty="0"/>
              <a:t>, которая пригодится администраторам службы каталогов, использующим сложные схемы Active Directory со множеством контроллеров в виртуальных средах. Благодаря VM-</a:t>
            </a:r>
            <a:r>
              <a:rPr lang="ru-RU" sz="1800" dirty="0" err="1"/>
              <a:t>GenerationID</a:t>
            </a:r>
            <a:r>
              <a:rPr lang="ru-RU" sz="1800" dirty="0"/>
              <a:t> можно избежать множества проблем при откате к старому снимку или при восстановлении её из резервной копии. Стоит отметить, что VMware также реализовала поддержку VM-</a:t>
            </a:r>
            <a:r>
              <a:rPr lang="ru-RU" sz="1800" dirty="0" err="1"/>
              <a:t>GenerationID</a:t>
            </a:r>
            <a:r>
              <a:rPr lang="ru-RU" sz="1800" dirty="0"/>
              <a:t> с версии </a:t>
            </a:r>
            <a:r>
              <a:rPr lang="ru-RU" sz="1800" dirty="0" err="1"/>
              <a:t>vSphere</a:t>
            </a:r>
            <a:r>
              <a:rPr lang="ru-RU" sz="1800" dirty="0"/>
              <a:t> 5.0 Update 2.</a:t>
            </a:r>
          </a:p>
        </p:txBody>
      </p:sp>
    </p:spTree>
    <p:extLst>
      <p:ext uri="{BB962C8B-B14F-4D97-AF65-F5344CB8AC3E}">
        <p14:creationId xmlns:p14="http://schemas.microsoft.com/office/powerpoint/2010/main" val="3528399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D886E6-DD3B-4F37-ADD0-C414F1D59C16}"/>
              </a:ext>
            </a:extLst>
          </p:cNvPr>
          <p:cNvSpPr>
            <a:spLocks noGrp="1"/>
          </p:cNvSpPr>
          <p:nvPr>
            <p:ph type="title"/>
          </p:nvPr>
        </p:nvSpPr>
        <p:spPr/>
        <p:txBody>
          <a:bodyPr/>
          <a:lstStyle/>
          <a:p>
            <a:r>
              <a:rPr lang="en-US" dirty="0"/>
              <a:t>VMware </a:t>
            </a:r>
            <a:r>
              <a:rPr lang="ru-RU" dirty="0"/>
              <a:t>против </a:t>
            </a:r>
            <a:r>
              <a:rPr lang="en-US" dirty="0"/>
              <a:t>Red Hat KVM</a:t>
            </a:r>
            <a:endParaRPr lang="ru-RU" dirty="0"/>
          </a:p>
        </p:txBody>
      </p:sp>
      <p:sp>
        <p:nvSpPr>
          <p:cNvPr id="3" name="Объект 2">
            <a:extLst>
              <a:ext uri="{FF2B5EF4-FFF2-40B4-BE49-F238E27FC236}">
                <a16:creationId xmlns:a16="http://schemas.microsoft.com/office/drawing/2014/main" id="{4086BD64-CFEF-4B51-877B-81EB8E468028}"/>
              </a:ext>
            </a:extLst>
          </p:cNvPr>
          <p:cNvSpPr>
            <a:spLocks noGrp="1"/>
          </p:cNvSpPr>
          <p:nvPr>
            <p:ph idx="1"/>
          </p:nvPr>
        </p:nvSpPr>
        <p:spPr/>
        <p:txBody>
          <a:bodyPr>
            <a:normAutofit/>
          </a:bodyPr>
          <a:lstStyle/>
          <a:p>
            <a:pPr marL="0" indent="0">
              <a:buNone/>
            </a:pPr>
            <a:r>
              <a:rPr lang="ru-RU" dirty="0"/>
              <a:t>К минусам KVM часто относят:</a:t>
            </a:r>
          </a:p>
          <a:p>
            <a:endParaRPr lang="ru-RU" dirty="0"/>
          </a:p>
          <a:p>
            <a:pPr lvl="1"/>
            <a:r>
              <a:rPr lang="ru-RU" dirty="0"/>
              <a:t>Отсутствие более развитых средств управления (как у конкурентов)</a:t>
            </a:r>
          </a:p>
          <a:p>
            <a:pPr lvl="1"/>
            <a:r>
              <a:rPr lang="ru-RU" dirty="0"/>
              <a:t>Менее стабильную работу для задач с мощным и интенсивным вводом-выводом (I/O)</a:t>
            </a:r>
          </a:p>
          <a:p>
            <a:pPr marL="0" indent="0">
              <a:buNone/>
            </a:pPr>
            <a:r>
              <a:rPr lang="ru-RU" dirty="0"/>
              <a:t>Традиционно к плюсам KVM относят неприхотливость к аппаратной части сервера, буквально — «если Linux работает на нём, то всё будет хорошо». Адепты свободного софта могут прочесть исходные коды гипервизора. </a:t>
            </a:r>
          </a:p>
          <a:p>
            <a:pPr marL="0" indent="0">
              <a:buNone/>
            </a:pPr>
            <a:r>
              <a:rPr lang="ru-RU" dirty="0"/>
              <a:t>Благодаря KVM можно получить недорогую виртуальную среду.</a:t>
            </a:r>
          </a:p>
        </p:txBody>
      </p:sp>
    </p:spTree>
    <p:extLst>
      <p:ext uri="{BB962C8B-B14F-4D97-AF65-F5344CB8AC3E}">
        <p14:creationId xmlns:p14="http://schemas.microsoft.com/office/powerpoint/2010/main" val="360653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FB5A8A-12B0-4361-9979-EEC28FAEDE89}"/>
              </a:ext>
            </a:extLst>
          </p:cNvPr>
          <p:cNvSpPr>
            <a:spLocks noGrp="1"/>
          </p:cNvSpPr>
          <p:nvPr>
            <p:ph type="title"/>
          </p:nvPr>
        </p:nvSpPr>
        <p:spPr/>
        <p:txBody>
          <a:bodyPr/>
          <a:lstStyle/>
          <a:p>
            <a:r>
              <a:rPr lang="en-US" dirty="0"/>
              <a:t>VMware </a:t>
            </a:r>
            <a:r>
              <a:rPr lang="ru-RU" dirty="0"/>
              <a:t>против </a:t>
            </a:r>
            <a:r>
              <a:rPr lang="en-US" dirty="0" err="1"/>
              <a:t>XenServer</a:t>
            </a:r>
            <a:endParaRPr lang="ru-RU" dirty="0"/>
          </a:p>
        </p:txBody>
      </p:sp>
      <p:sp>
        <p:nvSpPr>
          <p:cNvPr id="3" name="Объект 2">
            <a:extLst>
              <a:ext uri="{FF2B5EF4-FFF2-40B4-BE49-F238E27FC236}">
                <a16:creationId xmlns:a16="http://schemas.microsoft.com/office/drawing/2014/main" id="{431C3731-6824-4B0A-8DFA-707C61EDC7A1}"/>
              </a:ext>
            </a:extLst>
          </p:cNvPr>
          <p:cNvSpPr>
            <a:spLocks noGrp="1"/>
          </p:cNvSpPr>
          <p:nvPr>
            <p:ph idx="1"/>
          </p:nvPr>
        </p:nvSpPr>
        <p:spPr/>
        <p:txBody>
          <a:bodyPr>
            <a:normAutofit lnSpcReduction="10000"/>
          </a:bodyPr>
          <a:lstStyle/>
          <a:p>
            <a:pPr marL="0" indent="0">
              <a:buNone/>
            </a:pPr>
            <a:r>
              <a:rPr lang="en-US" dirty="0" err="1"/>
              <a:t>XenServer</a:t>
            </a:r>
            <a:r>
              <a:rPr lang="ru-RU" dirty="0"/>
              <a:t>-продвинутые возможности по предоставлению внутри виртуальной машины 3D аппаратной акселерации GPU от производителей Intel, AMD, NVIDIA.</a:t>
            </a:r>
          </a:p>
          <a:p>
            <a:pPr marL="0" indent="0">
              <a:buNone/>
            </a:pPr>
            <a:endParaRPr lang="ru-RU" dirty="0"/>
          </a:p>
          <a:p>
            <a:pPr marL="0" indent="0">
              <a:buNone/>
            </a:pPr>
            <a:r>
              <a:rPr lang="ru-RU" dirty="0"/>
              <a:t>К особенностям гипервизора можно отнести:</a:t>
            </a:r>
          </a:p>
          <a:p>
            <a:pPr marL="0" indent="0">
              <a:buNone/>
            </a:pPr>
            <a:endParaRPr lang="ru-RU" dirty="0"/>
          </a:p>
          <a:p>
            <a:pPr marL="0" indent="0">
              <a:buNone/>
            </a:pPr>
            <a:r>
              <a:rPr lang="ru-RU" dirty="0"/>
              <a:t>Проброс топовых GPU внутрь гостя GPU </a:t>
            </a:r>
            <a:r>
              <a:rPr lang="ru-RU" dirty="0" err="1"/>
              <a:t>Pass-through</a:t>
            </a:r>
            <a:r>
              <a:rPr lang="ru-RU" dirty="0"/>
              <a:t> (для конкретного виртуального гостя — конкретный GPU в физическом сервере)</a:t>
            </a:r>
          </a:p>
          <a:p>
            <a:pPr marL="0" indent="0">
              <a:buNone/>
            </a:pPr>
            <a:r>
              <a:rPr lang="ru-RU" dirty="0"/>
              <a:t>GPU </a:t>
            </a:r>
            <a:r>
              <a:rPr lang="ru-RU" dirty="0" err="1"/>
              <a:t>Virtualization</a:t>
            </a:r>
            <a:r>
              <a:rPr lang="ru-RU" dirty="0"/>
              <a:t> — возможность множеству виртуальных машин получить доступ к GPU хоста, что лучше, чем программная эмуляция</a:t>
            </a:r>
          </a:p>
          <a:p>
            <a:pPr marL="0" indent="0">
              <a:buNone/>
            </a:pPr>
            <a:r>
              <a:rPr lang="ru-RU" dirty="0" err="1"/>
              <a:t>vGPU</a:t>
            </a:r>
            <a:r>
              <a:rPr lang="ru-RU" dirty="0"/>
              <a:t> Live </a:t>
            </a:r>
            <a:r>
              <a:rPr lang="ru-RU" dirty="0" err="1"/>
              <a:t>Migration</a:t>
            </a:r>
            <a:r>
              <a:rPr lang="ru-RU" dirty="0"/>
              <a:t> — позволяет виртуальной машине перемещаться между хостами без потерь с доступом к GPU</a:t>
            </a:r>
          </a:p>
          <a:p>
            <a:pPr marL="0" indent="0">
              <a:buNone/>
            </a:pPr>
            <a:endParaRPr lang="ru-RU" dirty="0"/>
          </a:p>
        </p:txBody>
      </p:sp>
    </p:spTree>
    <p:extLst>
      <p:ext uri="{BB962C8B-B14F-4D97-AF65-F5344CB8AC3E}">
        <p14:creationId xmlns:p14="http://schemas.microsoft.com/office/powerpoint/2010/main" val="2384368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706452-5889-4F5B-B8C0-B157242597EF}"/>
              </a:ext>
            </a:extLst>
          </p:cNvPr>
          <p:cNvSpPr>
            <a:spLocks noGrp="1"/>
          </p:cNvSpPr>
          <p:nvPr>
            <p:ph type="title"/>
          </p:nvPr>
        </p:nvSpPr>
        <p:spPr/>
        <p:txBody>
          <a:bodyPr/>
          <a:lstStyle/>
          <a:p>
            <a:r>
              <a:rPr lang="ru-RU" dirty="0"/>
              <a:t>Принципы работы </a:t>
            </a:r>
            <a:r>
              <a:rPr lang="en-US" dirty="0"/>
              <a:t>QEMU-KVM</a:t>
            </a:r>
            <a:endParaRPr lang="ru-RU" dirty="0"/>
          </a:p>
        </p:txBody>
      </p:sp>
      <p:sp>
        <p:nvSpPr>
          <p:cNvPr id="3" name="Объект 2">
            <a:extLst>
              <a:ext uri="{FF2B5EF4-FFF2-40B4-BE49-F238E27FC236}">
                <a16:creationId xmlns:a16="http://schemas.microsoft.com/office/drawing/2014/main" id="{FBC33853-F123-4990-A3AE-5256FEBAF41E}"/>
              </a:ext>
            </a:extLst>
          </p:cNvPr>
          <p:cNvSpPr>
            <a:spLocks noGrp="1"/>
          </p:cNvSpPr>
          <p:nvPr>
            <p:ph idx="1"/>
          </p:nvPr>
        </p:nvSpPr>
        <p:spPr/>
        <p:txBody>
          <a:bodyPr/>
          <a:lstStyle/>
          <a:p>
            <a:r>
              <a:rPr lang="en-US" dirty="0"/>
              <a:t>KVM (Kernel-based Virtual Machine) – </a:t>
            </a:r>
            <a:r>
              <a:rPr lang="ru-RU" dirty="0"/>
              <a:t>гипервизор (</a:t>
            </a:r>
            <a:r>
              <a:rPr lang="en-US" dirty="0"/>
              <a:t>VMM – Virtual Machine Manager), </a:t>
            </a:r>
            <a:r>
              <a:rPr lang="ru-RU" dirty="0"/>
              <a:t>работающий в виде модуля на ОС </a:t>
            </a:r>
            <a:r>
              <a:rPr lang="en-US" dirty="0"/>
              <a:t>Linux.</a:t>
            </a:r>
            <a:endParaRPr lang="ru-RU" dirty="0"/>
          </a:p>
          <a:p>
            <a:pPr marL="457200" lvl="1" indent="0">
              <a:buNone/>
            </a:pPr>
            <a:endParaRPr lang="ru-RU" dirty="0"/>
          </a:p>
          <a:p>
            <a:pPr marL="457200" lvl="1" indent="0">
              <a:buNone/>
            </a:pPr>
            <a:r>
              <a:rPr lang="ru-RU" dirty="0"/>
              <a:t>KVM очень быстрый, но его самого по себе недостаточно для запуска виртуальной ОС, т.к. для этого нужна эмуляция I/O. Для I/O (процессор, диски, сеть, видео, PCI, USB, серийные порты и т.д.) KVM использует QEMU.</a:t>
            </a:r>
          </a:p>
        </p:txBody>
      </p:sp>
    </p:spTree>
    <p:extLst>
      <p:ext uri="{BB962C8B-B14F-4D97-AF65-F5344CB8AC3E}">
        <p14:creationId xmlns:p14="http://schemas.microsoft.com/office/powerpoint/2010/main" val="2845972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706452-5889-4F5B-B8C0-B157242597EF}"/>
              </a:ext>
            </a:extLst>
          </p:cNvPr>
          <p:cNvSpPr>
            <a:spLocks noGrp="1"/>
          </p:cNvSpPr>
          <p:nvPr>
            <p:ph type="title"/>
          </p:nvPr>
        </p:nvSpPr>
        <p:spPr/>
        <p:txBody>
          <a:bodyPr/>
          <a:lstStyle/>
          <a:p>
            <a:r>
              <a:rPr lang="ru-RU" dirty="0"/>
              <a:t>Принципы работы </a:t>
            </a:r>
            <a:r>
              <a:rPr lang="en-US" dirty="0"/>
              <a:t>QEMU-KVM</a:t>
            </a:r>
            <a:endParaRPr lang="ru-RU" dirty="0"/>
          </a:p>
        </p:txBody>
      </p:sp>
      <p:sp>
        <p:nvSpPr>
          <p:cNvPr id="3" name="Объект 2">
            <a:extLst>
              <a:ext uri="{FF2B5EF4-FFF2-40B4-BE49-F238E27FC236}">
                <a16:creationId xmlns:a16="http://schemas.microsoft.com/office/drawing/2014/main" id="{FBC33853-F123-4990-A3AE-5256FEBAF41E}"/>
              </a:ext>
            </a:extLst>
          </p:cNvPr>
          <p:cNvSpPr>
            <a:spLocks noGrp="1"/>
          </p:cNvSpPr>
          <p:nvPr>
            <p:ph idx="1"/>
          </p:nvPr>
        </p:nvSpPr>
        <p:spPr/>
        <p:txBody>
          <a:bodyPr/>
          <a:lstStyle/>
          <a:p>
            <a:r>
              <a:rPr lang="ru-RU" dirty="0"/>
              <a:t>QEMU (Quick </a:t>
            </a:r>
            <a:r>
              <a:rPr lang="ru-RU" dirty="0" err="1"/>
              <a:t>Emulator</a:t>
            </a:r>
            <a:r>
              <a:rPr lang="ru-RU" dirty="0"/>
              <a:t>) – эмулятор различных устройств, который позволяет запускать операционные системы, предназначенные под одну архитектуру, на другой (например, ARM –&gt; x86). Кроме процессора, QEMU эмулирует различные периферийные устройства: сетевые карты, HDD, видео карты, PCI, USB и пр.</a:t>
            </a:r>
          </a:p>
        </p:txBody>
      </p:sp>
    </p:spTree>
    <p:extLst>
      <p:ext uri="{BB962C8B-B14F-4D97-AF65-F5344CB8AC3E}">
        <p14:creationId xmlns:p14="http://schemas.microsoft.com/office/powerpoint/2010/main" val="1439300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706452-5889-4F5B-B8C0-B157242597EF}"/>
              </a:ext>
            </a:extLst>
          </p:cNvPr>
          <p:cNvSpPr>
            <a:spLocks noGrp="1"/>
          </p:cNvSpPr>
          <p:nvPr>
            <p:ph type="title"/>
          </p:nvPr>
        </p:nvSpPr>
        <p:spPr/>
        <p:txBody>
          <a:bodyPr/>
          <a:lstStyle/>
          <a:p>
            <a:r>
              <a:rPr lang="ru-RU" dirty="0"/>
              <a:t>Принципы работы </a:t>
            </a:r>
            <a:r>
              <a:rPr lang="en-US" dirty="0"/>
              <a:t>QEMU-KVM</a:t>
            </a:r>
            <a:endParaRPr lang="ru-RU" dirty="0"/>
          </a:p>
        </p:txBody>
      </p:sp>
      <p:sp>
        <p:nvSpPr>
          <p:cNvPr id="3" name="Объект 2">
            <a:extLst>
              <a:ext uri="{FF2B5EF4-FFF2-40B4-BE49-F238E27FC236}">
                <a16:creationId xmlns:a16="http://schemas.microsoft.com/office/drawing/2014/main" id="{FBC33853-F123-4990-A3AE-5256FEBAF41E}"/>
              </a:ext>
            </a:extLst>
          </p:cNvPr>
          <p:cNvSpPr>
            <a:spLocks noGrp="1"/>
          </p:cNvSpPr>
          <p:nvPr>
            <p:ph idx="1"/>
          </p:nvPr>
        </p:nvSpPr>
        <p:spPr/>
        <p:txBody>
          <a:bodyPr/>
          <a:lstStyle/>
          <a:p>
            <a:r>
              <a:rPr lang="en-US" dirty="0"/>
              <a:t>QEMU-KVM</a:t>
            </a:r>
            <a:endParaRPr lang="ru-RU" dirty="0"/>
          </a:p>
          <a:p>
            <a:pPr marL="0" indent="0" algn="just">
              <a:buNone/>
            </a:pPr>
            <a:r>
              <a:rPr lang="ru-RU" dirty="0"/>
              <a:t>KVM предоставляет доступ гостям к Ring 0 и использует QEMU для эмуляции I/O (процессор, диски, сеть, видео, PCI, USB, серийные порты и т.д., которые «видят» и с которыми работают гости).</a:t>
            </a:r>
          </a:p>
        </p:txBody>
      </p:sp>
    </p:spTree>
    <p:extLst>
      <p:ext uri="{BB962C8B-B14F-4D97-AF65-F5344CB8AC3E}">
        <p14:creationId xmlns:p14="http://schemas.microsoft.com/office/powerpoint/2010/main" val="3647522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err="1" smtClean="0"/>
              <a:t>Qemu</a:t>
            </a:r>
            <a:r>
              <a:rPr lang="en-US" dirty="0" smtClean="0"/>
              <a:t>-KVM</a:t>
            </a:r>
            <a:endParaRPr lang="ru-RU" dirty="0"/>
          </a:p>
        </p:txBody>
      </p:sp>
      <p:sp>
        <p:nvSpPr>
          <p:cNvPr id="3" name="Объект 2"/>
          <p:cNvSpPr>
            <a:spLocks noGrp="1"/>
          </p:cNvSpPr>
          <p:nvPr>
            <p:ph idx="1"/>
          </p:nvPr>
        </p:nvSpPr>
        <p:spPr>
          <a:xfrm>
            <a:off x="474133" y="1538513"/>
            <a:ext cx="10164837" cy="4444792"/>
          </a:xfrm>
        </p:spPr>
        <p:txBody>
          <a:bodyPr>
            <a:normAutofit/>
          </a:bodyPr>
          <a:lstStyle/>
          <a:p>
            <a:r>
              <a:rPr lang="en-US" sz="2000" b="1" dirty="0" err="1" smtClean="0">
                <a:solidFill>
                  <a:srgbClr val="00B050"/>
                </a:solidFill>
              </a:rPr>
              <a:t>Qemu-kvm</a:t>
            </a:r>
            <a:r>
              <a:rPr lang="en-US" dirty="0" smtClean="0"/>
              <a:t>  </a:t>
            </a:r>
            <a:r>
              <a:rPr lang="ru-RU" dirty="0" smtClean="0"/>
              <a:t>- Позволяет установить </a:t>
            </a:r>
            <a:r>
              <a:rPr lang="ru-RU" dirty="0"/>
              <a:t>модуль </a:t>
            </a:r>
            <a:r>
              <a:rPr lang="en-US" dirty="0" smtClean="0"/>
              <a:t>KVM</a:t>
            </a:r>
            <a:endParaRPr lang="en-US" dirty="0"/>
          </a:p>
          <a:p>
            <a:r>
              <a:rPr lang="en-US" sz="2000" b="1" dirty="0" err="1" smtClean="0">
                <a:solidFill>
                  <a:srgbClr val="00B050"/>
                </a:solidFill>
              </a:rPr>
              <a:t>Qemu</a:t>
            </a:r>
            <a:r>
              <a:rPr lang="en-US" sz="2000" b="1" dirty="0" smtClean="0">
                <a:solidFill>
                  <a:srgbClr val="00B050"/>
                </a:solidFill>
              </a:rPr>
              <a:t>-</a:t>
            </a:r>
            <a:r>
              <a:rPr lang="en-US" sz="2000" b="1" dirty="0" err="1" smtClean="0">
                <a:solidFill>
                  <a:srgbClr val="00B050"/>
                </a:solidFill>
              </a:rPr>
              <a:t>kvm</a:t>
            </a:r>
            <a:r>
              <a:rPr lang="en-US" sz="2000" b="1" dirty="0" smtClean="0">
                <a:solidFill>
                  <a:srgbClr val="00B050"/>
                </a:solidFill>
              </a:rPr>
              <a:t>-tools</a:t>
            </a:r>
            <a:r>
              <a:rPr lang="en-US" dirty="0" smtClean="0"/>
              <a:t> </a:t>
            </a:r>
            <a:r>
              <a:rPr lang="ru-RU" dirty="0" smtClean="0"/>
              <a:t>- Инструмент </a:t>
            </a:r>
            <a:r>
              <a:rPr lang="ru-RU" dirty="0"/>
              <a:t>отладки </a:t>
            </a:r>
            <a:r>
              <a:rPr lang="en-US" dirty="0" smtClean="0"/>
              <a:t>KVM</a:t>
            </a:r>
            <a:endParaRPr lang="ru-RU" dirty="0"/>
          </a:p>
          <a:p>
            <a:r>
              <a:rPr lang="en-US" sz="2000" b="1" dirty="0" err="1" smtClean="0">
                <a:solidFill>
                  <a:srgbClr val="00B050"/>
                </a:solidFill>
              </a:rPr>
              <a:t>Virt</a:t>
            </a:r>
            <a:r>
              <a:rPr lang="en-US" sz="2000" b="1" dirty="0" smtClean="0">
                <a:solidFill>
                  <a:srgbClr val="00B050"/>
                </a:solidFill>
              </a:rPr>
              <a:t>-install</a:t>
            </a:r>
            <a:r>
              <a:rPr lang="ru-RU" dirty="0" smtClean="0"/>
              <a:t> - Инструмент </a:t>
            </a:r>
            <a:r>
              <a:rPr lang="ru-RU" dirty="0"/>
              <a:t>командной строки для создания виртуальной </a:t>
            </a:r>
            <a:r>
              <a:rPr lang="ru-RU" dirty="0" smtClean="0"/>
              <a:t>машины</a:t>
            </a:r>
            <a:endParaRPr lang="ru-RU" dirty="0"/>
          </a:p>
          <a:p>
            <a:r>
              <a:rPr lang="en-US" sz="2000" b="1" dirty="0" err="1" smtClean="0">
                <a:solidFill>
                  <a:srgbClr val="00B050"/>
                </a:solidFill>
              </a:rPr>
              <a:t>Qemu-img</a:t>
            </a:r>
            <a:r>
              <a:rPr lang="ru-RU" dirty="0" smtClean="0"/>
              <a:t> - Компоненты </a:t>
            </a:r>
            <a:r>
              <a:rPr lang="en-US" dirty="0" err="1"/>
              <a:t>qemu</a:t>
            </a:r>
            <a:r>
              <a:rPr lang="en-US" dirty="0"/>
              <a:t>, </a:t>
            </a:r>
            <a:r>
              <a:rPr lang="ru-RU" dirty="0"/>
              <a:t>создание дисков, запуск виртуальных машин и т. д</a:t>
            </a:r>
            <a:r>
              <a:rPr lang="ru-RU" dirty="0" smtClean="0"/>
              <a:t>.</a:t>
            </a:r>
            <a:endParaRPr lang="ru-RU" dirty="0"/>
          </a:p>
          <a:p>
            <a:r>
              <a:rPr lang="en-US" sz="2000" b="1" dirty="0" smtClean="0">
                <a:solidFill>
                  <a:srgbClr val="00B050"/>
                </a:solidFill>
              </a:rPr>
              <a:t>Bridge-</a:t>
            </a:r>
            <a:r>
              <a:rPr lang="en-US" sz="2000" b="1" dirty="0" err="1" smtClean="0">
                <a:solidFill>
                  <a:srgbClr val="00B050"/>
                </a:solidFill>
              </a:rPr>
              <a:t>utils</a:t>
            </a:r>
            <a:r>
              <a:rPr lang="ru-RU" dirty="0" smtClean="0"/>
              <a:t> - Инструменты </a:t>
            </a:r>
            <a:r>
              <a:rPr lang="ru-RU" dirty="0"/>
              <a:t>поддержки </a:t>
            </a:r>
            <a:r>
              <a:rPr lang="ru-RU" dirty="0" smtClean="0"/>
              <a:t>сети</a:t>
            </a:r>
            <a:endParaRPr lang="ru-RU" dirty="0"/>
          </a:p>
          <a:p>
            <a:r>
              <a:rPr lang="en-US" sz="2000" b="1" dirty="0" err="1">
                <a:solidFill>
                  <a:srgbClr val="00B050"/>
                </a:solidFill>
              </a:rPr>
              <a:t>Libvirt</a:t>
            </a:r>
            <a:r>
              <a:rPr lang="ru-RU" dirty="0" smtClean="0"/>
              <a:t> - Инструмент </a:t>
            </a:r>
            <a:r>
              <a:rPr lang="ru-RU" dirty="0"/>
              <a:t>управления виртуальной </a:t>
            </a:r>
            <a:r>
              <a:rPr lang="ru-RU" dirty="0" smtClean="0"/>
              <a:t>машиной</a:t>
            </a:r>
            <a:endParaRPr lang="ru-RU" dirty="0"/>
          </a:p>
          <a:p>
            <a:r>
              <a:rPr lang="en-US" sz="2000" b="1" dirty="0" err="1" smtClean="0">
                <a:solidFill>
                  <a:srgbClr val="00B050"/>
                </a:solidFill>
              </a:rPr>
              <a:t>Virt</a:t>
            </a:r>
            <a:r>
              <a:rPr lang="en-US" sz="2000" b="1" dirty="0" smtClean="0">
                <a:solidFill>
                  <a:srgbClr val="00B050"/>
                </a:solidFill>
              </a:rPr>
              <a:t>-manager</a:t>
            </a:r>
            <a:r>
              <a:rPr lang="ru-RU" dirty="0" smtClean="0"/>
              <a:t> - Управление </a:t>
            </a:r>
            <a:r>
              <a:rPr lang="ru-RU" dirty="0"/>
              <a:t>графическим </a:t>
            </a:r>
            <a:r>
              <a:rPr lang="ru-RU" dirty="0" smtClean="0"/>
              <a:t>интерфейсом</a:t>
            </a:r>
            <a:endParaRPr lang="en-US" dirty="0" smtClean="0"/>
          </a:p>
          <a:p>
            <a:r>
              <a:rPr lang="en-US" sz="2000" b="1" dirty="0">
                <a:solidFill>
                  <a:srgbClr val="00B050"/>
                </a:solidFill>
              </a:rPr>
              <a:t>P</a:t>
            </a:r>
            <a:r>
              <a:rPr lang="ru-RU" sz="2000" b="1" dirty="0" err="1" smtClean="0">
                <a:solidFill>
                  <a:srgbClr val="00B050"/>
                </a:solidFill>
              </a:rPr>
              <a:t>ython-virtinst</a:t>
            </a:r>
            <a:r>
              <a:rPr lang="en-US" dirty="0" smtClean="0"/>
              <a:t> - </a:t>
            </a:r>
            <a:r>
              <a:rPr lang="ru-RU" dirty="0" smtClean="0"/>
              <a:t>Позволяет </a:t>
            </a:r>
            <a:r>
              <a:rPr lang="ru-RU" dirty="0"/>
              <a:t>использовать </a:t>
            </a:r>
            <a:r>
              <a:rPr lang="ru-RU" dirty="0" err="1"/>
              <a:t>virt-install</a:t>
            </a:r>
            <a:r>
              <a:rPr lang="ru-RU" dirty="0"/>
              <a:t> для создания виртуальных </a:t>
            </a:r>
            <a:r>
              <a:rPr lang="ru-RU" dirty="0" smtClean="0"/>
              <a:t>машин</a:t>
            </a:r>
            <a:endParaRPr lang="en-US" dirty="0" smtClean="0"/>
          </a:p>
          <a:p>
            <a:r>
              <a:rPr lang="en-US" sz="2000" b="1" dirty="0" smtClean="0">
                <a:solidFill>
                  <a:srgbClr val="00B050"/>
                </a:solidFill>
              </a:rPr>
              <a:t>L</a:t>
            </a:r>
            <a:r>
              <a:rPr lang="ru-RU" sz="2000" b="1" dirty="0" err="1" smtClean="0">
                <a:solidFill>
                  <a:srgbClr val="00B050"/>
                </a:solidFill>
              </a:rPr>
              <a:t>ibvirt-python</a:t>
            </a:r>
            <a:r>
              <a:rPr lang="en-US" dirty="0" smtClean="0"/>
              <a:t> </a:t>
            </a:r>
            <a:r>
              <a:rPr lang="en-US" dirty="0"/>
              <a:t>- </a:t>
            </a:r>
            <a:r>
              <a:rPr lang="ru-RU" dirty="0"/>
              <a:t>Содержит </a:t>
            </a:r>
            <a:r>
              <a:rPr lang="ru-RU" dirty="0"/>
              <a:t>модуль, который позволяет написанным на </a:t>
            </a:r>
            <a:r>
              <a:rPr lang="ru-RU" dirty="0" err="1"/>
              <a:t>Python</a:t>
            </a:r>
            <a:r>
              <a:rPr lang="ru-RU" dirty="0"/>
              <a:t> приложениям использовать предоставляемый библиотекой </a:t>
            </a:r>
            <a:r>
              <a:rPr lang="ru-RU" dirty="0" err="1"/>
              <a:t>libvirt</a:t>
            </a:r>
            <a:r>
              <a:rPr lang="ru-RU" dirty="0"/>
              <a:t> интерфейс.</a:t>
            </a:r>
          </a:p>
          <a:p>
            <a:endParaRPr lang="ru-RU" dirty="0"/>
          </a:p>
          <a:p>
            <a:endParaRPr lang="ru-RU" dirty="0"/>
          </a:p>
          <a:p>
            <a:endParaRPr lang="ru-RU" dirty="0"/>
          </a:p>
        </p:txBody>
      </p:sp>
    </p:spTree>
    <p:extLst>
      <p:ext uri="{BB962C8B-B14F-4D97-AF65-F5344CB8AC3E}">
        <p14:creationId xmlns:p14="http://schemas.microsoft.com/office/powerpoint/2010/main" val="3876175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E1D47F-804B-4E86-BE44-619DBCFDEA03}"/>
              </a:ext>
            </a:extLst>
          </p:cNvPr>
          <p:cNvSpPr>
            <a:spLocks noGrp="1"/>
          </p:cNvSpPr>
          <p:nvPr>
            <p:ph type="title"/>
          </p:nvPr>
        </p:nvSpPr>
        <p:spPr/>
        <p:txBody>
          <a:bodyPr/>
          <a:lstStyle/>
          <a:p>
            <a:r>
              <a:rPr lang="ru-RU" dirty="0"/>
              <a:t>Virtual Machine Manager</a:t>
            </a:r>
          </a:p>
        </p:txBody>
      </p:sp>
      <p:sp>
        <p:nvSpPr>
          <p:cNvPr id="3" name="Объект 2">
            <a:extLst>
              <a:ext uri="{FF2B5EF4-FFF2-40B4-BE49-F238E27FC236}">
                <a16:creationId xmlns:a16="http://schemas.microsoft.com/office/drawing/2014/main" id="{CFF06B42-CEEF-4555-A0A4-BADA14D775CC}"/>
              </a:ext>
            </a:extLst>
          </p:cNvPr>
          <p:cNvSpPr>
            <a:spLocks noGrp="1"/>
          </p:cNvSpPr>
          <p:nvPr>
            <p:ph idx="1"/>
          </p:nvPr>
        </p:nvSpPr>
        <p:spPr/>
        <p:txBody>
          <a:bodyPr/>
          <a:lstStyle/>
          <a:p>
            <a:r>
              <a:rPr lang="ru-RU" dirty="0"/>
              <a:t>Virtual Machine Manager — приложение для управления виртуальными машинами.</a:t>
            </a:r>
          </a:p>
        </p:txBody>
      </p:sp>
      <p:pic>
        <p:nvPicPr>
          <p:cNvPr id="1026" name="Picture 2" descr="https://www.virt-manager.org/wp-content/uploads/2014/01/manag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915" y="3167426"/>
            <a:ext cx="5350288" cy="30095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www.virt-manager.org/wp-content/uploads/2014/01/console.png"/>
          <p:cNvPicPr>
            <a:picLocks noChangeAspect="1" noChangeArrowheads="1"/>
          </p:cNvPicPr>
          <p:nvPr/>
        </p:nvPicPr>
        <p:blipFill rotWithShape="1">
          <a:blip r:embed="rId3">
            <a:extLst>
              <a:ext uri="{28A0092B-C50C-407E-A947-70E740481C1C}">
                <a14:useLocalDpi xmlns:a14="http://schemas.microsoft.com/office/drawing/2010/main" val="0"/>
              </a:ext>
            </a:extLst>
          </a:blip>
          <a:srcRect l="29455" t="34794" r="39116" b="24233"/>
          <a:stretch/>
        </p:blipFill>
        <p:spPr bwMode="auto">
          <a:xfrm>
            <a:off x="1531256" y="3167426"/>
            <a:ext cx="4103915" cy="3009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130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77334" y="609600"/>
            <a:ext cx="8596668" cy="885371"/>
          </a:xfrm>
        </p:spPr>
        <p:txBody>
          <a:bodyPr/>
          <a:lstStyle/>
          <a:p>
            <a:r>
              <a:rPr lang="en-US" dirty="0" smtClean="0"/>
              <a:t>OpenStack</a:t>
            </a:r>
            <a:endParaRPr lang="ru-RU" dirty="0"/>
          </a:p>
        </p:txBody>
      </p:sp>
      <p:sp>
        <p:nvSpPr>
          <p:cNvPr id="3" name="Объект 2"/>
          <p:cNvSpPr>
            <a:spLocks noGrp="1"/>
          </p:cNvSpPr>
          <p:nvPr>
            <p:ph idx="1"/>
          </p:nvPr>
        </p:nvSpPr>
        <p:spPr>
          <a:xfrm>
            <a:off x="677333" y="2160589"/>
            <a:ext cx="9642323" cy="4588554"/>
          </a:xfrm>
        </p:spPr>
        <p:txBody>
          <a:bodyPr>
            <a:normAutofit/>
          </a:bodyPr>
          <a:lstStyle/>
          <a:p>
            <a:r>
              <a:rPr lang="ru-RU" sz="2000" b="1" dirty="0" err="1">
                <a:latin typeface="Times New Roman" panose="02020603050405020304" pitchFamily="18" charset="0"/>
                <a:cs typeface="Times New Roman" panose="02020603050405020304" pitchFamily="18" charset="0"/>
              </a:rPr>
              <a:t>OpenStack</a:t>
            </a:r>
            <a:r>
              <a:rPr lang="ru-RU" sz="2000" dirty="0">
                <a:latin typeface="Times New Roman" panose="02020603050405020304" pitchFamily="18" charset="0"/>
                <a:cs typeface="Times New Roman" panose="02020603050405020304" pitchFamily="18" charset="0"/>
              </a:rPr>
              <a:t> — программное решение, используемое для создания облачных сервисов или облачных хранилищ в публичном и частном облаке. Продукт состоит из бесплатного ПО, распространяемого под лицензией </a:t>
            </a:r>
            <a:r>
              <a:rPr lang="ru-RU" sz="2000" dirty="0" err="1">
                <a:latin typeface="Times New Roman" panose="02020603050405020304" pitchFamily="18" charset="0"/>
                <a:cs typeface="Times New Roman" panose="02020603050405020304" pitchFamily="18" charset="0"/>
              </a:rPr>
              <a:t>Apache</a:t>
            </a:r>
            <a:r>
              <a:rPr lang="ru-RU"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pPr algn="just"/>
            <a:r>
              <a:rPr lang="ru-RU" sz="1900" b="1" dirty="0" err="1">
                <a:solidFill>
                  <a:srgbClr val="000000"/>
                </a:solidFill>
                <a:latin typeface="Times New Roman" panose="02020603050405020304" pitchFamily="18" charset="0"/>
                <a:cs typeface="Times New Roman" panose="02020603050405020304" pitchFamily="18" charset="0"/>
              </a:rPr>
              <a:t>OpenStack</a:t>
            </a:r>
            <a:r>
              <a:rPr lang="ru-RU" sz="1900" dirty="0">
                <a:solidFill>
                  <a:srgbClr val="000000"/>
                </a:solidFill>
                <a:latin typeface="Times New Roman" panose="02020603050405020304" pitchFamily="18" charset="0"/>
                <a:cs typeface="Times New Roman" panose="02020603050405020304" pitchFamily="18" charset="0"/>
              </a:rPr>
              <a:t> – решение, помогающее создавать</a:t>
            </a:r>
            <a:r>
              <a:rPr lang="en-US" sz="1900" dirty="0">
                <a:solidFill>
                  <a:srgbClr val="000000"/>
                </a:solidFill>
                <a:latin typeface="Times New Roman" panose="02020603050405020304" pitchFamily="18" charset="0"/>
                <a:cs typeface="Times New Roman" panose="02020603050405020304" pitchFamily="18" charset="0"/>
              </a:rPr>
              <a:t> </a:t>
            </a:r>
            <a:r>
              <a:rPr lang="ru-RU" sz="1900" dirty="0">
                <a:solidFill>
                  <a:srgbClr val="000000"/>
                </a:solidFill>
                <a:latin typeface="Times New Roman" panose="02020603050405020304" pitchFamily="18" charset="0"/>
                <a:cs typeface="Times New Roman" panose="02020603050405020304" pitchFamily="18" charset="0"/>
              </a:rPr>
              <a:t>программно-конфигурируемые </a:t>
            </a:r>
            <a:r>
              <a:rPr lang="ru-RU" sz="1900" dirty="0">
                <a:latin typeface="Times New Roman" panose="02020603050405020304" pitchFamily="18" charset="0"/>
                <a:cs typeface="Times New Roman" panose="02020603050405020304" pitchFamily="18" charset="0"/>
              </a:rPr>
              <a:t>ЦОДы</a:t>
            </a:r>
            <a:r>
              <a:rPr lang="ru-RU" sz="1900" dirty="0">
                <a:solidFill>
                  <a:srgbClr val="000000"/>
                </a:solidFill>
                <a:latin typeface="Times New Roman" panose="02020603050405020304" pitchFamily="18" charset="0"/>
                <a:cs typeface="Times New Roman" panose="02020603050405020304" pitchFamily="18" charset="0"/>
              </a:rPr>
              <a:t>. </a:t>
            </a:r>
            <a:endParaRPr lang="en-US" sz="1900" dirty="0">
              <a:solidFill>
                <a:srgbClr val="000000"/>
              </a:solidFill>
              <a:latin typeface="Times New Roman" panose="02020603050405020304" pitchFamily="18" charset="0"/>
              <a:cs typeface="Times New Roman" panose="02020603050405020304" pitchFamily="18" charset="0"/>
            </a:endParaRPr>
          </a:p>
          <a:p>
            <a:pPr marL="400050" lvl="1" indent="0" algn="just">
              <a:buNone/>
            </a:pPr>
            <a:r>
              <a:rPr lang="ru-RU" sz="1900" dirty="0" smtClean="0">
                <a:solidFill>
                  <a:srgbClr val="000000"/>
                </a:solidFill>
                <a:latin typeface="Times New Roman" panose="02020603050405020304" pitchFamily="18" charset="0"/>
                <a:cs typeface="Times New Roman" panose="02020603050405020304" pitchFamily="18" charset="0"/>
              </a:rPr>
              <a:t>В </a:t>
            </a:r>
            <a:r>
              <a:rPr lang="ru-RU" sz="1900" dirty="0">
                <a:solidFill>
                  <a:srgbClr val="000000"/>
                </a:solidFill>
                <a:latin typeface="Times New Roman" panose="02020603050405020304" pitchFamily="18" charset="0"/>
                <a:cs typeface="Times New Roman" panose="02020603050405020304" pitchFamily="18" charset="0"/>
              </a:rPr>
              <a:t>его составе компоненты для организации:</a:t>
            </a:r>
          </a:p>
          <a:p>
            <a:pPr lvl="1" algn="just">
              <a:buFont typeface="Arial" panose="020B0604020202020204" pitchFamily="34" charset="0"/>
              <a:buChar char="•"/>
            </a:pPr>
            <a:r>
              <a:rPr lang="ru-RU" sz="1900" dirty="0">
                <a:latin typeface="Times New Roman" panose="02020603050405020304" pitchFamily="18" charset="0"/>
                <a:cs typeface="Times New Roman" panose="02020603050405020304" pitchFamily="18" charset="0"/>
              </a:rPr>
              <a:t>серверной виртуализации,</a:t>
            </a:r>
          </a:p>
          <a:p>
            <a:pPr lvl="1" algn="just">
              <a:buFont typeface="Arial" panose="020B0604020202020204" pitchFamily="34" charset="0"/>
              <a:buChar char="•"/>
            </a:pPr>
            <a:r>
              <a:rPr lang="ru-RU" sz="1900" dirty="0">
                <a:latin typeface="Times New Roman" panose="02020603050405020304" pitchFamily="18" charset="0"/>
                <a:cs typeface="Times New Roman" panose="02020603050405020304" pitchFamily="18" charset="0"/>
              </a:rPr>
              <a:t>программно-определяемых хранилищ данных,</a:t>
            </a:r>
          </a:p>
          <a:p>
            <a:pPr lvl="1" algn="just">
              <a:buFont typeface="Arial" panose="020B0604020202020204" pitchFamily="34" charset="0"/>
              <a:buChar char="•"/>
            </a:pPr>
            <a:r>
              <a:rPr lang="ru-RU" sz="1900" dirty="0">
                <a:latin typeface="Times New Roman" panose="02020603050405020304" pitchFamily="18" charset="0"/>
                <a:cs typeface="Times New Roman" panose="02020603050405020304" pitchFamily="18" charset="0"/>
              </a:rPr>
              <a:t>программно-определяемых сетей,</a:t>
            </a:r>
          </a:p>
          <a:p>
            <a:pPr lvl="1" algn="just">
              <a:buFont typeface="Arial" panose="020B0604020202020204" pitchFamily="34" charset="0"/>
              <a:buChar char="•"/>
            </a:pPr>
            <a:r>
              <a:rPr lang="ru-RU" sz="1900" dirty="0">
                <a:latin typeface="Times New Roman" panose="02020603050405020304" pitchFamily="18" charset="0"/>
                <a:cs typeface="Times New Roman" panose="02020603050405020304" pitchFamily="18" charset="0"/>
              </a:rPr>
              <a:t>«баз данных как сервис»,</a:t>
            </a:r>
          </a:p>
          <a:p>
            <a:pPr lvl="1" algn="just">
              <a:buFont typeface="Arial" panose="020B0604020202020204" pitchFamily="34" charset="0"/>
              <a:buChar char="•"/>
            </a:pPr>
            <a:r>
              <a:rPr lang="ru-RU" sz="1900" dirty="0">
                <a:latin typeface="Times New Roman" panose="02020603050405020304" pitchFamily="18" charset="0"/>
                <a:cs typeface="Times New Roman" panose="02020603050405020304" pitchFamily="18" charset="0"/>
              </a:rPr>
              <a:t>облачного оркестратора.</a:t>
            </a:r>
          </a:p>
          <a:p>
            <a:endParaRPr lang="en-US" sz="2000" dirty="0" smtClean="0">
              <a:latin typeface="Times New Roman" panose="02020603050405020304" pitchFamily="18" charset="0"/>
              <a:cs typeface="Times New Roman" panose="02020603050405020304" pitchFamily="18" charset="0"/>
            </a:endParaRPr>
          </a:p>
          <a:p>
            <a:endParaRPr lang="ru-RU" sz="2000"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1291771" y="5694491"/>
            <a:ext cx="9695544" cy="369332"/>
          </a:xfrm>
          <a:prstGeom prst="rect">
            <a:avLst/>
          </a:prstGeom>
        </p:spPr>
        <p:txBody>
          <a:bodyPr wrap="square">
            <a:spAutoFit/>
          </a:bodyPr>
          <a:lstStyle/>
          <a:p>
            <a:pPr algn="just"/>
            <a:endParaRPr lang="ru-RU" b="0" i="0" dirty="0">
              <a:effectLst/>
              <a:latin typeface="Times New Roman" panose="02020603050405020304" pitchFamily="18" charset="0"/>
              <a:cs typeface="Times New Roman" panose="02020603050405020304" pitchFamily="18" charset="0"/>
            </a:endParaRPr>
          </a:p>
        </p:txBody>
      </p:sp>
      <p:pic>
        <p:nvPicPr>
          <p:cNvPr id="2052" name="Picture 4" descr="OpenSta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4285" y="38501"/>
            <a:ext cx="2141991" cy="2027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243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77334" y="609600"/>
            <a:ext cx="8596668" cy="783771"/>
          </a:xfrm>
        </p:spPr>
        <p:txBody>
          <a:bodyPr/>
          <a:lstStyle/>
          <a:p>
            <a:r>
              <a:rPr lang="en-US" dirty="0"/>
              <a:t>Apache </a:t>
            </a:r>
            <a:r>
              <a:rPr lang="en-US" dirty="0" err="1" smtClean="0"/>
              <a:t>CloudStack</a:t>
            </a:r>
            <a:endParaRPr lang="ru-RU" dirty="0"/>
          </a:p>
        </p:txBody>
      </p:sp>
      <p:sp>
        <p:nvSpPr>
          <p:cNvPr id="3" name="Объект 2"/>
          <p:cNvSpPr>
            <a:spLocks noGrp="1"/>
          </p:cNvSpPr>
          <p:nvPr>
            <p:ph idx="1"/>
          </p:nvPr>
        </p:nvSpPr>
        <p:spPr/>
        <p:txBody>
          <a:bodyPr/>
          <a:lstStyle/>
          <a:p>
            <a:r>
              <a:rPr lang="en-US" b="1" dirty="0" err="1"/>
              <a:t>CloudStack</a:t>
            </a:r>
            <a:r>
              <a:rPr lang="en-US" dirty="0"/>
              <a:t> — </a:t>
            </a:r>
            <a:r>
              <a:rPr lang="ru-RU" dirty="0"/>
              <a:t>это программное обеспечение с открытым исходным кодом для облачных вычислений, предназначенное для создания, управления и развертывания инфраструктурных облачных сервисов. </a:t>
            </a:r>
            <a:endParaRPr lang="en-US" dirty="0" smtClean="0"/>
          </a:p>
          <a:p>
            <a:pPr marL="0" indent="363538" algn="just">
              <a:buNone/>
            </a:pPr>
            <a:r>
              <a:rPr lang="ru-RU" dirty="0" smtClean="0"/>
              <a:t>Оно </a:t>
            </a:r>
            <a:r>
              <a:rPr lang="ru-RU" dirty="0"/>
              <a:t>использует существующие платформы гипервизоров </a:t>
            </a:r>
            <a:r>
              <a:rPr lang="en-US" dirty="0"/>
              <a:t>KVM, VMware (</a:t>
            </a:r>
            <a:r>
              <a:rPr lang="en-US" dirty="0" err="1"/>
              <a:t>vSphereruen</a:t>
            </a:r>
            <a:r>
              <a:rPr lang="en-US" dirty="0"/>
              <a:t>, </a:t>
            </a:r>
            <a:r>
              <a:rPr lang="en-US" dirty="0" err="1"/>
              <a:t>ESXi</a:t>
            </a:r>
            <a:r>
              <a:rPr lang="en-US" dirty="0"/>
              <a:t> </a:t>
            </a:r>
            <a:r>
              <a:rPr lang="ru-RU" dirty="0"/>
              <a:t>и </a:t>
            </a:r>
            <a:r>
              <a:rPr lang="en-US" dirty="0" err="1"/>
              <a:t>vCenterruen</a:t>
            </a:r>
            <a:r>
              <a:rPr lang="en-US" dirty="0"/>
              <a:t>), </a:t>
            </a:r>
            <a:r>
              <a:rPr lang="en-US" dirty="0" err="1"/>
              <a:t>XenServer</a:t>
            </a:r>
            <a:r>
              <a:rPr lang="en-US" dirty="0"/>
              <a:t>/XCP, LXC </a:t>
            </a:r>
            <a:r>
              <a:rPr lang="ru-RU" dirty="0"/>
              <a:t>и другие. Помимо собственного </a:t>
            </a:r>
            <a:r>
              <a:rPr lang="en-US" dirty="0"/>
              <a:t>API, </a:t>
            </a:r>
            <a:r>
              <a:rPr lang="en-US" dirty="0" err="1"/>
              <a:t>CloudStack</a:t>
            </a:r>
            <a:r>
              <a:rPr lang="en-US" dirty="0"/>
              <a:t> </a:t>
            </a:r>
            <a:r>
              <a:rPr lang="ru-RU" dirty="0"/>
              <a:t>также поддерживает </a:t>
            </a:r>
            <a:r>
              <a:rPr lang="en-US" dirty="0"/>
              <a:t>API Amazon Web Services (AWS</a:t>
            </a:r>
            <a:r>
              <a:rPr lang="en-US" dirty="0" smtClean="0"/>
              <a:t>) </a:t>
            </a:r>
            <a:r>
              <a:rPr lang="ru-RU" dirty="0"/>
              <a:t>и </a:t>
            </a:r>
            <a:r>
              <a:rPr lang="en-US" dirty="0"/>
              <a:t>API Open Cloud Computing </a:t>
            </a:r>
            <a:r>
              <a:rPr lang="en-US" dirty="0" err="1"/>
              <a:t>Interfaceruen</a:t>
            </a:r>
            <a:r>
              <a:rPr lang="en-US" dirty="0"/>
              <a:t>, </a:t>
            </a:r>
            <a:r>
              <a:rPr lang="ru-RU" dirty="0"/>
              <a:t>предложенный сообществом </a:t>
            </a:r>
            <a:r>
              <a:rPr lang="en-US" dirty="0"/>
              <a:t>Open Grid </a:t>
            </a:r>
            <a:r>
              <a:rPr lang="en-US" dirty="0" err="1" smtClean="0"/>
              <a:t>Forumruen</a:t>
            </a:r>
            <a:endParaRPr lang="ru-RU" dirty="0"/>
          </a:p>
        </p:txBody>
      </p:sp>
      <p:pic>
        <p:nvPicPr>
          <p:cNvPr id="1026" name="Picture 2" descr="Cloud friendl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4602" y="64407"/>
            <a:ext cx="2589400" cy="2096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926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a:bodyPr>
          <a:lstStyle/>
          <a:p>
            <a:r>
              <a:rPr lang="ru-RU" dirty="0">
                <a:solidFill>
                  <a:schemeClr val="tx1"/>
                </a:solidFill>
              </a:rPr>
              <a:t>Основные возможности ПО </a:t>
            </a:r>
            <a:r>
              <a:rPr lang="ru-RU" dirty="0" err="1">
                <a:solidFill>
                  <a:schemeClr val="tx1"/>
                </a:solidFill>
              </a:rPr>
              <a:t>CloudStack</a:t>
            </a:r>
            <a:r>
              <a:rPr lang="ru-RU" dirty="0">
                <a:solidFill>
                  <a:schemeClr val="tx1"/>
                </a:solidFill>
              </a:rPr>
              <a:t>:</a:t>
            </a:r>
          </a:p>
          <a:p>
            <a:pPr marL="685800" lvl="1"/>
            <a:r>
              <a:rPr lang="ru-RU" dirty="0">
                <a:solidFill>
                  <a:schemeClr val="tx1"/>
                </a:solidFill>
              </a:rPr>
              <a:t>Встроенная высокая доступность для хостов и виртуальных машин</a:t>
            </a:r>
          </a:p>
          <a:p>
            <a:pPr marL="685800" lvl="1"/>
            <a:r>
              <a:rPr lang="ru-RU" dirty="0">
                <a:solidFill>
                  <a:schemeClr val="tx1"/>
                </a:solidFill>
              </a:rPr>
              <a:t>Веб-интерфейс AJAX для управления</a:t>
            </a:r>
          </a:p>
          <a:p>
            <a:pPr marL="685800" lvl="1"/>
            <a:r>
              <a:rPr lang="ru-RU" dirty="0">
                <a:solidFill>
                  <a:schemeClr val="tx1"/>
                </a:solidFill>
              </a:rPr>
              <a:t>Совместимость с AWS API</a:t>
            </a:r>
          </a:p>
          <a:p>
            <a:pPr marL="685800" lvl="1"/>
            <a:r>
              <a:rPr lang="ru-RU" dirty="0">
                <a:solidFill>
                  <a:schemeClr val="tx1"/>
                </a:solidFill>
              </a:rPr>
              <a:t>Независимость от гипервизора</a:t>
            </a:r>
          </a:p>
          <a:p>
            <a:pPr marL="685800" lvl="1"/>
            <a:r>
              <a:rPr lang="ru-RU" dirty="0">
                <a:solidFill>
                  <a:schemeClr val="tx1"/>
                </a:solidFill>
              </a:rPr>
              <a:t>Управление снимками состояния виртуальных машин</a:t>
            </a:r>
          </a:p>
          <a:p>
            <a:pPr marL="685800" lvl="1"/>
            <a:r>
              <a:rPr lang="ru-RU" dirty="0">
                <a:solidFill>
                  <a:schemeClr val="tx1"/>
                </a:solidFill>
              </a:rPr>
              <a:t>Метрики использования</a:t>
            </a:r>
          </a:p>
          <a:p>
            <a:pPr marL="685800" lvl="1"/>
            <a:r>
              <a:rPr lang="ru-RU" dirty="0">
                <a:solidFill>
                  <a:schemeClr val="tx1"/>
                </a:solidFill>
              </a:rPr>
              <a:t>Управление сетью (VLAN, группы безопасности)</a:t>
            </a:r>
          </a:p>
          <a:p>
            <a:pPr marL="685800" lvl="1"/>
            <a:r>
              <a:rPr lang="ru-RU" dirty="0">
                <a:solidFill>
                  <a:schemeClr val="tx1"/>
                </a:solidFill>
              </a:rPr>
              <a:t>Виртуальные маршрутизаторы, брандмауэры, </a:t>
            </a:r>
            <a:r>
              <a:rPr lang="ru-RU" dirty="0" err="1">
                <a:solidFill>
                  <a:schemeClr val="tx1"/>
                </a:solidFill>
              </a:rPr>
              <a:t>балансировщики</a:t>
            </a:r>
            <a:r>
              <a:rPr lang="ru-RU" dirty="0">
                <a:solidFill>
                  <a:schemeClr val="tx1"/>
                </a:solidFill>
              </a:rPr>
              <a:t> нагрузки</a:t>
            </a:r>
          </a:p>
          <a:p>
            <a:pPr marL="685800" lvl="1"/>
            <a:r>
              <a:rPr lang="ru-RU" dirty="0">
                <a:solidFill>
                  <a:schemeClr val="tx1"/>
                </a:solidFill>
              </a:rPr>
              <a:t>Поддержка множества ролей</a:t>
            </a:r>
          </a:p>
        </p:txBody>
      </p:sp>
      <p:pic>
        <p:nvPicPr>
          <p:cNvPr id="3074" name="Picture 2" descr="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334" y="0"/>
            <a:ext cx="8372475" cy="2047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75560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OpenNebula</a:t>
            </a:r>
            <a:endParaRPr lang="ru-RU" dirty="0"/>
          </a:p>
        </p:txBody>
      </p:sp>
      <p:sp>
        <p:nvSpPr>
          <p:cNvPr id="3" name="Объект 2"/>
          <p:cNvSpPr>
            <a:spLocks noGrp="1"/>
          </p:cNvSpPr>
          <p:nvPr>
            <p:ph idx="1"/>
          </p:nvPr>
        </p:nvSpPr>
        <p:spPr/>
        <p:txBody>
          <a:bodyPr/>
          <a:lstStyle/>
          <a:p>
            <a:pPr algn="just"/>
            <a:r>
              <a:rPr lang="ru-RU" dirty="0" err="1"/>
              <a:t>OpenNebula</a:t>
            </a:r>
            <a:r>
              <a:rPr lang="ru-RU" dirty="0"/>
              <a:t> -  полностью открытая платформа  для организации управления </a:t>
            </a:r>
            <a:r>
              <a:rPr lang="ru-RU" dirty="0" err="1"/>
              <a:t>cloud</a:t>
            </a:r>
            <a:r>
              <a:rPr lang="ru-RU" dirty="0"/>
              <a:t>-инфраструктурой и виртуальными окружениями. </a:t>
            </a:r>
            <a:endParaRPr lang="ru-RU" dirty="0" smtClean="0"/>
          </a:p>
          <a:p>
            <a:pPr algn="just"/>
            <a:endParaRPr lang="ru-RU" dirty="0"/>
          </a:p>
          <a:p>
            <a:pPr marL="0" indent="0" algn="just">
              <a:buNone/>
            </a:pPr>
            <a:r>
              <a:rPr lang="ru-RU" dirty="0" smtClean="0"/>
              <a:t>Пакет </a:t>
            </a:r>
            <a:r>
              <a:rPr lang="ru-RU" dirty="0"/>
              <a:t>позволяет организовать взаимодействие таких атрибутов, как хранилище, сеть, технологии виртуализации, средства мониторинга и управления безопасностью, с целью создания распределенной инфраструктуры динамически разворачиваемых многоуровневых сервисов (групп из взаимосвязанных виртуальных машин), комбинируя ресурсы дата-центра и внешних </a:t>
            </a:r>
            <a:r>
              <a:rPr lang="ru-RU" dirty="0" err="1"/>
              <a:t>cloud</a:t>
            </a:r>
            <a:r>
              <a:rPr lang="ru-RU" dirty="0"/>
              <a:t>-сервисов</a:t>
            </a:r>
            <a:r>
              <a:rPr lang="ru-RU" dirty="0" smtClean="0"/>
              <a:t>.</a:t>
            </a:r>
            <a:endParaRPr lang="ru-RU" dirty="0"/>
          </a:p>
        </p:txBody>
      </p:sp>
      <p:pic>
        <p:nvPicPr>
          <p:cNvPr id="5126" name="Picture 6" descr="https://eosc.eu/sites/default/files/styles/responsive/public/2021-02/opennebula_0.jpg?itok=zEBZvI0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8571" y="90301"/>
            <a:ext cx="3105431" cy="2070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324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lnSpcReduction="10000"/>
          </a:bodyPr>
          <a:lstStyle/>
          <a:p>
            <a:r>
              <a:rPr lang="ru-RU" dirty="0"/>
              <a:t>Система позволяет создавать </a:t>
            </a:r>
            <a:r>
              <a:rPr lang="ru-RU" dirty="0" err="1"/>
              <a:t>Cloud</a:t>
            </a:r>
            <a:r>
              <a:rPr lang="ru-RU" dirty="0"/>
              <a:t>-окружения трех </a:t>
            </a:r>
            <a:r>
              <a:rPr lang="ru-RU" dirty="0" smtClean="0"/>
              <a:t>типов:</a:t>
            </a:r>
            <a:endParaRPr lang="en-US" dirty="0" smtClean="0"/>
          </a:p>
          <a:p>
            <a:pPr lvl="1"/>
            <a:r>
              <a:rPr lang="ru-RU" dirty="0" smtClean="0"/>
              <a:t>Приватные </a:t>
            </a:r>
            <a:r>
              <a:rPr lang="ru-RU" dirty="0" err="1"/>
              <a:t>cloud</a:t>
            </a:r>
            <a:r>
              <a:rPr lang="ru-RU" dirty="0"/>
              <a:t>-системы, доступные только внутри организации, полностью подконтрольные и выполненные на собственных мощностях. В качестве системы виртуализации поддерживается использование </a:t>
            </a:r>
            <a:r>
              <a:rPr lang="ru-RU" dirty="0" err="1"/>
              <a:t>Xen</a:t>
            </a:r>
            <a:r>
              <a:rPr lang="ru-RU" dirty="0"/>
              <a:t>, KVM и </a:t>
            </a:r>
            <a:r>
              <a:rPr lang="ru-RU" dirty="0" err="1"/>
              <a:t>VMware</a:t>
            </a:r>
            <a:r>
              <a:rPr lang="ru-RU" dirty="0" smtClean="0"/>
              <a:t>;</a:t>
            </a:r>
            <a:endParaRPr lang="en-US" dirty="0" smtClean="0"/>
          </a:p>
          <a:p>
            <a:pPr lvl="1"/>
            <a:r>
              <a:rPr lang="ru-RU" dirty="0" smtClean="0"/>
              <a:t>Публичные </a:t>
            </a:r>
            <a:r>
              <a:rPr lang="ru-RU" dirty="0" err="1"/>
              <a:t>cloud</a:t>
            </a:r>
            <a:r>
              <a:rPr lang="ru-RU" dirty="0"/>
              <a:t>-окружения, работающие в инфраструктуре внешних сервис-провайдеров, таких как </a:t>
            </a:r>
            <a:r>
              <a:rPr lang="ru-RU" dirty="0" err="1"/>
              <a:t>Amazon</a:t>
            </a:r>
            <a:r>
              <a:rPr lang="ru-RU" dirty="0"/>
              <a:t> EC2. Для доступа к публичным </a:t>
            </a:r>
            <a:r>
              <a:rPr lang="ru-RU" dirty="0" err="1"/>
              <a:t>cloud</a:t>
            </a:r>
            <a:r>
              <a:rPr lang="ru-RU" dirty="0"/>
              <a:t>-окружениям </a:t>
            </a:r>
            <a:r>
              <a:rPr lang="ru-RU" dirty="0" err="1"/>
              <a:t>OpenNebula</a:t>
            </a:r>
            <a:r>
              <a:rPr lang="ru-RU" dirty="0"/>
              <a:t> поддерживает такие API, как EC2 </a:t>
            </a:r>
            <a:r>
              <a:rPr lang="ru-RU" dirty="0" err="1"/>
              <a:t>Query</a:t>
            </a:r>
            <a:r>
              <a:rPr lang="ru-RU" dirty="0"/>
              <a:t>, OGF OCCI и </a:t>
            </a:r>
            <a:r>
              <a:rPr lang="ru-RU" dirty="0" err="1"/>
              <a:t>vCloud</a:t>
            </a:r>
            <a:r>
              <a:rPr lang="ru-RU" dirty="0"/>
              <a:t>; </a:t>
            </a:r>
            <a:endParaRPr lang="en-US" dirty="0" smtClean="0"/>
          </a:p>
          <a:p>
            <a:pPr lvl="1"/>
            <a:r>
              <a:rPr lang="ru-RU" dirty="0" smtClean="0"/>
              <a:t>Гибридные </a:t>
            </a:r>
            <a:r>
              <a:rPr lang="ru-RU" dirty="0" err="1"/>
              <a:t>cloud</a:t>
            </a:r>
            <a:r>
              <a:rPr lang="ru-RU" dirty="0"/>
              <a:t>-системы, сочетающие элементы публичных и приватных </a:t>
            </a:r>
            <a:r>
              <a:rPr lang="ru-RU" dirty="0" err="1"/>
              <a:t>cloud</a:t>
            </a:r>
            <a:r>
              <a:rPr lang="ru-RU" dirty="0"/>
              <a:t>-систем. Например, определенная критически важная часть инфраструктуры можно работать в приватном облаке, а вторичные системы вынесены во внешние облака, или изначально вся система построена как приватная, но при нехватке ресурсов в пиковые моменты к работе привлекаются мощности публичных сервисов</a:t>
            </a:r>
            <a:r>
              <a:rPr lang="ru-RU" dirty="0" smtClean="0"/>
              <a:t>.</a:t>
            </a:r>
            <a:endParaRPr lang="ru-RU" dirty="0"/>
          </a:p>
        </p:txBody>
      </p:sp>
      <p:sp>
        <p:nvSpPr>
          <p:cNvPr id="4" name="Заголовок 1"/>
          <p:cNvSpPr txBox="1">
            <a:spLocks/>
          </p:cNvSpPr>
          <p:nvPr/>
        </p:nvSpPr>
        <p:spPr>
          <a:xfrm>
            <a:off x="677334" y="6096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dirty="0" err="1" smtClean="0"/>
              <a:t>OpenNebula</a:t>
            </a:r>
            <a:endParaRPr lang="ru-RU" dirty="0"/>
          </a:p>
        </p:txBody>
      </p:sp>
      <p:pic>
        <p:nvPicPr>
          <p:cNvPr id="5" name="Picture 6" descr="https://eosc.eu/sites/default/files/styles/responsive/public/2021-02/opennebula_0.jpg?itok=zEBZvI0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8571" y="90301"/>
            <a:ext cx="3105431" cy="2070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3096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OpenNebula Architectur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17501" y="2160588"/>
            <a:ext cx="5317036" cy="3881437"/>
          </a:xfrm>
          <a:prstGeom prst="rect">
            <a:avLst/>
          </a:prstGeom>
          <a:noFill/>
          <a:extLst>
            <a:ext uri="{909E8E84-426E-40DD-AFC4-6F175D3DCCD1}">
              <a14:hiddenFill xmlns:a14="http://schemas.microsoft.com/office/drawing/2010/main">
                <a:solidFill>
                  <a:srgbClr val="FFFFFF"/>
                </a:solidFill>
              </a14:hiddenFill>
            </a:ext>
          </a:extLst>
        </p:spPr>
      </p:pic>
      <p:sp>
        <p:nvSpPr>
          <p:cNvPr id="5" name="Заголовок 1"/>
          <p:cNvSpPr txBox="1">
            <a:spLocks/>
          </p:cNvSpPr>
          <p:nvPr/>
        </p:nvSpPr>
        <p:spPr>
          <a:xfrm>
            <a:off x="677334" y="6096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dirty="0" err="1" smtClean="0"/>
              <a:t>OpenNebula</a:t>
            </a:r>
            <a:endParaRPr lang="ru-RU" dirty="0"/>
          </a:p>
        </p:txBody>
      </p:sp>
      <p:pic>
        <p:nvPicPr>
          <p:cNvPr id="6" name="Picture 6" descr="https://eosc.eu/sites/default/files/styles/responsive/public/2021-02/opennebula_0.jpg?itok=zEBZvI0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8571" y="90301"/>
            <a:ext cx="3105431" cy="2070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2162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681F40-3976-4677-BFED-4837E208D8D2}"/>
              </a:ext>
            </a:extLst>
          </p:cNvPr>
          <p:cNvSpPr>
            <a:spLocks noGrp="1"/>
          </p:cNvSpPr>
          <p:nvPr>
            <p:ph type="title"/>
          </p:nvPr>
        </p:nvSpPr>
        <p:spPr/>
        <p:txBody>
          <a:bodyPr/>
          <a:lstStyle/>
          <a:p>
            <a:r>
              <a:rPr lang="ru-RU" dirty="0"/>
              <a:t>Проблемы безопасности гипервизоров</a:t>
            </a:r>
          </a:p>
        </p:txBody>
      </p:sp>
      <p:sp>
        <p:nvSpPr>
          <p:cNvPr id="3" name="Объект 2">
            <a:extLst>
              <a:ext uri="{FF2B5EF4-FFF2-40B4-BE49-F238E27FC236}">
                <a16:creationId xmlns:a16="http://schemas.microsoft.com/office/drawing/2014/main" id="{DE0069F6-2D2C-4F78-9950-ECE31326E8B3}"/>
              </a:ext>
            </a:extLst>
          </p:cNvPr>
          <p:cNvSpPr>
            <a:spLocks noGrp="1"/>
          </p:cNvSpPr>
          <p:nvPr>
            <p:ph idx="1"/>
          </p:nvPr>
        </p:nvSpPr>
        <p:spPr/>
        <p:txBody>
          <a:bodyPr/>
          <a:lstStyle/>
          <a:p>
            <a:pPr marL="0" indent="0">
              <a:buNone/>
            </a:pPr>
            <a:r>
              <a:rPr lang="ru-RU" dirty="0"/>
              <a:t>Гипервизоры считаются более безопасным вариантом, чем контейнеры.</a:t>
            </a:r>
          </a:p>
          <a:p>
            <a:pPr marL="0" indent="0">
              <a:buNone/>
            </a:pPr>
            <a:r>
              <a:rPr lang="ru-RU" dirty="0"/>
              <a:t>Хакеры могут создать вредоносное ПО, которое установится как гипервизор под ОС. Этот процесс известен как «</a:t>
            </a:r>
            <a:r>
              <a:rPr lang="ru-RU" dirty="0" err="1"/>
              <a:t>гиперджекинг</a:t>
            </a:r>
            <a:r>
              <a:rPr lang="ru-RU" dirty="0"/>
              <a:t>»</a:t>
            </a:r>
          </a:p>
        </p:txBody>
      </p:sp>
    </p:spTree>
    <p:extLst>
      <p:ext uri="{BB962C8B-B14F-4D97-AF65-F5344CB8AC3E}">
        <p14:creationId xmlns:p14="http://schemas.microsoft.com/office/powerpoint/2010/main" val="713587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Управление виртуализацией с помощью </a:t>
            </a:r>
            <a:r>
              <a:rPr lang="ru-RU" b="1" dirty="0" err="1" smtClean="0"/>
              <a:t>libvirt</a:t>
            </a:r>
            <a:endParaRPr lang="ru-RU" dirty="0"/>
          </a:p>
        </p:txBody>
      </p:sp>
      <p:sp>
        <p:nvSpPr>
          <p:cNvPr id="3" name="Объект 2"/>
          <p:cNvSpPr>
            <a:spLocks noGrp="1"/>
          </p:cNvSpPr>
          <p:nvPr>
            <p:ph idx="1"/>
          </p:nvPr>
        </p:nvSpPr>
        <p:spPr>
          <a:xfrm>
            <a:off x="677333" y="2160589"/>
            <a:ext cx="9424609" cy="3880773"/>
          </a:xfrm>
        </p:spPr>
        <p:txBody>
          <a:bodyPr>
            <a:noAutofit/>
          </a:bodyPr>
          <a:lstStyle/>
          <a:p>
            <a:pPr>
              <a:buFont typeface="Wingdings" panose="05000000000000000000" pitchFamily="2" charset="2"/>
              <a:buChar char="Ø"/>
            </a:pPr>
            <a:r>
              <a:rPr lang="ru-RU" b="1" dirty="0" err="1">
                <a:solidFill>
                  <a:srgbClr val="00B050"/>
                </a:solidFill>
                <a:latin typeface="Times New Roman" panose="02020603050405020304" pitchFamily="18" charset="0"/>
                <a:cs typeface="Times New Roman" panose="02020603050405020304" pitchFamily="18" charset="0"/>
              </a:rPr>
              <a:t>libvirt</a:t>
            </a:r>
            <a:r>
              <a:rPr lang="ru-RU" dirty="0">
                <a:latin typeface="Times New Roman" panose="02020603050405020304" pitchFamily="18" charset="0"/>
                <a:cs typeface="Times New Roman" panose="02020603050405020304" pitchFamily="18" charset="0"/>
              </a:rPr>
              <a:t> — набор программного обеспечения, основными функциями которого являются:</a:t>
            </a:r>
          </a:p>
          <a:p>
            <a:pPr lvl="1">
              <a:buFont typeface="Wingdings" panose="05000000000000000000" pitchFamily="2" charset="2"/>
              <a:buChar char="v"/>
            </a:pPr>
            <a:r>
              <a:rPr lang="ru-RU" sz="1800" dirty="0">
                <a:latin typeface="Times New Roman" panose="02020603050405020304" pitchFamily="18" charset="0"/>
                <a:cs typeface="Times New Roman" panose="02020603050405020304" pitchFamily="18" charset="0"/>
              </a:rPr>
              <a:t>создание и управление виртуальными машинами;</a:t>
            </a:r>
          </a:p>
          <a:p>
            <a:pPr lvl="1">
              <a:buFont typeface="Wingdings" panose="05000000000000000000" pitchFamily="2" charset="2"/>
              <a:buChar char="v"/>
            </a:pPr>
            <a:r>
              <a:rPr lang="ru-RU" sz="1800" dirty="0">
                <a:latin typeface="Times New Roman" panose="02020603050405020304" pitchFamily="18" charset="0"/>
                <a:cs typeface="Times New Roman" panose="02020603050405020304" pitchFamily="18" charset="0"/>
              </a:rPr>
              <a:t>управление хранилищем;</a:t>
            </a:r>
          </a:p>
          <a:p>
            <a:pPr lvl="1">
              <a:buFont typeface="Wingdings" panose="05000000000000000000" pitchFamily="2" charset="2"/>
              <a:buChar char="v"/>
            </a:pPr>
            <a:r>
              <a:rPr lang="ru-RU" sz="1800" dirty="0">
                <a:latin typeface="Times New Roman" panose="02020603050405020304" pitchFamily="18" charset="0"/>
                <a:cs typeface="Times New Roman" panose="02020603050405020304" pitchFamily="18" charset="0"/>
              </a:rPr>
              <a:t>управление сетевым интерфейсом.</a:t>
            </a:r>
          </a:p>
          <a:p>
            <a:pPr>
              <a:buFont typeface="Wingdings" panose="05000000000000000000" pitchFamily="2" charset="2"/>
              <a:buChar char="Ø"/>
            </a:pPr>
            <a:r>
              <a:rPr lang="ru-RU" sz="2000" dirty="0" err="1">
                <a:latin typeface="Times New Roman" panose="02020603050405020304" pitchFamily="18" charset="0"/>
                <a:cs typeface="Times New Roman" panose="02020603050405020304" pitchFamily="18" charset="0"/>
              </a:rPr>
              <a:t>libvirt</a:t>
            </a:r>
            <a:r>
              <a:rPr lang="ru-RU" sz="2000" dirty="0">
                <a:latin typeface="Times New Roman" panose="02020603050405020304" pitchFamily="18" charset="0"/>
                <a:cs typeface="Times New Roman" panose="02020603050405020304" pitchFamily="18" charset="0"/>
              </a:rPr>
              <a:t> состоит из следующих компонентов:</a:t>
            </a:r>
          </a:p>
          <a:p>
            <a:pPr lvl="1">
              <a:buFont typeface="Wingdings" panose="05000000000000000000" pitchFamily="2" charset="2"/>
              <a:buChar char="v"/>
            </a:pPr>
            <a:r>
              <a:rPr lang="ru-RU" sz="1800" dirty="0">
                <a:latin typeface="Times New Roman" panose="02020603050405020304" pitchFamily="18" charset="0"/>
                <a:cs typeface="Times New Roman" panose="02020603050405020304" pitchFamily="18" charset="0"/>
              </a:rPr>
              <a:t>библиотека API;</a:t>
            </a:r>
          </a:p>
          <a:p>
            <a:pPr lvl="1">
              <a:buFont typeface="Wingdings" panose="05000000000000000000" pitchFamily="2" charset="2"/>
              <a:buChar char="v"/>
            </a:pPr>
            <a:r>
              <a:rPr lang="ru-RU" sz="1800" dirty="0">
                <a:latin typeface="Times New Roman" panose="02020603050405020304" pitchFamily="18" charset="0"/>
                <a:cs typeface="Times New Roman" panose="02020603050405020304" pitchFamily="18" charset="0"/>
              </a:rPr>
              <a:t>демон (</a:t>
            </a:r>
            <a:r>
              <a:rPr lang="ru-RU" sz="1800" dirty="0" err="1">
                <a:latin typeface="Times New Roman" panose="02020603050405020304" pitchFamily="18" charset="0"/>
                <a:cs typeface="Times New Roman" panose="02020603050405020304" pitchFamily="18" charset="0"/>
              </a:rPr>
              <a:t>libvirtd</a:t>
            </a:r>
            <a:r>
              <a:rPr lang="ru-RU" sz="18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r>
              <a:rPr lang="ru-RU" sz="1800" dirty="0">
                <a:latin typeface="Times New Roman" panose="02020603050405020304" pitchFamily="18" charset="0"/>
                <a:cs typeface="Times New Roman" panose="02020603050405020304" pitchFamily="18" charset="0"/>
              </a:rPr>
              <a:t>утилита командной строки (</a:t>
            </a:r>
            <a:r>
              <a:rPr lang="ru-RU" sz="1800" dirty="0" err="1">
                <a:latin typeface="Times New Roman" panose="02020603050405020304" pitchFamily="18" charset="0"/>
                <a:cs typeface="Times New Roman" panose="02020603050405020304" pitchFamily="18" charset="0"/>
              </a:rPr>
              <a:t>virsh</a:t>
            </a:r>
            <a:r>
              <a:rPr lang="ru-RU" sz="18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ru-RU" sz="2000" dirty="0">
                <a:latin typeface="Times New Roman" panose="02020603050405020304" pitchFamily="18" charset="0"/>
                <a:cs typeface="Times New Roman" panose="02020603050405020304" pitchFamily="18" charset="0"/>
              </a:rPr>
              <a:t>Виртуальные машины хранятся в виде XML-описаний в </a:t>
            </a:r>
            <a:r>
              <a:rPr lang="ru-RU" sz="2000" dirty="0" smtClean="0">
                <a:latin typeface="Times New Roman" panose="02020603050405020304" pitchFamily="18" charset="0"/>
                <a:cs typeface="Times New Roman" panose="02020603050405020304" pitchFamily="18" charset="0"/>
              </a:rPr>
              <a:t>директории</a:t>
            </a:r>
            <a:r>
              <a:rPr lang="en-US" sz="2000" dirty="0" smtClean="0">
                <a:latin typeface="Times New Roman" panose="02020603050405020304" pitchFamily="18" charset="0"/>
                <a:cs typeface="Times New Roman" panose="02020603050405020304" pitchFamily="18" charset="0"/>
              </a:rPr>
              <a:t> </a:t>
            </a:r>
            <a:r>
              <a:rPr lang="ru-RU" sz="2000" b="1" dirty="0" smtClean="0">
                <a:latin typeface="Times New Roman" panose="02020603050405020304" pitchFamily="18" charset="0"/>
                <a:cs typeface="Times New Roman" panose="02020603050405020304" pitchFamily="18" charset="0"/>
              </a:rPr>
              <a:t>/</a:t>
            </a:r>
            <a:r>
              <a:rPr lang="ru-RU" sz="2000" b="1" dirty="0" err="1">
                <a:latin typeface="Times New Roman" panose="02020603050405020304" pitchFamily="18" charset="0"/>
                <a:cs typeface="Times New Roman" panose="02020603050405020304" pitchFamily="18" charset="0"/>
              </a:rPr>
              <a:t>etc</a:t>
            </a:r>
            <a:r>
              <a:rPr lang="ru-RU" sz="2000" b="1" dirty="0">
                <a:latin typeface="Times New Roman" panose="02020603050405020304" pitchFamily="18" charset="0"/>
                <a:cs typeface="Times New Roman" panose="02020603050405020304" pitchFamily="18" charset="0"/>
              </a:rPr>
              <a:t>/</a:t>
            </a:r>
            <a:r>
              <a:rPr lang="ru-RU" sz="2000" b="1" dirty="0" err="1">
                <a:latin typeface="Times New Roman" panose="02020603050405020304" pitchFamily="18" charset="0"/>
                <a:cs typeface="Times New Roman" panose="02020603050405020304" pitchFamily="18" charset="0"/>
              </a:rPr>
              <a:t>libvirt</a:t>
            </a:r>
            <a:r>
              <a:rPr lang="ru-RU" sz="2000" b="1" dirty="0">
                <a:latin typeface="Times New Roman" panose="02020603050405020304" pitchFamily="18" charset="0"/>
                <a:cs typeface="Times New Roman" panose="02020603050405020304" pitchFamily="18" charset="0"/>
              </a:rPr>
              <a:t>/&lt;</a:t>
            </a:r>
            <a:r>
              <a:rPr lang="ru-RU" sz="2000" b="1" dirty="0" err="1">
                <a:latin typeface="Times New Roman" panose="02020603050405020304" pitchFamily="18" charset="0"/>
                <a:cs typeface="Times New Roman" panose="02020603050405020304" pitchFamily="18" charset="0"/>
              </a:rPr>
              <a:t>virtualization</a:t>
            </a:r>
            <a:r>
              <a:rPr lang="ru-RU" sz="2000" b="1" dirty="0">
                <a:latin typeface="Times New Roman" panose="02020603050405020304" pitchFamily="18" charset="0"/>
                <a:cs typeface="Times New Roman" panose="02020603050405020304" pitchFamily="18" charset="0"/>
              </a:rPr>
              <a:t>&gt;</a:t>
            </a:r>
            <a:r>
              <a:rPr lang="ru-RU"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ru-RU" sz="2000" dirty="0" smtClean="0">
                <a:latin typeface="Times New Roman" panose="02020603050405020304" pitchFamily="18" charset="0"/>
                <a:cs typeface="Times New Roman" panose="02020603050405020304" pitchFamily="18" charset="0"/>
              </a:rPr>
              <a:t>где</a:t>
            </a:r>
            <a:r>
              <a:rPr lang="ru-RU" sz="2000" dirty="0">
                <a:latin typeface="Times New Roman" panose="02020603050405020304" pitchFamily="18" charset="0"/>
                <a:cs typeface="Times New Roman" panose="02020603050405020304" pitchFamily="18" charset="0"/>
              </a:rPr>
              <a:t> </a:t>
            </a:r>
            <a:r>
              <a:rPr lang="ru-RU" sz="2000" b="1" dirty="0">
                <a:latin typeface="Times New Roman" panose="02020603050405020304" pitchFamily="18" charset="0"/>
                <a:cs typeface="Times New Roman" panose="02020603050405020304" pitchFamily="18" charset="0"/>
              </a:rPr>
              <a:t>&lt;</a:t>
            </a:r>
            <a:r>
              <a:rPr lang="ru-RU" sz="2000" b="1" dirty="0" err="1">
                <a:latin typeface="Times New Roman" panose="02020603050405020304" pitchFamily="18" charset="0"/>
                <a:cs typeface="Times New Roman" panose="02020603050405020304" pitchFamily="18" charset="0"/>
              </a:rPr>
              <a:t>virtualization</a:t>
            </a:r>
            <a:r>
              <a:rPr lang="ru-RU" sz="2000" b="1" dirty="0">
                <a:latin typeface="Times New Roman" panose="02020603050405020304" pitchFamily="18" charset="0"/>
                <a:cs typeface="Times New Roman" panose="02020603050405020304" pitchFamily="18" charset="0"/>
              </a:rPr>
              <a:t>&gt;</a:t>
            </a:r>
            <a:r>
              <a:rPr lang="ru-RU" sz="2000" dirty="0">
                <a:latin typeface="Times New Roman" panose="02020603050405020304" pitchFamily="18" charset="0"/>
                <a:cs typeface="Times New Roman" panose="02020603050405020304" pitchFamily="18" charset="0"/>
              </a:rPr>
              <a:t> — тип виртуализации, например, </a:t>
            </a:r>
            <a:r>
              <a:rPr lang="ru-RU" sz="2000" dirty="0" err="1">
                <a:latin typeface="Times New Roman" panose="02020603050405020304" pitchFamily="18" charset="0"/>
                <a:cs typeface="Times New Roman" panose="02020603050405020304" pitchFamily="18" charset="0"/>
              </a:rPr>
              <a:t>qemu</a:t>
            </a:r>
            <a:r>
              <a:rPr lang="ru-RU" sz="2000" dirty="0">
                <a:latin typeface="Times New Roman" panose="02020603050405020304" pitchFamily="18" charset="0"/>
                <a:cs typeface="Times New Roman" panose="02020603050405020304" pitchFamily="18" charset="0"/>
              </a:rPr>
              <a:t>.</a:t>
            </a:r>
          </a:p>
          <a:p>
            <a:endParaRPr lang="ru-RU"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3"/>
          <a:stretch>
            <a:fillRect/>
          </a:stretch>
        </p:blipFill>
        <p:spPr>
          <a:xfrm>
            <a:off x="7924800" y="488708"/>
            <a:ext cx="4267200" cy="1441692"/>
          </a:xfrm>
          <a:prstGeom prst="rect">
            <a:avLst/>
          </a:prstGeom>
        </p:spPr>
      </p:pic>
      <p:sp>
        <p:nvSpPr>
          <p:cNvPr id="5" name="Прямоугольник 4"/>
          <p:cNvSpPr/>
          <p:nvPr/>
        </p:nvSpPr>
        <p:spPr>
          <a:xfrm>
            <a:off x="9368791" y="6231427"/>
            <a:ext cx="2823209" cy="461665"/>
          </a:xfrm>
          <a:prstGeom prst="rect">
            <a:avLst/>
          </a:prstGeom>
        </p:spPr>
        <p:txBody>
          <a:bodyPr wrap="none">
            <a:spAutoFit/>
          </a:bodyPr>
          <a:lstStyle/>
          <a:p>
            <a:r>
              <a:rPr lang="ru-RU" sz="2400" b="1" dirty="0"/>
              <a:t>https://</a:t>
            </a:r>
            <a:r>
              <a:rPr lang="ru-RU" sz="2400" b="1" dirty="0" smtClean="0"/>
              <a:t>libvirt.org</a:t>
            </a:r>
            <a:r>
              <a:rPr lang="en-US" sz="2400" b="1" dirty="0" smtClean="0"/>
              <a:t> </a:t>
            </a:r>
            <a:endParaRPr lang="ru-RU" sz="2400" b="1" dirty="0"/>
          </a:p>
        </p:txBody>
      </p:sp>
    </p:spTree>
    <p:extLst>
      <p:ext uri="{BB962C8B-B14F-4D97-AF65-F5344CB8AC3E}">
        <p14:creationId xmlns:p14="http://schemas.microsoft.com/office/powerpoint/2010/main" val="297692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61219" y="261257"/>
            <a:ext cx="8596668" cy="1320800"/>
          </a:xfrm>
        </p:spPr>
        <p:txBody>
          <a:bodyPr>
            <a:normAutofit fontScale="90000"/>
          </a:bodyPr>
          <a:lstStyle/>
          <a:p>
            <a:r>
              <a:rPr lang="ru-RU" dirty="0"/>
              <a:t>Управление виртуальной машиной при помощи </a:t>
            </a:r>
            <a:r>
              <a:rPr lang="ru-RU" dirty="0" err="1"/>
              <a:t>virsh</a:t>
            </a:r>
            <a:r>
              <a:rPr lang="ru-RU" dirty="0"/>
              <a:t/>
            </a:r>
            <a:br>
              <a:rPr lang="ru-RU" dirty="0"/>
            </a:br>
            <a:endParaRPr lang="ru-RU" dirty="0"/>
          </a:p>
        </p:txBody>
      </p:sp>
      <p:sp>
        <p:nvSpPr>
          <p:cNvPr id="3" name="Объект 2"/>
          <p:cNvSpPr>
            <a:spLocks noGrp="1"/>
          </p:cNvSpPr>
          <p:nvPr>
            <p:ph idx="1"/>
          </p:nvPr>
        </p:nvSpPr>
        <p:spPr>
          <a:xfrm>
            <a:off x="677334" y="1683657"/>
            <a:ext cx="10005180" cy="3880773"/>
          </a:xfrm>
        </p:spPr>
        <p:txBody>
          <a:bodyPr>
            <a:noAutofit/>
          </a:bodyPr>
          <a:lstStyle/>
          <a:p>
            <a:r>
              <a:rPr lang="ru-RU" dirty="0">
                <a:latin typeface="Times New Roman" panose="02020603050405020304" pitchFamily="18" charset="0"/>
                <a:cs typeface="Times New Roman" panose="02020603050405020304" pitchFamily="18" charset="0"/>
              </a:rPr>
              <a:t>Команды </a:t>
            </a:r>
            <a:r>
              <a:rPr lang="en-US" dirty="0" err="1">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r>
              <a:rPr lang="en-US" dirty="0" err="1" smtClean="0">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 edit &lt;VM name&gt; – </a:t>
            </a:r>
            <a:r>
              <a:rPr lang="ru-RU" dirty="0">
                <a:latin typeface="Times New Roman" panose="02020603050405020304" pitchFamily="18" charset="0"/>
                <a:cs typeface="Times New Roman" panose="02020603050405020304" pitchFamily="18" charset="0"/>
              </a:rPr>
              <a:t>изменить настройки виртуальной машины;</a:t>
            </a:r>
          </a:p>
          <a:p>
            <a:pPr lvl="1">
              <a:buFont typeface="Wingdings" panose="05000000000000000000" pitchFamily="2" charset="2"/>
              <a:buChar char="v"/>
            </a:pPr>
            <a:r>
              <a:rPr lang="en-US" dirty="0" err="1" smtClean="0">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 start &lt;VM name&gt; – </a:t>
            </a:r>
            <a:r>
              <a:rPr lang="ru-RU" dirty="0">
                <a:latin typeface="Times New Roman" panose="02020603050405020304" pitchFamily="18" charset="0"/>
                <a:cs typeface="Times New Roman" panose="02020603050405020304" pitchFamily="18" charset="0"/>
              </a:rPr>
              <a:t>запустить виртуальную машину;</a:t>
            </a:r>
          </a:p>
          <a:p>
            <a:pPr lvl="1">
              <a:buFont typeface="Wingdings" panose="05000000000000000000" pitchFamily="2" charset="2"/>
              <a:buChar char="v"/>
            </a:pPr>
            <a:r>
              <a:rPr lang="en-US" dirty="0" err="1" smtClean="0">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 shutdown &lt;VM name&gt; – </a:t>
            </a:r>
            <a:r>
              <a:rPr lang="ru-RU" dirty="0">
                <a:latin typeface="Times New Roman" panose="02020603050405020304" pitchFamily="18" charset="0"/>
                <a:cs typeface="Times New Roman" panose="02020603050405020304" pitchFamily="18" charset="0"/>
              </a:rPr>
              <a:t>выключить виртуальную машину;</a:t>
            </a:r>
          </a:p>
          <a:p>
            <a:pPr lvl="1">
              <a:buFont typeface="Wingdings" panose="05000000000000000000" pitchFamily="2" charset="2"/>
              <a:buChar char="v"/>
            </a:pPr>
            <a:r>
              <a:rPr lang="en-US" dirty="0" err="1" smtClean="0">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 reboot &lt;VM name&gt; – </a:t>
            </a:r>
            <a:r>
              <a:rPr lang="ru-RU" dirty="0">
                <a:latin typeface="Times New Roman" panose="02020603050405020304" pitchFamily="18" charset="0"/>
                <a:cs typeface="Times New Roman" panose="02020603050405020304" pitchFamily="18" charset="0"/>
              </a:rPr>
              <a:t>перегрузить виртуальную машину;</a:t>
            </a:r>
          </a:p>
          <a:p>
            <a:pPr lvl="1">
              <a:buFont typeface="Wingdings" panose="05000000000000000000" pitchFamily="2" charset="2"/>
              <a:buChar char="v"/>
            </a:pPr>
            <a:r>
              <a:rPr lang="en-US" dirty="0" err="1" smtClean="0">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 console &lt;VM name&gt; – </a:t>
            </a:r>
            <a:r>
              <a:rPr lang="ru-RU" dirty="0">
                <a:latin typeface="Times New Roman" panose="02020603050405020304" pitchFamily="18" charset="0"/>
                <a:cs typeface="Times New Roman" panose="02020603050405020304" pitchFamily="18" charset="0"/>
              </a:rPr>
              <a:t>открыть консоль виртуальной машины; выход из консоли осуществляется при помощи сочетания </a:t>
            </a:r>
            <a:r>
              <a:rPr lang="en-US" dirty="0">
                <a:latin typeface="Times New Roman" panose="02020603050405020304" pitchFamily="18" charset="0"/>
                <a:cs typeface="Times New Roman" panose="02020603050405020304" pitchFamily="18" charset="0"/>
              </a:rPr>
              <a:t>Ctrl + ] ;</a:t>
            </a:r>
          </a:p>
          <a:p>
            <a:pPr lvl="1">
              <a:buFont typeface="Wingdings" panose="05000000000000000000" pitchFamily="2" charset="2"/>
              <a:buChar char="v"/>
            </a:pPr>
            <a:r>
              <a:rPr lang="en-US" dirty="0" err="1" smtClean="0">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 list --all – </a:t>
            </a:r>
            <a:r>
              <a:rPr lang="ru-RU" dirty="0">
                <a:latin typeface="Times New Roman" panose="02020603050405020304" pitchFamily="18" charset="0"/>
                <a:cs typeface="Times New Roman" panose="02020603050405020304" pitchFamily="18" charset="0"/>
              </a:rPr>
              <a:t>вывести список всех виртуальных машин;</a:t>
            </a:r>
          </a:p>
          <a:p>
            <a:pPr lvl="1">
              <a:buFont typeface="Wingdings" panose="05000000000000000000" pitchFamily="2" charset="2"/>
              <a:buChar char="v"/>
            </a:pPr>
            <a:r>
              <a:rPr lang="en-US" dirty="0" err="1" smtClean="0">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 destroy &lt;VM name&gt; – </a:t>
            </a:r>
            <a:r>
              <a:rPr lang="ru-RU" dirty="0">
                <a:latin typeface="Times New Roman" panose="02020603050405020304" pitchFamily="18" charset="0"/>
                <a:cs typeface="Times New Roman" panose="02020603050405020304" pitchFamily="18" charset="0"/>
              </a:rPr>
              <a:t>уничтожает (останавливает) виртуальную машину (когда </a:t>
            </a:r>
            <a:r>
              <a:rPr lang="en-US" dirty="0">
                <a:latin typeface="Times New Roman" panose="02020603050405020304" pitchFamily="18" charset="0"/>
                <a:cs typeface="Times New Roman" panose="02020603050405020304" pitchFamily="18" charset="0"/>
              </a:rPr>
              <a:t>shutdown </a:t>
            </a:r>
            <a:r>
              <a:rPr lang="ru-RU" dirty="0">
                <a:latin typeface="Times New Roman" panose="02020603050405020304" pitchFamily="18" charset="0"/>
                <a:cs typeface="Times New Roman" panose="02020603050405020304" pitchFamily="18" charset="0"/>
              </a:rPr>
              <a:t>не работает);</a:t>
            </a:r>
          </a:p>
          <a:p>
            <a:pPr lvl="1">
              <a:buFont typeface="Wingdings" panose="05000000000000000000" pitchFamily="2" charset="2"/>
              <a:buChar char="v"/>
            </a:pPr>
            <a:r>
              <a:rPr lang="en-US" dirty="0" err="1" smtClean="0">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undefine</a:t>
            </a:r>
            <a:r>
              <a:rPr lang="en-US" dirty="0">
                <a:latin typeface="Times New Roman" panose="02020603050405020304" pitchFamily="18" charset="0"/>
                <a:cs typeface="Times New Roman" panose="02020603050405020304" pitchFamily="18" charset="0"/>
              </a:rPr>
              <a:t> &lt;VM name&gt; – </a:t>
            </a:r>
            <a:r>
              <a:rPr lang="ru-RU" dirty="0">
                <a:latin typeface="Times New Roman" panose="02020603050405020304" pitchFamily="18" charset="0"/>
                <a:cs typeface="Times New Roman" panose="02020603050405020304" pitchFamily="18" charset="0"/>
              </a:rPr>
              <a:t>удалить виртуальную машину из списка (необходимо применять после </a:t>
            </a:r>
            <a:r>
              <a:rPr lang="en-US" dirty="0">
                <a:latin typeface="Times New Roman" panose="02020603050405020304" pitchFamily="18" charset="0"/>
                <a:cs typeface="Times New Roman" panose="02020603050405020304" pitchFamily="18" charset="0"/>
              </a:rPr>
              <a:t>destroy);</a:t>
            </a:r>
          </a:p>
          <a:p>
            <a:pPr lvl="1">
              <a:buFont typeface="Wingdings" panose="05000000000000000000" pitchFamily="2" charset="2"/>
              <a:buChar char="v"/>
            </a:pPr>
            <a:r>
              <a:rPr lang="en-US" dirty="0" err="1" smtClean="0">
                <a:latin typeface="Times New Roman" panose="02020603050405020304" pitchFamily="18" charset="0"/>
                <a:cs typeface="Times New Roman" panose="02020603050405020304" pitchFamily="18" charset="0"/>
              </a:rPr>
              <a:t>virsh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vcpuinfo</a:t>
            </a:r>
            <a:r>
              <a:rPr lang="en-US" dirty="0">
                <a:latin typeface="Times New Roman" panose="02020603050405020304" pitchFamily="18" charset="0"/>
                <a:cs typeface="Times New Roman" panose="02020603050405020304" pitchFamily="18" charset="0"/>
              </a:rPr>
              <a:t> &lt;VM name&gt; – </a:t>
            </a:r>
            <a:r>
              <a:rPr lang="ru-RU" dirty="0">
                <a:latin typeface="Times New Roman" panose="02020603050405020304" pitchFamily="18" charset="0"/>
                <a:cs typeface="Times New Roman" panose="02020603050405020304" pitchFamily="18" charset="0"/>
              </a:rPr>
              <a:t>просмотр привязки виртуальных ядер к физическим в данный момент времени (повторный вывод может отличаться, если привязка ядер не фиксированная).</a:t>
            </a:r>
          </a:p>
          <a:p>
            <a:endParaRPr lang="ru-RU"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6606112" y="6457890"/>
            <a:ext cx="5585888" cy="400110"/>
          </a:xfrm>
          <a:prstGeom prst="rect">
            <a:avLst/>
          </a:prstGeom>
        </p:spPr>
        <p:txBody>
          <a:bodyPr wrap="none">
            <a:spAutoFit/>
          </a:bodyPr>
          <a:lstStyle/>
          <a:p>
            <a:r>
              <a:rPr lang="ru-RU" sz="2000" b="1" dirty="0"/>
              <a:t>https://www.libvirt.org/manpages/virsh.html</a:t>
            </a:r>
          </a:p>
        </p:txBody>
      </p:sp>
    </p:spTree>
    <p:extLst>
      <p:ext uri="{BB962C8B-B14F-4D97-AF65-F5344CB8AC3E}">
        <p14:creationId xmlns:p14="http://schemas.microsoft.com/office/powerpoint/2010/main" val="927824628"/>
      </p:ext>
    </p:extLst>
  </p:cSld>
  <p:clrMapOvr>
    <a:masterClrMapping/>
  </p:clrMapOvr>
  <p:timing>
    <p:tnLst>
      <p:par>
        <p:cTn id="1" dur="indefinite" restart="never" nodeType="tmRoot"/>
      </p:par>
    </p:tnLst>
  </p:timing>
</p:sld>
</file>

<file path=ppt/theme/theme1.xml><?xml version="1.0" encoding="utf-8"?>
<a:theme xmlns:a="http://schemas.openxmlformats.org/drawingml/2006/main" name="Аспект">
  <a:themeElements>
    <a:clrScheme name="Аспект">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Аспект">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Аспект">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104</TotalTime>
  <Words>4655</Words>
  <Application>Microsoft Office PowerPoint</Application>
  <PresentationFormat>Широкоэкранный</PresentationFormat>
  <Paragraphs>348</Paragraphs>
  <Slides>33</Slides>
  <Notes>20</Notes>
  <HiddenSlides>0</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33</vt:i4>
      </vt:variant>
    </vt:vector>
  </HeadingPairs>
  <TitlesOfParts>
    <vt:vector size="45" baseType="lpstr">
      <vt:lpstr>Arial</vt:lpstr>
      <vt:lpstr>Calibri</vt:lpstr>
      <vt:lpstr>Fira Sans</vt:lpstr>
      <vt:lpstr>IBM Plex Sans</vt:lpstr>
      <vt:lpstr>open sans</vt:lpstr>
      <vt:lpstr>Roboto</vt:lpstr>
      <vt:lpstr>Times New Roman</vt:lpstr>
      <vt:lpstr>Trebuchet MS</vt:lpstr>
      <vt:lpstr>var(--heading-font-family)</vt:lpstr>
      <vt:lpstr>Wingdings</vt:lpstr>
      <vt:lpstr>Wingdings 3</vt:lpstr>
      <vt:lpstr>Аспект</vt:lpstr>
      <vt:lpstr>Гипервизоры</vt:lpstr>
      <vt:lpstr>Гипервизор</vt:lpstr>
      <vt:lpstr>Примеры</vt:lpstr>
      <vt:lpstr>Гипервизоры Vmware</vt:lpstr>
      <vt:lpstr>Гипервизор VirtualBox</vt:lpstr>
      <vt:lpstr>Гипервизор Hyper-V</vt:lpstr>
      <vt:lpstr>Гипервизор Citrix</vt:lpstr>
      <vt:lpstr>Гипервизоры с открытым исходным кодом</vt:lpstr>
      <vt:lpstr>История</vt:lpstr>
      <vt:lpstr>Сравнение лучшего программного обеспечения для виртуализации серверов</vt:lpstr>
      <vt:lpstr>Hyper-V</vt:lpstr>
      <vt:lpstr>KVM</vt:lpstr>
      <vt:lpstr>vSphere</vt:lpstr>
      <vt:lpstr>vSphere</vt:lpstr>
      <vt:lpstr>XenServer</vt:lpstr>
      <vt:lpstr>Сводка по vSphere, XenServer, Hyper-V и KVM</vt:lpstr>
      <vt:lpstr>VMware против Microsoft Hyper-V</vt:lpstr>
      <vt:lpstr>VMware против Red Hat KVM</vt:lpstr>
      <vt:lpstr>VMware против XenServer</vt:lpstr>
      <vt:lpstr>Принципы работы QEMU-KVM</vt:lpstr>
      <vt:lpstr>Принципы работы QEMU-KVM</vt:lpstr>
      <vt:lpstr>Принципы работы QEMU-KVM</vt:lpstr>
      <vt:lpstr>Qemu-KVM</vt:lpstr>
      <vt:lpstr>Virtual Machine Manager</vt:lpstr>
      <vt:lpstr>OpenStack</vt:lpstr>
      <vt:lpstr>Apache CloudStack</vt:lpstr>
      <vt:lpstr>Презентация PowerPoint</vt:lpstr>
      <vt:lpstr>OpenNebula</vt:lpstr>
      <vt:lpstr>Презентация PowerPoint</vt:lpstr>
      <vt:lpstr>Презентация PowerPoint</vt:lpstr>
      <vt:lpstr>Проблемы безопасности гипервизоров</vt:lpstr>
      <vt:lpstr>Управление виртуализацией с помощью libvirt</vt:lpstr>
      <vt:lpstr>Управление виртуальной машиной при помощи virsh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Гипервизоры</dc:title>
  <dc:creator>Белозубов Александр Владимирович</dc:creator>
  <cp:lastModifiedBy>Белозубов Александр Владимирович</cp:lastModifiedBy>
  <cp:revision>12</cp:revision>
  <dcterms:created xsi:type="dcterms:W3CDTF">2021-10-03T21:59:03Z</dcterms:created>
  <dcterms:modified xsi:type="dcterms:W3CDTF">2022-09-26T16:41:58Z</dcterms:modified>
</cp:coreProperties>
</file>