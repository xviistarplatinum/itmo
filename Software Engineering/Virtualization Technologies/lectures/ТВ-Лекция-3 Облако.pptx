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8" r:id="rId2"/>
  </p:sldMasterIdLst>
  <p:notesMasterIdLst>
    <p:notesMasterId r:id="rId35"/>
  </p:notesMasterIdLst>
  <p:handoutMasterIdLst>
    <p:handoutMasterId r:id="rId36"/>
  </p:handoutMasterIdLst>
  <p:sldIdLst>
    <p:sldId id="265" r:id="rId3"/>
    <p:sldId id="264" r:id="rId4"/>
    <p:sldId id="269" r:id="rId5"/>
    <p:sldId id="270" r:id="rId6"/>
    <p:sldId id="275" r:id="rId7"/>
    <p:sldId id="276" r:id="rId8"/>
    <p:sldId id="271" r:id="rId9"/>
    <p:sldId id="277" r:id="rId10"/>
    <p:sldId id="272" r:id="rId11"/>
    <p:sldId id="278" r:id="rId12"/>
    <p:sldId id="279" r:id="rId13"/>
    <p:sldId id="280" r:id="rId14"/>
    <p:sldId id="281" r:id="rId15"/>
    <p:sldId id="282" r:id="rId16"/>
    <p:sldId id="283" r:id="rId17"/>
    <p:sldId id="273" r:id="rId18"/>
    <p:sldId id="274" r:id="rId19"/>
    <p:sldId id="286" r:id="rId20"/>
    <p:sldId id="284" r:id="rId21"/>
    <p:sldId id="285" r:id="rId22"/>
    <p:sldId id="287" r:id="rId23"/>
    <p:sldId id="288" r:id="rId24"/>
    <p:sldId id="290" r:id="rId25"/>
    <p:sldId id="289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63" r:id="rId3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0" autoAdjust="0"/>
    <p:restoredTop sz="94672" autoAdjust="0"/>
  </p:normalViewPr>
  <p:slideViewPr>
    <p:cSldViewPr snapToGrid="0" snapToObjects="1" showGuides="1">
      <p:cViewPr varScale="1">
        <p:scale>
          <a:sx n="139" d="100"/>
          <a:sy n="139" d="100"/>
        </p:scale>
        <p:origin x="738" y="12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Редактируемый элемент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79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Город и год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2926326"/>
            <a:ext cx="6400800" cy="705749"/>
          </a:xfrm>
        </p:spPr>
        <p:txBody>
          <a:bodyPr anchor="b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3637205"/>
            <a:ext cx="6400800" cy="46290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 smtClean="0"/>
              <a:t>Имя и контактные данные автора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3084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4693" y="997421"/>
            <a:ext cx="5965438" cy="1488969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dirty="0" smtClean="0"/>
              <a:t>Название презентации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697" y="2571750"/>
            <a:ext cx="5965825" cy="165258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1600"/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 smtClean="0"/>
              <a:t>Имя и контактные данные автора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141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140" y="927382"/>
            <a:ext cx="2713244" cy="1644368"/>
          </a:xfrm>
        </p:spPr>
        <p:txBody>
          <a:bodyPr anchor="t" anchorCtr="0">
            <a:normAutofit/>
          </a:bodyPr>
          <a:lstStyle>
            <a:lvl1pPr>
              <a:defRPr sz="2800" baseline="0">
                <a:solidFill>
                  <a:srgbClr val="FFFFFF"/>
                </a:solidFill>
              </a:defRPr>
            </a:lvl1pPr>
          </a:lstStyle>
          <a:p>
            <a:r>
              <a:rPr lang="ru-RU" dirty="0" smtClean="0"/>
              <a:t>Место для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2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457200" y="2010279"/>
            <a:ext cx="8229600" cy="620483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Спасибо за внимание!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87704"/>
            <a:ext cx="8229600" cy="594122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FontTx/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FontTx/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FontTx/>
              <a:buNone/>
              <a:defRPr>
                <a:solidFill>
                  <a:srgbClr val="FFFFFF"/>
                </a:solidFill>
              </a:defRPr>
            </a:lvl4pPr>
            <a:lvl5pPr marL="1828800" indent="0" algn="ctr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ru-RU" dirty="0" smtClean="0"/>
              <a:t>Контактные данные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2022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46133"/>
            <a:ext cx="6273934" cy="284849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28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9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5659438" y="1759744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8" y="3288506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498"/>
            <a:ext cx="8229600" cy="620315"/>
          </a:xfrm>
        </p:spPr>
        <p:txBody>
          <a:bodyPr/>
          <a:lstStyle/>
          <a:p>
            <a:r>
              <a:rPr lang="ru-RU" dirty="0" smtClean="0"/>
              <a:t>Заголовок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International Students and Scholars Rock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6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smtClean="0"/>
              <a:t>Заголовок</a:t>
            </a:r>
            <a:endParaRPr lang="en-US" dirty="0"/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457201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3276149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6097917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28" name="Text Placehold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1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29" name="Text Placehold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3275819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30" name="Text Placehold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6085706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3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International Students and Scholars Rock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smtClean="0"/>
              <a:t>Заголовок</a:t>
            </a:r>
            <a:endParaRPr lang="en-US" dirty="0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 smtClean="0"/>
              <a:t>Подпись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9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smtClean="0"/>
              <a:t>Заголовок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9" y="1770130"/>
            <a:ext cx="3036565" cy="2919036"/>
          </a:xfrm>
          <a:custGeom>
            <a:avLst/>
            <a:gdLst>
              <a:gd name="connsiteX0" fmla="*/ 0 w 3027362"/>
              <a:gd name="connsiteY0" fmla="*/ 0 h 1885950"/>
              <a:gd name="connsiteX1" fmla="*/ 2528981 w 3027362"/>
              <a:gd name="connsiteY1" fmla="*/ 0 h 1885950"/>
              <a:gd name="connsiteX2" fmla="*/ 3027362 w 3027362"/>
              <a:gd name="connsiteY2" fmla="*/ 498381 h 1885950"/>
              <a:gd name="connsiteX3" fmla="*/ 3027362 w 3027362"/>
              <a:gd name="connsiteY3" fmla="*/ 1885950 h 1885950"/>
              <a:gd name="connsiteX4" fmla="*/ 0 w 3027362"/>
              <a:gd name="connsiteY4" fmla="*/ 1885950 h 1885950"/>
              <a:gd name="connsiteX5" fmla="*/ 0 w 3027362"/>
              <a:gd name="connsiteY5" fmla="*/ 0 h 1885950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0 w 3036565"/>
              <a:gd name="connsiteY4" fmla="*/ 1885950 h 3892048"/>
              <a:gd name="connsiteX5" fmla="*/ 0 w 3036565"/>
              <a:gd name="connsiteY5" fmla="*/ 0 h 3892048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9203 w 3036565"/>
              <a:gd name="connsiteY4" fmla="*/ 3892047 h 3892048"/>
              <a:gd name="connsiteX5" fmla="*/ 0 w 3036565"/>
              <a:gd name="connsiteY5" fmla="*/ 0 h 38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6565" h="3892048">
                <a:moveTo>
                  <a:pt x="0" y="0"/>
                </a:moveTo>
                <a:lnTo>
                  <a:pt x="2528981" y="0"/>
                </a:lnTo>
                <a:cubicBezTo>
                  <a:pt x="2804229" y="0"/>
                  <a:pt x="3027362" y="223133"/>
                  <a:pt x="3027362" y="498381"/>
                </a:cubicBezTo>
                <a:cubicBezTo>
                  <a:pt x="3030430" y="1629603"/>
                  <a:pt x="3033497" y="2760826"/>
                  <a:pt x="3036565" y="3892048"/>
                </a:cubicBezTo>
                <a:lnTo>
                  <a:pt x="9203" y="3892047"/>
                </a:lnTo>
                <a:cubicBezTo>
                  <a:pt x="6135" y="2594698"/>
                  <a:pt x="3068" y="1297349"/>
                  <a:pt x="0" y="0"/>
                </a:cubicBez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1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8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329462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International Students and Scholars Rock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6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7" r:id="rId2"/>
    <p:sldLayoutId id="2147483692" r:id="rId3"/>
    <p:sldLayoutId id="2147483686" r:id="rId4"/>
    <p:sldLayoutId id="2147483689" r:id="rId5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8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Первый уровень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Пятый уровень</a:t>
            </a:r>
          </a:p>
          <a:p>
            <a:pPr lvl="4"/>
            <a:r>
              <a:rPr lang="ru-RU" dirty="0" smtClean="0"/>
              <a:t>Шестой уровень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0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104557"/>
            <a:ext cx="6400800" cy="705749"/>
          </a:xfrm>
        </p:spPr>
        <p:txBody>
          <a:bodyPr>
            <a:normAutofit/>
          </a:bodyPr>
          <a:lstStyle/>
          <a:p>
            <a:r>
              <a:rPr lang="ru-RU" sz="4000" dirty="0" smtClean="0"/>
              <a:t>Облако</a:t>
            </a:r>
            <a:endParaRPr lang="en-US" sz="4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2000" dirty="0" err="1" smtClean="0"/>
              <a:t>Белозубов</a:t>
            </a:r>
            <a:r>
              <a:rPr lang="ru-RU" sz="2000" dirty="0" smtClean="0"/>
              <a:t> А.В.</a:t>
            </a:r>
            <a:endParaRPr lang="nl-NL" sz="2000" dirty="0"/>
          </a:p>
          <a:p>
            <a:r>
              <a:rPr lang="en-US" dirty="0" smtClean="0"/>
              <a:t>belozubov@itmo.ru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3214"/>
            <a:ext cx="6273934" cy="620483"/>
          </a:xfrm>
        </p:spPr>
        <p:txBody>
          <a:bodyPr/>
          <a:lstStyle/>
          <a:p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71965"/>
            <a:ext cx="6273934" cy="2848490"/>
          </a:xfrm>
        </p:spPr>
        <p:txBody>
          <a:bodyPr>
            <a:normAutofit/>
          </a:bodyPr>
          <a:lstStyle/>
          <a:p>
            <a:r>
              <a:rPr lang="ru-RU" dirty="0"/>
              <a:t>Определение облачный вычислений (облако)</a:t>
            </a:r>
          </a:p>
          <a:p>
            <a:r>
              <a:rPr lang="ru-RU" dirty="0" smtClean="0"/>
              <a:t>Характеристики </a:t>
            </a:r>
            <a:r>
              <a:rPr lang="ru-RU" dirty="0"/>
              <a:t>облака</a:t>
            </a:r>
          </a:p>
          <a:p>
            <a:r>
              <a:rPr lang="ru-RU" dirty="0" smtClean="0"/>
              <a:t>Модели </a:t>
            </a:r>
            <a:r>
              <a:rPr lang="ru-RU" dirty="0"/>
              <a:t>размещения облаков</a:t>
            </a:r>
          </a:p>
          <a:p>
            <a:r>
              <a:rPr lang="ru-RU" dirty="0" smtClean="0"/>
              <a:t>Модели </a:t>
            </a:r>
            <a:r>
              <a:rPr lang="ru-RU" dirty="0"/>
              <a:t>предоставления сервиса облаком</a:t>
            </a:r>
          </a:p>
          <a:p>
            <a:r>
              <a:rPr lang="ru-RU" dirty="0" smtClean="0"/>
              <a:t>Облачные </a:t>
            </a:r>
            <a:r>
              <a:rPr lang="ru-RU" dirty="0"/>
              <a:t>приложения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25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15809"/>
            <a:ext cx="4038600" cy="2323144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939271"/>
            <a:ext cx="4038600" cy="2476221"/>
          </a:xfrm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Прогнозы доходов от публичных облачных сервисов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450" y="1290690"/>
            <a:ext cx="12763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542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sz="half" idx="1"/>
          </p:nvPr>
        </p:nvSpPr>
        <p:spPr>
          <a:xfrm>
            <a:off x="457200" y="1243071"/>
            <a:ext cx="8229600" cy="3351552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Американский</a:t>
            </a:r>
            <a:r>
              <a:rPr lang="en-US" dirty="0"/>
              <a:t> National Institute of Standards and </a:t>
            </a:r>
            <a:r>
              <a:rPr lang="en-US" dirty="0" smtClean="0"/>
              <a:t>Technology</a:t>
            </a:r>
            <a:r>
              <a:rPr lang="ru-RU" dirty="0" smtClean="0"/>
              <a:t> </a:t>
            </a:r>
            <a:r>
              <a:rPr lang="en-US" dirty="0" smtClean="0"/>
              <a:t>(NIST</a:t>
            </a:r>
            <a:r>
              <a:rPr lang="en-US" dirty="0"/>
              <a:t>) </a:t>
            </a:r>
            <a:r>
              <a:rPr lang="ru-RU" dirty="0"/>
              <a:t>определяет облако как:</a:t>
            </a:r>
          </a:p>
          <a:p>
            <a:pPr marL="800100" lvl="2" indent="0">
              <a:buNone/>
            </a:pPr>
            <a:r>
              <a:rPr lang="en-US" dirty="0" smtClean="0"/>
              <a:t>Cloud </a:t>
            </a:r>
            <a:r>
              <a:rPr lang="en-US" dirty="0"/>
              <a:t>computing is a model for enabling ubiquitous, convenient, </a:t>
            </a:r>
            <a:r>
              <a:rPr lang="en-US" dirty="0" err="1"/>
              <a:t>ondemand</a:t>
            </a:r>
            <a:endParaRPr lang="en-US" dirty="0"/>
          </a:p>
          <a:p>
            <a:pPr marL="800100" lvl="2" indent="0">
              <a:buNone/>
            </a:pPr>
            <a:r>
              <a:rPr lang="en-US" dirty="0"/>
              <a:t>network access to a shared pool of configurable computing</a:t>
            </a:r>
          </a:p>
          <a:p>
            <a:pPr marL="800100" lvl="2" indent="0">
              <a:buNone/>
            </a:pPr>
            <a:r>
              <a:rPr lang="en-US" dirty="0"/>
              <a:t>resources (e.g., networks, servers, storage, applications, and services) that</a:t>
            </a:r>
          </a:p>
          <a:p>
            <a:pPr marL="800100" lvl="2" indent="0">
              <a:buNone/>
            </a:pPr>
            <a:r>
              <a:rPr lang="en-US" dirty="0"/>
              <a:t>can be rapidly provisioned and released with minimal management effort</a:t>
            </a:r>
          </a:p>
          <a:p>
            <a:pPr marL="800100" lvl="2" indent="0">
              <a:buNone/>
            </a:pPr>
            <a:r>
              <a:rPr lang="en-US" dirty="0"/>
              <a:t>or service provider interaction.</a:t>
            </a:r>
          </a:p>
          <a:p>
            <a:r>
              <a:rPr lang="ru-RU" dirty="0"/>
              <a:t>• Русская </a:t>
            </a:r>
            <a:r>
              <a:rPr lang="ru-RU" dirty="0" err="1"/>
              <a:t>википедия</a:t>
            </a:r>
            <a:r>
              <a:rPr lang="ru-RU" dirty="0"/>
              <a:t> определяет облако как:</a:t>
            </a:r>
          </a:p>
          <a:p>
            <a:pPr marL="800100" lvl="2" indent="0">
              <a:buNone/>
            </a:pPr>
            <a:r>
              <a:rPr lang="ru-RU" dirty="0" smtClean="0"/>
              <a:t>Облачные </a:t>
            </a:r>
            <a:r>
              <a:rPr lang="ru-RU" dirty="0"/>
              <a:t>вычисления (англ. </a:t>
            </a:r>
            <a:r>
              <a:rPr lang="ru-RU" dirty="0" err="1"/>
              <a:t>cloud</a:t>
            </a:r>
            <a:r>
              <a:rPr lang="ru-RU" dirty="0"/>
              <a:t> </a:t>
            </a:r>
            <a:r>
              <a:rPr lang="ru-RU" dirty="0" err="1"/>
              <a:t>computing</a:t>
            </a:r>
            <a:r>
              <a:rPr lang="ru-RU" dirty="0"/>
              <a:t>) —технология</a:t>
            </a:r>
          </a:p>
          <a:p>
            <a:pPr marL="800100" lvl="2" indent="0">
              <a:buNone/>
            </a:pPr>
            <a:r>
              <a:rPr lang="ru-RU" dirty="0"/>
              <a:t>распределённой обработки данных, в которой компьютерные ресурсы</a:t>
            </a:r>
          </a:p>
          <a:p>
            <a:pPr marL="800100" lvl="2" indent="0">
              <a:buNone/>
            </a:pPr>
            <a:r>
              <a:rPr lang="ru-RU" dirty="0"/>
              <a:t>и мощности предоставляются пользователю как сервис.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22588"/>
            <a:ext cx="8229600" cy="620483"/>
          </a:xfrm>
        </p:spPr>
        <p:txBody>
          <a:bodyPr/>
          <a:lstStyle/>
          <a:p>
            <a:r>
              <a:rPr lang="ru-RU" dirty="0"/>
              <a:t>Определение облака</a:t>
            </a:r>
          </a:p>
        </p:txBody>
      </p:sp>
    </p:spTree>
    <p:extLst>
      <p:ext uri="{BB962C8B-B14F-4D97-AF65-F5344CB8AC3E}">
        <p14:creationId xmlns:p14="http://schemas.microsoft.com/office/powerpoint/2010/main" val="365744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История развития Облака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338" y="1746250"/>
            <a:ext cx="6570976" cy="3266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02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29" y="796753"/>
            <a:ext cx="7948313" cy="417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126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927381"/>
            <a:ext cx="8338457" cy="3790207"/>
          </a:xfrm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79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42" y="662668"/>
            <a:ext cx="2350601" cy="448083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882" y="1117599"/>
            <a:ext cx="6434588" cy="331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3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229600" cy="33570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Развитие многоядерных процессоров</a:t>
            </a:r>
          </a:p>
          <a:p>
            <a:pPr lvl="1"/>
            <a:r>
              <a:rPr lang="ru-RU" dirty="0" smtClean="0"/>
              <a:t>увеличение </a:t>
            </a:r>
            <a:r>
              <a:rPr lang="ru-RU" dirty="0"/>
              <a:t>производительности</a:t>
            </a:r>
          </a:p>
          <a:p>
            <a:pPr lvl="1"/>
            <a:r>
              <a:rPr lang="ru-RU" dirty="0" smtClean="0"/>
              <a:t>снижение </a:t>
            </a:r>
            <a:r>
              <a:rPr lang="ru-RU" dirty="0"/>
              <a:t>стоимости оборудования</a:t>
            </a:r>
          </a:p>
          <a:p>
            <a:pPr lvl="1"/>
            <a:r>
              <a:rPr lang="ru-RU" dirty="0" smtClean="0"/>
              <a:t>снижение </a:t>
            </a:r>
            <a:r>
              <a:rPr lang="ru-RU" dirty="0"/>
              <a:t>энергопотребления</a:t>
            </a:r>
          </a:p>
          <a:p>
            <a:r>
              <a:rPr lang="ru-RU" dirty="0" smtClean="0"/>
              <a:t>Увеличение </a:t>
            </a:r>
            <a:r>
              <a:rPr lang="ru-RU" dirty="0"/>
              <a:t>емкостей носителей информации</a:t>
            </a:r>
          </a:p>
          <a:p>
            <a:pPr lvl="1"/>
            <a:r>
              <a:rPr lang="ru-RU" dirty="0" smtClean="0"/>
              <a:t>≪</a:t>
            </a:r>
            <a:r>
              <a:rPr lang="ru-RU" dirty="0"/>
              <a:t>безгранично≫ увеличить объемы хранимой информации</a:t>
            </a:r>
          </a:p>
          <a:p>
            <a:pPr lvl="1"/>
            <a:r>
              <a:rPr lang="ru-RU" dirty="0" smtClean="0"/>
              <a:t>снизить </a:t>
            </a:r>
            <a:r>
              <a:rPr lang="ru-RU" dirty="0"/>
              <a:t>стоимость обслуживания</a:t>
            </a:r>
          </a:p>
          <a:p>
            <a:r>
              <a:rPr lang="ru-RU" dirty="0" smtClean="0"/>
              <a:t>Развитие </a:t>
            </a:r>
            <a:r>
              <a:rPr lang="ru-RU" dirty="0"/>
              <a:t>технологии многопоточного программирования</a:t>
            </a:r>
          </a:p>
          <a:p>
            <a:pPr lvl="1"/>
            <a:r>
              <a:rPr lang="ru-RU" dirty="0" smtClean="0"/>
              <a:t>эффективному </a:t>
            </a:r>
            <a:r>
              <a:rPr lang="ru-RU" dirty="0"/>
              <a:t>использованию вычислительных ресурсов</a:t>
            </a:r>
          </a:p>
          <a:p>
            <a:pPr lvl="1"/>
            <a:r>
              <a:rPr lang="ru-RU" dirty="0" smtClean="0"/>
              <a:t>гибкое </a:t>
            </a:r>
            <a:r>
              <a:rPr lang="ru-RU" dirty="0"/>
              <a:t>распределение вычислительных мощностей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Развитие ключевых 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250030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229600" cy="33570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Развитие технологий виртуализации</a:t>
            </a:r>
          </a:p>
          <a:p>
            <a:pPr marL="457200" lvl="1" indent="0">
              <a:buNone/>
            </a:pPr>
            <a:r>
              <a:rPr lang="ru-RU" dirty="0"/>
              <a:t>• создание кроссплатформенного ПО</a:t>
            </a:r>
          </a:p>
          <a:p>
            <a:pPr marL="457200" lvl="1" indent="0">
              <a:buNone/>
            </a:pPr>
            <a:r>
              <a:rPr lang="ru-RU" dirty="0"/>
              <a:t>• легкость масштабирования</a:t>
            </a:r>
          </a:p>
          <a:p>
            <a:pPr marL="457200" lvl="1" indent="0">
              <a:buNone/>
            </a:pPr>
            <a:r>
              <a:rPr lang="ru-RU" dirty="0"/>
              <a:t>• уменьшение расходов на администрирование</a:t>
            </a:r>
          </a:p>
          <a:p>
            <a:pPr marL="457200" lvl="1" indent="0">
              <a:buNone/>
            </a:pPr>
            <a:r>
              <a:rPr lang="ru-RU" dirty="0"/>
              <a:t>• доступность виртуальной инфраструктуры через сеть Интернет</a:t>
            </a:r>
          </a:p>
          <a:p>
            <a:r>
              <a:rPr lang="ru-RU" dirty="0" smtClean="0"/>
              <a:t>Увеличении </a:t>
            </a:r>
            <a:r>
              <a:rPr lang="ru-RU" dirty="0"/>
              <a:t>пропускной способности сетевых каналов</a:t>
            </a:r>
          </a:p>
          <a:p>
            <a:pPr marL="457200" lvl="1" indent="0">
              <a:buNone/>
            </a:pPr>
            <a:r>
              <a:rPr lang="ru-RU" dirty="0"/>
              <a:t>• увеличению скорости работы</a:t>
            </a:r>
          </a:p>
          <a:p>
            <a:pPr marL="457200" lvl="1" indent="0">
              <a:buNone/>
            </a:pPr>
            <a:r>
              <a:rPr lang="ru-RU" dirty="0"/>
              <a:t>• снижение стоимости Интернет трафика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Развитие ключевых 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403771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229600" cy="335700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Сервис по запросу</a:t>
            </a:r>
            <a:r>
              <a:rPr lang="ru-RU" dirty="0" smtClean="0"/>
              <a:t>:</a:t>
            </a:r>
          </a:p>
          <a:p>
            <a:pPr lvl="1"/>
            <a:r>
              <a:rPr lang="ru-RU" dirty="0"/>
              <a:t>Облачные ресурсы предоставляются по запросу пользователя, без</a:t>
            </a:r>
          </a:p>
          <a:p>
            <a:pPr lvl="1"/>
            <a:r>
              <a:rPr lang="ru-RU" dirty="0"/>
              <a:t>дополнительного взаимодействия с оператор облака. Процесс</a:t>
            </a:r>
          </a:p>
          <a:p>
            <a:pPr lvl="1"/>
            <a:r>
              <a:rPr lang="ru-RU" dirty="0"/>
              <a:t>предоставления облачных ресурсов полностью автоматизирован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Сетевая доступность:</a:t>
            </a:r>
            <a:endParaRPr lang="ru-RU" dirty="0"/>
          </a:p>
          <a:p>
            <a:pPr marL="400050" lvl="1" indent="0">
              <a:buNone/>
            </a:pPr>
            <a:r>
              <a:rPr lang="ru-RU" dirty="0" smtClean="0"/>
              <a:t>Облачные </a:t>
            </a:r>
            <a:r>
              <a:rPr lang="ru-RU" dirty="0"/>
              <a:t>ресурсов доступны через сеть с помощью стандартных </a:t>
            </a:r>
            <a:r>
              <a:rPr lang="ru-RU" dirty="0" smtClean="0"/>
              <a:t>механизмов доступа</a:t>
            </a:r>
            <a:r>
              <a:rPr lang="ru-RU" dirty="0"/>
              <a:t>, которые предоставляют </a:t>
            </a:r>
            <a:r>
              <a:rPr lang="ru-RU" dirty="0" smtClean="0"/>
              <a:t>платформа- </a:t>
            </a:r>
            <a:r>
              <a:rPr lang="ru-RU" dirty="0" err="1" smtClean="0"/>
              <a:t>езависимый</a:t>
            </a:r>
            <a:r>
              <a:rPr lang="ru-RU" dirty="0" smtClean="0"/>
              <a:t> </a:t>
            </a:r>
            <a:r>
              <a:rPr lang="ru-RU" dirty="0"/>
              <a:t>доступ </a:t>
            </a:r>
            <a:r>
              <a:rPr lang="ru-RU" dirty="0" smtClean="0"/>
              <a:t>через ПК\Ноутбук\Планшет </a:t>
            </a:r>
            <a:r>
              <a:rPr lang="ru-RU" dirty="0"/>
              <a:t>и т.д.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Характеристики облака</a:t>
            </a:r>
          </a:p>
        </p:txBody>
      </p:sp>
    </p:spTree>
    <p:extLst>
      <p:ext uri="{BB962C8B-B14F-4D97-AF65-F5344CB8AC3E}">
        <p14:creationId xmlns:p14="http://schemas.microsoft.com/office/powerpoint/2010/main" val="72494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229600" cy="3357000"/>
          </a:xfrm>
        </p:spPr>
        <p:txBody>
          <a:bodyPr>
            <a:noAutofit/>
          </a:bodyPr>
          <a:lstStyle/>
          <a:p>
            <a:r>
              <a:rPr lang="ru-RU" sz="1800" dirty="0"/>
              <a:t>Объединения ресурсов:</a:t>
            </a:r>
            <a:endParaRPr lang="ru-RU" sz="1800" dirty="0" smtClean="0"/>
          </a:p>
          <a:p>
            <a:pPr marL="457200" lvl="1" indent="0" algn="just">
              <a:buNone/>
            </a:pPr>
            <a:r>
              <a:rPr lang="ru-RU" sz="1800" dirty="0"/>
              <a:t>Вычислительные ресурсы и ресурсы хранения </a:t>
            </a:r>
            <a:r>
              <a:rPr lang="ru-RU" sz="1800" dirty="0" smtClean="0"/>
              <a:t>предоставляемые оператором </a:t>
            </a:r>
            <a:r>
              <a:rPr lang="ru-RU" sz="1800" dirty="0"/>
              <a:t>облака объединяются в единый пул, чтобы </a:t>
            </a:r>
            <a:r>
              <a:rPr lang="ru-RU" sz="1800" dirty="0" smtClean="0"/>
              <a:t>обслуживать несколько </a:t>
            </a:r>
            <a:r>
              <a:rPr lang="ru-RU" sz="1800" dirty="0"/>
              <a:t>пользователей (</a:t>
            </a:r>
            <a:r>
              <a:rPr lang="ru-RU" sz="1800" dirty="0" err="1"/>
              <a:t>multi-tenancy</a:t>
            </a:r>
            <a:r>
              <a:rPr lang="ru-RU" sz="1800" dirty="0"/>
              <a:t>). </a:t>
            </a:r>
            <a:r>
              <a:rPr lang="ru-RU" sz="1800" dirty="0" err="1"/>
              <a:t>Multi-tenant</a:t>
            </a:r>
            <a:r>
              <a:rPr lang="ru-RU" sz="1800" dirty="0"/>
              <a:t> – </a:t>
            </a:r>
            <a:r>
              <a:rPr lang="ru-RU" sz="1800" dirty="0" smtClean="0"/>
              <a:t>это возможность </a:t>
            </a:r>
            <a:r>
              <a:rPr lang="ru-RU" sz="1800" dirty="0"/>
              <a:t>облака обслуживать несколько пользователей на </a:t>
            </a:r>
            <a:r>
              <a:rPr lang="ru-RU" sz="1800" dirty="0" smtClean="0"/>
              <a:t>одном физическом </a:t>
            </a:r>
            <a:r>
              <a:rPr lang="ru-RU" sz="1800" dirty="0"/>
              <a:t>оборудовании.</a:t>
            </a:r>
            <a:endParaRPr lang="ru-RU" sz="1800" dirty="0" smtClean="0"/>
          </a:p>
          <a:p>
            <a:r>
              <a:rPr lang="ru-RU" sz="1800" dirty="0"/>
              <a:t>Эластичность</a:t>
            </a:r>
            <a:r>
              <a:rPr lang="ru-RU" sz="1800" dirty="0" smtClean="0"/>
              <a:t>:</a:t>
            </a:r>
            <a:endParaRPr lang="ru-RU" sz="1800" dirty="0"/>
          </a:p>
          <a:p>
            <a:pPr marL="400050" lvl="1" indent="0">
              <a:buNone/>
            </a:pPr>
            <a:r>
              <a:rPr lang="ru-RU" sz="1800" dirty="0"/>
              <a:t>Ресурсы облака должны гибко и быстро предоставляются пользователю. </a:t>
            </a:r>
            <a:r>
              <a:rPr lang="ru-RU" sz="1800" dirty="0" smtClean="0"/>
              <a:t>Это означает</a:t>
            </a:r>
            <a:r>
              <a:rPr lang="ru-RU" sz="1800" dirty="0"/>
              <a:t>, что ресурсов должны быстро масштабироваться (вверх и вниз) </a:t>
            </a:r>
            <a:r>
              <a:rPr lang="ru-RU" sz="1800" dirty="0" smtClean="0"/>
              <a:t>по запросу </a:t>
            </a:r>
            <a:r>
              <a:rPr lang="ru-RU" sz="1800" dirty="0"/>
              <a:t>либо пользователя, либо оператора облака, либо в </a:t>
            </a:r>
            <a:r>
              <a:rPr lang="ru-RU" sz="1800" dirty="0" smtClean="0"/>
              <a:t>автоматическом режиме.</a:t>
            </a:r>
            <a:endParaRPr lang="ru-RU" sz="18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Характеристики облака</a:t>
            </a:r>
          </a:p>
        </p:txBody>
      </p:sp>
    </p:spTree>
    <p:extLst>
      <p:ext uri="{BB962C8B-B14F-4D97-AF65-F5344CB8AC3E}">
        <p14:creationId xmlns:p14="http://schemas.microsoft.com/office/powerpoint/2010/main" val="191559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229600" cy="3610148"/>
          </a:xfrm>
        </p:spPr>
        <p:txBody>
          <a:bodyPr>
            <a:noAutofit/>
          </a:bodyPr>
          <a:lstStyle/>
          <a:p>
            <a:r>
              <a:rPr lang="ru-RU" sz="1800" dirty="0"/>
              <a:t>Измерительный сервис</a:t>
            </a:r>
            <a:r>
              <a:rPr lang="ru-RU" sz="1800" dirty="0" smtClean="0"/>
              <a:t>:</a:t>
            </a:r>
          </a:p>
          <a:p>
            <a:pPr marL="457200" lvl="1" indent="0" algn="just">
              <a:buNone/>
            </a:pPr>
            <a:r>
              <a:rPr lang="ru-RU" sz="1800" dirty="0"/>
              <a:t>Обычно ресурсы облака предоставляются пользователю по </a:t>
            </a:r>
            <a:r>
              <a:rPr lang="ru-RU" sz="1800" dirty="0" smtClean="0"/>
              <a:t>модели «плати </a:t>
            </a:r>
            <a:r>
              <a:rPr lang="ru-RU" sz="1800" dirty="0"/>
              <a:t>за использование». Облака может предоставлять </a:t>
            </a:r>
            <a:r>
              <a:rPr lang="ru-RU" sz="1800" dirty="0" smtClean="0"/>
              <a:t>несколько метрик </a:t>
            </a:r>
            <a:r>
              <a:rPr lang="ru-RU" sz="1800" dirty="0"/>
              <a:t>измерения понятия использования ресурса, например, </a:t>
            </a:r>
            <a:r>
              <a:rPr lang="ru-RU" sz="1800" dirty="0" smtClean="0"/>
              <a:t>время или </a:t>
            </a:r>
            <a:r>
              <a:rPr lang="ru-RU" sz="1800" dirty="0"/>
              <a:t>объем трафика. В общем случае для каждого облачного </a:t>
            </a:r>
            <a:r>
              <a:rPr lang="ru-RU" sz="1800" dirty="0" smtClean="0"/>
              <a:t>сервиса может </a:t>
            </a:r>
            <a:r>
              <a:rPr lang="ru-RU" sz="1800" dirty="0"/>
              <a:t>быть определена своя специфичная метрика.</a:t>
            </a:r>
            <a:endParaRPr lang="ru-RU" sz="1800" dirty="0" smtClean="0"/>
          </a:p>
          <a:p>
            <a:r>
              <a:rPr lang="ru-RU" sz="1800" dirty="0"/>
              <a:t>Производительность</a:t>
            </a:r>
            <a:r>
              <a:rPr lang="ru-RU" sz="1800" dirty="0" smtClean="0"/>
              <a:t>:</a:t>
            </a:r>
            <a:endParaRPr lang="ru-RU" sz="1800" dirty="0"/>
          </a:p>
          <a:p>
            <a:pPr marL="457200" lvl="1" indent="0" algn="just">
              <a:buNone/>
            </a:pPr>
            <a:r>
              <a:rPr lang="ru-RU" sz="1800" dirty="0"/>
              <a:t>Облако достигает необходимой производительности для каждого запущенного в нем приложения. Ресурсы, выделяемые облаком, могут быть масштабированы (вверх и вниз), чтобы динамически подстраиваться под нужны приложения.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Характеристики облака</a:t>
            </a:r>
          </a:p>
        </p:txBody>
      </p:sp>
    </p:spTree>
    <p:extLst>
      <p:ext uri="{BB962C8B-B14F-4D97-AF65-F5344CB8AC3E}">
        <p14:creationId xmlns:p14="http://schemas.microsoft.com/office/powerpoint/2010/main" val="194499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229600" cy="3610148"/>
          </a:xfrm>
        </p:spPr>
        <p:txBody>
          <a:bodyPr>
            <a:noAutofit/>
          </a:bodyPr>
          <a:lstStyle/>
          <a:p>
            <a:r>
              <a:rPr lang="ru-RU" sz="1800" dirty="0"/>
              <a:t>Снижение затрат</a:t>
            </a:r>
            <a:r>
              <a:rPr lang="ru-RU" sz="1800" dirty="0" smtClean="0"/>
              <a:t>:</a:t>
            </a:r>
          </a:p>
          <a:p>
            <a:pPr marL="457200" lvl="1" indent="0" algn="just">
              <a:buNone/>
            </a:pPr>
            <a:r>
              <a:rPr lang="ru-RU" sz="1800" dirty="0"/>
              <a:t>Облака предоставляет возможность снижения затрат на поддержку приложения, так как необходимое количество вычислительных ресурсов и ресурсов хранения может предоставляться динамически. Данный аспект позволяет избежать больших первоначальных вложений для покрытия худшего случая (когда для каждого приложения все ресурсы закупаются независимо).</a:t>
            </a:r>
          </a:p>
          <a:p>
            <a:r>
              <a:rPr lang="ru-RU" sz="1800" dirty="0"/>
              <a:t>Удаленное управление инфраструктурой</a:t>
            </a:r>
            <a:r>
              <a:rPr lang="ru-RU" sz="1800" dirty="0" smtClean="0"/>
              <a:t>:</a:t>
            </a:r>
            <a:endParaRPr lang="ru-RU" sz="1800" dirty="0"/>
          </a:p>
          <a:p>
            <a:pPr marL="400050" lvl="1" indent="0">
              <a:buNone/>
            </a:pPr>
            <a:r>
              <a:rPr lang="ru-RU" sz="1800" dirty="0"/>
              <a:t>Облако предоставляет пользователям (ФЛ, Организации, Бизнес) переносить свою информационную  инфраструктуру в облако.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Характеристики облака</a:t>
            </a:r>
          </a:p>
        </p:txBody>
      </p:sp>
    </p:spTree>
    <p:extLst>
      <p:ext uri="{BB962C8B-B14F-4D97-AF65-F5344CB8AC3E}">
        <p14:creationId xmlns:p14="http://schemas.microsoft.com/office/powerpoint/2010/main" val="52482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914400" y="1237623"/>
            <a:ext cx="8229600" cy="3610148"/>
          </a:xfrm>
        </p:spPr>
        <p:txBody>
          <a:bodyPr>
            <a:noAutofit/>
          </a:bodyPr>
          <a:lstStyle/>
          <a:p>
            <a:r>
              <a:rPr lang="ru-RU" sz="1800" dirty="0"/>
              <a:t>Надежность</a:t>
            </a:r>
            <a:r>
              <a:rPr lang="ru-RU" sz="1800" dirty="0" smtClean="0"/>
              <a:t>:</a:t>
            </a:r>
          </a:p>
          <a:p>
            <a:pPr marL="457200" lvl="1" indent="0" algn="just">
              <a:buNone/>
            </a:pPr>
            <a:r>
              <a:rPr lang="ru-RU" sz="1800" dirty="0"/>
              <a:t>Приложения, которые запущены в облачно окружении в общем случае </a:t>
            </a:r>
            <a:r>
              <a:rPr lang="ru-RU" sz="1800" dirty="0" smtClean="0"/>
              <a:t>более надежны</a:t>
            </a:r>
            <a:r>
              <a:rPr lang="ru-RU" sz="1800" dirty="0"/>
              <a:t>, так как инфраструктура облака находить под </a:t>
            </a:r>
            <a:r>
              <a:rPr lang="ru-RU" sz="1800" dirty="0" smtClean="0"/>
              <a:t>профессиональным, постоянным </a:t>
            </a:r>
            <a:r>
              <a:rPr lang="ru-RU" sz="1800" dirty="0"/>
              <a:t>наблюдением и управлением оператора </a:t>
            </a:r>
            <a:r>
              <a:rPr lang="ru-RU" sz="1800" dirty="0" smtClean="0"/>
              <a:t>облака.</a:t>
            </a:r>
          </a:p>
          <a:p>
            <a:r>
              <a:rPr lang="en-US" sz="1800" dirty="0" smtClean="0"/>
              <a:t>Multi-tenancy</a:t>
            </a:r>
            <a:r>
              <a:rPr lang="ru-RU" sz="1800" dirty="0" smtClean="0"/>
              <a:t>:</a:t>
            </a:r>
          </a:p>
          <a:p>
            <a:pPr marL="685800" lvl="1"/>
            <a:r>
              <a:rPr lang="ru-RU" sz="1800" dirty="0"/>
              <a:t>Данный подход позволяет нескольким пользователям разделять один и те </a:t>
            </a:r>
            <a:r>
              <a:rPr lang="ru-RU" sz="1800" dirty="0" smtClean="0"/>
              <a:t>же ресурсы</a:t>
            </a:r>
            <a:r>
              <a:rPr lang="ru-RU" sz="1800" dirty="0"/>
              <a:t>.</a:t>
            </a:r>
          </a:p>
          <a:p>
            <a:pPr marL="685800" lvl="1"/>
            <a:r>
              <a:rPr lang="ru-RU" sz="1800" dirty="0" smtClean="0"/>
              <a:t>В </a:t>
            </a:r>
            <a:r>
              <a:rPr lang="ru-RU" sz="1800" dirty="0"/>
              <a:t>виртуальном </a:t>
            </a:r>
            <a:r>
              <a:rPr lang="ru-RU" sz="1800" dirty="0" err="1"/>
              <a:t>Multi-tenancy</a:t>
            </a:r>
            <a:r>
              <a:rPr lang="ru-RU" sz="1800" dirty="0"/>
              <a:t>, Под ресурсами обычно понимают пулы </a:t>
            </a:r>
            <a:r>
              <a:rPr lang="ru-RU" sz="1800" dirty="0" smtClean="0"/>
              <a:t>ресурсов хранения</a:t>
            </a:r>
            <a:r>
              <a:rPr lang="ru-RU" sz="1800" dirty="0"/>
              <a:t>, вычислительные ресурсов, а также сетевые ресурсов, </a:t>
            </a:r>
            <a:r>
              <a:rPr lang="ru-RU" sz="1800" dirty="0" smtClean="0"/>
              <a:t>которые разделяются </a:t>
            </a:r>
            <a:r>
              <a:rPr lang="ru-RU" sz="1800" dirty="0"/>
              <a:t>между несколькими пользователями.</a:t>
            </a:r>
          </a:p>
          <a:p>
            <a:pPr marL="685800" lvl="1"/>
            <a:r>
              <a:rPr lang="ru-RU" sz="1800" dirty="0" smtClean="0"/>
              <a:t>В </a:t>
            </a:r>
            <a:r>
              <a:rPr lang="ru-RU" sz="1800" dirty="0"/>
              <a:t>системной (</a:t>
            </a:r>
            <a:r>
              <a:rPr lang="ru-RU" sz="1800" dirty="0" err="1"/>
              <a:t>organic</a:t>
            </a:r>
            <a:r>
              <a:rPr lang="ru-RU" sz="1800" dirty="0"/>
              <a:t>) </a:t>
            </a:r>
            <a:r>
              <a:rPr lang="ru-RU" sz="1800" dirty="0" err="1"/>
              <a:t>Multi-tenancy</a:t>
            </a:r>
            <a:r>
              <a:rPr lang="ru-RU" sz="1800" dirty="0"/>
              <a:t>, каждый компонент облачной системы </a:t>
            </a:r>
            <a:r>
              <a:rPr lang="ru-RU" sz="1800" dirty="0" smtClean="0"/>
              <a:t>разделяется между </a:t>
            </a:r>
            <a:r>
              <a:rPr lang="ru-RU" sz="1800" dirty="0"/>
              <a:t>несколькими пользователями.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Характеристики облака</a:t>
            </a:r>
          </a:p>
        </p:txBody>
      </p:sp>
    </p:spTree>
    <p:extLst>
      <p:ext uri="{BB962C8B-B14F-4D97-AF65-F5344CB8AC3E}">
        <p14:creationId xmlns:p14="http://schemas.microsoft.com/office/powerpoint/2010/main" val="36933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091714" cy="3357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Software as a Service (SaaS)</a:t>
            </a:r>
          </a:p>
          <a:p>
            <a:pPr marL="0" indent="0">
              <a:buNone/>
            </a:pPr>
            <a:r>
              <a:rPr lang="ru-RU" dirty="0"/>
              <a:t>• Приложения, управление и пользовательских интерфейс предоставляется </a:t>
            </a:r>
            <a:r>
              <a:rPr lang="ru-RU" dirty="0" smtClean="0"/>
              <a:t>по сети</a:t>
            </a:r>
            <a:r>
              <a:rPr lang="ru-RU" dirty="0"/>
              <a:t>.</a:t>
            </a:r>
          </a:p>
          <a:p>
            <a:r>
              <a:rPr lang="en-US" dirty="0" smtClean="0"/>
              <a:t>Platform </a:t>
            </a:r>
            <a:r>
              <a:rPr lang="en-US" dirty="0"/>
              <a:t>as a Service (PaaS)</a:t>
            </a:r>
          </a:p>
          <a:p>
            <a:pPr marL="0" indent="0">
              <a:buNone/>
            </a:pPr>
            <a:r>
              <a:rPr lang="ru-RU" dirty="0"/>
              <a:t>• Средства разработки приложений, операционные системы для </a:t>
            </a:r>
            <a:r>
              <a:rPr lang="ru-RU" dirty="0" smtClean="0"/>
              <a:t>запуска приложений</a:t>
            </a:r>
            <a:r>
              <a:rPr lang="ru-RU" dirty="0"/>
              <a:t>, и инструментарий для размещения приложений.</a:t>
            </a:r>
          </a:p>
          <a:p>
            <a:r>
              <a:rPr lang="en-US" dirty="0" smtClean="0"/>
              <a:t>Infrastructure </a:t>
            </a:r>
            <a:r>
              <a:rPr lang="en-US" dirty="0"/>
              <a:t>as a Service (IaaS)</a:t>
            </a:r>
          </a:p>
          <a:p>
            <a:pPr marL="0" indent="0">
              <a:buNone/>
            </a:pPr>
            <a:r>
              <a:rPr lang="ru-RU" dirty="0"/>
              <a:t>• Виртуальные вычислительные, сетевые ресурсы и ресурсы </a:t>
            </a:r>
            <a:r>
              <a:rPr lang="ru-RU" dirty="0" smtClean="0"/>
              <a:t>хранения предоставляются </a:t>
            </a:r>
            <a:r>
              <a:rPr lang="ru-RU" dirty="0"/>
              <a:t>пользователю по запросу. Обычно это делается в </a:t>
            </a:r>
            <a:r>
              <a:rPr lang="ru-RU" dirty="0" smtClean="0"/>
              <a:t>виде виртуальных </a:t>
            </a:r>
            <a:r>
              <a:rPr lang="ru-RU" dirty="0"/>
              <a:t>машин, контейнеров и других виртуальных сущностей.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Сервисные модели облака</a:t>
            </a:r>
          </a:p>
        </p:txBody>
      </p:sp>
    </p:spTree>
    <p:extLst>
      <p:ext uri="{BB962C8B-B14F-4D97-AF65-F5344CB8AC3E}">
        <p14:creationId xmlns:p14="http://schemas.microsoft.com/office/powerpoint/2010/main" val="215426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37623"/>
            <a:ext cx="8548913" cy="3215766"/>
          </a:xfrm>
        </p:spPr>
        <p:txBody>
          <a:bodyPr>
            <a:noAutofit/>
          </a:bodyPr>
          <a:lstStyle/>
          <a:p>
            <a:r>
              <a:rPr lang="ru-RU" sz="1400" dirty="0"/>
              <a:t>Приложение/интерфейс</a:t>
            </a:r>
          </a:p>
          <a:p>
            <a:pPr marL="0" indent="0">
              <a:buNone/>
            </a:pPr>
            <a:r>
              <a:rPr lang="ru-RU" sz="1400" dirty="0"/>
              <a:t>• </a:t>
            </a:r>
            <a:r>
              <a:rPr lang="ru-RU" sz="1400" dirty="0" err="1"/>
              <a:t>SaaS</a:t>
            </a:r>
            <a:r>
              <a:rPr lang="ru-RU" sz="1400" dirty="0"/>
              <a:t> предоставляет пользователю полноценное приложение, либо </a:t>
            </a:r>
            <a:r>
              <a:rPr lang="ru-RU" sz="1400" dirty="0" smtClean="0"/>
              <a:t>пользовательских интерфейс </a:t>
            </a:r>
            <a:r>
              <a:rPr lang="ru-RU" sz="1400" dirty="0"/>
              <a:t>для доступа к приложению.</a:t>
            </a:r>
          </a:p>
          <a:p>
            <a:r>
              <a:rPr lang="ru-RU" sz="1400" dirty="0" smtClean="0"/>
              <a:t>Удаленное </a:t>
            </a:r>
            <a:r>
              <a:rPr lang="ru-RU" sz="1400" dirty="0"/>
              <a:t>управления инфраструктурой</a:t>
            </a:r>
          </a:p>
          <a:p>
            <a:pPr marL="0" indent="0">
              <a:buNone/>
            </a:pPr>
            <a:r>
              <a:rPr lang="ru-RU" sz="1400" dirty="0"/>
              <a:t>• Оператор облака управления физической инфраструктурой (серверами, </a:t>
            </a:r>
            <a:r>
              <a:rPr lang="ru-RU" sz="1400" dirty="0" smtClean="0"/>
              <a:t>сетевыми устройствами</a:t>
            </a:r>
            <a:r>
              <a:rPr lang="ru-RU" sz="1400" dirty="0"/>
              <a:t>, ОС, системами хранения). При этом пользователь </a:t>
            </a:r>
            <a:r>
              <a:rPr lang="ru-RU" sz="1400" dirty="0" smtClean="0"/>
              <a:t>полностью абстрагирован </a:t>
            </a:r>
            <a:r>
              <a:rPr lang="ru-RU" sz="1400" dirty="0"/>
              <a:t>от этого управления.</a:t>
            </a:r>
          </a:p>
          <a:p>
            <a:r>
              <a:rPr lang="ru-RU" sz="1400" dirty="0" smtClean="0"/>
              <a:t>Тонкие </a:t>
            </a:r>
            <a:r>
              <a:rPr lang="ru-RU" sz="1400" dirty="0"/>
              <a:t>клиентские интерфейсы</a:t>
            </a:r>
          </a:p>
          <a:p>
            <a:pPr marL="0" indent="0">
              <a:buNone/>
            </a:pPr>
            <a:r>
              <a:rPr lang="ru-RU" sz="1400" dirty="0"/>
              <a:t>• Приложение предоставляется клиенту, через ≪тонкие≫ клиентские </a:t>
            </a:r>
            <a:r>
              <a:rPr lang="ru-RU" sz="1400" dirty="0" smtClean="0"/>
              <a:t>интерфейсы (например</a:t>
            </a:r>
            <a:r>
              <a:rPr lang="ru-RU" sz="1400" dirty="0"/>
              <a:t>, браузер). </a:t>
            </a:r>
            <a:r>
              <a:rPr lang="ru-RU" sz="1400" dirty="0" err="1"/>
              <a:t>SaaS</a:t>
            </a:r>
            <a:r>
              <a:rPr lang="ru-RU" sz="1400" dirty="0"/>
              <a:t> приложения являются платформа независимыми, </a:t>
            </a:r>
            <a:r>
              <a:rPr lang="ru-RU" sz="1400" dirty="0" smtClean="0"/>
              <a:t>с возможность </a:t>
            </a:r>
            <a:r>
              <a:rPr lang="ru-RU" sz="1400" dirty="0"/>
              <a:t>доступа через ПК/ноутбук/планшет/телефон с различными ОС.</a:t>
            </a:r>
          </a:p>
          <a:p>
            <a:r>
              <a:rPr lang="ru-RU" sz="1400" dirty="0" smtClean="0"/>
              <a:t>Доступ </a:t>
            </a:r>
            <a:r>
              <a:rPr lang="ru-RU" sz="1400" dirty="0"/>
              <a:t>из любой точки</a:t>
            </a:r>
          </a:p>
          <a:p>
            <a:pPr marL="0" indent="0">
              <a:buNone/>
            </a:pPr>
            <a:r>
              <a:rPr lang="ru-RU" sz="1400" dirty="0"/>
              <a:t>• Так как оператор облака управляет как приложением так и данными, </a:t>
            </a:r>
            <a:r>
              <a:rPr lang="ru-RU" sz="1400" dirty="0" smtClean="0"/>
              <a:t>пользователи могут </a:t>
            </a:r>
            <a:r>
              <a:rPr lang="ru-RU" sz="1400" dirty="0"/>
              <a:t>получать доступ из любой точки (откуда доступно облако).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en-US" dirty="0"/>
              <a:t>Software-as-a-Service (SaaS)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536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en-US" dirty="0"/>
              <a:t>Software-as-a-Service (SaaS)</a:t>
            </a:r>
            <a:endParaRPr lang="ru-RU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570" y="1237623"/>
            <a:ext cx="7641771" cy="318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181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199" y="1364343"/>
            <a:ext cx="8425543" cy="323028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Разработка и размещение:</a:t>
            </a:r>
          </a:p>
          <a:p>
            <a:pPr marL="0" indent="0">
              <a:buNone/>
            </a:pPr>
            <a:r>
              <a:rPr lang="ru-RU" dirty="0"/>
              <a:t>• </a:t>
            </a:r>
            <a:r>
              <a:rPr lang="ru-RU" dirty="0" err="1"/>
              <a:t>PaaS</a:t>
            </a:r>
            <a:r>
              <a:rPr lang="ru-RU" dirty="0"/>
              <a:t> представляет пользователю возможность разрабатывать и </a:t>
            </a:r>
            <a:r>
              <a:rPr lang="ru-RU" dirty="0" smtClean="0"/>
              <a:t>размещать приложение </a:t>
            </a:r>
            <a:r>
              <a:rPr lang="ru-RU" dirty="0"/>
              <a:t>в облаке. Для этого использует специальным </a:t>
            </a:r>
            <a:r>
              <a:rPr lang="ru-RU" dirty="0" smtClean="0"/>
              <a:t>инструментарий разработки </a:t>
            </a:r>
            <a:r>
              <a:rPr lang="ru-RU" dirty="0"/>
              <a:t>(IDE, API, библиотеки), предоставляемые оператором облака.</a:t>
            </a:r>
          </a:p>
          <a:p>
            <a:r>
              <a:rPr lang="ru-RU" dirty="0" smtClean="0"/>
              <a:t>Оператор </a:t>
            </a:r>
            <a:r>
              <a:rPr lang="ru-RU" dirty="0"/>
              <a:t>управляет инфраструктурой:</a:t>
            </a:r>
          </a:p>
          <a:p>
            <a:pPr marL="0" indent="0">
              <a:buNone/>
            </a:pPr>
            <a:r>
              <a:rPr lang="ru-RU" dirty="0"/>
              <a:t>• Оператор облака управления физической инфраструктурой (</a:t>
            </a:r>
            <a:r>
              <a:rPr lang="ru-RU" dirty="0" smtClean="0"/>
              <a:t>серверами, сетевыми </a:t>
            </a:r>
            <a:r>
              <a:rPr lang="ru-RU" dirty="0"/>
              <a:t>устройствами, ОС, системами хранения). При этом </a:t>
            </a:r>
            <a:r>
              <a:rPr lang="ru-RU" dirty="0" smtClean="0"/>
              <a:t>пользователь полностью </a:t>
            </a:r>
            <a:r>
              <a:rPr lang="ru-RU" dirty="0"/>
              <a:t>абстрагирован от этого управления.</a:t>
            </a:r>
          </a:p>
          <a:p>
            <a:r>
              <a:rPr lang="ru-RU" dirty="0" smtClean="0"/>
              <a:t>Пользователь </a:t>
            </a:r>
            <a:r>
              <a:rPr lang="ru-RU" dirty="0"/>
              <a:t>управляет приложением:</a:t>
            </a:r>
          </a:p>
          <a:p>
            <a:pPr marL="0" indent="0">
              <a:buNone/>
            </a:pPr>
            <a:r>
              <a:rPr lang="ru-RU" dirty="0"/>
              <a:t>• Пользователи отвечают за разработку, размещение, конфигурирование </a:t>
            </a:r>
            <a:r>
              <a:rPr lang="ru-RU" dirty="0" smtClean="0"/>
              <a:t>и управление </a:t>
            </a:r>
            <a:r>
              <a:rPr lang="ru-RU" dirty="0"/>
              <a:t>приложениями, </a:t>
            </a:r>
            <a:r>
              <a:rPr lang="ru-RU" dirty="0" err="1"/>
              <a:t>запущеннымыи</a:t>
            </a:r>
            <a:r>
              <a:rPr lang="ru-RU" dirty="0"/>
              <a:t> в облачной инфраструктуре.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en-US" dirty="0"/>
              <a:t>Platform-as-a-Service (PaaS)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746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en-US" dirty="0"/>
              <a:t>Platform-as-a-Service (PaaS)</a:t>
            </a:r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237623"/>
            <a:ext cx="7540171" cy="3190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479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12057" y="525517"/>
            <a:ext cx="8229600" cy="620483"/>
          </a:xfrm>
        </p:spPr>
        <p:txBody>
          <a:bodyPr/>
          <a:lstStyle/>
          <a:p>
            <a:r>
              <a:rPr lang="ru-RU" dirty="0" smtClean="0"/>
              <a:t>Использование Облака в мире</a:t>
            </a:r>
            <a:endParaRPr lang="ru-RU" dirty="0"/>
          </a:p>
        </p:txBody>
      </p:sp>
      <p:pic>
        <p:nvPicPr>
          <p:cNvPr id="6146" name="Picture 2" descr="Selected platforms and tools in the open (big) data cloud ecosystem. Source: Authors.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57" y="1296306"/>
            <a:ext cx="2492947" cy="352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Похожее изображе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562" y="1146000"/>
            <a:ext cx="5322237" cy="395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14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200" y="1291771"/>
            <a:ext cx="8229600" cy="330285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Предоставление ресурсов</a:t>
            </a:r>
          </a:p>
          <a:p>
            <a:pPr marL="0" indent="0">
              <a:buNone/>
            </a:pPr>
            <a:r>
              <a:rPr lang="ru-RU" dirty="0"/>
              <a:t>• Предоставляет пользователю вычислительные ресурсы и ресурсы хранения.</a:t>
            </a:r>
          </a:p>
          <a:p>
            <a:r>
              <a:rPr lang="ru-RU" dirty="0" smtClean="0"/>
              <a:t>Виртуальные </a:t>
            </a:r>
            <a:r>
              <a:rPr lang="ru-RU" dirty="0"/>
              <a:t>машины (ВМ)</a:t>
            </a:r>
          </a:p>
          <a:p>
            <a:pPr marL="0" indent="0">
              <a:buNone/>
            </a:pPr>
            <a:r>
              <a:rPr lang="ru-RU" dirty="0"/>
              <a:t>• Ресурсы предоставляются пользователю в виде ВМ и виртуальных хранилищ </a:t>
            </a:r>
            <a:r>
              <a:rPr lang="ru-RU" dirty="0" smtClean="0"/>
              <a:t>. Пользователи </a:t>
            </a:r>
            <a:r>
              <a:rPr lang="ru-RU" dirty="0"/>
              <a:t>могут запустить, остановить, конфигурировать и управлять </a:t>
            </a:r>
            <a:r>
              <a:rPr lang="ru-RU" dirty="0" smtClean="0"/>
              <a:t>ВМ и </a:t>
            </a:r>
            <a:r>
              <a:rPr lang="ru-RU" dirty="0"/>
              <a:t>виртуальными хранилищами.</a:t>
            </a:r>
          </a:p>
          <a:p>
            <a:r>
              <a:rPr lang="ru-RU" dirty="0" smtClean="0"/>
              <a:t>Оператор </a:t>
            </a:r>
            <a:r>
              <a:rPr lang="ru-RU" dirty="0"/>
              <a:t>управляет инфраструктурой:</a:t>
            </a:r>
          </a:p>
          <a:p>
            <a:pPr marL="0" indent="0">
              <a:buNone/>
            </a:pPr>
            <a:r>
              <a:rPr lang="ru-RU" dirty="0"/>
              <a:t>• Оператор облака управления физической инфраструктурой (</a:t>
            </a:r>
            <a:r>
              <a:rPr lang="ru-RU" dirty="0" smtClean="0"/>
              <a:t>серверами, сетевыми </a:t>
            </a:r>
            <a:r>
              <a:rPr lang="ru-RU" dirty="0"/>
              <a:t>устройствами, ОС, системами хранения). При этом </a:t>
            </a:r>
            <a:r>
              <a:rPr lang="ru-RU" dirty="0" smtClean="0"/>
              <a:t>пользователь полностью </a:t>
            </a:r>
            <a:r>
              <a:rPr lang="ru-RU" dirty="0"/>
              <a:t>абстрагирован от этого управления.</a:t>
            </a:r>
          </a:p>
          <a:p>
            <a:r>
              <a:rPr lang="ru-RU" dirty="0" smtClean="0"/>
              <a:t>Плати </a:t>
            </a:r>
            <a:r>
              <a:rPr lang="ru-RU" dirty="0"/>
              <a:t>за использование (</a:t>
            </a:r>
            <a:r>
              <a:rPr lang="en-US" dirty="0"/>
              <a:t>Pay-per-use/Pay-as-you-go):</a:t>
            </a:r>
          </a:p>
          <a:p>
            <a:pPr marL="0" indent="0">
              <a:buNone/>
            </a:pPr>
            <a:r>
              <a:rPr lang="ru-RU" dirty="0"/>
              <a:t>• Стоимость виртуальные ресурсы, предоставляемых </a:t>
            </a:r>
            <a:r>
              <a:rPr lang="ru-RU" dirty="0" smtClean="0"/>
              <a:t>пользователю, рассчитывается </a:t>
            </a:r>
            <a:r>
              <a:rPr lang="ru-RU" dirty="0"/>
              <a:t>по модели </a:t>
            </a:r>
            <a:r>
              <a:rPr lang="en-US" dirty="0"/>
              <a:t>pay-per-use/pay-as-you-go.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684270"/>
            <a:ext cx="8229600" cy="620483"/>
          </a:xfrm>
        </p:spPr>
        <p:txBody>
          <a:bodyPr/>
          <a:lstStyle/>
          <a:p>
            <a:r>
              <a:rPr lang="en-US" dirty="0"/>
              <a:t>Infrastructure-as-a-Service (IaaS)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012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657340"/>
            <a:ext cx="8229600" cy="620483"/>
          </a:xfrm>
        </p:spPr>
        <p:txBody>
          <a:bodyPr/>
          <a:lstStyle/>
          <a:p>
            <a:r>
              <a:rPr lang="en-US" dirty="0"/>
              <a:t>Infrastructure-as-a-Service (IaaS)</a:t>
            </a:r>
            <a:endParaRPr lang="ru-RU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57" y="1112028"/>
            <a:ext cx="7815943" cy="343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28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en-US" dirty="0" smtClean="0"/>
              <a:t>AWS Demo</a:t>
            </a:r>
            <a:endParaRPr lang="ru-RU" dirty="0"/>
          </a:p>
        </p:txBody>
      </p:sp>
      <p:pic>
        <p:nvPicPr>
          <p:cNvPr id="8194" name="Picture 2" descr="https://regmedia.co.uk/2017/03/28/vsphere_aws_demo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457" y="1237623"/>
            <a:ext cx="6277429" cy="313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73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en-US" dirty="0" smtClean="0"/>
              <a:t>AWS Demo</a:t>
            </a:r>
            <a:endParaRPr lang="ru-RU" dirty="0"/>
          </a:p>
        </p:txBody>
      </p:sp>
      <p:pic>
        <p:nvPicPr>
          <p:cNvPr id="9220" name="Picture 4" descr="https://d1.awsstatic.com/aws-answers/answers-images/live-streaming-on-aws-architecture.af9074fc8bcad35d6b708002ff97d956f9d36284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856" y="1237623"/>
            <a:ext cx="7322457" cy="303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73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199" y="1349829"/>
            <a:ext cx="8338457" cy="3244794"/>
          </a:xfrm>
        </p:spPr>
        <p:txBody>
          <a:bodyPr>
            <a:normAutofit/>
          </a:bodyPr>
          <a:lstStyle/>
          <a:p>
            <a:r>
              <a:rPr lang="en-US" b="1" dirty="0"/>
              <a:t>IaaS, PaaS, SaaS</a:t>
            </a:r>
            <a:r>
              <a:rPr lang="en-US" b="1" dirty="0" smtClean="0"/>
              <a:t>.</a:t>
            </a:r>
          </a:p>
          <a:p>
            <a:r>
              <a:rPr lang="ru-RU" dirty="0"/>
              <a:t>аппаратное обеспечение как услуга (</a:t>
            </a:r>
            <a:r>
              <a:rPr lang="ru-RU" dirty="0" err="1"/>
              <a:t>Hardware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a </a:t>
            </a:r>
            <a:r>
              <a:rPr lang="ru-RU" dirty="0" err="1"/>
              <a:t>Service</a:t>
            </a:r>
            <a:r>
              <a:rPr lang="ru-RU" dirty="0"/>
              <a:t>)</a:t>
            </a:r>
          </a:p>
          <a:p>
            <a:r>
              <a:rPr lang="ru-RU" dirty="0" smtClean="0"/>
              <a:t>рабочее </a:t>
            </a:r>
            <a:r>
              <a:rPr lang="ru-RU" dirty="0"/>
              <a:t>место как услуга (</a:t>
            </a:r>
            <a:r>
              <a:rPr lang="en-US" dirty="0"/>
              <a:t>Workplace as a Service)</a:t>
            </a:r>
          </a:p>
          <a:p>
            <a:r>
              <a:rPr lang="pt-BR" dirty="0" smtClean="0"/>
              <a:t>данные </a:t>
            </a:r>
            <a:r>
              <a:rPr lang="pt-BR" dirty="0"/>
              <a:t>как услуга (Data as a Service)</a:t>
            </a:r>
          </a:p>
          <a:p>
            <a:r>
              <a:rPr lang="ru-RU" dirty="0" smtClean="0"/>
              <a:t>безопасность </a:t>
            </a:r>
            <a:r>
              <a:rPr lang="ru-RU" dirty="0"/>
              <a:t>как сервис (</a:t>
            </a:r>
            <a:r>
              <a:rPr lang="ru-RU" dirty="0" err="1"/>
              <a:t>Security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a </a:t>
            </a:r>
            <a:r>
              <a:rPr lang="ru-RU" dirty="0" err="1"/>
              <a:t>Service</a:t>
            </a:r>
            <a:r>
              <a:rPr lang="ru-RU" dirty="0"/>
              <a:t>)</a:t>
            </a:r>
          </a:p>
          <a:p>
            <a:r>
              <a:rPr lang="en-US" b="1" i="1" dirty="0" err="1" smtClean="0"/>
              <a:t>все</a:t>
            </a:r>
            <a:r>
              <a:rPr lang="en-US" b="1" i="1" dirty="0" smtClean="0"/>
              <a:t> </a:t>
            </a:r>
            <a:r>
              <a:rPr lang="en-US" b="1" i="1" dirty="0" err="1"/>
              <a:t>как</a:t>
            </a:r>
            <a:r>
              <a:rPr lang="en-US" b="1" i="1" dirty="0"/>
              <a:t> </a:t>
            </a:r>
            <a:r>
              <a:rPr lang="en-US" b="1" i="1" dirty="0" err="1"/>
              <a:t>услуга</a:t>
            </a:r>
            <a:r>
              <a:rPr lang="en-US" b="1" i="1" dirty="0"/>
              <a:t> (Everything as a Service)</a:t>
            </a:r>
            <a:endParaRPr lang="ru-RU" b="1" i="1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Виды услуг предоставляемые облаками</a:t>
            </a:r>
          </a:p>
        </p:txBody>
      </p:sp>
    </p:spTree>
    <p:extLst>
      <p:ext uri="{BB962C8B-B14F-4D97-AF65-F5344CB8AC3E}">
        <p14:creationId xmlns:p14="http://schemas.microsoft.com/office/powerpoint/2010/main" val="2247795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518885" y="1136491"/>
            <a:ext cx="8291285" cy="345813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Публичное облако</a:t>
            </a:r>
          </a:p>
          <a:p>
            <a:pPr marL="0" indent="179388">
              <a:buNone/>
              <a:tabLst>
                <a:tab pos="357188" algn="l"/>
              </a:tabLst>
            </a:pPr>
            <a:r>
              <a:rPr lang="ru-RU" dirty="0"/>
              <a:t>• </a:t>
            </a:r>
            <a:r>
              <a:rPr lang="ru-RU" dirty="0" smtClean="0"/>
              <a:t>	Доступное </a:t>
            </a:r>
            <a:r>
              <a:rPr lang="ru-RU" dirty="0"/>
              <a:t>для любого пользователя или большой индустриальной группы</a:t>
            </a:r>
          </a:p>
          <a:p>
            <a:r>
              <a:rPr lang="ru-RU" dirty="0" smtClean="0"/>
              <a:t>Частное </a:t>
            </a:r>
            <a:r>
              <a:rPr lang="ru-RU" dirty="0"/>
              <a:t>облако</a:t>
            </a:r>
          </a:p>
          <a:p>
            <a:pPr marL="0" indent="179388">
              <a:buNone/>
              <a:tabLst>
                <a:tab pos="357188" algn="l"/>
              </a:tabLst>
            </a:pPr>
            <a:r>
              <a:rPr lang="ru-RU" dirty="0"/>
              <a:t>• </a:t>
            </a:r>
            <a:r>
              <a:rPr lang="ru-RU" dirty="0" smtClean="0"/>
              <a:t>	</a:t>
            </a:r>
            <a:r>
              <a:rPr lang="ru-RU" dirty="0"/>
              <a:t>Эксплуатируется </a:t>
            </a:r>
            <a:r>
              <a:rPr lang="ru-RU" dirty="0"/>
              <a:t>только для </a:t>
            </a:r>
            <a:r>
              <a:rPr lang="ru-RU" dirty="0"/>
              <a:t>нужд конкретной организации</a:t>
            </a:r>
          </a:p>
          <a:p>
            <a:r>
              <a:rPr lang="ru-RU" dirty="0"/>
              <a:t>Гибридное </a:t>
            </a:r>
            <a:r>
              <a:rPr lang="ru-RU" dirty="0" smtClean="0"/>
              <a:t>облако</a:t>
            </a:r>
            <a:endParaRPr lang="ru-RU" dirty="0" smtClean="0"/>
          </a:p>
          <a:p>
            <a:pPr marL="0" indent="179388">
              <a:buNone/>
              <a:tabLst>
                <a:tab pos="357188" algn="l"/>
              </a:tabLst>
            </a:pPr>
            <a:r>
              <a:rPr lang="ru-RU" dirty="0"/>
              <a:t>• </a:t>
            </a:r>
            <a:r>
              <a:rPr lang="ru-RU" dirty="0" smtClean="0"/>
              <a:t>	Сочетает </a:t>
            </a:r>
            <a:r>
              <a:rPr lang="ru-RU" dirty="0"/>
              <a:t>в себе несколько типов облаков (публичное и частное) которые</a:t>
            </a:r>
            <a:r>
              <a:rPr lang="en-US" dirty="0"/>
              <a:t> </a:t>
            </a:r>
            <a:r>
              <a:rPr lang="ru-RU" dirty="0"/>
              <a:t>остаются отдельными облаками, однако связаны между собой, для</a:t>
            </a:r>
            <a:r>
              <a:rPr lang="en-US" dirty="0"/>
              <a:t> </a:t>
            </a:r>
            <a:r>
              <a:rPr lang="ru-RU" dirty="0"/>
              <a:t>предоставления доступа к приложениям и с возможностью переноса данных</a:t>
            </a:r>
            <a:endParaRPr lang="en-US" dirty="0" smtClean="0"/>
          </a:p>
          <a:p>
            <a:r>
              <a:rPr lang="ru-RU" dirty="0" err="1">
                <a:latin typeface="Golos Text" panose="020B0503020202020204"/>
                <a:cs typeface="Times New Roman" panose="02020603050405020304" pitchFamily="18" charset="0"/>
              </a:rPr>
              <a:t>Мультиоблака</a:t>
            </a:r>
            <a:r>
              <a:rPr lang="ru-RU" dirty="0">
                <a:latin typeface="Golos Text" panose="020B0503020202020204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Multicloud</a:t>
            </a:r>
            <a:r>
              <a:rPr lang="ru-RU" dirty="0" smtClean="0">
                <a:latin typeface="Golos Text" panose="020B0503020202020204"/>
                <a:cs typeface="Times New Roman" panose="02020603050405020304" pitchFamily="18" charset="0"/>
              </a:rPr>
              <a:t>)</a:t>
            </a:r>
            <a:endParaRPr lang="en-US" dirty="0" smtClean="0">
              <a:latin typeface="Golos Text" panose="020B0503020202020204"/>
              <a:cs typeface="Times New Roman" panose="02020603050405020304" pitchFamily="18" charset="0"/>
            </a:endParaRPr>
          </a:p>
          <a:p>
            <a:pPr marL="0" indent="179388">
              <a:buNone/>
              <a:tabLst>
                <a:tab pos="357188" algn="l"/>
              </a:tabLst>
            </a:pPr>
            <a:r>
              <a:rPr lang="ru-RU" dirty="0"/>
              <a:t>• 	Облачный подход, состоящий из более чем одной облачной службы от более чем одного поставщика облачных вычислений - общедоступных или </a:t>
            </a:r>
            <a:r>
              <a:rPr lang="ru-RU" dirty="0" err="1" smtClean="0"/>
              <a:t>частных</a:t>
            </a:r>
            <a:r>
              <a:rPr lang="ru-RU" dirty="0" err="1" smtClean="0">
                <a:latin typeface="Golos Text" panose="020B0503020202020204"/>
                <a:cs typeface="Times New Roman" panose="02020603050405020304" pitchFamily="18" charset="0"/>
              </a:rPr>
              <a:t>Защищенное</a:t>
            </a:r>
            <a:r>
              <a:rPr lang="ru-RU" dirty="0" smtClean="0">
                <a:latin typeface="Golos Text" panose="020B0503020202020204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Golos Text" panose="020B0503020202020204"/>
                <a:cs typeface="Times New Roman" panose="02020603050405020304" pitchFamily="18" charset="0"/>
              </a:rPr>
              <a:t>облако ФЗ-152</a:t>
            </a:r>
          </a:p>
          <a:p>
            <a:r>
              <a:rPr lang="en-US" dirty="0" smtClean="0"/>
              <a:t>Community </a:t>
            </a:r>
            <a:r>
              <a:rPr lang="ru-RU" dirty="0" smtClean="0"/>
              <a:t>облако</a:t>
            </a:r>
            <a:endParaRPr lang="ru-RU" dirty="0" smtClean="0"/>
          </a:p>
          <a:p>
            <a:pPr marL="0" indent="179388">
              <a:buNone/>
              <a:tabLst>
                <a:tab pos="357188" algn="l"/>
              </a:tabLst>
            </a:pPr>
            <a:r>
              <a:rPr lang="ru-RU" dirty="0"/>
              <a:t>• </a:t>
            </a:r>
            <a:r>
              <a:rPr lang="ru-RU" dirty="0" smtClean="0"/>
              <a:t>	Доступное </a:t>
            </a:r>
            <a:r>
              <a:rPr lang="ru-RU" dirty="0"/>
              <a:t>для группы организаций, которые поддерживают определенное</a:t>
            </a:r>
            <a:r>
              <a:rPr lang="en-US" dirty="0"/>
              <a:t> </a:t>
            </a:r>
            <a:r>
              <a:rPr lang="en-US" dirty="0" smtClean="0"/>
              <a:t>community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516008"/>
            <a:ext cx="8229600" cy="620483"/>
          </a:xfrm>
        </p:spPr>
        <p:txBody>
          <a:bodyPr/>
          <a:lstStyle/>
          <a:p>
            <a:r>
              <a:rPr lang="ru-RU" dirty="0"/>
              <a:t>Модели размещения облаков</a:t>
            </a:r>
          </a:p>
        </p:txBody>
      </p:sp>
    </p:spTree>
    <p:extLst>
      <p:ext uri="{BB962C8B-B14F-4D97-AF65-F5344CB8AC3E}">
        <p14:creationId xmlns:p14="http://schemas.microsoft.com/office/powerpoint/2010/main" val="90030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199" y="1199522"/>
            <a:ext cx="8352971" cy="3395101"/>
          </a:xfrm>
        </p:spPr>
        <p:txBody>
          <a:bodyPr/>
          <a:lstStyle/>
          <a:p>
            <a:r>
              <a:rPr lang="ru-RU" dirty="0"/>
              <a:t>Постоянное соединение с сетью</a:t>
            </a:r>
          </a:p>
          <a:p>
            <a:r>
              <a:rPr lang="ru-RU" dirty="0" smtClean="0"/>
              <a:t>Программное </a:t>
            </a:r>
            <a:r>
              <a:rPr lang="ru-RU" dirty="0"/>
              <a:t>обеспечение и его </a:t>
            </a:r>
            <a:r>
              <a:rPr lang="ru-RU" dirty="0" err="1"/>
              <a:t>кастомизация</a:t>
            </a:r>
            <a:endParaRPr lang="ru-RU" dirty="0"/>
          </a:p>
          <a:p>
            <a:r>
              <a:rPr lang="ru-RU" dirty="0" smtClean="0"/>
              <a:t>Конфиденциальность</a:t>
            </a:r>
            <a:endParaRPr lang="ru-RU" dirty="0"/>
          </a:p>
          <a:p>
            <a:r>
              <a:rPr lang="ru-RU" dirty="0" smtClean="0"/>
              <a:t>Надежность</a:t>
            </a:r>
            <a:endParaRPr lang="ru-RU" dirty="0"/>
          </a:p>
          <a:p>
            <a:r>
              <a:rPr lang="ru-RU" dirty="0" smtClean="0"/>
              <a:t>Дороговизна </a:t>
            </a:r>
            <a:r>
              <a:rPr lang="ru-RU" dirty="0"/>
              <a:t>оборудования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42685" y="579039"/>
            <a:ext cx="8229600" cy="620483"/>
          </a:xfrm>
        </p:spPr>
        <p:txBody>
          <a:bodyPr/>
          <a:lstStyle/>
          <a:p>
            <a:r>
              <a:rPr lang="ru-RU" dirty="0"/>
              <a:t>Недостатки облаков</a:t>
            </a:r>
          </a:p>
        </p:txBody>
      </p:sp>
    </p:spTree>
    <p:extLst>
      <p:ext uri="{BB962C8B-B14F-4D97-AF65-F5344CB8AC3E}">
        <p14:creationId xmlns:p14="http://schemas.microsoft.com/office/powerpoint/2010/main" val="356398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199" y="1237623"/>
            <a:ext cx="8048171" cy="33570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Банковские и финансовые приложения</a:t>
            </a:r>
          </a:p>
          <a:p>
            <a:r>
              <a:rPr lang="ru-RU" dirty="0" smtClean="0"/>
              <a:t>Приложения </a:t>
            </a:r>
            <a:r>
              <a:rPr lang="ru-RU" dirty="0"/>
              <a:t>электронной торговли</a:t>
            </a:r>
          </a:p>
          <a:p>
            <a:r>
              <a:rPr lang="ru-RU" dirty="0" smtClean="0"/>
              <a:t>Социальные </a:t>
            </a:r>
            <a:r>
              <a:rPr lang="ru-RU" dirty="0"/>
              <a:t>сети</a:t>
            </a:r>
          </a:p>
          <a:p>
            <a:r>
              <a:rPr lang="ru-RU" dirty="0" smtClean="0"/>
              <a:t>Приложения </a:t>
            </a:r>
            <a:r>
              <a:rPr lang="ru-RU" dirty="0"/>
              <a:t>систем здравоохранения</a:t>
            </a:r>
          </a:p>
          <a:p>
            <a:r>
              <a:rPr lang="ru-RU" dirty="0" smtClean="0"/>
              <a:t>Системы </a:t>
            </a:r>
            <a:r>
              <a:rPr lang="ru-RU" dirty="0"/>
              <a:t>энергетики</a:t>
            </a:r>
          </a:p>
          <a:p>
            <a:r>
              <a:rPr lang="ru-RU" dirty="0" smtClean="0"/>
              <a:t>Интеллектуальные </a:t>
            </a:r>
            <a:r>
              <a:rPr lang="ru-RU" dirty="0"/>
              <a:t>транспортные системы</a:t>
            </a:r>
          </a:p>
          <a:p>
            <a:r>
              <a:rPr lang="ru-RU" dirty="0" smtClean="0"/>
              <a:t>Электронное </a:t>
            </a:r>
            <a:r>
              <a:rPr lang="ru-RU" dirty="0"/>
              <a:t>правительство</a:t>
            </a:r>
          </a:p>
          <a:p>
            <a:r>
              <a:rPr lang="ru-RU" dirty="0" smtClean="0"/>
              <a:t>Мобильные </a:t>
            </a:r>
            <a:r>
              <a:rPr lang="ru-RU" dirty="0"/>
              <a:t>коммуникации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Облачные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5598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half" idx="1"/>
          </p:nvPr>
        </p:nvSpPr>
        <p:spPr>
          <a:xfrm>
            <a:off x="457199" y="1759937"/>
            <a:ext cx="8440057" cy="2834686"/>
          </a:xfrm>
        </p:spPr>
        <p:txBody>
          <a:bodyPr>
            <a:normAutofit/>
          </a:bodyPr>
          <a:lstStyle/>
          <a:p>
            <a:r>
              <a:rPr lang="en-US" dirty="0"/>
              <a:t>Telco </a:t>
            </a:r>
            <a:r>
              <a:rPr lang="ru-RU" dirty="0"/>
              <a:t>провайдеры</a:t>
            </a:r>
          </a:p>
          <a:p>
            <a:r>
              <a:rPr lang="ru-RU" dirty="0" smtClean="0"/>
              <a:t>Корпоративные </a:t>
            </a:r>
            <a:r>
              <a:rPr lang="ru-RU" dirty="0"/>
              <a:t>провайдеры</a:t>
            </a:r>
          </a:p>
          <a:p>
            <a:r>
              <a:rPr lang="ru-RU" dirty="0" smtClean="0"/>
              <a:t>Мультимедиа </a:t>
            </a:r>
            <a:r>
              <a:rPr lang="ru-RU" dirty="0"/>
              <a:t>сети (</a:t>
            </a:r>
            <a:r>
              <a:rPr lang="en-US" dirty="0"/>
              <a:t>CDN)</a:t>
            </a:r>
          </a:p>
          <a:p>
            <a:r>
              <a:rPr lang="ru-RU" dirty="0" smtClean="0"/>
              <a:t>Информационная </a:t>
            </a:r>
            <a:r>
              <a:rPr lang="ru-RU" dirty="0"/>
              <a:t>безопасность</a:t>
            </a:r>
          </a:p>
          <a:p>
            <a:r>
              <a:rPr lang="ru-RU" dirty="0" smtClean="0"/>
              <a:t>Образование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617140"/>
            <a:ext cx="8229600" cy="620483"/>
          </a:xfrm>
        </p:spPr>
        <p:txBody>
          <a:bodyPr/>
          <a:lstStyle/>
          <a:p>
            <a:r>
              <a:rPr lang="ru-RU" dirty="0"/>
              <a:t>Облачные потребители</a:t>
            </a:r>
          </a:p>
        </p:txBody>
      </p:sp>
    </p:spTree>
    <p:extLst>
      <p:ext uri="{BB962C8B-B14F-4D97-AF65-F5344CB8AC3E}">
        <p14:creationId xmlns:p14="http://schemas.microsoft.com/office/powerpoint/2010/main" val="65902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84" y="185639"/>
            <a:ext cx="5849367" cy="4858417"/>
          </a:xfrm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smtClean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4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0037"/>
            <a:ext cx="8229600" cy="620483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r>
              <a:rPr lang="en-US" dirty="0" smtClean="0"/>
              <a:t>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2490643"/>
            <a:ext cx="8229600" cy="594122"/>
          </a:xfrm>
        </p:spPr>
        <p:txBody>
          <a:bodyPr/>
          <a:lstStyle/>
          <a:p>
            <a:r>
              <a:rPr lang="en-US" dirty="0" smtClean="0"/>
              <a:t>www.</a:t>
            </a:r>
            <a:r>
              <a:rPr lang="pl-PL" dirty="0" smtClean="0"/>
              <a:t>ifmo.ru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">
  <a:themeElements>
    <a:clrScheme name="Custom 1">
      <a:dk1>
        <a:srgbClr val="0230AC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over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4730</TotalTime>
  <Words>1215</Words>
  <Application>Microsoft Office PowerPoint</Application>
  <PresentationFormat>Экран (16:9)</PresentationFormat>
  <Paragraphs>179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Golos Text</vt:lpstr>
      <vt:lpstr>Times New Roman</vt:lpstr>
      <vt:lpstr>Cover</vt:lpstr>
      <vt:lpstr>1_Cover</vt:lpstr>
      <vt:lpstr>Облако</vt:lpstr>
      <vt:lpstr>Содержание</vt:lpstr>
      <vt:lpstr>Прогнозы доходов от публичных облачных сервисов</vt:lpstr>
      <vt:lpstr>Определение облака</vt:lpstr>
      <vt:lpstr>История развития Облака</vt:lpstr>
      <vt:lpstr>Презентация PowerPoint</vt:lpstr>
      <vt:lpstr>Презентация PowerPoint</vt:lpstr>
      <vt:lpstr>Презентация PowerPoint</vt:lpstr>
      <vt:lpstr>Развитие ключевых технологий</vt:lpstr>
      <vt:lpstr>Развитие ключевых технологий</vt:lpstr>
      <vt:lpstr>Характеристики облака</vt:lpstr>
      <vt:lpstr>Характеристики облака</vt:lpstr>
      <vt:lpstr>Характеристики облака</vt:lpstr>
      <vt:lpstr>Характеристики облака</vt:lpstr>
      <vt:lpstr>Характеристики облака</vt:lpstr>
      <vt:lpstr>Сервисные модели облака</vt:lpstr>
      <vt:lpstr>Software-as-a-Service (SaaS)</vt:lpstr>
      <vt:lpstr>Software-as-a-Service (SaaS)</vt:lpstr>
      <vt:lpstr>Platform-as-a-Service (PaaS)</vt:lpstr>
      <vt:lpstr>Platform-as-a-Service (PaaS)</vt:lpstr>
      <vt:lpstr>Использование Облака в мире</vt:lpstr>
      <vt:lpstr>Infrastructure-as-a-Service (IaaS)</vt:lpstr>
      <vt:lpstr>Infrastructure-as-a-Service (IaaS)</vt:lpstr>
      <vt:lpstr>AWS Demo</vt:lpstr>
      <vt:lpstr>AWS Demo</vt:lpstr>
      <vt:lpstr>Виды услуг предоставляемые облаками</vt:lpstr>
      <vt:lpstr>Модели размещения облаков</vt:lpstr>
      <vt:lpstr>Недостатки облаков</vt:lpstr>
      <vt:lpstr>Облачные приложения</vt:lpstr>
      <vt:lpstr>Облачные потребители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Пользователь Windows</cp:lastModifiedBy>
  <cp:revision>54</cp:revision>
  <dcterms:created xsi:type="dcterms:W3CDTF">2014-06-27T12:30:22Z</dcterms:created>
  <dcterms:modified xsi:type="dcterms:W3CDTF">2025-09-11T04:51:46Z</dcterms:modified>
</cp:coreProperties>
</file>