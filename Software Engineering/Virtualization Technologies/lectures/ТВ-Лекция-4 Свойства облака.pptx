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ppt/theme/themeOverride48.xml" ContentType="application/vnd.openxmlformats-officedocument.themeOverride+xml"/>
  <Override PartName="/ppt/theme/themeOverride49.xml" ContentType="application/vnd.openxmlformats-officedocument.themeOverride+xml"/>
  <Override PartName="/ppt/theme/themeOverride50.xml" ContentType="application/vnd.openxmlformats-officedocument.themeOverride+xml"/>
  <Override PartName="/ppt/theme/themeOverride51.xml" ContentType="application/vnd.openxmlformats-officedocument.themeOverride+xml"/>
  <Override PartName="/ppt/theme/themeOverride52.xml" ContentType="application/vnd.openxmlformats-officedocument.themeOverride+xml"/>
  <Override PartName="/ppt/theme/themeOverride53.xml" ContentType="application/vnd.openxmlformats-officedocument.themeOverride+xml"/>
  <Override PartName="/ppt/theme/themeOverride54.xml" ContentType="application/vnd.openxmlformats-officedocument.themeOverride+xml"/>
  <Override PartName="/ppt/theme/themeOverride55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56.xml" ContentType="application/vnd.openxmlformats-officedocument.themeOverride+xml"/>
  <Override PartName="/ppt/theme/themeOverride57.xml" ContentType="application/vnd.openxmlformats-officedocument.themeOverride+xml"/>
  <Override PartName="/ppt/theme/themeOverride58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59.xml" ContentType="application/vnd.openxmlformats-officedocument.themeOverride+xml"/>
  <Override PartName="/ppt/theme/themeOverride60.xml" ContentType="application/vnd.openxmlformats-officedocument.themeOverride+xml"/>
  <Override PartName="/ppt/theme/themeOverride61.xml" ContentType="application/vnd.openxmlformats-officedocument.themeOverride+xml"/>
  <Override PartName="/ppt/theme/themeOverride62.xml" ContentType="application/vnd.openxmlformats-officedocument.themeOverride+xml"/>
  <Override PartName="/ppt/theme/themeOverride63.xml" ContentType="application/vnd.openxmlformats-officedocument.themeOverride+xml"/>
  <Override PartName="/ppt/theme/themeOverride64.xml" ContentType="application/vnd.openxmlformats-officedocument.themeOverride+xml"/>
  <Override PartName="/ppt/theme/themeOverride65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66.xml" ContentType="application/vnd.openxmlformats-officedocument.themeOverride+xml"/>
  <Override PartName="/ppt/theme/themeOverride67.xml" ContentType="application/vnd.openxmlformats-officedocument.themeOverride+xml"/>
  <Override PartName="/ppt/theme/themeOverride68.xml" ContentType="application/vnd.openxmlformats-officedocument.themeOverride+xml"/>
  <Override PartName="/ppt/theme/themeOverride69.xml" ContentType="application/vnd.openxmlformats-officedocument.themeOverride+xml"/>
  <Override PartName="/ppt/theme/themeOverride70.xml" ContentType="application/vnd.openxmlformats-officedocument.themeOverride+xml"/>
  <Override PartName="/ppt/theme/themeOverride7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75"/>
  </p:notesMasterIdLst>
  <p:handoutMasterIdLst>
    <p:handoutMasterId r:id="rId76"/>
  </p:handoutMasterIdLst>
  <p:sldIdLst>
    <p:sldId id="265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7" r:id="rId33"/>
    <p:sldId id="358" r:id="rId34"/>
    <p:sldId id="359" r:id="rId35"/>
    <p:sldId id="360" r:id="rId36"/>
    <p:sldId id="361" r:id="rId37"/>
    <p:sldId id="362" r:id="rId38"/>
    <p:sldId id="363" r:id="rId39"/>
    <p:sldId id="364" r:id="rId40"/>
    <p:sldId id="365" r:id="rId41"/>
    <p:sldId id="366" r:id="rId42"/>
    <p:sldId id="367" r:id="rId43"/>
    <p:sldId id="368" r:id="rId44"/>
    <p:sldId id="369" r:id="rId45"/>
    <p:sldId id="370" r:id="rId46"/>
    <p:sldId id="371" r:id="rId47"/>
    <p:sldId id="372" r:id="rId48"/>
    <p:sldId id="373" r:id="rId49"/>
    <p:sldId id="374" r:id="rId50"/>
    <p:sldId id="375" r:id="rId51"/>
    <p:sldId id="376" r:id="rId52"/>
    <p:sldId id="377" r:id="rId53"/>
    <p:sldId id="378" r:id="rId54"/>
    <p:sldId id="379" r:id="rId55"/>
    <p:sldId id="380" r:id="rId56"/>
    <p:sldId id="381" r:id="rId57"/>
    <p:sldId id="382" r:id="rId58"/>
    <p:sldId id="383" r:id="rId59"/>
    <p:sldId id="384" r:id="rId60"/>
    <p:sldId id="385" r:id="rId61"/>
    <p:sldId id="386" r:id="rId62"/>
    <p:sldId id="387" r:id="rId63"/>
    <p:sldId id="388" r:id="rId64"/>
    <p:sldId id="389" r:id="rId65"/>
    <p:sldId id="390" r:id="rId66"/>
    <p:sldId id="391" r:id="rId67"/>
    <p:sldId id="392" r:id="rId68"/>
    <p:sldId id="393" r:id="rId69"/>
    <p:sldId id="394" r:id="rId70"/>
    <p:sldId id="395" r:id="rId71"/>
    <p:sldId id="396" r:id="rId72"/>
    <p:sldId id="397" r:id="rId73"/>
    <p:sldId id="263" r:id="rId7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39" d="100"/>
          <a:sy n="139" d="100"/>
        </p:scale>
        <p:origin x="858" y="120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8/10/relationships/authors" Target="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10/25/2022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10/25/2022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vidia.com/ru-ru/data-center/a100/" TargetMode="External"/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nvidia.com/ru-ru/data-center/a4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Облачное хранилище, как следует из названия, является сервисом для хранения цифровой информации. Все данные, которые загружаются в „облако” или запускаются из него, хранятся на специальных серверах в гигантских кампусах, являющихся центрами обработки данных.</a:t>
            </a:r>
            <a:endParaRPr lang="en-US" dirty="0"/>
          </a:p>
          <a:p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Большие IT-компании (Google, Amazon, Facebook) имеют многочисленные центры обработки данных по всему миру. Для хранения информации центры используют бесчисленные жесткие диски.</a:t>
            </a:r>
            <a:endParaRPr lang="en-US" b="0" i="0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endParaRPr lang="en-US" b="0" i="0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Самые популярные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Cloud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storage</a:t>
            </a:r>
            <a:r>
              <a:rPr lang="en-US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Google Drive,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DropBox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iCloud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– приложения, которые помогают загружать данные на облачные серверы. Загруженная на сервер информация становится доступной из любой точки, где есть подключение к сети Интернет, а также для любого человека, которому предоставляется доступ к хранилищу.</a:t>
            </a:r>
          </a:p>
          <a:p>
            <a:endParaRPr lang="ru-RU" b="0" i="0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Условия оплаты у разных поставщиков облачных сервисов хранения различаются. Например, Google Drive предлагает 15 бесплатных гигабайт памяти для зарегистрированных пользователей,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iCloud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– пять гигабайт,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Dropbox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всего лишь два</a:t>
            </a:r>
            <a:r>
              <a:rPr lang="en-US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Сервис </a:t>
            </a:r>
            <a:r>
              <a:rPr lang="en-US" b="0" i="0" u="none" dirty="0">
                <a:solidFill>
                  <a:srgbClr val="FAA700"/>
                </a:solidFill>
                <a:effectLst/>
                <a:latin typeface="Arial" panose="020B0604020202020204" pitchFamily="34" charset="0"/>
              </a:rPr>
              <a:t>Microsoft</a:t>
            </a:r>
            <a:r>
              <a:rPr lang="en-US" b="0" i="0" u="sng" dirty="0">
                <a:solidFill>
                  <a:srgbClr val="FAA7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OneDrive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позволяет хранить до 5 ГБ информации бесплатно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Облако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Mail.ru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- 8Гб,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Yandex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Диск – 10Гб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ru-RU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271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Другими словами:</a:t>
            </a:r>
          </a:p>
          <a:p>
            <a:r>
              <a:rPr lang="ru-RU" dirty="0"/>
              <a:t>К преимуществам, которые получают компании при использовании облачных ресурсов, относятся: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Отсутствие специальных требований к оборудованию.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Возможность доступа к цифровым приложениям и информации из разных мест, а также с любого устройства.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Процесс обновлений, исправлений происходит быстро, так как выполняется только на виртуальном сервере, а не на каждом компьютере сотрудника.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08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Не все пользователи понимают, какие именно ресурсы они используют: „облачные хранилища” или „облачные вычисления”.</a:t>
            </a:r>
            <a:endParaRPr lang="en-US" b="0" i="0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endParaRPr lang="en-US" b="0" i="0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Система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Cloud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Computing напрямую связана с облачным хранилищем: необходимые для работы данные сначала размещаются в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Cloud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ru-RU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storage</a:t>
            </a:r>
            <a:r>
              <a:rPr lang="ru-RU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, после чего обрабатываются с помощью вычислительных приложений.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704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Впомним</a:t>
            </a:r>
            <a:r>
              <a:rPr lang="ru-RU" dirty="0"/>
              <a:t>, мы уже говорили о характеристиках и преимуществах использования облачных технологий, коротко повторим: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15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186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Частные облака - идеальное решение для ИТ-руководителей, которые хотят сделать корпоративные ресурсы доступными по запросу, но не могут (или не хотят) переходить в общедоступное облако. Это может быть связано с политиками безопасности, бюджетом, нормативными требованиями или нормативными актами, например, в сфере здравоохранения и финансовых услуг 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324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DataLake</a:t>
            </a:r>
            <a:r>
              <a:rPr lang="ru-RU" dirty="0"/>
              <a:t> (в пер. «озеро данных») — термин, описывающий любые крупные объемы данных. Фактически это репозитарий, в котором хранится огромный объем «сырых» данных в их первоначальном формате до тех пор, пока они не будут использованы. Цель создания озер данных – дать высококвалифицированным аналитикам возможность изучать неочищенные, не агрегированные данные и применять к ним различные аналитические техники.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893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чем разница между </a:t>
            </a:r>
            <a:r>
              <a:rPr lang="ru-RU" dirty="0" err="1"/>
              <a:t>мультиоблаком</a:t>
            </a:r>
            <a:r>
              <a:rPr lang="ru-RU" dirty="0"/>
              <a:t> и гибридным облаком?</a:t>
            </a:r>
          </a:p>
          <a:p>
            <a:r>
              <a:rPr lang="ru-RU" dirty="0"/>
              <a:t>Под </a:t>
            </a:r>
            <a:r>
              <a:rPr lang="ru-RU" dirty="0" err="1"/>
              <a:t>мультиоблаком</a:t>
            </a:r>
            <a:r>
              <a:rPr lang="ru-RU" dirty="0"/>
              <a:t> понимается наличие более одного облачного развертывания одного типа (общедоступного или частного) от разных поставщиков. Под гибридным облаком понимается наличие нескольких типов развертывания (общедоступных или частных) с некоторой формой интеграции или согласования между ними.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032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ИСПДн</a:t>
            </a:r>
            <a:r>
              <a:rPr lang="ru-RU" dirty="0"/>
              <a:t> — это информационная система персональных данных. Она включает в себя сами персональные данные и средства, которые используют для их обработки и защиты.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885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Услуга </a:t>
            </a:r>
            <a:r>
              <a:rPr lang="ru-RU" dirty="0" err="1"/>
              <a:t>SaaS</a:t>
            </a:r>
            <a:r>
              <a:rPr lang="ru-RU" dirty="0"/>
              <a:t> позволяет бизнесу сэкономить на IT за счет выноса обслуживания и поддержки ПО на </a:t>
            </a:r>
            <a:r>
              <a:rPr lang="ru-RU" dirty="0" err="1"/>
              <a:t>аутсорс</a:t>
            </a:r>
            <a:r>
              <a:rPr lang="ru-RU" dirty="0"/>
              <a:t>. Приложения по модели </a:t>
            </a:r>
            <a:r>
              <a:rPr lang="ru-RU" dirty="0" err="1"/>
              <a:t>SaaS</a:t>
            </a:r>
            <a:r>
              <a:rPr lang="ru-RU" dirty="0"/>
              <a:t> обновляются чаще обычных (раз в месяц или даже раз в неделю). Это вызвано следующими причинами:</a:t>
            </a:r>
          </a:p>
          <a:p>
            <a:endParaRPr lang="ru-RU" dirty="0"/>
          </a:p>
          <a:p>
            <a:r>
              <a:rPr lang="ru-RU" dirty="0"/>
              <a:t>Софт расположен централизованно у провайдера, поэтому именно провайдер занимается обновлениям, а не сам клиент.</a:t>
            </a:r>
          </a:p>
          <a:p>
            <a:r>
              <a:rPr lang="ru-RU" dirty="0"/>
              <a:t>У всех пользовательских приложений общая конфигурация, что упрощает тестирование.</a:t>
            </a:r>
          </a:p>
          <a:p>
            <a:r>
              <a:rPr lang="ru-RU" dirty="0"/>
              <a:t>Провайдеру не приходится тратить ресурсы на обновление и поддержку фоновых версий программного обеспечения.</a:t>
            </a:r>
          </a:p>
          <a:p>
            <a:r>
              <a:rPr lang="ru-RU" dirty="0"/>
              <a:t>Разработка и регрессивное тестирование выполняются быстрее благодаря тому, что у провайдера есть полный доступ к данным арендатора.</a:t>
            </a:r>
          </a:p>
          <a:p>
            <a:r>
              <a:rPr lang="ru-RU" dirty="0"/>
              <a:t>Модель оплаты – каждый месяц или раз в год взимается фиксированная плата за каждого пользователя. То есть клиент может убирать или добавлять новых пользователей в любой момент и платить только за реальное их количество.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596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2016г рынок </a:t>
            </a:r>
            <a:r>
              <a:rPr lang="en-US" dirty="0"/>
              <a:t>BaaS </a:t>
            </a:r>
            <a:r>
              <a:rPr lang="ru-RU" dirty="0"/>
              <a:t>оценивается 1,32 млрд долларов а в 2020 эта цифра вырастет до примерно до 30 млрд.</a:t>
            </a:r>
          </a:p>
          <a:p>
            <a:endParaRPr lang="ru-RU" dirty="0"/>
          </a:p>
          <a:p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Первая из них – это скорость развития. Для каждого проекта необходимо определить ключевой набор функций продукта и используемых технологий, с помощью которых проект будет реализован.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Backend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-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as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-a-Service решает эти задачи, отвечая на вопрос: «Как дойти до следующей итерации быстро, дешево и с минимальными рисками».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Вторая задача, которую решает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BaaS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– это равномерность. В этом случае задачи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мультиплатформенности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смещаются с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фронтенда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на бэкенд, что дает возможность делать приложения для разных операционных систем с одинаковой «начинкой под капотом» и не путаться в их особенностях.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Третья – это охват. Если стартап построен на определенной идее с высокой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виральностью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BaaS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поможет с такими вещами, как интеграция с социальными сетями и облачными хранилищами.</a:t>
            </a:r>
          </a:p>
          <a:p>
            <a:endParaRPr lang="ru-RU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ru-RU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Виральность</a:t>
            </a:r>
            <a:r>
              <a:rPr lang="ru-R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— </a:t>
            </a:r>
            <a:r>
              <a:rPr lang="ru-RU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это</a:t>
            </a:r>
            <a:r>
              <a:rPr lang="ru-R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характеристика контента, которая определяет, с какой вероятностью читатели захотят поделиться публикацией. </a:t>
            </a:r>
            <a:r>
              <a:rPr lang="ru-RU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Виральный</a:t>
            </a:r>
            <a:r>
              <a:rPr lang="ru-R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контент активно распространяется пользователями в соцсетях, мессенджерах и других каналах. Если создать по-настоящему </a:t>
            </a:r>
            <a:r>
              <a:rPr lang="ru-RU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виральный</a:t>
            </a:r>
            <a:r>
              <a:rPr lang="ru-R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контент, то аудитория распространит его самостоятельно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87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6037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MicroBlade</a:t>
            </a:r>
            <a:r>
              <a:rPr lang="ru-RU" dirty="0"/>
              <a:t> решения предназначены для случая, когда требуется компактная установка и обслуживание множества «лёгких» серверов, например, если требуется замена систем виртуализации на отдельные физические сервера.</a:t>
            </a:r>
          </a:p>
          <a:p>
            <a:r>
              <a:rPr lang="ru-RU" dirty="0"/>
              <a:t>Модульное шасси высотой 3U позволяет устанавливать до 14-и серверов-лезвий с процессорами Intel XEON E, до 128GB ECC памяти DDR4 на каждый, до 2-х SSD/HDD на каждый сервер, возможность установки 2-х (4-х) блоков питания с горячей заменой, 2-х сетевых модулей 1/10G и т. д.</a:t>
            </a:r>
          </a:p>
          <a:p>
            <a:endParaRPr lang="ru-RU" dirty="0"/>
          </a:p>
          <a:p>
            <a:r>
              <a:rPr lang="ru-RU" dirty="0"/>
              <a:t>Полноценные </a:t>
            </a:r>
            <a:r>
              <a:rPr lang="ru-RU" dirty="0" err="1"/>
              <a:t>блейд</a:t>
            </a:r>
            <a:r>
              <a:rPr lang="ru-RU" dirty="0"/>
              <a:t>-решения со всеми возможностями и функциями, которые вы ожидаете от подобных систем.</a:t>
            </a:r>
          </a:p>
          <a:p>
            <a:r>
              <a:rPr lang="ru-RU" dirty="0"/>
              <a:t>Модульное шасси высотой до 8U позволяет устанавливать до 20-и серверов-лезвий с процессорами Intel XEON, до 4TB ECC памяти DDR4 в каждый, до 3-х NVME/SSD/HDD на каждый сервер, возможность установки до 8-и блоков питания с горячей заменой, до 4-х сетевых модулей 1/10/25g/</a:t>
            </a:r>
            <a:r>
              <a:rPr lang="ru-RU" dirty="0" err="1"/>
              <a:t>Infiniband</a:t>
            </a:r>
            <a:r>
              <a:rPr lang="ru-RU" dirty="0"/>
              <a:t> и т. д.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652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Самое простое решение уплотнения стоечного оборудования — в одном корпусе 1U (2U) располагаются 2 физических сервера. Из достоинств можно назвать возможность резервирование питания, экономию места в серверных стойках и более удобное обслуживание.</a:t>
            </a:r>
          </a:p>
          <a:p>
            <a:r>
              <a:rPr lang="ru-RU" dirty="0"/>
              <a:t>Платформа содержит 2 серверных модуля в одном корпусе 1U или 2U. Возможность установки до двух процессоров Intel XEON в каждый сервер, до 1TB ECC памяти DDR4, до 12-и SSD/HDD накопителей с горячей заменой, 2 сетевых порта 1GbE, а также прочие интерфейсы и возможности.</a:t>
            </a:r>
          </a:p>
          <a:p>
            <a:endParaRPr lang="ru-RU" b="0" i="0" dirty="0">
              <a:solidFill>
                <a:srgbClr val="555555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Продолжение и развитие идеологии Twin — 4 отдельных физических сервера в одном корпусе 2U. Ещё больше экономии места, ещё меньшее количество сетевых кабелей и ещё более удобное обслуживание.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90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76B900"/>
                </a:solidFill>
                <a:effectLst/>
                <a:latin typeface="DINPro"/>
              </a:rPr>
              <a:t>Тензорные ядра третьего поколения- </a:t>
            </a:r>
            <a:r>
              <a:rPr lang="ru-RU" dirty="0"/>
              <a:t>архитектура NVIDIA </a:t>
            </a:r>
            <a:r>
              <a:rPr lang="ru-RU" dirty="0" err="1"/>
              <a:t>Ampere</a:t>
            </a:r>
            <a:r>
              <a:rPr lang="ru-RU" dirty="0"/>
              <a:t> предоставляет поддержку операций </a:t>
            </a:r>
            <a:r>
              <a:rPr lang="ru-RU" dirty="0" err="1"/>
              <a:t>Tensor</a:t>
            </a:r>
            <a:r>
              <a:rPr lang="ru-RU" dirty="0"/>
              <a:t> </a:t>
            </a:r>
            <a:r>
              <a:rPr lang="ru-RU" dirty="0" err="1"/>
              <a:t>Float</a:t>
            </a:r>
            <a:r>
              <a:rPr lang="ru-RU" dirty="0"/>
              <a:t> 32 (TF32) и с плавающей точкой (FP64), ускоряя и упрощая внедрение ИИ и обеспечивая возможности тензорных ядер для HPC.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DINPro"/>
              </a:rPr>
              <a:t>Тензорные ядра поддерживают операции с различной точностью и динамически оптимизируют вычисления, чтобы повысить производительность, не меняя точности конечных результатов.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DINPro"/>
            </a:endParaRPr>
          </a:p>
          <a:p>
            <a:endParaRPr lang="ru-RU" b="0" i="0" dirty="0">
              <a:solidFill>
                <a:srgbClr val="1A1A1A"/>
              </a:solidFill>
              <a:effectLst/>
              <a:latin typeface="DINPro"/>
            </a:endParaRPr>
          </a:p>
          <a:p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Multi-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DINPro"/>
              </a:rPr>
              <a:t>Instance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 GPU (MIG) — это функция, поддерживаемая на </a:t>
            </a:r>
            <a:r>
              <a:rPr lang="ru-RU" b="0" i="0" u="none" strike="noStrike" dirty="0">
                <a:solidFill>
                  <a:srgbClr val="76B900"/>
                </a:solidFill>
                <a:effectLst/>
                <a:latin typeface="DINPro"/>
                <a:hlinkClick r:id="rId3"/>
              </a:rPr>
              <a:t>GPU A100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 и </a:t>
            </a:r>
            <a:r>
              <a:rPr lang="ru-RU" b="0" i="0" u="none" strike="noStrike" dirty="0">
                <a:solidFill>
                  <a:srgbClr val="76B900"/>
                </a:solidFill>
                <a:effectLst/>
                <a:latin typeface="DINPro"/>
                <a:hlinkClick r:id="rId3"/>
              </a:rPr>
              <a:t>A30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 и позволяющая совместно использовать ресурсы одного GPU. С MIG каждый GPU можно разделить на несколько полностью изолированных и защищенных на аппаратном уровне инстансов, оснащенных памятью с высокой пропускной способностью, кэшем и вычислительными ядрами. </a:t>
            </a:r>
          </a:p>
          <a:p>
            <a:endParaRPr lang="ru-RU" b="0" i="0" dirty="0">
              <a:solidFill>
                <a:srgbClr val="1A1A1A"/>
              </a:solidFill>
              <a:effectLst/>
              <a:latin typeface="DINPro"/>
            </a:endParaRPr>
          </a:p>
          <a:p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Третье поколение NVIDIA®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DINPro"/>
              </a:rPr>
              <a:t>NVLink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® в архитектуре NVIDIA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DINPro"/>
              </a:rPr>
              <a:t>Ampere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 удваивает скорость обмена данными между GPU до 600 Гбит/с, что почти в 10 раз превосходит показатели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DINPro"/>
              </a:rPr>
              <a:t>PCIe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DINPro"/>
              </a:rPr>
              <a:t>Gen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 4.</a:t>
            </a:r>
          </a:p>
          <a:p>
            <a:endParaRPr lang="ru-RU" b="0" i="0" dirty="0">
              <a:solidFill>
                <a:srgbClr val="1A1A1A"/>
              </a:solidFill>
              <a:effectLst/>
              <a:latin typeface="DIN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76B900"/>
                </a:solidFill>
                <a:effectLst/>
                <a:latin typeface="DINPro"/>
              </a:rPr>
              <a:t>Структурная разреженность - 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Тензорные ядра обеспечивают производительность до двух раз выше для разреженных моделей. Хотя функция разреженности в основном предназначена для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DINPro"/>
              </a:rPr>
              <a:t>инференса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 ИИ, с ее помощью можно также повысить скорость тренировки модели. </a:t>
            </a:r>
          </a:p>
          <a:p>
            <a:endParaRPr lang="ru-RU" b="0" i="0" dirty="0">
              <a:solidFill>
                <a:srgbClr val="1A1A1A"/>
              </a:solidFill>
              <a:effectLst/>
              <a:latin typeface="DIN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76B900"/>
                </a:solidFill>
                <a:effectLst/>
                <a:latin typeface="DINPro"/>
              </a:rPr>
              <a:t>Второе поколение ядер </a:t>
            </a:r>
            <a:r>
              <a:rPr lang="en-US" b="0" i="0" dirty="0">
                <a:solidFill>
                  <a:srgbClr val="76B900"/>
                </a:solidFill>
                <a:effectLst/>
                <a:latin typeface="DINPro"/>
              </a:rPr>
              <a:t>RT</a:t>
            </a:r>
            <a:r>
              <a:rPr lang="ru-RU" b="0" i="0" dirty="0">
                <a:solidFill>
                  <a:srgbClr val="76B900"/>
                </a:solidFill>
                <a:effectLst/>
                <a:latin typeface="DINPro"/>
              </a:rPr>
              <a:t> - 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Ядра RT второго поколения архитектуры NVIDIA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DINPro"/>
              </a:rPr>
              <a:t>Ampere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 в GPU </a:t>
            </a:r>
            <a:r>
              <a:rPr lang="ru-RU" b="0" i="0" u="none" strike="noStrike" dirty="0">
                <a:solidFill>
                  <a:srgbClr val="76B900"/>
                </a:solidFill>
                <a:effectLst/>
                <a:latin typeface="DINPro"/>
                <a:hlinkClick r:id="rId4"/>
              </a:rPr>
              <a:t>NVIDIA A40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 и </a:t>
            </a:r>
            <a:r>
              <a:rPr lang="ru-RU" b="0" i="0" u="none" strike="noStrike" dirty="0">
                <a:solidFill>
                  <a:srgbClr val="76B900"/>
                </a:solidFill>
                <a:effectLst/>
                <a:latin typeface="DINPro"/>
                <a:hlinkClick r:id="rId4"/>
              </a:rPr>
              <a:t>A10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 позволяют значительно ускорить такие задачи, как фотореалистичный рендеринг киноматериалов, оценка архитектурных проектов и виртуальное прототипирование продуктов. Ядра RT также ускоряют рендеринг сцен движения, позволяя быстрее создавать более точное изображение, и одновременно обеспечивают трассировку лучей и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DINPro"/>
              </a:rPr>
              <a:t>шейдинг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 или шумоподавление.</a:t>
            </a:r>
          </a:p>
          <a:p>
            <a:endParaRPr lang="ru-RU" b="0" i="0" dirty="0">
              <a:solidFill>
                <a:srgbClr val="1A1A1A"/>
              </a:solidFill>
              <a:effectLst/>
              <a:latin typeface="DIN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76B900"/>
                </a:solidFill>
                <a:effectLst/>
                <a:latin typeface="DINPro"/>
              </a:rPr>
              <a:t>Улучшенная быстрая память - </a:t>
            </a:r>
            <a:r>
              <a:rPr lang="ru-RU" b="0" i="0" u="none" strike="noStrike" dirty="0">
                <a:solidFill>
                  <a:srgbClr val="76B900"/>
                </a:solidFill>
                <a:effectLst/>
                <a:latin typeface="DINPro"/>
                <a:hlinkClick r:id="rId3"/>
              </a:rPr>
              <a:t>A100</a:t>
            </a:r>
            <a:r>
              <a:rPr lang="ru-RU" b="0" i="0" dirty="0">
                <a:solidFill>
                  <a:srgbClr val="1A1A1A"/>
                </a:solidFill>
                <a:effectLst/>
                <a:latin typeface="DINPro"/>
              </a:rPr>
              <a:t> обеспечивает значительный объем памяти для вычислений в дата-центре. Для максимальной утилизации вычислительных движков платформа оснащена пропускной способностью памяти 2 Тб/с, что в 2 раза быстрее технологии предыдущего поколения. Кроме того, для максимальной вычислительной мощности A100 имеет значительно больший объем памяти, включая кэш второго уровня 40 Мб, что в 7 раз больше, чем у систем предыдущего поколения.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F0108-52CB-4A7F-A32C-D63685DFD544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25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B7C2A1-01A8-4535-B907-E3E81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92E682-C436-4B83-9052-EFA5DCDD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7186FD-1CB1-49D6-81B0-F032F1DB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F267B-9032-417A-ACA4-B118AE0A63BE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B80347-731D-4EA5-8452-E421CE8D2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3FF277-8D20-4555-A6C7-4E9E656D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6B12-5532-42EC-A3CB-ECAA93441B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61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  <p:sldLayoutId id="2147483895" r:id="rId23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jpeg"/><Relationship Id="rId4" Type="http://schemas.openxmlformats.org/officeDocument/2006/relationships/image" Target="../media/image2.jp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30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31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3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4.xml"/><Relationship Id="rId5" Type="http://schemas.openxmlformats.org/officeDocument/2006/relationships/image" Target="../media/image38.png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9.xml"/><Relationship Id="rId4" Type="http://schemas.openxmlformats.org/officeDocument/2006/relationships/image" Target="../media/image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jpg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3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4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6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7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9.xml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0.xml"/><Relationship Id="rId4" Type="http://schemas.openxmlformats.org/officeDocument/2006/relationships/image" Target="../media/image53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1.xml"/><Relationship Id="rId4" Type="http://schemas.openxmlformats.org/officeDocument/2006/relationships/image" Target="../media/image54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4.xml"/><Relationship Id="rId4" Type="http://schemas.openxmlformats.org/officeDocument/2006/relationships/image" Target="../media/image5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5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2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8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2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5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1.xml"/><Relationship Id="rId4" Type="http://schemas.openxmlformats.org/officeDocument/2006/relationships/image" Target="../media/image6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4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5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2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2.jpg"/><Relationship Id="rId7" Type="http://schemas.openxmlformats.org/officeDocument/2006/relationships/image" Target="../media/image64.pn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7.xml"/><Relationship Id="rId6" Type="http://schemas.openxmlformats.org/officeDocument/2006/relationships/hyperlink" Target="https://www.nvidia.com/ru-ru/deep-learning-ai/solutions/data-science/" TargetMode="External"/><Relationship Id="rId5" Type="http://schemas.openxmlformats.org/officeDocument/2006/relationships/hyperlink" Target="https://www.nvidia.com/ru-ru/deep-learning-ai/" TargetMode="External"/><Relationship Id="rId4" Type="http://schemas.openxmlformats.org/officeDocument/2006/relationships/hyperlink" Target="https://www.nvidia.com/ru-ru/data-center/a100/" TargetMode="External"/><Relationship Id="rId9" Type="http://schemas.openxmlformats.org/officeDocument/2006/relationships/image" Target="../media/image6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69.xml"/><Relationship Id="rId6" Type="http://schemas.openxmlformats.org/officeDocument/2006/relationships/image" Target="../media/image63.png"/><Relationship Id="rId5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70.xml"/><Relationship Id="rId6" Type="http://schemas.openxmlformats.org/officeDocument/2006/relationships/image" Target="../media/image63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7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8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4"/>
            <a:ext cx="6400800" cy="1710089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[X]</a:t>
            </a:r>
            <a:r>
              <a:rPr lang="en-US" sz="4400" dirty="0" err="1">
                <a:solidFill>
                  <a:schemeClr val="bg1"/>
                </a:solidFill>
              </a:rPr>
              <a:t>aaS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4400" dirty="0" smtClean="0">
                <a:solidFill>
                  <a:schemeClr val="bg1"/>
                </a:solidFill>
              </a:rPr>
              <a:t/>
            </a:r>
            <a:br>
              <a:rPr lang="en-US" sz="4400" dirty="0" smtClean="0">
                <a:solidFill>
                  <a:schemeClr val="bg1"/>
                </a:solidFill>
              </a:rPr>
            </a:br>
            <a:r>
              <a:rPr lang="ru-RU" sz="4400" dirty="0" smtClean="0">
                <a:solidFill>
                  <a:schemeClr val="bg1"/>
                </a:solidFill>
              </a:rPr>
              <a:t>или </a:t>
            </a:r>
            <a:r>
              <a:rPr lang="en-US" sz="4400" dirty="0" smtClean="0">
                <a:solidFill>
                  <a:schemeClr val="bg1"/>
                </a:solidFill>
              </a:rPr>
              <a:t/>
            </a:r>
            <a:br>
              <a:rPr lang="en-US" sz="4400" dirty="0" smtClean="0">
                <a:solidFill>
                  <a:schemeClr val="bg1"/>
                </a:solidFill>
              </a:rPr>
            </a:br>
            <a:r>
              <a:rPr lang="en-US" sz="4400" dirty="0" smtClean="0">
                <a:solidFill>
                  <a:schemeClr val="bg1"/>
                </a:solidFill>
              </a:rPr>
              <a:t>Anything-as-a-service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B0962-FB7D-44B3-A3C0-00EB74CFB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400" dirty="0"/>
              <a:t>Облачное хранилище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Cloud </a:t>
            </a:r>
            <a:r>
              <a:rPr lang="en-US" sz="2400" dirty="0"/>
              <a:t>storage)</a:t>
            </a:r>
            <a:endParaRPr lang="ru-RU" sz="2400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FB4BF5B-8D91-4974-A432-BAC9CA178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011092"/>
              </p:ext>
            </p:extLst>
          </p:nvPr>
        </p:nvGraphicFramePr>
        <p:xfrm>
          <a:off x="628650" y="1178577"/>
          <a:ext cx="3486151" cy="355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633">
                  <a:extLst>
                    <a:ext uri="{9D8B030D-6E8A-4147-A177-3AD203B41FA5}">
                      <a16:colId xmlns:a16="http://schemas.microsoft.com/office/drawing/2014/main" val="582045055"/>
                    </a:ext>
                  </a:extLst>
                </a:gridCol>
                <a:gridCol w="1512518">
                  <a:extLst>
                    <a:ext uri="{9D8B030D-6E8A-4147-A177-3AD203B41FA5}">
                      <a16:colId xmlns:a16="http://schemas.microsoft.com/office/drawing/2014/main" val="4055549178"/>
                    </a:ext>
                  </a:extLst>
                </a:gridCol>
              </a:tblGrid>
              <a:tr h="217086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Облачные хранилища </a:t>
                      </a:r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Объем, Гб</a:t>
                      </a:r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30396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Drive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5257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ru-RU" sz="14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DropBox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18437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ru-RU" sz="1400" b="1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iCloud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33134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OneDrive 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50089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rgbClr val="2021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Yandex </a:t>
                      </a:r>
                      <a:r>
                        <a:rPr lang="ru-RU" sz="1400" b="1" i="0" dirty="0">
                          <a:solidFill>
                            <a:srgbClr val="20212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Диск 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03568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Облако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Mail.ru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3349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Drive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162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1746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pCloud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719749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Blomp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231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Mega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08647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B2CE87-DED6-4442-98B3-D6E2A66F6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929" y="4336417"/>
            <a:ext cx="1439738" cy="4367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68D60A-6715-4187-B07D-01FDDBDA5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7330" y="3856261"/>
            <a:ext cx="679165" cy="6791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F1ABED-3540-4E51-AFF9-0F16342476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7667" y="1435008"/>
            <a:ext cx="1034249" cy="103424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F25D8F-BDCF-4155-9FAA-4282D9462B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0079" y="1047353"/>
            <a:ext cx="1464469" cy="17573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AE2462-1E14-43C2-AD67-AE89373971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5956" y="1546581"/>
            <a:ext cx="1500914" cy="840512"/>
          </a:xfrm>
          <a:prstGeom prst="rect">
            <a:avLst/>
          </a:prstGeom>
        </p:spPr>
      </p:pic>
      <p:pic>
        <p:nvPicPr>
          <p:cNvPr id="1026" name="Picture 2" descr="pCloud (@pCloudapp) | Twitter">
            <a:extLst>
              <a:ext uri="{FF2B5EF4-FFF2-40B4-BE49-F238E27FC236}">
                <a16:creationId xmlns:a16="http://schemas.microsoft.com/office/drawing/2014/main" id="{A82B2099-B1F5-4C59-ACB0-6E4F18EC5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88729"/>
            <a:ext cx="766048" cy="76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B8FAE7-FB70-4205-BF29-6F67C184C3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1756" y="3775117"/>
            <a:ext cx="676934" cy="361620"/>
          </a:xfrm>
          <a:prstGeom prst="rect">
            <a:avLst/>
          </a:prstGeom>
        </p:spPr>
      </p:pic>
      <p:pic>
        <p:nvPicPr>
          <p:cNvPr id="1028" name="Picture 4" descr="Microsoft OneDrive - облачное хранилище [2019] Скачать⬇">
            <a:extLst>
              <a:ext uri="{FF2B5EF4-FFF2-40B4-BE49-F238E27FC236}">
                <a16:creationId xmlns:a16="http://schemas.microsoft.com/office/drawing/2014/main" id="{DE01F5E8-FF0A-4392-8F09-C348CF6FE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085" y="2544546"/>
            <a:ext cx="971046" cy="97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1C9E7E-B359-40D6-8972-DE099230987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3826" y="2521602"/>
            <a:ext cx="1803504" cy="12001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EDFD09D-D5FA-4AF6-9CEE-BB36B109DB8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7620" y="2723643"/>
            <a:ext cx="1553394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20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0940A-1693-4338-983E-B4C5EBB2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400" dirty="0"/>
              <a:t>Облачные вычисления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Cloud </a:t>
            </a:r>
            <a:r>
              <a:rPr lang="en-US" sz="2400" dirty="0"/>
              <a:t>Computing)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93CE7A-834B-49A4-AE98-6111D33B5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1800" dirty="0"/>
              <a:t>Облачные вычисления - это процесс выполнения рабочих нагрузок в </a:t>
            </a:r>
            <a:endParaRPr lang="en-US" sz="1800" dirty="0" smtClean="0"/>
          </a:p>
          <a:p>
            <a:pPr algn="just"/>
            <a:r>
              <a:rPr lang="ru-RU" sz="1800" dirty="0" smtClean="0"/>
              <a:t>облаках </a:t>
            </a:r>
            <a:r>
              <a:rPr lang="ru-RU" sz="1800" dirty="0"/>
              <a:t>- ИТ-средах, которые абстрагируют, объединяют и совместно используют масштабируемые ресурсы в сети. </a:t>
            </a:r>
          </a:p>
          <a:p>
            <a:pPr algn="just"/>
            <a:r>
              <a:rPr lang="ru-RU" sz="1650" b="1" dirty="0"/>
              <a:t>Ни облачные вычисления, ни облака сами по себе не являются технологиями.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C270B-9A00-4401-9F84-5A46637B3745}"/>
              </a:ext>
            </a:extLst>
          </p:cNvPr>
          <p:cNvSpPr txBox="1"/>
          <p:nvPr/>
        </p:nvSpPr>
        <p:spPr>
          <a:xfrm>
            <a:off x="628650" y="2683868"/>
            <a:ext cx="454959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ru-RU" sz="1500" dirty="0"/>
              <a:t>Облачные вычисления - это действие - функция выполнения рабочей нагрузки в облаке.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ru-RU" sz="1500" dirty="0"/>
              <a:t>Облака - это среда - место, где работают приложения.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ru-RU" sz="1500" dirty="0"/>
              <a:t>Технологии - это вещи - программное и аппаратное обеспечение, используемое для создания и использования облаков.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F27BB4-A160-4517-AF2E-1CCD406EE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370" y="2627809"/>
            <a:ext cx="3429760" cy="17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74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15E89-65FA-4762-A948-9D495C64C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Cloud storage VS</a:t>
            </a:r>
            <a:r>
              <a:rPr lang="ru-RU" sz="2400" dirty="0"/>
              <a:t> </a:t>
            </a:r>
            <a:r>
              <a:rPr lang="en-US" sz="2400" dirty="0"/>
              <a:t>Cloud Computing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B99CE2-9ED8-4715-AB9B-300AADB7D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Облачные вычисления нуждаются в более высокой вычислительной мощности, так как эти сервисы используются для выполнения определенных цифровых задач. Облачному хранилищу, наоборот, требуется больше места.</a:t>
            </a:r>
          </a:p>
          <a:p>
            <a:r>
              <a:rPr lang="ru-RU" dirty="0"/>
              <a:t>Облачные вычисления чаще всего ориентируются на бизнес. Облачное хранилище используется как для выполнения профессиональных задач, так и в целях личных интересов.</a:t>
            </a:r>
          </a:p>
          <a:p>
            <a:r>
              <a:rPr lang="ru-RU" dirty="0"/>
              <a:t>Облачное хранилище – средство хранения, копирования и обмена информацией, тогда как облачные вычисления позволяют работать и преобразовывать данные отдаленно.</a:t>
            </a:r>
          </a:p>
        </p:txBody>
      </p:sp>
    </p:spTree>
    <p:extLst>
      <p:ext uri="{BB962C8B-B14F-4D97-AF65-F5344CB8AC3E}">
        <p14:creationId xmlns:p14="http://schemas.microsoft.com/office/powerpoint/2010/main" val="2788115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857D4-AED1-4BEB-A842-8738468E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Характеристики облака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426F7-8D1F-4ADA-842B-BF3719DD9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 по запросу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Сетевая доступность</a:t>
            </a: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Объединения ресурсов</a:t>
            </a: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Эластичность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Измерительный сервис</a:t>
            </a: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затрат</a:t>
            </a: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Удаленное управление инфраструктурой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Надежность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13A6E1-C2D2-4D42-BB7C-F9A9C00BC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93805"/>
            <a:ext cx="4059526" cy="202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21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E1BE0-A0F3-43CA-92F0-A24AEEC9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Типы Облачных вычислений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53B594-FA0F-48DF-8D35-E41678D95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8797"/>
            <a:ext cx="8229600" cy="2302790"/>
          </a:xfrm>
        </p:spPr>
        <p:txBody>
          <a:bodyPr/>
          <a:lstStyle/>
          <a:p>
            <a:r>
              <a:rPr lang="ru-RU" i="0" dirty="0">
                <a:solidFill>
                  <a:srgbClr val="444444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Публичное (</a:t>
            </a:r>
            <a:r>
              <a:rPr lang="en-US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cloud)</a:t>
            </a:r>
            <a:endParaRPr lang="ru-RU" i="0" dirty="0">
              <a:solidFill>
                <a:srgbClr val="444444"/>
              </a:solidFill>
              <a:effectLst/>
              <a:latin typeface="Golos Text" panose="020B0503020202020204"/>
              <a:cs typeface="Times New Roman" panose="02020603050405020304" pitchFamily="18" charset="0"/>
            </a:endParaRPr>
          </a:p>
          <a:p>
            <a:r>
              <a:rPr lang="ru-RU" i="0" dirty="0">
                <a:solidFill>
                  <a:srgbClr val="444444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Частное (</a:t>
            </a:r>
            <a:r>
              <a:rPr lang="en-US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cloud)</a:t>
            </a:r>
            <a:endParaRPr lang="ru-RU" dirty="0">
              <a:solidFill>
                <a:srgbClr val="444444"/>
              </a:solidFill>
              <a:latin typeface="Golos Text" panose="020B0503020202020204"/>
              <a:cs typeface="Times New Roman" panose="02020603050405020304" pitchFamily="18" charset="0"/>
            </a:endParaRPr>
          </a:p>
          <a:p>
            <a:r>
              <a:rPr lang="ru-RU" i="0" dirty="0">
                <a:solidFill>
                  <a:srgbClr val="444444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Гибридное (</a:t>
            </a:r>
            <a:r>
              <a:rPr lang="en-US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cloud)</a:t>
            </a:r>
            <a:endParaRPr lang="ru-RU" i="0" dirty="0">
              <a:solidFill>
                <a:srgbClr val="444444"/>
              </a:solidFill>
              <a:effectLst/>
              <a:latin typeface="Golos Text" panose="020B0503020202020204"/>
              <a:cs typeface="Times New Roman" panose="02020603050405020304" pitchFamily="18" charset="0"/>
            </a:endParaRPr>
          </a:p>
          <a:p>
            <a:r>
              <a:rPr lang="ru-RU" dirty="0" err="1">
                <a:solidFill>
                  <a:srgbClr val="444444"/>
                </a:solidFill>
                <a:latin typeface="Golos Text" panose="020B0503020202020204"/>
                <a:cs typeface="Times New Roman" panose="02020603050405020304" pitchFamily="18" charset="0"/>
              </a:rPr>
              <a:t>Мультиоблака</a:t>
            </a:r>
            <a:r>
              <a:rPr lang="ru-RU" dirty="0">
                <a:solidFill>
                  <a:srgbClr val="444444"/>
                </a:solidFill>
                <a:latin typeface="Golos Text" panose="020B0503020202020204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Multicloud</a:t>
            </a:r>
            <a:r>
              <a:rPr lang="ru-RU" dirty="0">
                <a:solidFill>
                  <a:srgbClr val="444444"/>
                </a:solidFill>
                <a:latin typeface="Golos Text" panose="020B0503020202020204"/>
                <a:cs typeface="Times New Roman" panose="02020603050405020304" pitchFamily="18" charset="0"/>
              </a:rPr>
              <a:t>)</a:t>
            </a:r>
          </a:p>
          <a:p>
            <a:r>
              <a:rPr lang="ru-RU" dirty="0">
                <a:solidFill>
                  <a:srgbClr val="444444"/>
                </a:solidFill>
                <a:latin typeface="Golos Text" panose="020B0503020202020204"/>
                <a:cs typeface="Times New Roman" panose="02020603050405020304" pitchFamily="18" charset="0"/>
              </a:rPr>
              <a:t>Защищенное облако ФЗ-152</a:t>
            </a:r>
          </a:p>
          <a:p>
            <a:endParaRPr lang="ru-RU" dirty="0">
              <a:solidFill>
                <a:srgbClr val="444444"/>
              </a:solidFill>
              <a:latin typeface="Golos Text" panose="020B0503020202020204"/>
            </a:endParaRPr>
          </a:p>
        </p:txBody>
      </p:sp>
      <p:pic>
        <p:nvPicPr>
          <p:cNvPr id="1026" name="Picture 2" descr="Облако для хранения персональных данных (152-ФЗ) / Хостинг ИСПДн в облаке  DataLin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704" y="2742299"/>
            <a:ext cx="2222717" cy="116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8782" y="1324354"/>
            <a:ext cx="2894043" cy="130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0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9B24B-1220-4E53-AAD7-5461D26E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Публичное (</a:t>
            </a:r>
            <a:r>
              <a:rPr lang="en-US" sz="2400" dirty="0"/>
              <a:t>Public cloud)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C6A968-95B8-402D-84FC-EB729A800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9420"/>
            <a:ext cx="8229600" cy="2392167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Golos Text"/>
                <a:cs typeface="Times New Roman" panose="02020603050405020304" pitchFamily="18" charset="0"/>
              </a:rPr>
              <a:t>Публичное облако </a:t>
            </a:r>
            <a:r>
              <a:rPr lang="ru-RU" sz="1800" dirty="0">
                <a:latin typeface="Golos Text"/>
                <a:cs typeface="Times New Roman" panose="02020603050405020304" pitchFamily="18" charset="0"/>
              </a:rPr>
              <a:t>- это пул виртуальных ресурсов, созданный на основе оборудования, принадлежащего сторонней компании и управляемого ею, который автоматически выделяется и распределяется между несколькими клиентами через интерфейс самообслуживания.</a:t>
            </a:r>
          </a:p>
        </p:txBody>
      </p:sp>
    </p:spTree>
    <p:extLst>
      <p:ext uri="{BB962C8B-B14F-4D97-AF65-F5344CB8AC3E}">
        <p14:creationId xmlns:p14="http://schemas.microsoft.com/office/powerpoint/2010/main" val="1992817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51670-446F-4753-96D6-7B0E9C6A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Что делает облако общедоступным?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3EF293-19D3-41CE-A1FE-C3704B302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8785"/>
            <a:ext cx="8229600" cy="2742802"/>
          </a:xfrm>
        </p:spPr>
        <p:txBody>
          <a:bodyPr>
            <a:noAutofit/>
          </a:bodyPr>
          <a:lstStyle/>
          <a:p>
            <a:r>
              <a:rPr lang="ru-RU" sz="1600" dirty="0"/>
              <a:t>Распределение ресурсов</a:t>
            </a:r>
          </a:p>
          <a:p>
            <a:pPr marL="342900" lvl="1" indent="0">
              <a:buNone/>
            </a:pPr>
            <a:r>
              <a:rPr lang="ru-RU" sz="1600" dirty="0"/>
              <a:t>арендаторы за пределами брандмауэра поставщика совместно используют облачные службы и виртуальные ресурсы, которые поступают из набора инфраструктуры, платформ и программного обеспечения поставщика.</a:t>
            </a:r>
          </a:p>
          <a:p>
            <a:endParaRPr lang="ru-RU" sz="1600" dirty="0"/>
          </a:p>
          <a:p>
            <a:r>
              <a:rPr lang="ru-RU" sz="1600" dirty="0"/>
              <a:t>Соглашения об использовании </a:t>
            </a:r>
          </a:p>
          <a:p>
            <a:pPr marL="342900" lvl="1" indent="0">
              <a:buNone/>
            </a:pPr>
            <a:r>
              <a:rPr lang="ru-RU" sz="1600" dirty="0"/>
              <a:t>ресурсы распределяются по мере необходимости, но модели с оплатой по мере использования не являются необходимыми компонентами. </a:t>
            </a:r>
          </a:p>
          <a:p>
            <a:endParaRPr lang="ru-RU" sz="1600" dirty="0"/>
          </a:p>
          <a:p>
            <a:r>
              <a:rPr lang="ru-RU" sz="1600" dirty="0"/>
              <a:t>Управление </a:t>
            </a:r>
          </a:p>
          <a:p>
            <a:pPr marL="342900" lvl="1" indent="0">
              <a:buNone/>
            </a:pPr>
            <a:r>
              <a:rPr lang="ru-RU" sz="1600" dirty="0"/>
              <a:t>провайдер обслуживает оборудование в облаке, поддерживает сеть и управляет программным обеспечением виртуализации.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2799385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C73FA-2CB9-46B1-8C53-0A55E768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Частное (</a:t>
            </a:r>
            <a:r>
              <a:rPr lang="en-US" sz="2400" dirty="0"/>
              <a:t>Private cloud)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0E6CC7-3BFD-41C6-8BBB-0D5EB39E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6292"/>
            <a:ext cx="8229600" cy="2495295"/>
          </a:xfrm>
        </p:spPr>
        <p:txBody>
          <a:bodyPr>
            <a:normAutofit/>
          </a:bodyPr>
          <a:lstStyle/>
          <a:p>
            <a:r>
              <a:rPr lang="ru-RU" sz="1800" b="1" dirty="0"/>
              <a:t>Частные облака </a:t>
            </a:r>
            <a:r>
              <a:rPr lang="ru-RU" sz="1800" dirty="0"/>
              <a:t>- это облачные среды, предназначенные исключительно для конечного пользователя, обычно в пределах брандмауэра пользователя. Хотя частные облака традиционно работали локально, организации теперь создают частные облака в арендованных центрах обработки данных, находящихся в собственности поставщика, расположенных за пределами офиса.</a:t>
            </a:r>
          </a:p>
        </p:txBody>
      </p:sp>
    </p:spTree>
    <p:extLst>
      <p:ext uri="{BB962C8B-B14F-4D97-AF65-F5344CB8AC3E}">
        <p14:creationId xmlns:p14="http://schemas.microsoft.com/office/powerpoint/2010/main" val="4096546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2DE56A-DC20-416F-9AD7-E97EE668B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Гибридное (</a:t>
            </a:r>
            <a:r>
              <a:rPr lang="en-US" sz="2400" dirty="0"/>
              <a:t>Hybrid cloud)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422316-952A-4A85-A577-FA3A3A833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0036"/>
            <a:ext cx="8229600" cy="2701551"/>
          </a:xfrm>
        </p:spPr>
        <p:txBody>
          <a:bodyPr>
            <a:noAutofit/>
          </a:bodyPr>
          <a:lstStyle/>
          <a:p>
            <a:r>
              <a:rPr lang="ru-RU" dirty="0"/>
              <a:t>Гибридное облако - это ИТ-архитектура, которая включает некоторую степень переносимости, оркестровки и управления рабочей нагрузки в 2 или более средах. В зависимости от того, кого вы спросите, эти среды могут включать:</a:t>
            </a:r>
          </a:p>
          <a:p>
            <a:pPr lvl="1"/>
            <a:r>
              <a:rPr lang="ru-RU" dirty="0"/>
              <a:t>Как минимум 1 частное облако и как минимум 1 общедоступное облако</a:t>
            </a:r>
          </a:p>
          <a:p>
            <a:pPr lvl="1"/>
            <a:r>
              <a:rPr lang="ru-RU" dirty="0"/>
              <a:t>2 или более частных облака</a:t>
            </a:r>
          </a:p>
          <a:p>
            <a:pPr lvl="1"/>
            <a:r>
              <a:rPr lang="ru-RU" dirty="0"/>
              <a:t>2 или более общедоступных облака</a:t>
            </a:r>
          </a:p>
          <a:p>
            <a:pPr lvl="1"/>
            <a:r>
              <a:rPr lang="ru-RU" dirty="0"/>
              <a:t>Чистая или виртуальная среда, подключенная как минимум к одному облаку - общедоступному или частному.</a:t>
            </a:r>
          </a:p>
        </p:txBody>
      </p:sp>
    </p:spTree>
    <p:extLst>
      <p:ext uri="{BB962C8B-B14F-4D97-AF65-F5344CB8AC3E}">
        <p14:creationId xmlns:p14="http://schemas.microsoft.com/office/powerpoint/2010/main" val="407201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7E412-5A10-46CE-8553-39E5B2CD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Как работают гибридные облака?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36D190-F77C-4B0D-8C98-AB4BEFE9C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46917"/>
            <a:ext cx="8229600" cy="2474670"/>
          </a:xfrm>
        </p:spPr>
        <p:txBody>
          <a:bodyPr>
            <a:noAutofit/>
          </a:bodyPr>
          <a:lstStyle/>
          <a:p>
            <a:r>
              <a:rPr lang="ru-RU" dirty="0"/>
              <a:t>Локальная сеть (LAN), глобальная сеть (WAN), виртуальная частная сеть (VPN) и / или интерфейсы прикладного программирования (API) соединяют несколько компьютеров вместе.</a:t>
            </a:r>
          </a:p>
          <a:p>
            <a:r>
              <a:rPr lang="ru-RU" dirty="0"/>
              <a:t>Виртуализация , контейнеры или абстрактные ресурсы программно-определяемого хранилища , которые можно объединять в озера данных 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DataLake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ru-RU" dirty="0"/>
              <a:t> .</a:t>
            </a:r>
          </a:p>
          <a:p>
            <a:r>
              <a:rPr lang="ru-RU" dirty="0"/>
              <a:t>Программное обеспечение управления распределяет эти ресурсы по средам, в которых могут работать приложения, которые затем предоставляются по запросу с помощью службы аутентификации.</a:t>
            </a:r>
          </a:p>
        </p:txBody>
      </p:sp>
    </p:spTree>
    <p:extLst>
      <p:ext uri="{BB962C8B-B14F-4D97-AF65-F5344CB8AC3E}">
        <p14:creationId xmlns:p14="http://schemas.microsoft.com/office/powerpoint/2010/main" val="2446809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29D62-06FD-4B1A-AB4C-D406DFA5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 err="1"/>
              <a:t>Мультиоблака</a:t>
            </a:r>
            <a:r>
              <a:rPr lang="ru-RU" sz="2400" dirty="0"/>
              <a:t> (</a:t>
            </a:r>
            <a:r>
              <a:rPr lang="en-US" sz="2400" dirty="0" err="1"/>
              <a:t>Multicloud</a:t>
            </a:r>
            <a:r>
              <a:rPr lang="en-US" sz="2400" dirty="0"/>
              <a:t>)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C1A343-92C7-48AD-97E1-BA5333B5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7548"/>
            <a:ext cx="8229600" cy="2899675"/>
          </a:xfrm>
        </p:spPr>
        <p:txBody>
          <a:bodyPr/>
          <a:lstStyle/>
          <a:p>
            <a:r>
              <a:rPr lang="ru-RU" dirty="0" err="1"/>
              <a:t>Multicloud</a:t>
            </a:r>
            <a:r>
              <a:rPr lang="ru-RU" dirty="0"/>
              <a:t> - это облачный подход, состоящий из более чем одной облачной службы от более чем одного поставщика облачных вычислений - общедоступных или частных. </a:t>
            </a:r>
          </a:p>
          <a:p>
            <a:r>
              <a:rPr lang="ru-RU" dirty="0"/>
              <a:t>Все гибридные облака - это </a:t>
            </a:r>
            <a:r>
              <a:rPr lang="ru-RU" dirty="0" err="1"/>
              <a:t>мультиоблака</a:t>
            </a:r>
            <a:r>
              <a:rPr lang="ru-RU" dirty="0"/>
              <a:t>, но не все </a:t>
            </a:r>
            <a:r>
              <a:rPr lang="ru-RU" dirty="0" err="1"/>
              <a:t>мультиоблака</a:t>
            </a:r>
            <a:r>
              <a:rPr lang="ru-RU" dirty="0"/>
              <a:t> - это гибридные облака. </a:t>
            </a:r>
            <a:r>
              <a:rPr lang="ru-RU" dirty="0" err="1"/>
              <a:t>Мультиоблака</a:t>
            </a:r>
            <a:r>
              <a:rPr lang="ru-RU" dirty="0"/>
              <a:t> превращаются в гибридные облака, когда несколько облаков связаны какой-либо формой интеграции или оркестровки.</a:t>
            </a:r>
          </a:p>
        </p:txBody>
      </p:sp>
    </p:spTree>
    <p:extLst>
      <p:ext uri="{BB962C8B-B14F-4D97-AF65-F5344CB8AC3E}">
        <p14:creationId xmlns:p14="http://schemas.microsoft.com/office/powerpoint/2010/main" val="235378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83D61-73E0-4F47-8DCF-FD941645B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Защищенное облако ФЗ-152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521FC5-F34D-4883-BEE1-333FCC2E4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3175"/>
            <a:ext cx="8229600" cy="2899675"/>
          </a:xfrm>
        </p:spPr>
        <p:txBody>
          <a:bodyPr/>
          <a:lstStyle/>
          <a:p>
            <a:r>
              <a:rPr lang="ru-RU" dirty="0"/>
              <a:t>Облако ФЗ-152 — готовое решение в виде защищенной облачной инфраструктуры в аренду. Сервис предоставляется по модели </a:t>
            </a:r>
            <a:r>
              <a:rPr lang="ru-RU" dirty="0" err="1"/>
              <a:t>IaaS</a:t>
            </a:r>
            <a:r>
              <a:rPr lang="ru-RU" dirty="0"/>
              <a:t> с полным набором сертифицированных средств защиты и необходимой документацией. Клиент получает в пользование виртуальную IT-инфраструктуру на базе VMware в соответствии с требованиями законодательства РФ по защите информации для размещения информационных систем персональных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232063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6D156-C954-4180-A9B3-30270B4C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Особенности сервиса ФЗ-152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62926D-8F35-4260-B1D8-D704523B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1919"/>
            <a:ext cx="8229600" cy="2899675"/>
          </a:xfrm>
        </p:spPr>
        <p:txBody>
          <a:bodyPr>
            <a:noAutofit/>
          </a:bodyPr>
          <a:lstStyle/>
          <a:p>
            <a:r>
              <a:rPr lang="ru-RU" sz="1600" dirty="0"/>
              <a:t>Персональные данные размещаются в изолированном облаке, защищенном сертифицированными средствами защиты информации.</a:t>
            </a:r>
          </a:p>
          <a:p>
            <a:r>
              <a:rPr lang="ru-RU" sz="1600" dirty="0"/>
              <a:t> Защищена и зарезервирована вся архитектура виртуализации: гипервизор, платформа виртуализации, аппаратная платформа и СХД, система управления. </a:t>
            </a:r>
          </a:p>
          <a:p>
            <a:r>
              <a:rPr lang="ru-RU" sz="1600" dirty="0"/>
              <a:t>Обеспечивается комплекс необходимых мер по физической и информационной безопасности, что гарантирует полное соответствие требованиям Роскомнадзора, ФСТЭК и ФСБ. </a:t>
            </a:r>
          </a:p>
          <a:p>
            <a:r>
              <a:rPr lang="ru-RU" sz="1600" dirty="0"/>
              <a:t>Каждая </a:t>
            </a:r>
            <a:r>
              <a:rPr lang="ru-RU" sz="1600" dirty="0" err="1"/>
              <a:t>ИСПДн</a:t>
            </a:r>
            <a:r>
              <a:rPr lang="ru-RU" sz="1600" dirty="0"/>
              <a:t> клиента размещается в защищенной по требованиям ФСТЭК изолированной виртуальной среде, реализованной на базе решений VMware. </a:t>
            </a:r>
          </a:p>
          <a:p>
            <a:r>
              <a:rPr lang="ru-RU" sz="1600" dirty="0"/>
              <a:t>Доступ к облаку осуществляется с использованием сертифицированных средств защиты. Вычислительные ресурсы, предоставляемые для </a:t>
            </a:r>
            <a:r>
              <a:rPr lang="ru-RU" sz="1600" dirty="0" err="1"/>
              <a:t>ИСПДн</a:t>
            </a:r>
            <a:r>
              <a:rPr lang="ru-RU" sz="1600" dirty="0"/>
              <a:t> клиента, с легкостью масштабируются. </a:t>
            </a:r>
          </a:p>
          <a:p>
            <a:r>
              <a:rPr lang="ru-RU" sz="1600" dirty="0"/>
              <a:t>Для разработки и тестирования могут быть созданы дополнительные сегменты в облаке.</a:t>
            </a:r>
          </a:p>
        </p:txBody>
      </p:sp>
    </p:spTree>
    <p:extLst>
      <p:ext uri="{BB962C8B-B14F-4D97-AF65-F5344CB8AC3E}">
        <p14:creationId xmlns:p14="http://schemas.microsoft.com/office/powerpoint/2010/main" val="1761655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4FFCD-5989-4CA4-8AA3-CFC5DE4E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Облачные сервисы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EA1055-DE63-4AD7-8B5E-BE5A9374E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3172"/>
            <a:ext cx="4949243" cy="2365065"/>
          </a:xfrm>
        </p:spPr>
        <p:txBody>
          <a:bodyPr>
            <a:normAutofit/>
          </a:bodyPr>
          <a:lstStyle/>
          <a:p>
            <a:r>
              <a:rPr lang="ru-RU" sz="1800" dirty="0"/>
              <a:t>Облачные сервисы - это инфраструктура, платформы или программное обеспечение, которые размещаются сторонними поставщиками и доступны пользователям через Интернет. Существует 3 основных типа решений как услуга: </a:t>
            </a:r>
            <a:r>
              <a:rPr lang="ru-RU" sz="1800" dirty="0" err="1"/>
              <a:t>IaaS</a:t>
            </a:r>
            <a:r>
              <a:rPr lang="ru-RU" sz="1800" dirty="0"/>
              <a:t>, </a:t>
            </a:r>
            <a:r>
              <a:rPr lang="ru-RU" sz="1800" dirty="0" err="1"/>
              <a:t>PaaS</a:t>
            </a:r>
            <a:r>
              <a:rPr lang="ru-RU" sz="1800" dirty="0"/>
              <a:t> и </a:t>
            </a:r>
            <a:r>
              <a:rPr lang="ru-RU" sz="1800" dirty="0" err="1"/>
              <a:t>SaaS</a:t>
            </a:r>
            <a:r>
              <a:rPr lang="ru-RU" sz="1800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452BBE-EF03-4B59-A923-C3FAE8869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443" y="2145059"/>
            <a:ext cx="3341741" cy="166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68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34449-E4B6-4820-93C9-F490FA1E8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Облачные сервисы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432DBD-697A-4122-92CF-99EC7BD94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SaaS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 — аренда программного обеспечения (Software-</a:t>
            </a:r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as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-a-Service), поставщик предлагает собственные интернет-приложения, которыми заказчики могут пользоваться онлайн;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PaaS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 — услуга по предоставлению полноценной платформы в «облаке», Platform-</a:t>
            </a:r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as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-a-Service предполагает доступ заказчика к инфраструктуре определенных ОС, СУБД, а управление остается в компетенции провайдера;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IaaS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 — модель Infrastructure-</a:t>
            </a:r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as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-a-Service предполагает предоставление пользователю комплексной инфраструктуры для запуска своих IT-решений с помощью </a:t>
            </a:r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cloud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 технологий;</a:t>
            </a:r>
          </a:p>
          <a:p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Daas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 — в качестве сервиса предоставляется готовое к использованию и полностью оснащенное рабочее место (Desktop-</a:t>
            </a:r>
            <a:r>
              <a:rPr lang="ru-RU" b="0" i="0" dirty="0" err="1">
                <a:solidFill>
                  <a:srgbClr val="312A20"/>
                </a:solidFill>
                <a:effectLst/>
                <a:latin typeface="ProximaNova"/>
              </a:rPr>
              <a:t>as</a:t>
            </a:r>
            <a:r>
              <a:rPr lang="ru-RU" b="0" i="0" dirty="0">
                <a:solidFill>
                  <a:srgbClr val="312A20"/>
                </a:solidFill>
                <a:effectLst/>
                <a:latin typeface="ProximaNova"/>
              </a:rPr>
              <a:t>-a-Service).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4636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00511-1249-454D-9D49-9D2A4D2A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277356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 err="1"/>
              <a:t>SaaS</a:t>
            </a:r>
            <a:r>
              <a:rPr lang="ru-RU" sz="2400" dirty="0"/>
              <a:t> – Программное обеспечение как сервис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2E644D-B1FC-44CB-9491-3DD1E7B32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581693"/>
          </a:xfrm>
        </p:spPr>
        <p:txBody>
          <a:bodyPr>
            <a:normAutofit fontScale="55000" lnSpcReduction="20000"/>
          </a:bodyPr>
          <a:lstStyle/>
          <a:p>
            <a:r>
              <a:rPr lang="ru-RU" sz="2850" dirty="0"/>
              <a:t>Это услуга, благодаря которой можно арендовать лицензионное программное обеспечение.</a:t>
            </a:r>
          </a:p>
          <a:p>
            <a:r>
              <a:rPr lang="ru-RU" sz="2850" dirty="0"/>
              <a:t>Услуга </a:t>
            </a:r>
            <a:r>
              <a:rPr lang="ru-RU" sz="2850" dirty="0" err="1"/>
              <a:t>SaaS</a:t>
            </a:r>
            <a:r>
              <a:rPr lang="ru-RU" sz="2850" dirty="0"/>
              <a:t> позволяет бизнесу сэкономить на IT за счет выноса обслуживания и поддержки ПО на </a:t>
            </a:r>
            <a:r>
              <a:rPr lang="ru-RU" sz="2850" dirty="0" err="1"/>
              <a:t>аутсорс</a:t>
            </a:r>
            <a:r>
              <a:rPr lang="ru-RU" sz="2850" dirty="0"/>
              <a:t>. Приложения по модели </a:t>
            </a:r>
            <a:r>
              <a:rPr lang="ru-RU" sz="2850" dirty="0" err="1"/>
              <a:t>SaaS</a:t>
            </a:r>
            <a:r>
              <a:rPr lang="ru-RU" sz="2850" dirty="0"/>
              <a:t> обновляются чаще обычных (раз в месяц или даже раз в неделю). Это вызвано следующими причинами:</a:t>
            </a:r>
          </a:p>
          <a:p>
            <a:endParaRPr lang="ru-RU" dirty="0"/>
          </a:p>
          <a:p>
            <a:r>
              <a:rPr lang="ru-RU" sz="2700" dirty="0"/>
              <a:t>Софт расположен централизованно у провайдера, поэтому именно провайдер занимается обновлениям, а не сам клиент.</a:t>
            </a:r>
          </a:p>
          <a:p>
            <a:r>
              <a:rPr lang="ru-RU" sz="2700" dirty="0"/>
              <a:t>У всех пользовательских приложений общая конфигурация, что упрощает тестирование.</a:t>
            </a:r>
          </a:p>
          <a:p>
            <a:r>
              <a:rPr lang="ru-RU" sz="2700" dirty="0"/>
              <a:t>Провайдеру не приходится тратить ресурсы на обновление и поддержку фоновых версий программного обеспечения.</a:t>
            </a:r>
          </a:p>
          <a:p>
            <a:r>
              <a:rPr lang="ru-RU" sz="2700" dirty="0"/>
              <a:t>Разработка и регрессивное тестирование выполняются быстрее благодаря тому, что у провайдера есть полный доступ к данным арендатора.</a:t>
            </a:r>
          </a:p>
          <a:p>
            <a:r>
              <a:rPr lang="ru-RU" sz="2700" dirty="0"/>
              <a:t>Модель оплаты – каждый месяц или раз в год взимается фиксированная плата за каждого пользователя. То есть клиент может убирать или добавлять новых пользователей в любой момент и платить только за реальное их количество.</a:t>
            </a:r>
          </a:p>
        </p:txBody>
      </p:sp>
    </p:spTree>
    <p:extLst>
      <p:ext uri="{BB962C8B-B14F-4D97-AF65-F5344CB8AC3E}">
        <p14:creationId xmlns:p14="http://schemas.microsoft.com/office/powerpoint/2010/main" val="72295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8CA73-5D86-4FF8-8EC1-162AFE78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Проблемы и недостатки </a:t>
            </a:r>
            <a:r>
              <a:rPr lang="en-US" sz="2400" dirty="0"/>
              <a:t>SaaS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ED34D1-8DCC-4717-9ECE-A5E589384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жесткие требования к качеству и бесперебойности канала связи;</a:t>
            </a:r>
          </a:p>
          <a:p>
            <a:r>
              <a:rPr lang="ru-RU" dirty="0"/>
              <a:t>ограниченность функционала ввиду особенностей браузеров. В настоящее время все еще невозможно создать веб-сервис с функционалом, аналогичным оффлайн-приложениям;</a:t>
            </a:r>
          </a:p>
          <a:p>
            <a:r>
              <a:rPr lang="ru-RU" dirty="0"/>
              <a:t>Сложность интеграции </a:t>
            </a:r>
            <a:r>
              <a:rPr lang="ru-RU" dirty="0" err="1"/>
              <a:t>SaaS</a:t>
            </a:r>
            <a:r>
              <a:rPr lang="ru-RU" dirty="0"/>
              <a:t> приложения с остальной инфраструктурой компании;</a:t>
            </a:r>
          </a:p>
          <a:p>
            <a:r>
              <a:rPr lang="ru-RU" dirty="0"/>
              <a:t>недостаточная скорость работы;</a:t>
            </a:r>
          </a:p>
          <a:p>
            <a:r>
              <a:rPr lang="ru-RU" dirty="0"/>
              <a:t>Низкая </a:t>
            </a:r>
            <a:r>
              <a:rPr lang="ru-RU" dirty="0" err="1"/>
              <a:t>кастомизируемость</a:t>
            </a:r>
            <a:r>
              <a:rPr lang="ru-RU" dirty="0"/>
              <a:t>;</a:t>
            </a:r>
          </a:p>
          <a:p>
            <a:r>
              <a:rPr lang="ru-RU" dirty="0"/>
              <a:t>Неуправляемость процедур обновления версий системы;</a:t>
            </a:r>
          </a:p>
          <a:p>
            <a:r>
              <a:rPr lang="ru-RU" dirty="0"/>
              <a:t>консерватизм и недоверие пользователей к обрабатываемой «неизвестно где» конфиденциальной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2388822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3F957-1AE3-4099-8532-5BD637A2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IaaS – </a:t>
            </a:r>
            <a:r>
              <a:rPr lang="ru-RU" sz="2400" dirty="0"/>
              <a:t>Инфраструктура как сервис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BA0B5B-898A-4C92-A94C-36E24898D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400" dirty="0"/>
              <a:t>Главные особенности </a:t>
            </a:r>
            <a:r>
              <a:rPr lang="ru-RU" sz="1400" dirty="0" err="1"/>
              <a:t>IaaS</a:t>
            </a:r>
            <a:r>
              <a:rPr lang="ru-RU" sz="1400" dirty="0"/>
              <a:t>:</a:t>
            </a:r>
          </a:p>
          <a:p>
            <a:pPr lvl="1"/>
            <a:r>
              <a:rPr lang="ru-RU" sz="1400" dirty="0"/>
              <a:t>Равномерно распределяется траффик, балансировка нагрузки.</a:t>
            </a:r>
          </a:p>
          <a:p>
            <a:pPr lvl="1"/>
            <a:r>
              <a:rPr lang="ru-RU" sz="1400" dirty="0" err="1"/>
              <a:t>Лёгко</a:t>
            </a:r>
            <a:r>
              <a:rPr lang="ru-RU" sz="1400" dirty="0"/>
              <a:t> масштабировать.</a:t>
            </a:r>
          </a:p>
          <a:p>
            <a:pPr lvl="1"/>
            <a:r>
              <a:rPr lang="ru-RU" sz="1400" dirty="0"/>
              <a:t>Нет простоя неиспользуемых мощностей.</a:t>
            </a:r>
          </a:p>
          <a:p>
            <a:pPr lvl="1"/>
            <a:r>
              <a:rPr lang="ru-RU" sz="1400" dirty="0"/>
              <a:t>Не требуется дополнительная инфраструктура под редко используемые приложения.</a:t>
            </a:r>
          </a:p>
          <a:p>
            <a:pPr lvl="1"/>
            <a:r>
              <a:rPr lang="ru-RU" sz="1400" dirty="0"/>
              <a:t>Можно тестировать ПО на различных платформах.</a:t>
            </a:r>
          </a:p>
          <a:p>
            <a:r>
              <a:rPr lang="ru-RU" sz="1400" dirty="0"/>
              <a:t>Использование </a:t>
            </a:r>
            <a:r>
              <a:rPr lang="ru-RU" sz="1400" dirty="0" err="1"/>
              <a:t>IaaS</a:t>
            </a:r>
            <a:r>
              <a:rPr lang="ru-RU" sz="1400" dirty="0"/>
              <a:t> позволяет:</a:t>
            </a:r>
          </a:p>
          <a:p>
            <a:pPr lvl="1"/>
            <a:r>
              <a:rPr lang="ru-RU" sz="1400" dirty="0"/>
              <a:t>Отказаться от физических серверов, их обслуживания и администрирования.</a:t>
            </a:r>
          </a:p>
          <a:p>
            <a:pPr lvl="1"/>
            <a:r>
              <a:rPr lang="ru-RU" sz="1400" dirty="0"/>
              <a:t>Сэкономить на инфраструктуре за счёт отсутствия капитальных затрат, затрат на обслуживание оборудования, покупку лицензионного софта.</a:t>
            </a:r>
          </a:p>
          <a:p>
            <a:pPr lvl="1"/>
            <a:r>
              <a:rPr lang="ru-RU" sz="1400" dirty="0"/>
              <a:t>Быстро запустить стартап или новое направление бизнеса.</a:t>
            </a:r>
          </a:p>
          <a:p>
            <a:pPr lvl="1"/>
            <a:r>
              <a:rPr lang="ru-RU" sz="1400" dirty="0"/>
              <a:t>Расширить текущую инфраструктуру под новые задачи или организовать тестовые среды для нужд разработки.</a:t>
            </a:r>
          </a:p>
          <a:p>
            <a:pPr lvl="1"/>
            <a:r>
              <a:rPr lang="ru-RU" sz="1400" dirty="0"/>
              <a:t>Получить гибкую, легко масштабируемую инфраструктуру (актуально для компаний с неравномерными нагрузками)</a:t>
            </a:r>
          </a:p>
          <a:p>
            <a:pPr lvl="1"/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92176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8DE2E-86F4-49EF-BC68-061A27932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PaaS – </a:t>
            </a:r>
            <a:r>
              <a:rPr lang="ru-RU" sz="2400" dirty="0"/>
              <a:t>Платформа как услуга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2F7590-F54E-4697-ABC4-C74B7DA33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6297"/>
            <a:ext cx="8229600" cy="2899675"/>
          </a:xfrm>
        </p:spPr>
        <p:txBody>
          <a:bodyPr>
            <a:normAutofit/>
          </a:bodyPr>
          <a:lstStyle/>
          <a:p>
            <a:r>
              <a:rPr lang="ru-RU" sz="1800" dirty="0"/>
              <a:t>Преимущества использование </a:t>
            </a:r>
            <a:r>
              <a:rPr lang="ru-RU" sz="1800" dirty="0" err="1"/>
              <a:t>PaaS</a:t>
            </a:r>
            <a:r>
              <a:rPr lang="ru-RU" sz="1800" dirty="0"/>
              <a:t>:</a:t>
            </a:r>
          </a:p>
          <a:p>
            <a:r>
              <a:rPr lang="ru-RU" sz="1600" dirty="0"/>
              <a:t>Быстрый выход на рынок. Благодаря тому, что нет необходимости создавать и настраивать собственную платформу, разработка ПО происходит в разы быстрее.</a:t>
            </a:r>
          </a:p>
          <a:p>
            <a:r>
              <a:rPr lang="ru-RU" sz="1600" dirty="0"/>
              <a:t>Одна среда для всего. Разработчики могут создавать, тестировать, отлаживать продукт в единой среде.</a:t>
            </a:r>
          </a:p>
          <a:p>
            <a:r>
              <a:rPr lang="ru-RU" sz="1600" dirty="0"/>
              <a:t>Экономия. Избавляет от затрат на приобретение, настройку и администрирование оборудования.</a:t>
            </a:r>
          </a:p>
          <a:p>
            <a:r>
              <a:rPr lang="ru-RU" sz="1600" dirty="0"/>
              <a:t>Модель оплаты – почасовая за каждый экземпляр.</a:t>
            </a:r>
          </a:p>
        </p:txBody>
      </p:sp>
    </p:spTree>
    <p:extLst>
      <p:ext uri="{BB962C8B-B14F-4D97-AF65-F5344CB8AC3E}">
        <p14:creationId xmlns:p14="http://schemas.microsoft.com/office/powerpoint/2010/main" val="2709846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C791F-928A-4365-BCFA-DC851FA2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11" y="22526"/>
            <a:ext cx="7886700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Облачные сервисы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CB85F1C-9D90-4705-93DE-FEC40000B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81053" y="1165526"/>
            <a:ext cx="6129141" cy="356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10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476F9-FA5F-4232-B183-FA30F64D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88" y="1"/>
            <a:ext cx="7886700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Облачные сервисы - </a:t>
            </a:r>
            <a:r>
              <a:rPr lang="en-US" sz="2400" dirty="0"/>
              <a:t>Car-as-a-service</a:t>
            </a:r>
            <a:endParaRPr lang="ru-RU" sz="24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0E9F3F0-A8E8-4E22-94E8-C3D958B6F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06556" y="1555500"/>
            <a:ext cx="3930888" cy="289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62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E0549-1F3F-41F4-8314-3FE54748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 err="1"/>
              <a:t>CaaS</a:t>
            </a:r>
            <a:r>
              <a:rPr lang="ru-RU" sz="2400" dirty="0"/>
              <a:t> и </a:t>
            </a:r>
            <a:r>
              <a:rPr lang="ru-RU" sz="2400" dirty="0" err="1"/>
              <a:t>CaaS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2B066-B378-433F-A370-978297F2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047"/>
            <a:ext cx="8229600" cy="2899675"/>
          </a:xfrm>
        </p:spPr>
        <p:txBody>
          <a:bodyPr>
            <a:noAutofit/>
          </a:bodyPr>
          <a:lstStyle/>
          <a:p>
            <a:r>
              <a:rPr lang="ru-RU" sz="1800" b="1" dirty="0">
                <a:solidFill>
                  <a:srgbClr val="FF0000"/>
                </a:solidFill>
              </a:rPr>
              <a:t>Communications-</a:t>
            </a:r>
            <a:r>
              <a:rPr lang="ru-RU" sz="1800" b="1" dirty="0" err="1">
                <a:solidFill>
                  <a:srgbClr val="FF0000"/>
                </a:solidFill>
              </a:rPr>
              <a:t>as</a:t>
            </a:r>
            <a:r>
              <a:rPr lang="ru-RU" sz="1800" b="1" dirty="0">
                <a:solidFill>
                  <a:srgbClr val="FF0000"/>
                </a:solidFill>
              </a:rPr>
              <a:t>-a-</a:t>
            </a:r>
            <a:r>
              <a:rPr lang="ru-RU" sz="1800" b="1" dirty="0" err="1">
                <a:solidFill>
                  <a:srgbClr val="FF0000"/>
                </a:solidFill>
              </a:rPr>
              <a:t>service</a:t>
            </a:r>
            <a:r>
              <a:rPr lang="ru-RU" sz="1800" dirty="0"/>
              <a:t>, представляет собой услугу «коммуникация как сервис», которая связана с построением в облаке провайдера коммуникационного решения для предприятия.</a:t>
            </a:r>
          </a:p>
          <a:p>
            <a:endParaRPr lang="ru-RU" sz="1800" dirty="0"/>
          </a:p>
          <a:p>
            <a:r>
              <a:rPr lang="ru-RU" sz="1800" b="1" dirty="0" err="1">
                <a:solidFill>
                  <a:srgbClr val="FF0000"/>
                </a:solidFill>
              </a:rPr>
              <a:t>Containers</a:t>
            </a:r>
            <a:r>
              <a:rPr lang="ru-RU" sz="1800" b="1" dirty="0">
                <a:solidFill>
                  <a:srgbClr val="FF0000"/>
                </a:solidFill>
              </a:rPr>
              <a:t>-</a:t>
            </a:r>
            <a:r>
              <a:rPr lang="ru-RU" sz="1800" b="1" dirty="0" err="1">
                <a:solidFill>
                  <a:srgbClr val="FF0000"/>
                </a:solidFill>
              </a:rPr>
              <a:t>as</a:t>
            </a:r>
            <a:r>
              <a:rPr lang="ru-RU" sz="1800" b="1" dirty="0">
                <a:solidFill>
                  <a:srgbClr val="FF0000"/>
                </a:solidFill>
              </a:rPr>
              <a:t>-a-</a:t>
            </a:r>
            <a:r>
              <a:rPr lang="ru-RU" sz="1800" b="1" dirty="0" err="1">
                <a:solidFill>
                  <a:srgbClr val="FF0000"/>
                </a:solidFill>
              </a:rPr>
              <a:t>service</a:t>
            </a:r>
            <a:r>
              <a:rPr lang="ru-RU" sz="1800" dirty="0"/>
              <a:t>,– новый вид услуги, именуемой «контейнеры как сервис». Веяние контейнерной реализации породило услугу, в которой контейнерные решения, инструменты и основные вычислительные ресурсы предоставляются пользователям как сервис. С помощью услуги </a:t>
            </a:r>
            <a:r>
              <a:rPr lang="ru-RU" sz="1800" dirty="0" err="1"/>
              <a:t>CaaS</a:t>
            </a:r>
            <a:r>
              <a:rPr lang="ru-RU" sz="1800" dirty="0"/>
              <a:t> клиенты могут загружать, организовывать, запускать, останавливать контейнеры, используя средства API или веб-портал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259249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8DC36-263A-4970-947F-528CDB01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BaaS</a:t>
            </a:r>
            <a:r>
              <a:rPr lang="ru-RU" sz="2400" dirty="0"/>
              <a:t> – </a:t>
            </a:r>
            <a:r>
              <a:rPr lang="en-US" sz="2400" dirty="0"/>
              <a:t>Backup-as-a-service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324201-C4A9-451F-AFF3-E0C9D715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solidFill>
                  <a:srgbClr val="FF0000"/>
                </a:solidFill>
                <a:latin typeface="Golos Text" panose="020B0503020202020204"/>
              </a:rPr>
              <a:t>«Бэкап, бэкап, выполняйте регулярный бэкап»</a:t>
            </a:r>
          </a:p>
          <a:p>
            <a:r>
              <a:rPr lang="ru-RU" sz="1800" b="0" i="0" dirty="0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Услуга «резервное копирование как сервис» (</a:t>
            </a:r>
            <a:r>
              <a:rPr lang="ru-RU" sz="1800" b="0" i="0" dirty="0" err="1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BaaS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, </a:t>
            </a:r>
            <a:r>
              <a:rPr lang="ru-RU" sz="1800" b="0" i="0" dirty="0" err="1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Backup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-</a:t>
            </a:r>
            <a:r>
              <a:rPr lang="ru-RU" sz="1800" b="0" i="0" dirty="0" err="1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as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-a-</a:t>
            </a:r>
            <a:r>
              <a:rPr lang="ru-RU" sz="1800" b="0" i="0" dirty="0" err="1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service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 panose="020B0503020202020204"/>
                <a:cs typeface="Times New Roman" panose="02020603050405020304" pitchFamily="18" charset="0"/>
              </a:rPr>
              <a:t>), которая позаботится о защите данных в облачном пространстве.</a:t>
            </a:r>
            <a:r>
              <a:rPr lang="ru-RU" sz="1800" dirty="0">
                <a:latin typeface="Golos Text" panose="020B0503020202020204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Golos Text" panose="020B0503020202020204"/>
                <a:cs typeface="Times New Roman" panose="02020603050405020304" pitchFamily="18" charset="0"/>
              </a:rPr>
            </a:br>
            <a:endParaRPr lang="ru-RU" sz="1800" dirty="0">
              <a:latin typeface="Golos Text" panose="020B0503020202020204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E79A59-E1D9-4290-951E-003C23AEF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909" y="2150880"/>
            <a:ext cx="3555483" cy="240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27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37554-41FB-4222-A05A-F1DFA88F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BaaS</a:t>
            </a:r>
            <a:r>
              <a:rPr lang="ru-RU" sz="2400" dirty="0"/>
              <a:t> – </a:t>
            </a:r>
            <a:r>
              <a:rPr lang="en-US" sz="2400" dirty="0"/>
              <a:t>Backend-as-a-Service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D8144-5C09-48CB-AF43-699F702AA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8165"/>
            <a:ext cx="8229600" cy="2543422"/>
          </a:xfrm>
        </p:spPr>
        <p:txBody>
          <a:bodyPr>
            <a:normAutofit/>
          </a:bodyPr>
          <a:lstStyle/>
          <a:p>
            <a:r>
              <a:rPr lang="ru-RU" sz="1800" dirty="0" err="1"/>
              <a:t>BaaS</a:t>
            </a:r>
            <a:r>
              <a:rPr lang="ru-RU" sz="1800" dirty="0"/>
              <a:t> решает три задачи разработчиков: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Golos Text" panose="020B0503020202020204"/>
              </a:rPr>
              <a:t>скорость развития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Golos Text" panose="020B0503020202020204"/>
              </a:rPr>
              <a:t>Равномерность</a:t>
            </a:r>
            <a:endParaRPr lang="ru-RU" sz="1800" dirty="0">
              <a:solidFill>
                <a:srgbClr val="111111"/>
              </a:solidFill>
              <a:latin typeface="Golos Text" panose="020B0503020202020204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Golos Text" panose="020B0503020202020204"/>
              </a:rPr>
              <a:t>охват</a:t>
            </a:r>
            <a:endParaRPr lang="ru-RU" sz="1800" dirty="0">
              <a:latin typeface="Golos Text" panose="020B0503020202020204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D7BFB0-B71C-492E-9D81-60075CA7C7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6946"/>
          <a:stretch/>
        </p:blipFill>
        <p:spPr>
          <a:xfrm>
            <a:off x="3891484" y="2386584"/>
            <a:ext cx="4623866" cy="229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39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AF114-DDAA-4533-ADD9-B640BE1B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 err="1"/>
              <a:t>MaaS</a:t>
            </a:r>
            <a:r>
              <a:rPr lang="ru-RU" sz="2400" dirty="0"/>
              <a:t> – </a:t>
            </a:r>
            <a:r>
              <a:rPr lang="en-US" sz="2400" dirty="0"/>
              <a:t>Monitoring-as-a-service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EECED5-998C-4E36-96ED-8DBB39DE9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81293"/>
            <a:ext cx="8229600" cy="2440294"/>
          </a:xfrm>
        </p:spPr>
        <p:txBody>
          <a:bodyPr>
            <a:normAutofit/>
          </a:bodyPr>
          <a:lstStyle/>
          <a:p>
            <a:r>
              <a:rPr lang="ru-RU" sz="1800" dirty="0"/>
              <a:t>Мониторинг – неотъемлемый компонент менеджмента ИТ-инфраструктуры, сегодня существует множество решений, устанавливаемых </a:t>
            </a:r>
            <a:r>
              <a:rPr lang="ru-RU" sz="1800" dirty="0" err="1"/>
              <a:t>on-premise</a:t>
            </a:r>
            <a:endParaRPr lang="ru-RU" sz="1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6D4C35-4AE6-4273-86EC-70408AF024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57"/>
          <a:stretch/>
        </p:blipFill>
        <p:spPr>
          <a:xfrm>
            <a:off x="6125792" y="2369947"/>
            <a:ext cx="2234436" cy="222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980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2166A-3B19-44F5-ADE0-3DD0CFF0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 err="1"/>
              <a:t>DaaS</a:t>
            </a:r>
            <a:r>
              <a:rPr lang="ru-RU" sz="2400" dirty="0"/>
              <a:t> – </a:t>
            </a:r>
            <a:r>
              <a:rPr lang="en-US" sz="2400" dirty="0"/>
              <a:t>Desktop-as-a-service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53C66A-4228-4515-93E5-D671D5090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6295"/>
            <a:ext cx="8229600" cy="2385292"/>
          </a:xfrm>
        </p:spPr>
        <p:txBody>
          <a:bodyPr/>
          <a:lstStyle/>
          <a:p>
            <a:r>
              <a:rPr lang="ru-RU" dirty="0"/>
              <a:t>Решение, которое позволяет использовать виртуальный рабочий стол как услугу. Подключаясь к виртуальному компьютеру, клиент получает возможность настраивать рабочее пространство под собственные задачи. Виртуальный рабочий стол может быть настолько мощным по характеристикам, насколько это требуется конечному пользователю.</a:t>
            </a:r>
          </a:p>
        </p:txBody>
      </p:sp>
    </p:spTree>
    <p:extLst>
      <p:ext uri="{BB962C8B-B14F-4D97-AF65-F5344CB8AC3E}">
        <p14:creationId xmlns:p14="http://schemas.microsoft.com/office/powerpoint/2010/main" val="118357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4B9E6-EC76-4AA0-9DEB-42CE46847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 err="1"/>
              <a:t>Dbaas</a:t>
            </a:r>
            <a:r>
              <a:rPr lang="ru-RU" sz="2400" dirty="0"/>
              <a:t> – </a:t>
            </a:r>
            <a:r>
              <a:rPr lang="en-US" sz="2400" dirty="0"/>
              <a:t>Database-as-a-service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FEBAD6-5A4C-43FC-9115-93A82A7D1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56920"/>
            <a:ext cx="8229600" cy="2364667"/>
          </a:xfrm>
        </p:spPr>
        <p:txBody>
          <a:bodyPr>
            <a:normAutofit/>
          </a:bodyPr>
          <a:lstStyle/>
          <a:p>
            <a:r>
              <a:rPr lang="ru-RU" dirty="0"/>
              <a:t>Услуга, которая тарифицируется по объему используемой БД и количеству клиентских подключений. Такая модель позволяет пользователю подключаться к облаку и получать в свое распоряжение необходимую базу данных. Сервис является многопользовательским и масштабируемым, где функциональность СУБД администрируется силами хостинг-провайдера.</a:t>
            </a:r>
          </a:p>
        </p:txBody>
      </p:sp>
    </p:spTree>
    <p:extLst>
      <p:ext uri="{BB962C8B-B14F-4D97-AF65-F5344CB8AC3E}">
        <p14:creationId xmlns:p14="http://schemas.microsoft.com/office/powerpoint/2010/main" val="259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3B6CD-23BB-42B7-9141-FAE19958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 err="1"/>
              <a:t>DRaaS</a:t>
            </a:r>
            <a:r>
              <a:rPr lang="ru-RU" sz="2400" dirty="0"/>
              <a:t> – </a:t>
            </a:r>
            <a:r>
              <a:rPr lang="en-US" sz="2400" dirty="0"/>
              <a:t>Disaster</a:t>
            </a:r>
            <a:r>
              <a:rPr lang="ru-RU" sz="2400" dirty="0"/>
              <a:t> </a:t>
            </a:r>
            <a:r>
              <a:rPr lang="en-US" sz="2400" dirty="0"/>
              <a:t>Recovery-as-a-Service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173808-8046-43EA-8B90-BD0D6BC3A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2541"/>
            <a:ext cx="8229600" cy="2509046"/>
          </a:xfrm>
        </p:spPr>
        <p:txBody>
          <a:bodyPr>
            <a:normAutofit/>
          </a:bodyPr>
          <a:lstStyle/>
          <a:p>
            <a:r>
              <a:rPr lang="ru-RU" dirty="0"/>
              <a:t>Аварийное восстановление в облако как сервис</a:t>
            </a:r>
          </a:p>
          <a:p>
            <a:r>
              <a:rPr lang="ru-RU" dirty="0"/>
              <a:t>VMware </a:t>
            </a:r>
            <a:r>
              <a:rPr lang="ru-RU" dirty="0" err="1"/>
              <a:t>vCloud</a:t>
            </a:r>
            <a:r>
              <a:rPr lang="ru-RU" dirty="0"/>
              <a:t>® </a:t>
            </a:r>
            <a:r>
              <a:rPr lang="ru-RU" dirty="0" err="1"/>
              <a:t>Availability</a:t>
            </a:r>
            <a:r>
              <a:rPr lang="ru-RU" dirty="0"/>
              <a:t> — решение для послеаварийного восстановления виртуальной IT-инфраструктуры на резервной площадке. Отвечает за репликацию с возможностью настройки минимального RPO. Гарантирует высокий уровень доступности и может использоваться для миграции рабочих нагрузок на уровне </a:t>
            </a:r>
            <a:r>
              <a:rPr lang="ru-RU" dirty="0" err="1"/>
              <a:t>vApp</a:t>
            </a:r>
            <a:r>
              <a:rPr lang="ru-RU" dirty="0"/>
              <a:t> или отдельно взятой виртуальной машины.</a:t>
            </a:r>
          </a:p>
        </p:txBody>
      </p:sp>
    </p:spTree>
    <p:extLst>
      <p:ext uri="{BB962C8B-B14F-4D97-AF65-F5344CB8AC3E}">
        <p14:creationId xmlns:p14="http://schemas.microsoft.com/office/powerpoint/2010/main" val="2334879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3D477-3C86-45C3-8391-B1F3AC88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 err="1"/>
              <a:t>NaaS</a:t>
            </a:r>
            <a:r>
              <a:rPr lang="ru-RU" sz="2400" dirty="0"/>
              <a:t> – </a:t>
            </a:r>
            <a:r>
              <a:rPr lang="en-US" sz="2400" dirty="0"/>
              <a:t>Network-as-a-service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F39AFB-04AC-44BF-A5C1-D7C239C45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Услуга «сеть как сервис». Принцип работы </a:t>
            </a:r>
            <a:r>
              <a:rPr lang="ru-RU" dirty="0" err="1"/>
              <a:t>NaaS</a:t>
            </a:r>
            <a:r>
              <a:rPr lang="ru-RU" dirty="0"/>
              <a:t> основан на эксплуатации сервисов транспортных соединений, или, проще говоря, на продаже сетевых услуг клиентам, не желающим строить собственную сетевую инфраструктуру. Сервис может включать функционал, обеспечивающий организацию WAN-соединений, подключений к ЦОД, в том числе организацию пропускной полосы по требованию, обеспечение безопасности и другое. </a:t>
            </a:r>
            <a:r>
              <a:rPr lang="ru-RU" dirty="0" err="1"/>
              <a:t>NaaS</a:t>
            </a:r>
            <a:r>
              <a:rPr lang="ru-RU" dirty="0"/>
              <a:t> чаще выступает дополнением облачных сервисов, поставляемых в модели </a:t>
            </a:r>
            <a:r>
              <a:rPr lang="ru-RU" dirty="0" err="1"/>
              <a:t>IaaS</a:t>
            </a:r>
            <a:r>
              <a:rPr lang="ru-RU" dirty="0"/>
              <a:t>, </a:t>
            </a:r>
            <a:r>
              <a:rPr lang="ru-RU" dirty="0" err="1"/>
              <a:t>SaaS</a:t>
            </a:r>
            <a:r>
              <a:rPr lang="ru-RU" dirty="0"/>
              <a:t>, </a:t>
            </a:r>
            <a:r>
              <a:rPr lang="ru-RU" dirty="0" err="1"/>
              <a:t>PaaS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2291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A8E63-1102-4D01-98F2-83A18744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 err="1"/>
              <a:t>STaaS</a:t>
            </a:r>
            <a:r>
              <a:rPr lang="ru-RU" sz="2400" dirty="0"/>
              <a:t> – </a:t>
            </a:r>
            <a:r>
              <a:rPr lang="en-US" sz="2400" dirty="0"/>
              <a:t>Storage-as-a-service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A54144-F18C-4FB0-9F3F-A9479AB50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01299"/>
            <a:ext cx="8229600" cy="2220288"/>
          </a:xfrm>
        </p:spPr>
        <p:txBody>
          <a:bodyPr/>
          <a:lstStyle/>
          <a:p>
            <a:r>
              <a:rPr lang="ru-RU" dirty="0"/>
              <a:t>Услуга «хранение как сервис», которая предполагает использование дискового пространства по требованию. Услуга может быть полезна кому угодно, начиная от корпоративного сектора, заканчивая обывателем, у которого попросту заканчивается свободное место на жестком диске.</a:t>
            </a:r>
          </a:p>
        </p:txBody>
      </p:sp>
    </p:spTree>
    <p:extLst>
      <p:ext uri="{BB962C8B-B14F-4D97-AF65-F5344CB8AC3E}">
        <p14:creationId xmlns:p14="http://schemas.microsoft.com/office/powerpoint/2010/main" val="597433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38763-CC9E-44E1-BBC5-32311141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CaaS – Container-as-a-Service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20CC47-3FCC-429E-A088-6EAEB8F23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1922"/>
            <a:ext cx="8229600" cy="2309665"/>
          </a:xfrm>
        </p:spPr>
        <p:txBody>
          <a:bodyPr/>
          <a:lstStyle/>
          <a:p>
            <a:pPr algn="just"/>
            <a:r>
              <a:rPr lang="ru-RU" dirty="0"/>
              <a:t>Форма виртуализации на основе контейнеров, где поставщик облачных услуг предоставляет все решения и инструменты в качестве сервиса. Данная услуга упрощает </a:t>
            </a:r>
            <a:r>
              <a:rPr lang="ru-RU" dirty="0" err="1"/>
              <a:t>одноконтейнерные</a:t>
            </a:r>
            <a:r>
              <a:rPr lang="ru-RU" dirty="0"/>
              <a:t> развертывания, в том числе для запуска простых </a:t>
            </a:r>
            <a:r>
              <a:rPr lang="ru-RU" dirty="0" err="1"/>
              <a:t>микросервисов</a:t>
            </a:r>
            <a:r>
              <a:rPr lang="ru-RU" dirty="0"/>
              <a:t>, либо предлагает платформу контейнерной оркестровки, например, </a:t>
            </a:r>
            <a:r>
              <a:rPr lang="ru-RU" dirty="0" err="1"/>
              <a:t>Kubernetes</a:t>
            </a:r>
            <a:r>
              <a:rPr lang="ru-RU" dirty="0"/>
              <a:t>, позволяющий запускать более сложные </a:t>
            </a:r>
            <a:r>
              <a:rPr lang="ru-RU" dirty="0" err="1"/>
              <a:t>многоконтейнерные</a:t>
            </a:r>
            <a:r>
              <a:rPr lang="ru-RU" dirty="0"/>
              <a:t> развертывания.</a:t>
            </a:r>
          </a:p>
        </p:txBody>
      </p:sp>
    </p:spTree>
    <p:extLst>
      <p:ext uri="{BB962C8B-B14F-4D97-AF65-F5344CB8AC3E}">
        <p14:creationId xmlns:p14="http://schemas.microsoft.com/office/powerpoint/2010/main" val="3334780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Лидеры российского рынка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Yandex</a:t>
            </a:r>
            <a:r>
              <a:rPr lang="en-US" dirty="0"/>
              <a:t> Cloud</a:t>
            </a:r>
          </a:p>
          <a:p>
            <a:r>
              <a:rPr lang="ru-RU" dirty="0"/>
              <a:t>2. РТК облако</a:t>
            </a:r>
          </a:p>
          <a:p>
            <a:r>
              <a:rPr lang="ru-RU" dirty="0"/>
              <a:t>3. КРОК</a:t>
            </a:r>
          </a:p>
          <a:p>
            <a:r>
              <a:rPr lang="en-US" dirty="0"/>
              <a:t>4. </a:t>
            </a:r>
            <a:r>
              <a:rPr lang="en-US" dirty="0" err="1"/>
              <a:t>Selectel</a:t>
            </a:r>
            <a:endParaRPr lang="en-US" dirty="0"/>
          </a:p>
          <a:p>
            <a:r>
              <a:rPr lang="en-US" dirty="0"/>
              <a:t>5. </a:t>
            </a:r>
            <a:r>
              <a:rPr lang="en-US" dirty="0" smtClean="0"/>
              <a:t>1Cloud</a:t>
            </a:r>
          </a:p>
          <a:p>
            <a:r>
              <a:rPr lang="en-US" dirty="0" smtClean="0"/>
              <a:t>6</a:t>
            </a:r>
            <a:r>
              <a:rPr lang="en-US" dirty="0"/>
              <a:t>. </a:t>
            </a:r>
            <a:r>
              <a:rPr lang="en-US" dirty="0" err="1" smtClean="0"/>
              <a:t>SberCloud</a:t>
            </a:r>
            <a:endParaRPr lang="en-US" dirty="0"/>
          </a:p>
          <a:p>
            <a:r>
              <a:rPr lang="en-US" dirty="0"/>
              <a:t>7. VK Cloud Solutions</a:t>
            </a:r>
            <a:endParaRPr lang="ru-RU" dirty="0"/>
          </a:p>
        </p:txBody>
      </p:sp>
      <p:pic>
        <p:nvPicPr>
          <p:cNvPr id="1026" name="Picture 2" descr="Yandex.Cloud - baikalfoundation.ru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831" y="1402557"/>
            <a:ext cx="1750605" cy="118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Крок Облачные сервисы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437" y="1514762"/>
            <a:ext cx="1723292" cy="96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7692" y="2475393"/>
            <a:ext cx="1178883" cy="46440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8298" y="2555504"/>
            <a:ext cx="1014554" cy="35009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625" y="3066082"/>
            <a:ext cx="1307489" cy="521567"/>
          </a:xfrm>
          <a:prstGeom prst="rect">
            <a:avLst/>
          </a:prstGeom>
        </p:spPr>
      </p:pic>
      <p:pic>
        <p:nvPicPr>
          <p:cNvPr id="1030" name="Picture 6" descr="Cloud (ранее SberCloud)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517" y="3106707"/>
            <a:ext cx="1802423" cy="44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2360" y="3823815"/>
            <a:ext cx="1981520" cy="45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7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3CBB8-7CE3-4F76-BB15-F9452FD4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OpenStack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C5CBB4-C226-4697-81F9-7216EFB5F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 err="1"/>
              <a:t>OpenStack</a:t>
            </a:r>
            <a:r>
              <a:rPr lang="ru-RU" sz="1800" dirty="0"/>
              <a:t> - это платформа с открытым исходным кодом, которая использует объединенные виртуальные ресурсы для создания частных и общедоступных облаков и управления ими.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F46D3-DBA2-4D88-8B6F-409F7278C5BD}"/>
              </a:ext>
            </a:extLst>
          </p:cNvPr>
          <p:cNvSpPr txBox="1"/>
          <p:nvPr/>
        </p:nvSpPr>
        <p:spPr>
          <a:xfrm>
            <a:off x="810277" y="2384349"/>
            <a:ext cx="77050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OpenStack</a:t>
            </a:r>
            <a:r>
              <a:rPr lang="ru-RU" dirty="0"/>
              <a:t> – это серия команд, известных как сценарии. Эти сценарии объединены в пакеты, называемые проектами, которые передают задачи, создающие облачные среды. Для создания этих сред </a:t>
            </a:r>
            <a:r>
              <a:rPr lang="ru-RU" dirty="0" err="1"/>
              <a:t>OpenStack</a:t>
            </a:r>
            <a:r>
              <a:rPr lang="ru-RU" dirty="0"/>
              <a:t> использует 2 других типа программного обеспечения: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ru-RU" dirty="0"/>
              <a:t>Виртуализация, которая создает уровень виртуальных </a:t>
            </a:r>
            <a:endParaRPr lang="en-US" dirty="0" smtClean="0"/>
          </a:p>
          <a:p>
            <a:r>
              <a:rPr lang="ru-RU" dirty="0" smtClean="0"/>
              <a:t>ресурсов</a:t>
            </a:r>
            <a:r>
              <a:rPr lang="ru-RU" dirty="0"/>
              <a:t>, абстрагированных от оборудования.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ru-RU" dirty="0"/>
              <a:t>Базовая операционная система (ОС), которая </a:t>
            </a:r>
            <a:endParaRPr lang="en-US" dirty="0" smtClean="0"/>
          </a:p>
          <a:p>
            <a:r>
              <a:rPr lang="ru-RU" dirty="0" smtClean="0"/>
              <a:t>выполняет </a:t>
            </a:r>
            <a:r>
              <a:rPr lang="ru-RU" dirty="0"/>
              <a:t>команды, заданные сценариями </a:t>
            </a:r>
            <a:r>
              <a:rPr lang="ru-RU" dirty="0" err="1"/>
              <a:t>OpenStack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E2D924-B4D8-434D-AD91-006EB0683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19" y="3661395"/>
            <a:ext cx="2062556" cy="103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67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F27B3-E139-46AB-A410-2402AE30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Компоненты </a:t>
            </a:r>
            <a:r>
              <a:rPr lang="en-US" sz="2400" dirty="0"/>
              <a:t>OpenStack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E37628-C3BC-40B5-B973-E017FA8FC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800" dirty="0"/>
              <a:t>Nova — контроллер вычислительных ресурсов;</a:t>
            </a:r>
          </a:p>
          <a:p>
            <a:r>
              <a:rPr lang="ru-RU" sz="1800" dirty="0" err="1"/>
              <a:t>Glance</a:t>
            </a:r>
            <a:r>
              <a:rPr lang="ru-RU" sz="1800" dirty="0"/>
              <a:t> — библиотека образов виртуальных машин, обычно с бэкендом в Swift;</a:t>
            </a:r>
          </a:p>
          <a:p>
            <a:r>
              <a:rPr lang="ru-RU" sz="1800" dirty="0"/>
              <a:t>Swift — облачное файловое хранилище;</a:t>
            </a:r>
          </a:p>
          <a:p>
            <a:r>
              <a:rPr lang="ru-RU" sz="1800" dirty="0" err="1"/>
              <a:t>Cinder</a:t>
            </a:r>
            <a:r>
              <a:rPr lang="ru-RU" sz="1800" dirty="0"/>
              <a:t> — служба работы с блочными устройствами хранения данных (выведена из Nova в отдельный проект);</a:t>
            </a:r>
          </a:p>
          <a:p>
            <a:r>
              <a:rPr lang="ru-RU" sz="1800" dirty="0" err="1"/>
              <a:t>Keystone</a:t>
            </a:r>
            <a:r>
              <a:rPr lang="ru-RU" sz="1800" dirty="0"/>
              <a:t> — сервис идентификации;</a:t>
            </a:r>
          </a:p>
          <a:p>
            <a:r>
              <a:rPr lang="ru-RU" sz="1800" dirty="0" err="1"/>
              <a:t>Neutron</a:t>
            </a:r>
            <a:r>
              <a:rPr lang="ru-RU" sz="1800" dirty="0"/>
              <a:t> (в первых выпусках — Quantum) — сервис «подключение к сети как услуга» между интерфейсами устройств (</a:t>
            </a:r>
            <a:r>
              <a:rPr lang="ru-RU" sz="1800" dirty="0" err="1"/>
              <a:t>vNIC</a:t>
            </a:r>
            <a:r>
              <a:rPr lang="ru-RU" sz="1800" dirty="0"/>
              <a:t>), которые управляются другими сервисами </a:t>
            </a:r>
            <a:r>
              <a:rPr lang="ru-RU" sz="1800" dirty="0" err="1"/>
              <a:t>OpenStack</a:t>
            </a:r>
            <a:r>
              <a:rPr lang="ru-RU" sz="1800" dirty="0"/>
              <a:t>.</a:t>
            </a:r>
          </a:p>
          <a:p>
            <a:r>
              <a:rPr lang="ru-RU" sz="1800" dirty="0" err="1"/>
              <a:t>Horizon</a:t>
            </a:r>
            <a:r>
              <a:rPr lang="ru-RU" sz="1800" dirty="0"/>
              <a:t> — графический интерфейс администрирования.</a:t>
            </a:r>
          </a:p>
          <a:p>
            <a:r>
              <a:rPr lang="ru-RU" sz="1800" dirty="0" err="1"/>
              <a:t>Heat</a:t>
            </a:r>
            <a:r>
              <a:rPr lang="ru-RU" sz="1800" dirty="0"/>
              <a:t> - оркестратор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214793-40A8-4F02-992B-8A97276BB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939" y="3785164"/>
            <a:ext cx="1725672" cy="86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50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F27B3-E139-46AB-A410-2402AE30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Компоненты </a:t>
            </a:r>
            <a:r>
              <a:rPr lang="en-US" sz="2400" dirty="0"/>
              <a:t>OpenStack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E37628-C3BC-40B5-B973-E017FA8FC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1800" dirty="0" err="1"/>
              <a:t>Ceilometer</a:t>
            </a:r>
            <a:r>
              <a:rPr lang="ru-RU" sz="1800" dirty="0"/>
              <a:t> - средства сбора, нормализации и трансформации данных, предоставляемых сервисами </a:t>
            </a:r>
            <a:r>
              <a:rPr lang="ru-RU" sz="1800" dirty="0" err="1"/>
              <a:t>OpenStack</a:t>
            </a:r>
            <a:r>
              <a:rPr lang="ru-RU" sz="1800" dirty="0"/>
              <a:t>. Собираемые данные используются для реализации различных сценариев реагирования на события.</a:t>
            </a:r>
          </a:p>
          <a:p>
            <a:r>
              <a:rPr lang="ru-RU" sz="1800" dirty="0" err="1"/>
              <a:t>Trove</a:t>
            </a:r>
            <a:r>
              <a:rPr lang="ru-RU" sz="1800" dirty="0"/>
              <a:t> - База данных</a:t>
            </a:r>
          </a:p>
          <a:p>
            <a:r>
              <a:rPr lang="ru-RU" sz="1800" dirty="0" err="1"/>
              <a:t>Sahara</a:t>
            </a:r>
            <a:r>
              <a:rPr lang="ru-RU" sz="1800" dirty="0"/>
              <a:t> - </a:t>
            </a:r>
            <a:r>
              <a:rPr lang="ru-RU" sz="1800" dirty="0" err="1"/>
              <a:t>Elastic</a:t>
            </a:r>
            <a:r>
              <a:rPr lang="ru-RU" sz="1800" dirty="0"/>
              <a:t> </a:t>
            </a:r>
            <a:r>
              <a:rPr lang="ru-RU" sz="1800" dirty="0" err="1"/>
              <a:t>Map</a:t>
            </a:r>
            <a:r>
              <a:rPr lang="ru-RU" sz="1800" dirty="0"/>
              <a:t> </a:t>
            </a:r>
            <a:r>
              <a:rPr lang="ru-RU" sz="1800" dirty="0" err="1"/>
              <a:t>Reduce</a:t>
            </a:r>
            <a:endParaRPr lang="ru-RU" sz="1800" dirty="0"/>
          </a:p>
          <a:p>
            <a:r>
              <a:rPr lang="ru-RU" sz="1800" dirty="0" err="1"/>
              <a:t>Ironic</a:t>
            </a:r>
            <a:r>
              <a:rPr lang="ru-RU" sz="1800" dirty="0"/>
              <a:t> - средства управления и </a:t>
            </a:r>
            <a:r>
              <a:rPr lang="ru-RU" sz="1800" dirty="0" err="1"/>
              <a:t>провижининга</a:t>
            </a:r>
            <a:r>
              <a:rPr lang="ru-RU" sz="1800" dirty="0"/>
              <a:t> физическими серверами (</a:t>
            </a:r>
            <a:r>
              <a:rPr lang="ru-RU" sz="1800" dirty="0" err="1"/>
              <a:t>Bare</a:t>
            </a:r>
            <a:r>
              <a:rPr lang="ru-RU" sz="1800" dirty="0"/>
              <a:t> Metal </a:t>
            </a:r>
            <a:r>
              <a:rPr lang="ru-RU" sz="1800" dirty="0" err="1"/>
              <a:t>Provisioning</a:t>
            </a:r>
            <a:r>
              <a:rPr lang="ru-RU" sz="1800" dirty="0"/>
              <a:t>)</a:t>
            </a:r>
          </a:p>
          <a:p>
            <a:r>
              <a:rPr lang="ru-RU" sz="1800" dirty="0" err="1"/>
              <a:t>Zaqar</a:t>
            </a:r>
            <a:r>
              <a:rPr lang="ru-RU" sz="1800" dirty="0"/>
              <a:t> - </a:t>
            </a:r>
            <a:r>
              <a:rPr lang="ru-RU" sz="1800" dirty="0" err="1"/>
              <a:t>Multiple</a:t>
            </a:r>
            <a:r>
              <a:rPr lang="ru-RU" sz="1800" dirty="0"/>
              <a:t> </a:t>
            </a:r>
            <a:r>
              <a:rPr lang="ru-RU" sz="1800" dirty="0" err="1"/>
              <a:t>Tenant</a:t>
            </a:r>
            <a:r>
              <a:rPr lang="ru-RU" sz="1800" dirty="0"/>
              <a:t> </a:t>
            </a:r>
            <a:r>
              <a:rPr lang="ru-RU" sz="1800" dirty="0" err="1"/>
              <a:t>Cloud</a:t>
            </a:r>
            <a:r>
              <a:rPr lang="ru-RU" sz="1800" dirty="0"/>
              <a:t> </a:t>
            </a:r>
            <a:r>
              <a:rPr lang="ru-RU" sz="1800" dirty="0" err="1"/>
              <a:t>Messaging</a:t>
            </a:r>
            <a:endParaRPr lang="ru-RU" sz="1800" dirty="0"/>
          </a:p>
          <a:p>
            <a:r>
              <a:rPr lang="ru-RU" sz="1800" dirty="0" err="1"/>
              <a:t>Manila</a:t>
            </a:r>
            <a:r>
              <a:rPr lang="ru-RU" sz="1800" dirty="0"/>
              <a:t> - </a:t>
            </a:r>
            <a:r>
              <a:rPr lang="ru-RU" sz="1800" dirty="0" err="1"/>
              <a:t>Shared</a:t>
            </a:r>
            <a:r>
              <a:rPr lang="ru-RU" sz="1800" dirty="0"/>
              <a:t> File System Service</a:t>
            </a:r>
          </a:p>
          <a:p>
            <a:r>
              <a:rPr lang="ru-RU" sz="1800" dirty="0" err="1"/>
              <a:t>Designate</a:t>
            </a:r>
            <a:r>
              <a:rPr lang="ru-RU" sz="1800" dirty="0"/>
              <a:t> - DNS как сервис (</a:t>
            </a:r>
            <a:r>
              <a:rPr lang="ru-RU" sz="1800" dirty="0" err="1"/>
              <a:t>DNSaaS</a:t>
            </a:r>
            <a:r>
              <a:rPr lang="ru-RU" sz="1800" dirty="0"/>
              <a:t> - DNS </a:t>
            </a:r>
            <a:r>
              <a:rPr lang="ru-RU" sz="1800" dirty="0" err="1"/>
              <a:t>as</a:t>
            </a:r>
            <a:r>
              <a:rPr lang="ru-RU" sz="1800" dirty="0"/>
              <a:t> a Service)</a:t>
            </a:r>
          </a:p>
          <a:p>
            <a:r>
              <a:rPr lang="ru-RU" sz="1800" dirty="0" err="1"/>
              <a:t>Barbican</a:t>
            </a:r>
            <a:r>
              <a:rPr lang="ru-RU" sz="1800" dirty="0"/>
              <a:t> - API безопасности</a:t>
            </a:r>
          </a:p>
          <a:p>
            <a:r>
              <a:rPr lang="ru-RU" sz="1800" dirty="0" err="1"/>
              <a:t>Searchlight</a:t>
            </a:r>
            <a:r>
              <a:rPr lang="ru-RU" sz="1800" dirty="0"/>
              <a:t> - передовая и масштабируемая индексация и поиск по многопользовательских облачных ресурсах.</a:t>
            </a:r>
          </a:p>
        </p:txBody>
      </p:sp>
    </p:spTree>
    <p:extLst>
      <p:ext uri="{BB962C8B-B14F-4D97-AF65-F5344CB8AC3E}">
        <p14:creationId xmlns:p14="http://schemas.microsoft.com/office/powerpoint/2010/main" val="1589615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A757F-1905-4B2C-9AC7-361EFFBD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Apache </a:t>
            </a:r>
            <a:r>
              <a:rPr lang="en-US" sz="2400" dirty="0" err="1"/>
              <a:t>CloudStack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69353E-CDA9-4C7B-AE54-3300985BB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832245"/>
            <a:ext cx="7886700" cy="1800477"/>
          </a:xfrm>
        </p:spPr>
        <p:txBody>
          <a:bodyPr/>
          <a:lstStyle/>
          <a:p>
            <a:r>
              <a:rPr lang="ru-RU" dirty="0"/>
              <a:t>Apache </a:t>
            </a:r>
            <a:r>
              <a:rPr lang="ru-RU" dirty="0" err="1"/>
              <a:t>CloudStack</a:t>
            </a:r>
            <a:r>
              <a:rPr lang="ru-RU" dirty="0"/>
              <a:t> - это программное обеспечение с открытым исходным кодом, предназначенное для развертывания и управления большими сетями виртуальных машин в качестве </a:t>
            </a:r>
            <a:r>
              <a:rPr lang="ru-RU" dirty="0" err="1"/>
              <a:t>высокодоступной</a:t>
            </a:r>
            <a:r>
              <a:rPr lang="ru-RU" dirty="0"/>
              <a:t> и масштабируемой облачной вычислительной платформы «Инфраструктура как услуга» (</a:t>
            </a:r>
            <a:r>
              <a:rPr lang="ru-RU" dirty="0" err="1"/>
              <a:t>IaaS</a:t>
            </a:r>
            <a:r>
              <a:rPr lang="ru-RU" dirty="0"/>
              <a:t>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816AD5-7B7B-441E-9307-93D877453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176" y="1339457"/>
            <a:ext cx="5145647" cy="141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32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BAEEB-C4A6-4313-88A2-B9BA8194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Apache </a:t>
            </a:r>
            <a:r>
              <a:rPr lang="en-US" sz="2400" dirty="0" err="1"/>
              <a:t>CloudStack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92D3-BFB5-4678-A16C-F2364B856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940" y="1345121"/>
            <a:ext cx="4683274" cy="290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19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D583B4-17F2-4837-86C2-85CCB993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VMware </a:t>
            </a:r>
            <a:r>
              <a:rPr lang="en-US" sz="2400" dirty="0" err="1"/>
              <a:t>vCloud</a:t>
            </a:r>
            <a:endParaRPr lang="ru-RU" sz="24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3B22DF1-78EF-426A-98AA-1294D44F4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97481" y="1369869"/>
            <a:ext cx="5149037" cy="2898775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342604-FD34-4CE8-A02C-B32D143C9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207" y="71437"/>
            <a:ext cx="2921794" cy="87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02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04DC35C-1C0B-4329-99D0-1134B3256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9219"/>
            <a:ext cx="8229600" cy="265236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Базируется на гипервизоре </a:t>
            </a:r>
            <a:r>
              <a:rPr lang="en-US" dirty="0"/>
              <a:t>vSphere</a:t>
            </a:r>
          </a:p>
          <a:p>
            <a:r>
              <a:rPr lang="en-US" dirty="0" err="1"/>
              <a:t>vCloud</a:t>
            </a:r>
            <a:r>
              <a:rPr lang="en-US" dirty="0"/>
              <a:t> Director </a:t>
            </a:r>
            <a:r>
              <a:rPr lang="ru-RU" dirty="0"/>
              <a:t>обеспечивает виртуализацию ЦОД</a:t>
            </a:r>
          </a:p>
          <a:p>
            <a:r>
              <a:rPr lang="en-US" dirty="0" err="1"/>
              <a:t>vCloud</a:t>
            </a:r>
            <a:r>
              <a:rPr lang="en-US" dirty="0"/>
              <a:t> Connector </a:t>
            </a:r>
            <a:r>
              <a:rPr lang="ru-RU" dirty="0"/>
              <a:t>обеспечивает интеграцию с общедоступными облаками</a:t>
            </a:r>
          </a:p>
          <a:p>
            <a:r>
              <a:rPr lang="en-US" dirty="0" err="1"/>
              <a:t>vCloud</a:t>
            </a:r>
            <a:r>
              <a:rPr lang="en-US" dirty="0"/>
              <a:t> Networking - </a:t>
            </a:r>
            <a:r>
              <a:rPr lang="ru-RU" dirty="0"/>
              <a:t>программные сетевые компоненты и система безопасности</a:t>
            </a:r>
          </a:p>
          <a:p>
            <a:r>
              <a:rPr lang="en-US" dirty="0"/>
              <a:t>vCenter Site Recovery Manager Enterprise –</a:t>
            </a:r>
            <a:r>
              <a:rPr lang="ru-RU" dirty="0"/>
              <a:t>автоматизированное планирование, тестирование и выполнение аварийного восстановления</a:t>
            </a:r>
          </a:p>
          <a:p>
            <a:r>
              <a:rPr lang="en-US" dirty="0"/>
              <a:t>vCenter Operations - </a:t>
            </a:r>
            <a:r>
              <a:rPr lang="ru-RU" dirty="0"/>
              <a:t>мониторинг производительности и оповещения; планирование и оптимизация ресурсов; создание отчетов</a:t>
            </a:r>
          </a:p>
          <a:p>
            <a:r>
              <a:rPr lang="en-US" dirty="0"/>
              <a:t>VMware vCenter Chargeback </a:t>
            </a:r>
            <a:r>
              <a:rPr lang="en-US" dirty="0" err="1"/>
              <a:t>ManagerTM</a:t>
            </a:r>
            <a:r>
              <a:rPr lang="en-US" dirty="0"/>
              <a:t> - </a:t>
            </a:r>
            <a:r>
              <a:rPr lang="ru-RU" dirty="0"/>
              <a:t>система внутренних расчетов за потребленные ресурсы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E9736EA-FB1D-4954-8FF0-96CAB85709FC}"/>
              </a:ext>
            </a:extLst>
          </p:cNvPr>
          <p:cNvSpPr txBox="1">
            <a:spLocks/>
          </p:cNvSpPr>
          <p:nvPr/>
        </p:nvSpPr>
        <p:spPr>
          <a:xfrm>
            <a:off x="628650" y="37504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0"/>
              </a:spcBef>
              <a:buNone/>
              <a:defRPr sz="2400" b="1" i="0" baseline="0">
                <a:latin typeface="ALS Gorizont Bold Expanded" panose="00000805000000000000" pitchFamily="50" charset="0"/>
                <a:ea typeface="+mj-ea"/>
                <a:cs typeface="+mj-cs"/>
              </a:defRPr>
            </a:lvl1pPr>
          </a:lstStyle>
          <a:p>
            <a:r>
              <a:rPr lang="en-US" dirty="0"/>
              <a:t>VMware </a:t>
            </a:r>
            <a:r>
              <a:rPr lang="en-US" dirty="0" err="1"/>
              <a:t>vCloud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0902AB-A0F1-4B3A-B8CB-0EAE013EA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207" y="61318"/>
            <a:ext cx="2921794" cy="87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92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Свойства облачной инфраструктуры</a:t>
            </a:r>
          </a:p>
        </p:txBody>
      </p:sp>
      <p:pic>
        <p:nvPicPr>
          <p:cNvPr id="2050" name="Picture 2" descr="Изображение:cloud.jpg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1404" y="1122363"/>
            <a:ext cx="4061191" cy="289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82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Балансировка нагрузки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369219"/>
            <a:ext cx="6176597" cy="3263504"/>
          </a:xfrm>
        </p:spPr>
        <p:txBody>
          <a:bodyPr>
            <a:noAutofit/>
          </a:bodyPr>
          <a:lstStyle/>
          <a:p>
            <a:pPr algn="just"/>
            <a:r>
              <a:rPr lang="ru-RU" sz="1800" dirty="0"/>
              <a:t>Ресурсы облака могут быть по </a:t>
            </a:r>
            <a:r>
              <a:rPr lang="ru-RU" sz="1800" dirty="0" smtClean="0"/>
              <a:t>запросу</a:t>
            </a:r>
            <a:r>
              <a:rPr lang="en-US" sz="1800" dirty="0" smtClean="0"/>
              <a:t> </a:t>
            </a:r>
            <a:r>
              <a:rPr lang="ru-RU" sz="1800" dirty="0" smtClean="0"/>
              <a:t>масштабированы </a:t>
            </a:r>
            <a:r>
              <a:rPr lang="ru-RU" sz="1800" dirty="0"/>
              <a:t>(вверх) для </a:t>
            </a:r>
            <a:r>
              <a:rPr lang="ru-RU" sz="1800" dirty="0" smtClean="0"/>
              <a:t>удовлетворения</a:t>
            </a:r>
            <a:r>
              <a:rPr lang="en-US" sz="1800" dirty="0" smtClean="0"/>
              <a:t> </a:t>
            </a:r>
            <a:r>
              <a:rPr lang="ru-RU" sz="1800" dirty="0" smtClean="0"/>
              <a:t>требований </a:t>
            </a:r>
            <a:r>
              <a:rPr lang="ru-RU" sz="1800" dirty="0"/>
              <a:t>облачного приложения.</a:t>
            </a:r>
          </a:p>
          <a:p>
            <a:pPr algn="just"/>
            <a:r>
              <a:rPr lang="ru-RU" sz="1800" dirty="0" smtClean="0"/>
              <a:t>Балансировка </a:t>
            </a:r>
            <a:r>
              <a:rPr lang="ru-RU" sz="1800" dirty="0"/>
              <a:t>нагрузки осуществляется </a:t>
            </a:r>
            <a:r>
              <a:rPr lang="ru-RU" sz="1800" dirty="0" smtClean="0"/>
              <a:t>для</a:t>
            </a:r>
            <a:r>
              <a:rPr lang="en-US" sz="1800" dirty="0" smtClean="0"/>
              <a:t> </a:t>
            </a:r>
            <a:r>
              <a:rPr lang="ru-RU" sz="1800" dirty="0" smtClean="0"/>
              <a:t>перераспределения </a:t>
            </a:r>
            <a:r>
              <a:rPr lang="ru-RU" sz="1800" dirty="0"/>
              <a:t>нагрузки между </a:t>
            </a:r>
            <a:r>
              <a:rPr lang="ru-RU" sz="1800" dirty="0" smtClean="0"/>
              <a:t>серверами,</a:t>
            </a:r>
            <a:r>
              <a:rPr lang="en-US" sz="1800" dirty="0" smtClean="0"/>
              <a:t> </a:t>
            </a:r>
            <a:r>
              <a:rPr lang="ru-RU" sz="1800" dirty="0" smtClean="0"/>
              <a:t>которые </a:t>
            </a:r>
            <a:r>
              <a:rPr lang="ru-RU" sz="1800" dirty="0"/>
              <a:t>обеспечивают работу приложения.</a:t>
            </a:r>
          </a:p>
          <a:p>
            <a:pPr algn="just"/>
            <a:r>
              <a:rPr lang="ru-RU" sz="1800" dirty="0" smtClean="0"/>
              <a:t>Балансировка </a:t>
            </a:r>
            <a:r>
              <a:rPr lang="ru-RU" sz="1800" dirty="0"/>
              <a:t>нагрузки преследует следующие цели: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sz="1800" dirty="0" smtClean="0"/>
              <a:t>Достижения </a:t>
            </a:r>
            <a:r>
              <a:rPr lang="ru-RU" sz="1800" dirty="0"/>
              <a:t>максимального использования пула ресурсов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sz="1800" dirty="0" smtClean="0"/>
              <a:t>Минимизации </a:t>
            </a:r>
            <a:r>
              <a:rPr lang="ru-RU" sz="1800" dirty="0"/>
              <a:t>времени отклика приложения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sz="1800" dirty="0" smtClean="0"/>
              <a:t>Максимизация </a:t>
            </a:r>
            <a:r>
              <a:rPr lang="ru-RU" sz="1800" dirty="0"/>
              <a:t>пропускной способности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597" y="1943696"/>
            <a:ext cx="18573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73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Алгоритмы балансировки нагрузки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1934" y="1277660"/>
            <a:ext cx="8181242" cy="3263504"/>
          </a:xfrm>
        </p:spPr>
        <p:txBody>
          <a:bodyPr>
            <a:noAutofit/>
          </a:bodyPr>
          <a:lstStyle/>
          <a:p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Справедливость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нужно гарантировать, чтобы на обработку каждого запроса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выделялись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ресурсы и не допустить возникновения ситуаций, когда один запрос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обрабатывается,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остальные ждут своей очереди;</a:t>
            </a:r>
          </a:p>
          <a:p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все серверы, которые обрабатывают запросы, должны быть заняты на 100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%;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желательно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допускать ситуации, когда один из серверов простаивает в ожидании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запросов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обработку (сразу же оговоримся, что в реальной практике эта цель достигается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далеко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всегда);</a:t>
            </a:r>
          </a:p>
          <a:p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выполнения запроса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нужно обеспечить минимальное время между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началом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обработки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запроса (или его постановкой в очередь на обработку) и его завершения;</a:t>
            </a:r>
          </a:p>
          <a:p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отклика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нужно минимизировать время ответа на запрос пользователя.</a:t>
            </a:r>
          </a:p>
          <a:p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Предсказуемость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нужно чётко понимать, в каких ситуациях и при каких нагрузках алгоритм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эффективным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решения поставленных задач;</a:t>
            </a:r>
          </a:p>
          <a:p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Равномерная 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ресурсов системы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алгоритм должен сохранять работоспособность при увеличении нагрузки</a:t>
            </a:r>
          </a:p>
        </p:txBody>
      </p:sp>
    </p:spTree>
    <p:extLst>
      <p:ext uri="{BB962C8B-B14F-4D97-AF65-F5344CB8AC3E}">
        <p14:creationId xmlns:p14="http://schemas.microsoft.com/office/powerpoint/2010/main" val="1295866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Алгоритмы балансировки нагрузки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1934" y="1653027"/>
            <a:ext cx="8181242" cy="3039391"/>
          </a:xfrm>
        </p:spPr>
        <p:txBody>
          <a:bodyPr>
            <a:noAutofit/>
          </a:bodyPr>
          <a:lstStyle/>
          <a:p>
            <a:r>
              <a:rPr lang="ru-RU" sz="1800" dirty="0"/>
              <a:t>Процедура балансировки осуществляется при помощи </a:t>
            </a:r>
            <a:r>
              <a:rPr lang="ru-RU" sz="1800" dirty="0" smtClean="0"/>
              <a:t>целого</a:t>
            </a:r>
            <a:r>
              <a:rPr lang="en-US" sz="1800" dirty="0" smtClean="0"/>
              <a:t> </a:t>
            </a:r>
            <a:r>
              <a:rPr lang="ru-RU" sz="1800" dirty="0" smtClean="0"/>
              <a:t>комплекса </a:t>
            </a:r>
            <a:r>
              <a:rPr lang="ru-RU" sz="1800" dirty="0"/>
              <a:t>алгоритмов и методов, </a:t>
            </a:r>
            <a:r>
              <a:rPr lang="ru-RU" sz="1800" dirty="0" smtClean="0"/>
              <a:t>соответствующим</a:t>
            </a:r>
            <a:r>
              <a:rPr lang="en-US" sz="1800" dirty="0" smtClean="0"/>
              <a:t> </a:t>
            </a:r>
            <a:r>
              <a:rPr lang="ru-RU" sz="1800" dirty="0" smtClean="0"/>
              <a:t>следующим </a:t>
            </a:r>
            <a:r>
              <a:rPr lang="ru-RU" sz="1800" dirty="0"/>
              <a:t>уровням модели </a:t>
            </a:r>
            <a:r>
              <a:rPr lang="en-US" sz="1800" dirty="0"/>
              <a:t>OSI: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00" dirty="0" smtClean="0"/>
              <a:t>сетевому</a:t>
            </a:r>
            <a:r>
              <a:rPr lang="ru-RU" sz="1800" dirty="0"/>
              <a:t>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00" dirty="0" smtClean="0"/>
              <a:t>транспортному</a:t>
            </a:r>
            <a:r>
              <a:rPr lang="ru-RU" sz="1800" dirty="0"/>
              <a:t>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1800" dirty="0" smtClean="0"/>
              <a:t>прикладному</a:t>
            </a:r>
            <a:r>
              <a:rPr lang="ru-RU" sz="1800" dirty="0"/>
              <a:t>.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812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Алгоритмы балансировки нагрузки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1935" y="1279717"/>
            <a:ext cx="5007219" cy="3277608"/>
          </a:xfrm>
        </p:spPr>
        <p:txBody>
          <a:bodyPr>
            <a:noAutofit/>
          </a:bodyPr>
          <a:lstStyle/>
          <a:p>
            <a:pPr algn="just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Robin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или алгоритм кругового обслуживания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представляет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собой перебор по круговому циклу: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передаётся одному серверу, затем следующий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передаётся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другому и так до достижения последнего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сервера,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затем всё начинается сначала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Round Robin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усовершенствованная версия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Robin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Суть усовершенствований заключается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следующем: каждому серверу присваивается весовой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 в соответствии с его производительностью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мощностью.</a:t>
            </a:r>
          </a:p>
          <a:p>
            <a:pPr algn="just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882" y="1672795"/>
            <a:ext cx="3057303" cy="22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67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Алгоритмы балансировки нагрузки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3142" y="1232052"/>
            <a:ext cx="5121520" cy="3673262"/>
          </a:xfrm>
        </p:spPr>
        <p:txBody>
          <a:bodyPr>
            <a:noAutofit/>
          </a:bodyPr>
          <a:lstStyle/>
          <a:p>
            <a:pPr algn="just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учитывает количество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подключений,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поддерживаемых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серверами в текущий момент времени.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 передаётся серверу с наименьшим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количеством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усовершенствованный вариант этого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предназначенный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первую очередь для использования в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кластерах,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состоящих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серверов с разными техническими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характеристиками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разной производительностью. Он называется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Weighted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onnections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учитывает при распределении нагрузки не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активных подключений, но и весовой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662" y="1666043"/>
            <a:ext cx="3145316" cy="236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1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Алгоритмы балансировки нагрузки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078" y="1540973"/>
            <a:ext cx="8409843" cy="3039391"/>
          </a:xfrm>
        </p:spPr>
        <p:txBody>
          <a:bodyPr>
            <a:noAutofit/>
          </a:bodyPr>
          <a:lstStyle/>
          <a:p>
            <a:pPr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 создан 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кластером кэширующих прокси-серверов, но он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в других случаях. В этом алгоритме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сервер,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обрабатывающий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запрос, выбирается из статической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IP-адресу получателя.</a:t>
            </a:r>
          </a:p>
          <a:p>
            <a:pPr algn="just"/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основывается на тех же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самых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принципах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и предыдущий, только сервер, который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обрабатывать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запрос, выбирается из таблицы по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IP-адресу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отправителя.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Sticky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—алгоритм распределения входящих запросов,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котором соединения передаются на один и тот же сервер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группы. Он используется, например, в веб-сервере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Сессии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 могут быть закреплены за конкретным сервером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метода IP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2846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Балансировка нагрузки – </a:t>
            </a:r>
            <a:r>
              <a:rPr lang="ru-RU" sz="2400" dirty="0"/>
              <a:t>устоявшиеся</a:t>
            </a:r>
            <a:r>
              <a:rPr lang="en-US" sz="2400" dirty="0"/>
              <a:t> </a:t>
            </a:r>
            <a:r>
              <a:rPr lang="ru-RU" sz="2400" dirty="0"/>
              <a:t>походы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10051"/>
            <a:ext cx="8229600" cy="2899675"/>
          </a:xfrm>
        </p:spPr>
        <p:txBody>
          <a:bodyPr>
            <a:normAutofit/>
          </a:bodyPr>
          <a:lstStyle/>
          <a:p>
            <a:pPr indent="272654"/>
            <a:r>
              <a:rPr lang="ru-RU" sz="1600" dirty="0"/>
              <a:t>Для успешной балансировки нагрузки между </a:t>
            </a:r>
            <a:r>
              <a:rPr lang="ru-RU" sz="1600" dirty="0" smtClean="0"/>
              <a:t>множеством</a:t>
            </a:r>
            <a:r>
              <a:rPr lang="en-US" sz="1600" dirty="0" smtClean="0"/>
              <a:t> </a:t>
            </a:r>
            <a:r>
              <a:rPr lang="ru-RU" sz="1600" dirty="0" smtClean="0"/>
              <a:t>серверов</a:t>
            </a:r>
            <a:r>
              <a:rPr lang="en-US" sz="1600" dirty="0" smtClean="0"/>
              <a:t>-</a:t>
            </a:r>
            <a:r>
              <a:rPr lang="ru-RU" sz="1600" dirty="0" smtClean="0"/>
              <a:t>важным </a:t>
            </a:r>
            <a:r>
              <a:rPr lang="ru-RU" sz="1600" dirty="0"/>
              <a:t>аспектов является управления </a:t>
            </a:r>
            <a:r>
              <a:rPr lang="ru-RU" sz="1600" dirty="0" smtClean="0"/>
              <a:t>состоянием</a:t>
            </a:r>
            <a:r>
              <a:rPr lang="en-US" sz="1600" dirty="0" smtClean="0"/>
              <a:t> </a:t>
            </a:r>
            <a:r>
              <a:rPr lang="ru-RU" sz="1600" dirty="0" smtClean="0"/>
              <a:t>сетевых </a:t>
            </a:r>
            <a:r>
              <a:rPr lang="ru-RU" sz="1600" dirty="0"/>
              <a:t>сессий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endParaRPr lang="en-US" sz="1600" dirty="0"/>
          </a:p>
          <a:p>
            <a:r>
              <a:rPr lang="ru-RU" sz="1600" dirty="0"/>
              <a:t>Устоявшиеся подходы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Прикрепленные </a:t>
            </a:r>
            <a:r>
              <a:rPr lang="ru-RU" sz="1600" dirty="0"/>
              <a:t>сессии (</a:t>
            </a:r>
            <a:r>
              <a:rPr lang="en-US" sz="1600" dirty="0"/>
              <a:t>Sticky sessions)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БД </a:t>
            </a:r>
            <a:r>
              <a:rPr lang="ru-RU" sz="1600" dirty="0"/>
              <a:t>сессий (</a:t>
            </a:r>
            <a:r>
              <a:rPr lang="en-US" sz="1600" dirty="0"/>
              <a:t>Session Database)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«</a:t>
            </a:r>
            <a:r>
              <a:rPr lang="ru-RU" sz="1600" dirty="0" err="1" smtClean="0"/>
              <a:t>Печен</a:t>
            </a:r>
            <a:r>
              <a:rPr lang="ru-RU" sz="1600" dirty="0" err="1"/>
              <a:t>ь</a:t>
            </a:r>
            <a:r>
              <a:rPr lang="ru-RU" sz="1600" dirty="0" err="1" smtClean="0"/>
              <a:t>ки</a:t>
            </a:r>
            <a:r>
              <a:rPr lang="ru-RU" sz="1600" dirty="0"/>
              <a:t>» в браузере (</a:t>
            </a:r>
            <a:r>
              <a:rPr lang="en-US" sz="1600" dirty="0"/>
              <a:t>Browser cookies)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Перезапись </a:t>
            </a:r>
            <a:r>
              <a:rPr lang="en-US" sz="1600" dirty="0"/>
              <a:t>URL (URL re-writing)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79660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Масштабируемость &amp; Эластичность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78183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dirty="0"/>
              <a:t>Многоуровневые </a:t>
            </a:r>
            <a:r>
              <a:rPr lang="ru-RU" sz="1600" dirty="0" smtClean="0"/>
              <a:t>приложения, например</a:t>
            </a:r>
            <a:r>
              <a:rPr lang="ru-RU" sz="1600" dirty="0"/>
              <a:t>, электронная </a:t>
            </a:r>
            <a:r>
              <a:rPr lang="ru-RU" sz="1600" dirty="0" smtClean="0"/>
              <a:t>коммерция, социальные </a:t>
            </a:r>
            <a:r>
              <a:rPr lang="ru-RU" sz="1600" dirty="0"/>
              <a:t>сети, B2B и т.д. могут </a:t>
            </a:r>
            <a:r>
              <a:rPr lang="ru-RU" sz="1600" dirty="0" smtClean="0"/>
              <a:t>быстро изменять </a:t>
            </a:r>
            <a:r>
              <a:rPr lang="ru-RU" sz="1600" dirty="0"/>
              <a:t>динамику сетевого трафика.</a:t>
            </a:r>
          </a:p>
          <a:p>
            <a:r>
              <a:rPr lang="ru-RU" sz="1600" dirty="0" smtClean="0"/>
              <a:t>Планирование </a:t>
            </a:r>
            <a:r>
              <a:rPr lang="ru-RU" sz="1600" dirty="0"/>
              <a:t>ресурсов </a:t>
            </a:r>
            <a:r>
              <a:rPr lang="ru-RU" sz="1600" dirty="0" smtClean="0"/>
              <a:t>включает грамотное</a:t>
            </a:r>
            <a:r>
              <a:rPr lang="ru-RU" sz="1600" dirty="0"/>
              <a:t>, эффективное </a:t>
            </a:r>
            <a:r>
              <a:rPr lang="ru-RU" sz="1600" dirty="0" smtClean="0"/>
              <a:t>размещение всех </a:t>
            </a:r>
            <a:r>
              <a:rPr lang="ru-RU" sz="1600" dirty="0"/>
              <a:t>видом ресурсов на каждой </a:t>
            </a:r>
            <a:r>
              <a:rPr lang="ru-RU" sz="1600" dirty="0" smtClean="0"/>
              <a:t>стадии жизненного </a:t>
            </a:r>
            <a:r>
              <a:rPr lang="ru-RU" sz="1600" dirty="0"/>
              <a:t>цикла приложения.</a:t>
            </a:r>
          </a:p>
          <a:p>
            <a:r>
              <a:rPr lang="ru-RU" sz="1600" dirty="0" smtClean="0"/>
              <a:t>Планирование </a:t>
            </a:r>
            <a:r>
              <a:rPr lang="ru-RU" sz="1600" dirty="0"/>
              <a:t>ресурсов </a:t>
            </a:r>
            <a:r>
              <a:rPr lang="ru-RU" sz="1600" dirty="0" smtClean="0"/>
              <a:t>включает планирование </a:t>
            </a:r>
            <a:r>
              <a:rPr lang="ru-RU" sz="1600" dirty="0"/>
              <a:t>вычислительных и </a:t>
            </a:r>
            <a:r>
              <a:rPr lang="ru-RU" sz="1600" dirty="0" smtClean="0"/>
              <a:t>сетевых ресурсов</a:t>
            </a:r>
            <a:r>
              <a:rPr lang="ru-RU" sz="1600" dirty="0"/>
              <a:t>, ресурсов хранения и памяти.</a:t>
            </a:r>
          </a:p>
        </p:txBody>
      </p:sp>
    </p:spTree>
    <p:extLst>
      <p:ext uri="{BB962C8B-B14F-4D97-AF65-F5344CB8AC3E}">
        <p14:creationId xmlns:p14="http://schemas.microsoft.com/office/powerpoint/2010/main" val="2079775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Подходы к масштабированию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91933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dirty="0"/>
              <a:t>Вертикальное масштабирование/ Масштабирование </a:t>
            </a:r>
            <a:r>
              <a:rPr lang="ru-RU" sz="1600" dirty="0" smtClean="0"/>
              <a:t>вверх:</a:t>
            </a:r>
          </a:p>
          <a:p>
            <a:pPr marL="342900" lvl="1" indent="0">
              <a:buNone/>
            </a:pPr>
            <a:r>
              <a:rPr lang="ru-RU" sz="1600" dirty="0" smtClean="0"/>
              <a:t>Включает </a:t>
            </a:r>
            <a:r>
              <a:rPr lang="ru-RU" sz="1600" dirty="0"/>
              <a:t>обновление количества физических ресурсов </a:t>
            </a:r>
            <a:r>
              <a:rPr lang="ru-RU" sz="1600" dirty="0" smtClean="0"/>
              <a:t> виртуальной сущности (добавление </a:t>
            </a:r>
            <a:r>
              <a:rPr lang="ru-RU" sz="1600" dirty="0"/>
              <a:t>дополнительной памяти, диска или ядер ЦП).</a:t>
            </a:r>
          </a:p>
          <a:p>
            <a:r>
              <a:rPr lang="ru-RU" sz="1600" dirty="0" smtClean="0"/>
              <a:t>Горизонтальное </a:t>
            </a:r>
            <a:r>
              <a:rPr lang="ru-RU" sz="1600" dirty="0"/>
              <a:t>масштабирование/ Масштабирование </a:t>
            </a:r>
            <a:r>
              <a:rPr lang="ru-RU" sz="1600" dirty="0" smtClean="0"/>
              <a:t>вширь:</a:t>
            </a:r>
          </a:p>
          <a:p>
            <a:pPr marL="342900" lvl="1" indent="0">
              <a:buNone/>
            </a:pPr>
            <a:r>
              <a:rPr lang="ru-RU" sz="1600" dirty="0" smtClean="0"/>
              <a:t>Включает </a:t>
            </a:r>
            <a:r>
              <a:rPr lang="ru-RU" sz="1600" dirty="0"/>
              <a:t>размещение дополнительных виртуальных </a:t>
            </a:r>
            <a:r>
              <a:rPr lang="ru-RU" sz="1600" dirty="0" smtClean="0"/>
              <a:t>сущностей того </a:t>
            </a:r>
            <a:r>
              <a:rPr lang="ru-RU" sz="1600" dirty="0"/>
              <a:t>же </a:t>
            </a:r>
            <a:r>
              <a:rPr lang="ru-RU" sz="1600" dirty="0" smtClean="0"/>
              <a:t>типа (ВМ</a:t>
            </a:r>
            <a:r>
              <a:rPr lang="ru-RU" sz="1600" dirty="0"/>
              <a:t>, контейнеры).</a:t>
            </a:r>
          </a:p>
        </p:txBody>
      </p:sp>
    </p:spTree>
    <p:extLst>
      <p:ext uri="{BB962C8B-B14F-4D97-AF65-F5344CB8AC3E}">
        <p14:creationId xmlns:p14="http://schemas.microsoft.com/office/powerpoint/2010/main" val="3290600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Размещение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96920"/>
            <a:ext cx="8229600" cy="2899675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/>
              <a:t>Размещение облачного приложения это итеративный процесс, </a:t>
            </a:r>
            <a:r>
              <a:rPr lang="ru-RU" dirty="0" smtClean="0"/>
              <a:t>который включает: </a:t>
            </a:r>
          </a:p>
          <a:p>
            <a:pPr algn="just"/>
            <a:r>
              <a:rPr lang="ru-RU" dirty="0" smtClean="0"/>
              <a:t>Планирование </a:t>
            </a:r>
            <a:r>
              <a:rPr lang="ru-RU" dirty="0"/>
              <a:t>ресурсов (</a:t>
            </a:r>
            <a:r>
              <a:rPr lang="ru-RU" dirty="0" err="1"/>
              <a:t>Deployment</a:t>
            </a:r>
            <a:r>
              <a:rPr lang="ru-RU" dirty="0"/>
              <a:t> </a:t>
            </a:r>
            <a:r>
              <a:rPr lang="ru-RU" dirty="0" err="1"/>
              <a:t>Design</a:t>
            </a:r>
            <a:r>
              <a:rPr lang="ru-RU" dirty="0" smtClean="0"/>
              <a:t>) </a:t>
            </a:r>
          </a:p>
          <a:p>
            <a:pPr marL="342900" lvl="1" indent="0" algn="just">
              <a:buNone/>
            </a:pPr>
            <a:r>
              <a:rPr lang="ru-RU" dirty="0" smtClean="0"/>
              <a:t>В </a:t>
            </a:r>
            <a:r>
              <a:rPr lang="ru-RU" dirty="0"/>
              <a:t>качестве входные параметров на данной стадии используются количество серверов, </a:t>
            </a:r>
            <a:r>
              <a:rPr lang="ru-RU" dirty="0" smtClean="0"/>
              <a:t>размеры жесткий </a:t>
            </a:r>
            <a:r>
              <a:rPr lang="ru-RU" dirty="0"/>
              <a:t>дисков, ОП, количество ядер ЦП, скорость сети, стратегии балансировки нагрузки </a:t>
            </a:r>
            <a:r>
              <a:rPr lang="ru-RU" dirty="0" smtClean="0"/>
              <a:t>и резервного </a:t>
            </a:r>
            <a:r>
              <a:rPr lang="ru-RU" dirty="0"/>
              <a:t>копирования.</a:t>
            </a:r>
          </a:p>
          <a:p>
            <a:pPr algn="just"/>
            <a:r>
              <a:rPr lang="ru-RU" dirty="0" smtClean="0"/>
              <a:t>Анализ </a:t>
            </a:r>
            <a:r>
              <a:rPr lang="ru-RU" dirty="0"/>
              <a:t>производительности (</a:t>
            </a:r>
            <a:r>
              <a:rPr lang="ru-RU" dirty="0" err="1"/>
              <a:t>Performance</a:t>
            </a:r>
            <a:r>
              <a:rPr lang="ru-RU" dirty="0"/>
              <a:t> </a:t>
            </a:r>
            <a:r>
              <a:rPr lang="ru-RU" dirty="0" err="1"/>
              <a:t>Evaluation</a:t>
            </a:r>
            <a:r>
              <a:rPr lang="ru-RU" dirty="0" smtClean="0"/>
              <a:t>) 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dirty="0" smtClean="0"/>
              <a:t>Верификация </a:t>
            </a:r>
            <a:r>
              <a:rPr lang="ru-RU" dirty="0"/>
              <a:t>удовлетворяет ли выделенная физическая инфраструктура требования приложения</a:t>
            </a:r>
            <a:r>
              <a:rPr lang="ru-RU" dirty="0" smtClean="0"/>
              <a:t>. 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dirty="0" smtClean="0"/>
              <a:t>Включает </a:t>
            </a:r>
            <a:r>
              <a:rPr lang="ru-RU" dirty="0"/>
              <a:t>мониторинг рабочей нагрузки, оценка ключевых параметров рабочей нагрузки, </a:t>
            </a:r>
            <a:r>
              <a:rPr lang="ru-RU" dirty="0" smtClean="0"/>
              <a:t>например, время </a:t>
            </a:r>
            <a:r>
              <a:rPr lang="ru-RU" dirty="0"/>
              <a:t>задержки и пропускной способности.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dirty="0" smtClean="0"/>
              <a:t>Мониторинг </a:t>
            </a:r>
            <a:r>
              <a:rPr lang="ru-RU" dirty="0"/>
              <a:t>использования (</a:t>
            </a:r>
            <a:r>
              <a:rPr lang="ru-RU" dirty="0" err="1"/>
              <a:t>Utilization</a:t>
            </a:r>
            <a:r>
              <a:rPr lang="ru-RU" dirty="0"/>
              <a:t>) физической инфраструктуры (ЦП, ОП, диск и т.д.).</a:t>
            </a:r>
          </a:p>
          <a:p>
            <a:pPr algn="just"/>
            <a:r>
              <a:rPr lang="ru-RU" dirty="0" smtClean="0"/>
              <a:t>Уточнения </a:t>
            </a:r>
            <a:r>
              <a:rPr lang="ru-RU" dirty="0"/>
              <a:t>размещения (</a:t>
            </a:r>
            <a:r>
              <a:rPr lang="ru-RU" dirty="0" err="1"/>
              <a:t>Deployment</a:t>
            </a:r>
            <a:r>
              <a:rPr lang="ru-RU" dirty="0"/>
              <a:t> </a:t>
            </a:r>
            <a:r>
              <a:rPr lang="ru-RU" dirty="0" err="1"/>
              <a:t>Refinement</a:t>
            </a:r>
            <a:r>
              <a:rPr lang="ru-RU" dirty="0"/>
              <a:t>)</a:t>
            </a:r>
          </a:p>
          <a:p>
            <a:pPr marL="342900" lvl="1" indent="0" algn="just">
              <a:buNone/>
            </a:pPr>
            <a:r>
              <a:rPr lang="ru-RU" dirty="0" smtClean="0"/>
              <a:t>Изменения </a:t>
            </a:r>
            <a:r>
              <a:rPr lang="ru-RU" dirty="0"/>
              <a:t>характеристик размещения с учетом вертикального или </a:t>
            </a:r>
            <a:r>
              <a:rPr lang="ru-RU" dirty="0" smtClean="0"/>
              <a:t>горизонтального масштабирования</a:t>
            </a:r>
            <a:r>
              <a:rPr lang="ru-RU" dirty="0"/>
              <a:t>, альтернативных сетевых подключений, альтернативных стратегий </a:t>
            </a:r>
            <a:r>
              <a:rPr lang="ru-RU" dirty="0" smtClean="0"/>
              <a:t>балансировки и </a:t>
            </a:r>
            <a:r>
              <a:rPr lang="ru-RU" dirty="0"/>
              <a:t>резервного копирования для каждой виртуальной сущности (ВМ, контейнер).</a:t>
            </a:r>
          </a:p>
        </p:txBody>
      </p:sp>
    </p:spTree>
    <p:extLst>
      <p:ext uri="{BB962C8B-B14F-4D97-AF65-F5344CB8AC3E}">
        <p14:creationId xmlns:p14="http://schemas.microsoft.com/office/powerpoint/2010/main" val="1033844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Резервное копирование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5326" y="1781930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dirty="0"/>
              <a:t>Резервное копирование использует для создание </a:t>
            </a:r>
            <a:r>
              <a:rPr lang="ru-RU" sz="1600" dirty="0" smtClean="0"/>
              <a:t>множества копий виртуальной сущности </a:t>
            </a:r>
            <a:r>
              <a:rPr lang="ru-RU" sz="1600" dirty="0"/>
              <a:t>в облаке.</a:t>
            </a:r>
          </a:p>
          <a:p>
            <a:r>
              <a:rPr lang="ru-RU" sz="1600" dirty="0" smtClean="0"/>
              <a:t>Облако </a:t>
            </a:r>
            <a:r>
              <a:rPr lang="ru-RU" sz="1600" dirty="0"/>
              <a:t>представляет быстрый механизм резервного копирования </a:t>
            </a:r>
            <a:r>
              <a:rPr lang="ru-RU" sz="1600" dirty="0" smtClean="0"/>
              <a:t>для обеспечения </a:t>
            </a:r>
            <a:r>
              <a:rPr lang="ru-RU" sz="1600" dirty="0"/>
              <a:t>аварийного восстановление после сбоев</a:t>
            </a:r>
            <a:r>
              <a:rPr lang="ru-RU" sz="1600" dirty="0" smtClean="0"/>
              <a:t>. </a:t>
            </a:r>
          </a:p>
          <a:p>
            <a:r>
              <a:rPr lang="ru-RU" sz="1600" dirty="0" smtClean="0"/>
              <a:t>Используя </a:t>
            </a:r>
            <a:r>
              <a:rPr lang="ru-RU" sz="1600" dirty="0"/>
              <a:t>облачную инфраструктуру нет необходимости держать </a:t>
            </a:r>
            <a:r>
              <a:rPr lang="ru-RU" sz="1600" dirty="0" smtClean="0"/>
              <a:t>дублирующую физическую </a:t>
            </a:r>
            <a:r>
              <a:rPr lang="ru-RU" sz="1600" dirty="0"/>
              <a:t>инфраструктуру для обеспечения аварийного восстановления.</a:t>
            </a:r>
          </a:p>
        </p:txBody>
      </p:sp>
    </p:spTree>
    <p:extLst>
      <p:ext uri="{BB962C8B-B14F-4D97-AF65-F5344CB8AC3E}">
        <p14:creationId xmlns:p14="http://schemas.microsoft.com/office/powerpoint/2010/main" val="3832015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Мониторинг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637352"/>
            <a:ext cx="7020658" cy="3263504"/>
          </a:xfrm>
        </p:spPr>
        <p:txBody>
          <a:bodyPr>
            <a:normAutofit/>
          </a:bodyPr>
          <a:lstStyle/>
          <a:p>
            <a:r>
              <a:rPr lang="ru-RU" sz="1600" dirty="0"/>
              <a:t>Мониторинг </a:t>
            </a:r>
            <a:r>
              <a:rPr lang="ru-RU" sz="1600" dirty="0" smtClean="0"/>
              <a:t>позволяет пользователям </a:t>
            </a:r>
            <a:r>
              <a:rPr lang="ru-RU" sz="1600" dirty="0"/>
              <a:t>облака собирать </a:t>
            </a:r>
            <a:r>
              <a:rPr lang="ru-RU" sz="1600" dirty="0" smtClean="0"/>
              <a:t>и анализировать </a:t>
            </a:r>
            <a:r>
              <a:rPr lang="ru-RU" sz="1600" dirty="0"/>
              <a:t>данные, </a:t>
            </a:r>
            <a:r>
              <a:rPr lang="ru-RU" sz="1600" dirty="0" smtClean="0"/>
              <a:t>использую различные </a:t>
            </a:r>
            <a:r>
              <a:rPr lang="ru-RU" sz="1600" dirty="0"/>
              <a:t>метрики.</a:t>
            </a:r>
          </a:p>
          <a:p>
            <a:r>
              <a:rPr lang="ru-RU" sz="1600" dirty="0" smtClean="0"/>
              <a:t>Мониторинг </a:t>
            </a:r>
            <a:r>
              <a:rPr lang="ru-RU" sz="1600" dirty="0"/>
              <a:t>собирает данные </a:t>
            </a:r>
            <a:r>
              <a:rPr lang="ru-RU" sz="1600" dirty="0" smtClean="0"/>
              <a:t>о работе </a:t>
            </a:r>
            <a:r>
              <a:rPr lang="ru-RU" sz="1600" dirty="0"/>
              <a:t>как облачных </a:t>
            </a:r>
            <a:r>
              <a:rPr lang="ru-RU" sz="1600" dirty="0" smtClean="0"/>
              <a:t>приложение, так </a:t>
            </a:r>
            <a:r>
              <a:rPr lang="ru-RU" sz="1600" dirty="0"/>
              <a:t>и физической </a:t>
            </a:r>
            <a:r>
              <a:rPr lang="ru-RU" sz="1600" dirty="0" smtClean="0"/>
              <a:t>инфраструктуры облака</a:t>
            </a:r>
            <a:r>
              <a:rPr lang="ru-RU" sz="1600" dirty="0"/>
              <a:t>.</a:t>
            </a:r>
          </a:p>
          <a:p>
            <a:r>
              <a:rPr lang="ru-RU" sz="1600" dirty="0" smtClean="0"/>
              <a:t>Мониторинг позволяет пользователям </a:t>
            </a:r>
            <a:r>
              <a:rPr lang="ru-RU" sz="1600" dirty="0"/>
              <a:t>оценить </a:t>
            </a:r>
            <a:r>
              <a:rPr lang="ru-RU" sz="1600" dirty="0" smtClean="0"/>
              <a:t>текущее состоянием </a:t>
            </a:r>
            <a:r>
              <a:rPr lang="ru-RU" sz="1600" dirty="0"/>
              <a:t>приложения и </a:t>
            </a:r>
            <a:r>
              <a:rPr lang="ru-RU" sz="1600" dirty="0" smtClean="0"/>
              <a:t>принимать решения </a:t>
            </a:r>
            <a:r>
              <a:rPr lang="ru-RU" sz="1600" dirty="0"/>
              <a:t>и </a:t>
            </a:r>
            <a:r>
              <a:rPr lang="ru-RU" sz="1600" dirty="0" smtClean="0"/>
              <a:t>восстановлении/масштабировании</a:t>
            </a:r>
            <a:r>
              <a:rPr lang="ru-RU" sz="1600" dirty="0"/>
              <a:t>/ репликации.</a:t>
            </a:r>
          </a:p>
        </p:txBody>
      </p:sp>
    </p:spTree>
    <p:extLst>
      <p:ext uri="{BB962C8B-B14F-4D97-AF65-F5344CB8AC3E}">
        <p14:creationId xmlns:p14="http://schemas.microsoft.com/office/powerpoint/2010/main" val="2503577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Программно-конфигурируемые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69419"/>
            <a:ext cx="8229600" cy="2899675"/>
          </a:xfrm>
        </p:spPr>
        <p:txBody>
          <a:bodyPr>
            <a:noAutofit/>
          </a:bodyPr>
          <a:lstStyle/>
          <a:p>
            <a:pPr algn="just"/>
            <a:r>
              <a:rPr lang="ru-RU" sz="1600" dirty="0"/>
              <a:t>Программно-конфигурируемые сети (ПКС) для сетевая архитектура, </a:t>
            </a:r>
            <a:r>
              <a:rPr lang="ru-RU" sz="1600" dirty="0" smtClean="0"/>
              <a:t>которая разделяет </a:t>
            </a:r>
            <a:r>
              <a:rPr lang="ru-RU" sz="1600" dirty="0"/>
              <a:t>уровень управления сетью с уровнем передачи данных, </a:t>
            </a:r>
            <a:r>
              <a:rPr lang="ru-RU" sz="1600" dirty="0" smtClean="0"/>
              <a:t>предоставляя централизованное </a:t>
            </a:r>
            <a:r>
              <a:rPr lang="ru-RU" sz="1600" dirty="0"/>
              <a:t>управления с помощью ПКС контроллера</a:t>
            </a:r>
            <a:r>
              <a:rPr lang="ru-RU" sz="1600" dirty="0" smtClean="0"/>
              <a:t>. </a:t>
            </a:r>
          </a:p>
          <a:p>
            <a:pPr algn="just"/>
            <a:r>
              <a:rPr lang="ru-RU" sz="1600" dirty="0" smtClean="0"/>
              <a:t>Традиционная </a:t>
            </a:r>
            <a:r>
              <a:rPr lang="ru-RU" sz="1600" dirty="0"/>
              <a:t>сетевая архитектура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sz="1600" dirty="0" smtClean="0"/>
              <a:t>Уровень </a:t>
            </a:r>
            <a:r>
              <a:rPr lang="ru-RU" sz="1600" dirty="0"/>
              <a:t>управления и уровень </a:t>
            </a:r>
            <a:r>
              <a:rPr lang="ru-RU" sz="1600" dirty="0" smtClean="0"/>
              <a:t>данные объединены</a:t>
            </a:r>
            <a:r>
              <a:rPr lang="ru-RU" sz="1600" dirty="0"/>
              <a:t>. Уровень управления это часть </a:t>
            </a:r>
            <a:r>
              <a:rPr lang="ru-RU" sz="1600" dirty="0" smtClean="0"/>
              <a:t>сетевой инфраструктуры</a:t>
            </a:r>
            <a:r>
              <a:rPr lang="ru-RU" sz="1600" dirty="0"/>
              <a:t>, которая содержит и анализирует сигнальную и </a:t>
            </a:r>
            <a:r>
              <a:rPr lang="ru-RU" sz="1600" dirty="0" smtClean="0"/>
              <a:t>маршрутизирующую информацию</a:t>
            </a:r>
            <a:r>
              <a:rPr lang="ru-RU" sz="1600" dirty="0"/>
              <a:t>, уровень данных это полезная нагрузка (</a:t>
            </a:r>
            <a:r>
              <a:rPr lang="ru-RU" sz="1600" dirty="0" err="1"/>
              <a:t>Payload</a:t>
            </a:r>
            <a:r>
              <a:rPr lang="ru-RU" sz="1600" dirty="0"/>
              <a:t>) сетевого трафика.</a:t>
            </a:r>
          </a:p>
          <a:p>
            <a:pPr algn="just"/>
            <a:r>
              <a:rPr lang="ru-RU" sz="1600" dirty="0" smtClean="0"/>
              <a:t>ПКС архитектура 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ru-RU" sz="1600" dirty="0" smtClean="0"/>
              <a:t>Уровень </a:t>
            </a:r>
            <a:r>
              <a:rPr lang="ru-RU" sz="1600" dirty="0"/>
              <a:t>управления и уровень данных разведены. Управление </a:t>
            </a:r>
            <a:r>
              <a:rPr lang="ru-RU" sz="1600" dirty="0" smtClean="0"/>
              <a:t>осуществляется централизованным </a:t>
            </a:r>
            <a:r>
              <a:rPr lang="ru-RU" sz="1600" dirty="0"/>
              <a:t>ПКС контроллером.</a:t>
            </a:r>
          </a:p>
        </p:txBody>
      </p:sp>
    </p:spTree>
    <p:extLst>
      <p:ext uri="{BB962C8B-B14F-4D97-AF65-F5344CB8AC3E}">
        <p14:creationId xmlns:p14="http://schemas.microsoft.com/office/powerpoint/2010/main" val="1277335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81BC6-9A71-429F-90B0-AB43009B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Серверы высокой плотности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4DB647-AD34-4AE2-A7A9-127A1974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199" y="1678803"/>
            <a:ext cx="8229600" cy="2899675"/>
          </a:xfrm>
        </p:spPr>
        <p:txBody>
          <a:bodyPr>
            <a:normAutofit/>
          </a:bodyPr>
          <a:lstStyle/>
          <a:p>
            <a:r>
              <a:rPr lang="ru-RU" sz="1800" dirty="0"/>
              <a:t>Серверы высокой плотности (СВП) постоянно упоминаются в контексте суперкомпьютеров, виртуализации и облачных технологий, поисковых и аналитических систем, а также систем параллельного вычисления.</a:t>
            </a:r>
          </a:p>
          <a:p>
            <a:pPr lvl="1"/>
            <a:r>
              <a:rPr lang="ru-RU" sz="1800" dirty="0" err="1"/>
              <a:t>Блейд</a:t>
            </a:r>
            <a:r>
              <a:rPr lang="ru-RU" sz="1800" dirty="0"/>
              <a:t>-серверы</a:t>
            </a:r>
          </a:p>
          <a:p>
            <a:pPr lvl="1"/>
            <a:r>
              <a:rPr lang="en-US" sz="1800" dirty="0"/>
              <a:t>Twin-</a:t>
            </a:r>
            <a:r>
              <a:rPr lang="ru-RU" sz="1800" dirty="0"/>
              <a:t>серверы</a:t>
            </a:r>
          </a:p>
          <a:p>
            <a:pPr lvl="1"/>
            <a:r>
              <a:rPr lang="ru-RU" sz="1800" dirty="0" err="1"/>
              <a:t>Микросерверы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42434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8BC5C-51D2-4F18-A5C8-7899AF19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 err="1"/>
              <a:t>Блейд</a:t>
            </a:r>
            <a:r>
              <a:rPr lang="ru-RU" sz="2400" dirty="0"/>
              <a:t>-серверы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E74A04-3F2D-4EDE-9640-4E6EBA8D9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48" y="1256671"/>
            <a:ext cx="4688649" cy="3263504"/>
          </a:xfrm>
        </p:spPr>
        <p:txBody>
          <a:bodyPr>
            <a:noAutofit/>
          </a:bodyPr>
          <a:lstStyle/>
          <a:p>
            <a:r>
              <a:rPr lang="en-US" sz="1600" dirty="0" err="1">
                <a:solidFill>
                  <a:srgbClr val="222222"/>
                </a:solidFill>
                <a:latin typeface="Roboto" panose="02000000000000000000" pitchFamily="2" charset="0"/>
              </a:rPr>
              <a:t>MicroBlade</a:t>
            </a:r>
            <a:endParaRPr lang="ru-RU" sz="1600" dirty="0">
              <a:solidFill>
                <a:srgbClr val="222222"/>
              </a:solidFill>
              <a:latin typeface="Golos Text" panose="020B0503020202020204"/>
            </a:endParaRPr>
          </a:p>
          <a:p>
            <a:pPr marL="342900" lvl="1" indent="0">
              <a:buNone/>
            </a:pPr>
            <a:r>
              <a:rPr lang="ru-RU" sz="1600" dirty="0" err="1">
                <a:solidFill>
                  <a:srgbClr val="222222"/>
                </a:solidFill>
                <a:latin typeface="Golos Text" panose="020B0503020202020204"/>
              </a:rPr>
              <a:t>MicroBlade</a:t>
            </a:r>
            <a:r>
              <a:rPr lang="ru-RU" sz="1600" dirty="0">
                <a:solidFill>
                  <a:srgbClr val="222222"/>
                </a:solidFill>
                <a:latin typeface="Golos Text" panose="020B0503020202020204"/>
              </a:rPr>
              <a:t> решения предназначены для случая, когда требуется компактная установка и обслуживание множества «лёгких» серверов, например, если требуется замена систем виртуализации на отдельные физические сервера.</a:t>
            </a:r>
          </a:p>
          <a:p>
            <a:r>
              <a:rPr lang="en-US" sz="1600" dirty="0" err="1">
                <a:solidFill>
                  <a:srgbClr val="222222"/>
                </a:solidFill>
                <a:latin typeface="Roboto" panose="02000000000000000000" pitchFamily="2" charset="0"/>
              </a:rPr>
              <a:t>SuperBlade</a:t>
            </a:r>
            <a:endParaRPr lang="en-US" sz="1600" dirty="0">
              <a:solidFill>
                <a:srgbClr val="222222"/>
              </a:solidFill>
              <a:latin typeface="Roboto" panose="02000000000000000000" pitchFamily="2" charset="0"/>
            </a:endParaRPr>
          </a:p>
          <a:p>
            <a:pPr marL="342900" lvl="1" indent="0">
              <a:buNone/>
            </a:pPr>
            <a:r>
              <a:rPr lang="ru-RU" sz="1600" dirty="0">
                <a:latin typeface="Golos Text" panose="020B0503020202020204"/>
              </a:rPr>
              <a:t>Полноценные </a:t>
            </a:r>
            <a:r>
              <a:rPr lang="ru-RU" sz="1600" dirty="0" err="1">
                <a:latin typeface="Golos Text" panose="020B0503020202020204"/>
              </a:rPr>
              <a:t>блейд</a:t>
            </a:r>
            <a:r>
              <a:rPr lang="ru-RU" sz="1600" dirty="0">
                <a:latin typeface="Golos Text" panose="020B0503020202020204"/>
              </a:rPr>
              <a:t>-решения со всеми возможностями и функциями, которые вы ожидаете от подобных систем.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E61EAC-61B3-475F-86BD-DEC11FA89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5" y="1114453"/>
            <a:ext cx="2217463" cy="177397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594870-7A86-40AA-8FB4-5C5D416806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2258" y="2682166"/>
            <a:ext cx="2696228" cy="206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89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D57DA-F447-4C15-81CB-8FC85FE1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Преимущества </a:t>
            </a:r>
            <a:r>
              <a:rPr lang="ru-RU" sz="2400" dirty="0" err="1"/>
              <a:t>блейд</a:t>
            </a:r>
            <a:r>
              <a:rPr lang="ru-RU" sz="2400" dirty="0"/>
              <a:t>-серверов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DE1DD-8FC8-4542-A338-7F15E0800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1930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dirty="0"/>
              <a:t>Можно использовать несколько типов сетевых интерфейсов: Ethernet, Fibre Channel, </a:t>
            </a:r>
            <a:r>
              <a:rPr lang="ru-RU" sz="1600" dirty="0" err="1"/>
              <a:t>InfiniBand</a:t>
            </a:r>
            <a:r>
              <a:rPr lang="ru-RU" sz="1600" dirty="0"/>
              <a:t>;</a:t>
            </a:r>
          </a:p>
          <a:p>
            <a:r>
              <a:rPr lang="ru-RU" sz="1600" dirty="0"/>
              <a:t>Высокая плотность размещения;</a:t>
            </a:r>
          </a:p>
          <a:p>
            <a:r>
              <a:rPr lang="ru-RU" sz="1600" dirty="0"/>
              <a:t>Единый корпус-шасси;</a:t>
            </a:r>
          </a:p>
          <a:p>
            <a:r>
              <a:rPr lang="ru-RU" sz="1600" dirty="0"/>
              <a:t>Возможность замены некоторых элементов в «горячем режиме»;</a:t>
            </a:r>
          </a:p>
          <a:p>
            <a:r>
              <a:rPr lang="ru-RU" sz="1600" dirty="0"/>
              <a:t>Более широкий функционал мониторинга и управления (сравнительно с </a:t>
            </a:r>
            <a:r>
              <a:rPr lang="ru-RU" sz="1600" dirty="0" err="1"/>
              <a:t>Rack</a:t>
            </a:r>
            <a:r>
              <a:rPr lang="ru-RU" sz="1600" dirty="0"/>
              <a:t>);</a:t>
            </a:r>
          </a:p>
          <a:p>
            <a:r>
              <a:rPr lang="ru-RU" sz="1600" dirty="0"/>
              <a:t>Резервирование питания и охлаждения;</a:t>
            </a:r>
          </a:p>
          <a:p>
            <a:r>
              <a:rPr lang="ru-RU" sz="1600" dirty="0"/>
              <a:t>Возможность установки собственных дисковых накопителей.</a:t>
            </a:r>
          </a:p>
        </p:txBody>
      </p:sp>
    </p:spTree>
    <p:extLst>
      <p:ext uri="{BB962C8B-B14F-4D97-AF65-F5344CB8AC3E}">
        <p14:creationId xmlns:p14="http://schemas.microsoft.com/office/powerpoint/2010/main" val="3679896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5E5B6-9B3E-49AB-8327-4666ACEC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Недостатки </a:t>
            </a:r>
            <a:r>
              <a:rPr lang="ru-RU" sz="2400" dirty="0" err="1"/>
              <a:t>блейд</a:t>
            </a:r>
            <a:r>
              <a:rPr lang="ru-RU" sz="2400" dirty="0"/>
              <a:t>-серверов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D0A731-C1A9-486F-B72D-50FF3E078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5674"/>
            <a:ext cx="8229600" cy="2899675"/>
          </a:xfrm>
        </p:spPr>
        <p:txBody>
          <a:bodyPr>
            <a:noAutofit/>
          </a:bodyPr>
          <a:lstStyle/>
          <a:p>
            <a:r>
              <a:rPr lang="ru-RU" sz="1600" dirty="0"/>
              <a:t>Проприетарный подход производителей: клиент вынужден строить свою </a:t>
            </a:r>
            <a:r>
              <a:rPr lang="ru-RU" sz="1600" dirty="0" err="1"/>
              <a:t>блейд</a:t>
            </a:r>
            <a:r>
              <a:rPr lang="ru-RU" sz="1600" dirty="0"/>
              <a:t>-серверную инфраструктуру на базе одного вендора;</a:t>
            </a:r>
          </a:p>
          <a:p>
            <a:r>
              <a:rPr lang="ru-RU" sz="1600" dirty="0"/>
              <a:t>Дороговизна: чтобы ощутить экономическую выгоду в сравнении с теми же </a:t>
            </a:r>
            <a:r>
              <a:rPr lang="ru-RU" sz="1600" dirty="0" err="1"/>
              <a:t>Rack</a:t>
            </a:r>
            <a:r>
              <a:rPr lang="ru-RU" sz="1600" dirty="0"/>
              <a:t>-серверами, заполнение </a:t>
            </a:r>
            <a:r>
              <a:rPr lang="ru-RU" sz="1600" dirty="0" err="1"/>
              <a:t>блейд</a:t>
            </a:r>
            <a:r>
              <a:rPr lang="ru-RU" sz="1600" dirty="0"/>
              <a:t>-комплекта должно быть не менее 70%;</a:t>
            </a:r>
          </a:p>
          <a:p>
            <a:r>
              <a:rPr lang="ru-RU" sz="1600" dirty="0"/>
              <a:t>Конфигурации </a:t>
            </a:r>
            <a:r>
              <a:rPr lang="ru-RU" sz="1600" dirty="0" err="1"/>
              <a:t>блейдов</a:t>
            </a:r>
            <a:r>
              <a:rPr lang="ru-RU" sz="1600" dirty="0"/>
              <a:t> ограничены для расширения;</a:t>
            </a:r>
          </a:p>
          <a:p>
            <a:r>
              <a:rPr lang="ru-RU" sz="1600" dirty="0"/>
              <a:t>Нельзя сделать </a:t>
            </a:r>
            <a:r>
              <a:rPr lang="ru-RU" sz="1600" dirty="0" err="1"/>
              <a:t>блейд</a:t>
            </a:r>
            <a:r>
              <a:rPr lang="ru-RU" sz="1600" dirty="0"/>
              <a:t> самостоятельной серверной единицей;</a:t>
            </a:r>
          </a:p>
          <a:p>
            <a:r>
              <a:rPr lang="ru-RU" sz="1600" dirty="0"/>
              <a:t>Тепловыделение ограничивает возможность использования топовых процессоров;</a:t>
            </a:r>
          </a:p>
          <a:p>
            <a:r>
              <a:rPr lang="ru-RU" sz="1600" dirty="0"/>
              <a:t>Нельзя задействовать разные сетевые интерфейсы вместе;</a:t>
            </a:r>
          </a:p>
          <a:p>
            <a:r>
              <a:rPr lang="ru-RU" sz="1600" dirty="0"/>
              <a:t>Большой «аппетит» по питанию и охлаждению.</a:t>
            </a:r>
          </a:p>
        </p:txBody>
      </p:sp>
    </p:spTree>
    <p:extLst>
      <p:ext uri="{BB962C8B-B14F-4D97-AF65-F5344CB8AC3E}">
        <p14:creationId xmlns:p14="http://schemas.microsoft.com/office/powerpoint/2010/main" val="1853432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C2B78-3C19-487E-BDC1-1CA1FFE2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Twin-</a:t>
            </a:r>
            <a:r>
              <a:rPr lang="ru-RU" sz="2400" dirty="0"/>
              <a:t>серверы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814FB5-4611-48FB-B4A5-D12E1847D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55239"/>
            <a:ext cx="8229600" cy="2899675"/>
          </a:xfrm>
        </p:spPr>
        <p:txBody>
          <a:bodyPr>
            <a:normAutofit/>
          </a:bodyPr>
          <a:lstStyle/>
          <a:p>
            <a:r>
              <a:rPr lang="en-US" sz="1800" dirty="0"/>
              <a:t>Twin (2 </a:t>
            </a:r>
            <a:r>
              <a:rPr lang="ru-RU" sz="1800" dirty="0">
                <a:latin typeface="Golos Text" panose="020B0503020202020204"/>
              </a:rPr>
              <a:t>в 1)</a:t>
            </a:r>
          </a:p>
          <a:p>
            <a:r>
              <a:rPr lang="en-US" sz="1800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Quad (4 </a:t>
            </a:r>
            <a:r>
              <a:rPr lang="ru-RU" sz="1800" b="0" i="0" dirty="0">
                <a:solidFill>
                  <a:srgbClr val="222222"/>
                </a:solidFill>
                <a:effectLst/>
                <a:latin typeface="Golos Text" panose="020B0503020202020204"/>
              </a:rPr>
              <a:t>в 1)</a:t>
            </a:r>
          </a:p>
          <a:p>
            <a:endParaRPr lang="ru-RU" sz="1800" dirty="0">
              <a:latin typeface="Golos Text" panose="020B0503020202020204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B6C1B2-FA1B-4A1E-8611-81C431D9F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24" y="2805077"/>
            <a:ext cx="3345549" cy="20095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5D641D-E404-4E6A-BEC2-284BFF0D2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109" y="1814769"/>
            <a:ext cx="3671655" cy="22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59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EFB55-CAB8-4327-A519-A051BB402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Преимущества </a:t>
            </a:r>
            <a:r>
              <a:rPr lang="en-US" sz="2400" dirty="0"/>
              <a:t>twin-</a:t>
            </a:r>
            <a:r>
              <a:rPr lang="ru-RU" sz="2400" dirty="0"/>
              <a:t>серверов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AB8DE6-2197-4ECC-B1AE-CB444DC5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78" y="1733804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dirty="0"/>
              <a:t>Единый корпус-шасси;</a:t>
            </a:r>
          </a:p>
          <a:p>
            <a:r>
              <a:rPr lang="ru-RU" sz="1600" dirty="0"/>
              <a:t>Встроенная СХД;</a:t>
            </a:r>
          </a:p>
          <a:p>
            <a:r>
              <a:rPr lang="ru-RU" sz="1600" dirty="0"/>
              <a:t>Поддержка интерфейсов Ethernet (до 10 Гб/с) и </a:t>
            </a:r>
            <a:r>
              <a:rPr lang="ru-RU" sz="1600" dirty="0" err="1"/>
              <a:t>InfiniBand</a:t>
            </a:r>
            <a:r>
              <a:rPr lang="ru-RU" sz="1600" dirty="0"/>
              <a:t> (SDR, QDR, DDR, FDR);</a:t>
            </a:r>
          </a:p>
          <a:p>
            <a:r>
              <a:rPr lang="ru-RU" sz="1600" dirty="0"/>
              <a:t>Как и в случае с </a:t>
            </a:r>
            <a:r>
              <a:rPr lang="ru-RU" sz="1600" dirty="0" err="1"/>
              <a:t>блейдами</a:t>
            </a:r>
            <a:r>
              <a:rPr lang="ru-RU" sz="1600" dirty="0"/>
              <a:t>, есть встроенные компоненты системы отказоустойчивости;</a:t>
            </a:r>
          </a:p>
          <a:p>
            <a:r>
              <a:rPr lang="ru-RU" sz="1600" dirty="0"/>
              <a:t>Высокая плотность;</a:t>
            </a:r>
          </a:p>
          <a:p>
            <a:r>
              <a:rPr lang="ru-RU" sz="1600" dirty="0"/>
              <a:t>Поддержка PCI плат;</a:t>
            </a:r>
          </a:p>
          <a:p>
            <a:r>
              <a:rPr lang="ru-RU" sz="1600" dirty="0"/>
              <a:t>Дешевле, чем </a:t>
            </a:r>
            <a:r>
              <a:rPr lang="ru-RU" sz="1600" dirty="0" err="1"/>
              <a:t>Rack</a:t>
            </a:r>
            <a:r>
              <a:rPr lang="ru-RU" sz="1600" dirty="0"/>
              <a:t> и </a:t>
            </a:r>
            <a:r>
              <a:rPr lang="ru-RU" sz="1600" dirty="0" err="1"/>
              <a:t>блейды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9920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2B2EB-4ED5-4469-8BF3-28ACD9B8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Недостатки </a:t>
            </a:r>
            <a:r>
              <a:rPr lang="en-US" sz="2400" dirty="0"/>
              <a:t>twin-</a:t>
            </a:r>
            <a:r>
              <a:rPr lang="ru-RU" sz="2400" dirty="0"/>
              <a:t>серверов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FA521-3330-4388-B9FE-15356490F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3178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dirty="0"/>
              <a:t>Нельзя сделать сервер самостоятельной единицей;</a:t>
            </a:r>
          </a:p>
          <a:p>
            <a:r>
              <a:rPr lang="ru-RU" sz="1600" dirty="0"/>
              <a:t>Нужны отдельные сетевые коммутаторы;</a:t>
            </a:r>
          </a:p>
          <a:p>
            <a:r>
              <a:rPr lang="ru-RU" sz="1600" dirty="0"/>
              <a:t>Тепловыделение ограничивает возможность использования самых мощных процессоров;</a:t>
            </a:r>
          </a:p>
          <a:p>
            <a:r>
              <a:rPr lang="ru-RU" sz="1600" dirty="0"/>
              <a:t>При плотной установке в шкаф — высокая нагрузка на охлаждение и питание</a:t>
            </a:r>
          </a:p>
          <a:p>
            <a:r>
              <a:rPr lang="ru-RU" sz="1600" dirty="0"/>
              <a:t>Худшая, чем у </a:t>
            </a:r>
            <a:r>
              <a:rPr lang="ru-RU" sz="1600" dirty="0" err="1"/>
              <a:t>блейдов</a:t>
            </a:r>
            <a:r>
              <a:rPr lang="ru-RU" sz="1600" dirty="0"/>
              <a:t> плотность.</a:t>
            </a:r>
          </a:p>
        </p:txBody>
      </p:sp>
    </p:spTree>
    <p:extLst>
      <p:ext uri="{BB962C8B-B14F-4D97-AF65-F5344CB8AC3E}">
        <p14:creationId xmlns:p14="http://schemas.microsoft.com/office/powerpoint/2010/main" val="227704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EA6F8-81CA-4745-A011-4C500996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 err="1"/>
              <a:t>Микросерверы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FEFD31-F730-49F1-ADC3-96151FB78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9"/>
            <a:ext cx="5909936" cy="3263504"/>
          </a:xfrm>
        </p:spPr>
        <p:txBody>
          <a:bodyPr>
            <a:normAutofit/>
          </a:bodyPr>
          <a:lstStyle/>
          <a:p>
            <a:pPr algn="just"/>
            <a:r>
              <a:rPr lang="ru-RU" sz="1600" dirty="0"/>
              <a:t>Новая мода для ЦОД-</a:t>
            </a:r>
            <a:r>
              <a:rPr lang="ru-RU" sz="1600" dirty="0" err="1"/>
              <a:t>ов</a:t>
            </a:r>
            <a:r>
              <a:rPr lang="ru-RU" sz="1600" dirty="0"/>
              <a:t> — </a:t>
            </a:r>
            <a:r>
              <a:rPr lang="ru-RU" sz="1600" dirty="0" err="1"/>
              <a:t>микросерверы</a:t>
            </a:r>
            <a:r>
              <a:rPr lang="ru-RU" sz="1600" dirty="0"/>
              <a:t>, которые отличаются от </a:t>
            </a:r>
            <a:r>
              <a:rPr lang="ru-RU" sz="1600" dirty="0" err="1"/>
              <a:t>blade</a:t>
            </a:r>
            <a:r>
              <a:rPr lang="ru-RU" sz="1600" dirty="0"/>
              <a:t> и </a:t>
            </a:r>
            <a:r>
              <a:rPr lang="ru-RU" sz="1600" dirty="0" err="1"/>
              <a:t>twin</a:t>
            </a:r>
            <a:r>
              <a:rPr lang="ru-RU" sz="1600" dirty="0"/>
              <a:t> еще меньшими габаритами и низким потреблением энергии. Это накладывает ограничение на производительность.</a:t>
            </a:r>
          </a:p>
          <a:p>
            <a:pPr algn="just"/>
            <a:r>
              <a:rPr lang="ru-RU" sz="1600" dirty="0" err="1"/>
              <a:t>Микросерверы</a:t>
            </a:r>
            <a:r>
              <a:rPr lang="ru-RU" sz="1600" dirty="0"/>
              <a:t> выигрывают в ситуации, когда клиентские приложения не требовательны к аппаратным ресурсам, в первую очередь к мощности серверов. </a:t>
            </a:r>
            <a:r>
              <a:rPr lang="ru-RU" sz="1600" dirty="0" err="1"/>
              <a:t>Микросерверы</a:t>
            </a:r>
            <a:r>
              <a:rPr lang="ru-RU" sz="1600" dirty="0"/>
              <a:t> можно использовать как альтернативное решение для виртуализации, а также для несложных офисных задач.</a:t>
            </a:r>
          </a:p>
          <a:p>
            <a:endParaRPr lang="ru-RU" sz="1600" dirty="0"/>
          </a:p>
          <a:p>
            <a:endParaRPr lang="ru-RU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EAF275-58E6-4E4A-843D-FA934C9CA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891" y="3093834"/>
            <a:ext cx="2142329" cy="160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24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66E84-B14E-44E5-A799-0B7BF6C5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Технологии </a:t>
            </a:r>
            <a:r>
              <a:rPr lang="en-US" sz="2400" dirty="0"/>
              <a:t>NVIDIA </a:t>
            </a:r>
            <a:r>
              <a:rPr lang="ru-RU" sz="2400" dirty="0"/>
              <a:t>CUDA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0BB32-A363-4D18-906E-DAF8834DB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74" y="1500047"/>
            <a:ext cx="8229600" cy="2899675"/>
          </a:xfrm>
        </p:spPr>
        <p:txBody>
          <a:bodyPr>
            <a:normAutofit/>
          </a:bodyPr>
          <a:lstStyle/>
          <a:p>
            <a:r>
              <a:rPr lang="ru-RU" sz="1800" b="1" i="0" dirty="0">
                <a:solidFill>
                  <a:srgbClr val="202122"/>
                </a:solidFill>
                <a:effectLst/>
                <a:latin typeface="Golos Text" panose="020B0503020202020204"/>
              </a:rPr>
              <a:t>CUDA</a:t>
            </a:r>
            <a:r>
              <a:rPr lang="ru-RU" sz="1800" b="0" i="0" dirty="0">
                <a:solidFill>
                  <a:srgbClr val="202122"/>
                </a:solidFill>
                <a:effectLst/>
                <a:latin typeface="Golos Text" panose="020B0503020202020204"/>
              </a:rPr>
              <a:t> — программно-аппаратная архитектура </a:t>
            </a:r>
            <a:r>
              <a:rPr lang="ru-RU" sz="1800" b="0" i="0" u="none" strike="noStrike" dirty="0">
                <a:effectLst/>
                <a:latin typeface="Golos Text" panose="020B0503020202020204"/>
              </a:rPr>
              <a:t>параллельных</a:t>
            </a:r>
            <a:r>
              <a:rPr lang="ru-RU" sz="1800" dirty="0">
                <a:latin typeface="Golos Text" panose="020B0503020202020204"/>
              </a:rPr>
              <a:t> вычислений</a:t>
            </a:r>
            <a:r>
              <a:rPr lang="ru-RU" sz="1800" b="0" i="0" dirty="0">
                <a:solidFill>
                  <a:srgbClr val="202122"/>
                </a:solidFill>
                <a:effectLst/>
                <a:latin typeface="Golos Text" panose="020B0503020202020204"/>
              </a:rPr>
              <a:t>, которая позволяет существенно увеличить вычислительную производительность благодаря использованию </a:t>
            </a:r>
            <a:r>
              <a:rPr lang="ru-RU" sz="1800" dirty="0">
                <a:latin typeface="Golos Text" panose="020B0503020202020204"/>
              </a:rPr>
              <a:t>графических процессоров</a:t>
            </a:r>
            <a:r>
              <a:rPr lang="ru-RU" sz="1800" b="0" i="0" dirty="0">
                <a:effectLst/>
                <a:latin typeface="Golos Text" panose="020B0503020202020204"/>
              </a:rPr>
              <a:t> </a:t>
            </a:r>
            <a:r>
              <a:rPr lang="ru-RU" sz="1800" b="0" i="0" dirty="0">
                <a:solidFill>
                  <a:srgbClr val="202122"/>
                </a:solidFill>
                <a:effectLst/>
                <a:latin typeface="Golos Text" panose="020B0503020202020204"/>
              </a:rPr>
              <a:t>фирмы </a:t>
            </a:r>
            <a:r>
              <a:rPr lang="ru-RU" sz="1800" dirty="0">
                <a:latin typeface="Golos Text" panose="020B0503020202020204"/>
              </a:rPr>
              <a:t>Nvidia</a:t>
            </a:r>
            <a:r>
              <a:rPr lang="ru-RU" sz="1800" b="0" i="0" dirty="0">
                <a:solidFill>
                  <a:srgbClr val="202122"/>
                </a:solidFill>
                <a:effectLst/>
                <a:latin typeface="Golos Text" panose="020B0503020202020204"/>
              </a:rPr>
              <a:t>.</a:t>
            </a:r>
          </a:p>
          <a:p>
            <a:endParaRPr lang="ru-RU" sz="1800" dirty="0">
              <a:solidFill>
                <a:srgbClr val="202122"/>
              </a:solidFill>
              <a:latin typeface="Golos Text" panose="020B0503020202020204"/>
            </a:endParaRPr>
          </a:p>
          <a:p>
            <a:r>
              <a:rPr lang="ru-RU" sz="1800" dirty="0">
                <a:latin typeface="Golos Text" panose="020B0503020202020204"/>
              </a:rPr>
              <a:t>CUDA SDK позволяет программистам реализовывать на специальных упрощённых диалектах языков программирования Си, C++ и Фортран алгоритмы, выполнимые на графических и тензорных процессорах Nvidia.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sp>
        <p:nvSpPr>
          <p:cNvPr id="7" name="AutoShape 2" descr="Логотип программы CUDA">
            <a:extLst>
              <a:ext uri="{FF2B5EF4-FFF2-40B4-BE49-F238E27FC236}">
                <a16:creationId xmlns:a16="http://schemas.microsoft.com/office/drawing/2014/main" id="{2F47C900-BD01-423F-BD7C-3CA8240113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ru-RU" sz="135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584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66E84-B14E-44E5-A799-0B7BF6C5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Технологии </a:t>
            </a:r>
            <a:r>
              <a:rPr lang="en-US" sz="2400" dirty="0"/>
              <a:t>NVIDIA GRID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0BB32-A363-4D18-906E-DAF8834DB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5048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dirty="0"/>
              <a:t>Технологии GRID, исходно предназначена именно для 3D ускорения в виртуальных средах, достаточно проста и включает в себя следующие принципы:</a:t>
            </a:r>
          </a:p>
          <a:p>
            <a:pPr lvl="1"/>
            <a:r>
              <a:rPr lang="ru-RU" sz="1600" dirty="0"/>
              <a:t>Агрегация на базе одной </a:t>
            </a:r>
            <a:r>
              <a:rPr lang="ru-RU" sz="1600" dirty="0" err="1"/>
              <a:t>PCIe</a:t>
            </a:r>
            <a:r>
              <a:rPr lang="ru-RU" sz="1600" dirty="0"/>
              <a:t> карты нескольких графических ускорителей;</a:t>
            </a:r>
          </a:p>
          <a:p>
            <a:pPr lvl="1"/>
            <a:r>
              <a:rPr lang="ru-RU" sz="1600" dirty="0"/>
              <a:t>Возможность виртуализации графических ускорителей на уровне гипервизора;</a:t>
            </a:r>
          </a:p>
          <a:p>
            <a:pPr lvl="1"/>
            <a:r>
              <a:rPr lang="ru-RU" sz="1600" dirty="0"/>
              <a:t>Возможность виртуализации графических ускорителей средствами технологии GRID Virtual GPU.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5384"/>
            <a:ext cx="2857500" cy="9001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911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66E84-B14E-44E5-A799-0B7BF6C5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АРХИТЕКТУРА </a:t>
            </a:r>
            <a:r>
              <a:rPr lang="en-US" sz="2400" dirty="0"/>
              <a:t>NVIDIA AMPERE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0BB32-A363-4D18-906E-DAF8834DB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0050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b="0" i="0" dirty="0">
                <a:solidFill>
                  <a:srgbClr val="000000"/>
                </a:solidFill>
                <a:effectLst/>
                <a:latin typeface="Golos Text" panose="020B0503020202020204"/>
              </a:rPr>
              <a:t>NVIDIA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Golos Text" panose="020B0503020202020204"/>
              </a:rPr>
              <a:t>Ampere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Golos Text" panose="020B0503020202020204"/>
              </a:rPr>
              <a:t> — это огромный прорыв: архитектура, разработанная для эры эластичных вычислений, обеспечивает непревзойденное масштабируемое ускорение. </a:t>
            </a:r>
          </a:p>
          <a:p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Оснащенная 54 миллиардами транзисторов архитектура </a:t>
            </a:r>
            <a:r>
              <a:rPr lang="ru-RU" sz="1600" dirty="0">
                <a:latin typeface="Golos Text" panose="020B0503020202020204"/>
              </a:rPr>
              <a:t>NVIDIA </a:t>
            </a:r>
            <a:r>
              <a:rPr lang="ru-RU" sz="1600" dirty="0" err="1">
                <a:latin typeface="Golos Text" panose="020B0503020202020204"/>
              </a:rPr>
              <a:t>Ampere</a:t>
            </a:r>
            <a:r>
              <a:rPr lang="ru-RU" sz="1600" b="0" i="0" dirty="0">
                <a:effectLst/>
                <a:latin typeface="Golos Text" panose="020B0503020202020204"/>
              </a:rPr>
              <a:t> представляет собой самый большой в мире 7-нанометровый 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чип и имеет шесть ключевых инновационных особенностей.</a:t>
            </a:r>
            <a:endParaRPr lang="ru-RU" sz="1600" dirty="0">
              <a:latin typeface="Golos Text" panose="020B0503020202020204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5384"/>
            <a:ext cx="2857500" cy="9001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230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F29916-247F-41BC-BE3F-D158448C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АРХИТЕКТУРА </a:t>
            </a:r>
            <a:r>
              <a:rPr lang="en-US" sz="2400" dirty="0"/>
              <a:t>NVIDIA AMPERE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80E64F-36C2-467F-8858-ACD5B7080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7967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b="0" i="0" dirty="0">
                <a:effectLst/>
                <a:latin typeface="Golos Text" panose="020B0503020202020204"/>
              </a:rPr>
              <a:t>Тензорные ядра третьего поколения</a:t>
            </a:r>
          </a:p>
          <a:p>
            <a:r>
              <a:rPr lang="en-US" sz="1600" b="0" i="0" dirty="0">
                <a:effectLst/>
                <a:latin typeface="DINPro"/>
              </a:rPr>
              <a:t>Multi-Instance GPU (MIG)</a:t>
            </a:r>
            <a:endParaRPr lang="ru-RU" sz="1600" b="0" i="0" dirty="0">
              <a:effectLst/>
              <a:latin typeface="Golos Text" panose="020B0503020202020204"/>
            </a:endParaRPr>
          </a:p>
          <a:p>
            <a:r>
              <a:rPr lang="en-US" sz="1600" b="0" i="0" dirty="0" err="1">
                <a:effectLst/>
                <a:latin typeface="DINPro"/>
              </a:rPr>
              <a:t>NVLink</a:t>
            </a:r>
            <a:r>
              <a:rPr lang="en-US" sz="1600" b="0" i="0" dirty="0">
                <a:effectLst/>
                <a:latin typeface="DINPro"/>
              </a:rPr>
              <a:t> </a:t>
            </a:r>
            <a:r>
              <a:rPr lang="ru-RU" sz="1600" b="0" i="0" dirty="0">
                <a:effectLst/>
                <a:latin typeface="Golos Text" panose="020B0503020202020204"/>
              </a:rPr>
              <a:t>третьего поколения</a:t>
            </a:r>
          </a:p>
          <a:p>
            <a:r>
              <a:rPr lang="ru-RU" sz="1600" b="0" i="0" dirty="0">
                <a:effectLst/>
                <a:latin typeface="Golos Text" panose="020B0503020202020204"/>
              </a:rPr>
              <a:t>Структурная разреженность</a:t>
            </a:r>
          </a:p>
          <a:p>
            <a:r>
              <a:rPr lang="ru-RU" sz="1600" b="0" i="0" dirty="0">
                <a:effectLst/>
                <a:latin typeface="Golos Text" panose="020B0503020202020204"/>
              </a:rPr>
              <a:t>Второе поколение ядер </a:t>
            </a:r>
            <a:r>
              <a:rPr lang="en-US" sz="1600" b="0" i="0" dirty="0">
                <a:effectLst/>
                <a:latin typeface="DINPro"/>
              </a:rPr>
              <a:t>RT</a:t>
            </a:r>
            <a:endParaRPr lang="ru-RU" sz="1600" b="0" i="0" dirty="0">
              <a:effectLst/>
              <a:latin typeface="Golos Text" panose="020B0503020202020204"/>
            </a:endParaRPr>
          </a:p>
          <a:p>
            <a:r>
              <a:rPr lang="ru-RU" sz="1600" b="0" i="0" dirty="0">
                <a:effectLst/>
                <a:latin typeface="Golos Text" panose="020B0503020202020204"/>
              </a:rPr>
              <a:t>Улучшенная быстрая память</a:t>
            </a:r>
          </a:p>
          <a:p>
            <a:endParaRPr lang="en-US" sz="1600" b="0" i="0" dirty="0">
              <a:solidFill>
                <a:srgbClr val="76B900"/>
              </a:solidFill>
              <a:effectLst/>
              <a:latin typeface="DINPro"/>
            </a:endParaRPr>
          </a:p>
          <a:p>
            <a:endParaRPr lang="ru-RU" sz="1600" b="0" i="0" dirty="0">
              <a:solidFill>
                <a:srgbClr val="76B900"/>
              </a:solidFill>
              <a:effectLst/>
              <a:latin typeface="Golos Text" panose="020B0503020202020204"/>
            </a:endParaRPr>
          </a:p>
          <a:p>
            <a:endParaRPr lang="en-US" sz="1600" b="0" i="0" dirty="0">
              <a:solidFill>
                <a:srgbClr val="76B900"/>
              </a:solidFill>
              <a:effectLst/>
              <a:latin typeface="DINPro"/>
            </a:endParaRPr>
          </a:p>
          <a:p>
            <a:endParaRPr lang="ru-RU" sz="1600" dirty="0">
              <a:latin typeface="Golos Text" panose="020B0503020202020204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E0EDCE-0F33-444F-83A1-4EE52F7F5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5384"/>
            <a:ext cx="2857500" cy="9001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970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6FFBD-CA32-4FA6-8474-EF4CFEFD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NVIDIA virtual GPU (</a:t>
            </a:r>
            <a:r>
              <a:rPr lang="en-US" sz="2400" dirty="0" err="1"/>
              <a:t>vGPU</a:t>
            </a:r>
            <a:r>
              <a:rPr lang="en-US" sz="2400" dirty="0"/>
              <a:t>)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6A8A5E-9226-4160-9BE2-67FEC2DDF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1924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ПО NVIDIA </a:t>
            </a:r>
            <a:r>
              <a:rPr lang="ru-RU" sz="1600" b="0" i="0" dirty="0" err="1">
                <a:solidFill>
                  <a:srgbClr val="1A1A1A"/>
                </a:solidFill>
                <a:effectLst/>
                <a:latin typeface="Golos Text" panose="020B0503020202020204"/>
              </a:rPr>
              <a:t>virtual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 GPU (</a:t>
            </a:r>
            <a:r>
              <a:rPr lang="ru-RU" sz="1600" b="0" i="0" dirty="0" err="1">
                <a:solidFill>
                  <a:srgbClr val="1A1A1A"/>
                </a:solidFill>
                <a:effectLst/>
                <a:latin typeface="Golos Text" panose="020B0503020202020204"/>
              </a:rPr>
              <a:t>vGPU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) обеспечивает мощную производительность GPU для различных нагрузок: от ресурсоемкой работы виртуальных рабочих станций до задач анализа данных и ИИ, позволяя ИТ-специалистам использовать преимущества в управлении и безопасности, а также производительность графических процессоров NVIDIA, необходимую для современных рабочих нагрузок.</a:t>
            </a:r>
            <a:endParaRPr lang="ru-RU" sz="1600" dirty="0">
              <a:latin typeface="Golos Text" panose="020B0503020202020204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603D27-225D-4185-99B3-D52AF075F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5384"/>
            <a:ext cx="2857500" cy="9001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610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D1768-9144-4612-AD75-0BB9EB35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NVIDIA Virtual Compute Server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0A4214-245B-434A-9410-60BF66985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133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b="0" i="0" dirty="0" err="1">
                <a:solidFill>
                  <a:srgbClr val="1A1A1A"/>
                </a:solidFill>
                <a:effectLst/>
                <a:latin typeface="Golos Text" panose="020B0503020202020204"/>
              </a:rPr>
              <a:t>vCS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-обеспечивает ускоренную виртуализацию серверов при помощи инновационных GPU NVIDIA для дата-центра, в том числе NVIDIA </a:t>
            </a:r>
            <a:r>
              <a:rPr lang="ru-RU" sz="1600" b="0" i="0" u="none" strike="noStrike" dirty="0">
                <a:solidFill>
                  <a:srgbClr val="76B900"/>
                </a:solidFill>
                <a:effectLst/>
                <a:latin typeface="Golos Text" panose="020B0503020202020204"/>
                <a:hlinkClick r:id="rId4"/>
              </a:rPr>
              <a:t>A100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 и A30 с тензорными ядрами, что позволяет выполнять самые ресурсоемкие рабочие задачи </a:t>
            </a:r>
            <a:r>
              <a:rPr lang="ru-RU" sz="1600" b="0" i="0" u="none" strike="noStrike" dirty="0">
                <a:solidFill>
                  <a:srgbClr val="76B900"/>
                </a:solidFill>
                <a:effectLst/>
                <a:latin typeface="Golos Text" panose="020B0503020202020204"/>
                <a:hlinkClick r:id="rId5"/>
              </a:rPr>
              <a:t>ИИ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, </a:t>
            </a:r>
            <a:r>
              <a:rPr lang="ru-RU" sz="1600" b="0" i="0" u="none" strike="noStrike" dirty="0">
                <a:solidFill>
                  <a:srgbClr val="76B900"/>
                </a:solidFill>
                <a:effectLst/>
                <a:latin typeface="Golos Text" panose="020B0503020202020204"/>
                <a:hlinkClick r:id="rId5"/>
              </a:rPr>
              <a:t>глубокого обучения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 и </a:t>
            </a:r>
            <a:r>
              <a:rPr lang="ru-RU" sz="1600" b="0" i="0" u="none" strike="noStrike" dirty="0">
                <a:solidFill>
                  <a:srgbClr val="76B900"/>
                </a:solidFill>
                <a:effectLst/>
                <a:latin typeface="Golos Text" panose="020B0503020202020204"/>
                <a:hlinkClick r:id="rId6"/>
              </a:rPr>
              <a:t>обработки данных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 на виртуальной машине (VM)</a:t>
            </a:r>
            <a:endParaRPr lang="ru-RU" sz="1600" dirty="0">
              <a:latin typeface="Golos Text" panose="020B0503020202020204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64028C-9203-413F-88ED-3160F106DD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35" y="2636357"/>
            <a:ext cx="1702413" cy="146759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ADCE8E-0AA2-421D-A1FF-7F0E06E661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45384"/>
            <a:ext cx="2857500" cy="9001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316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270FF-12FB-491D-BF95-0A70EA1E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NVIDIA RTX Virtual Workstation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24FBFE-45E5-42E0-A883-BF5C3C1FE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0668"/>
            <a:ext cx="8229600" cy="2460919"/>
          </a:xfrm>
        </p:spPr>
        <p:txBody>
          <a:bodyPr/>
          <a:lstStyle/>
          <a:p>
            <a:r>
              <a:rPr lang="ru-RU" b="0" i="0" dirty="0" err="1">
                <a:solidFill>
                  <a:srgbClr val="1A1A1A"/>
                </a:solidFill>
                <a:effectLst/>
                <a:latin typeface="Golos Text" panose="020B0503020202020204"/>
              </a:rPr>
              <a:t>vWS</a:t>
            </a:r>
            <a:r>
              <a:rPr lang="ru-RU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 – в  сочетании с графическими процессорами является динамичной силой, способной обеспечить возможности самых мощных виртуальных рабочих станции из дата-центра или </a:t>
            </a:r>
            <a:r>
              <a:rPr lang="ru-RU" dirty="0">
                <a:solidFill>
                  <a:srgbClr val="1A1A1A"/>
                </a:solidFill>
                <a:latin typeface="Golos Text" panose="020B0503020202020204"/>
              </a:rPr>
              <a:t>облака</a:t>
            </a:r>
            <a:r>
              <a:rPr lang="ru-RU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 на любом устройстве.</a:t>
            </a:r>
            <a:endParaRPr lang="ru-RU" dirty="0">
              <a:latin typeface="Golos Text" panose="020B0503020202020204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3A6EE2-6F0B-4BD7-B2DA-264F012EB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985" y="2870022"/>
            <a:ext cx="2037171" cy="12000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9CEB2B-B42D-49B5-AE28-4A3990740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5384"/>
            <a:ext cx="2857500" cy="9001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499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270FF-12FB-491D-BF95-0A70EA1E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NVIDIA Virtual PC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24FBFE-45E5-42E0-A883-BF5C3C1FE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06" y="1610050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Virtual PC и GPU NVIDIA, включая NVIDIA </a:t>
            </a:r>
            <a:r>
              <a:rPr lang="ru-RU" sz="1600" dirty="0">
                <a:latin typeface="Golos Text" panose="020B0503020202020204"/>
              </a:rPr>
              <a:t>A16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, ускоряют работу приложений и обеспечивают невероятные пользовательские возможности, поэтому сотрудники могут получить доступ к необходимым инструментам из любой точки.</a:t>
            </a:r>
            <a:endParaRPr lang="ru-RU" sz="1600" dirty="0">
              <a:latin typeface="Golos Text" panose="020B0503020202020204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9CEB2B-B42D-49B5-AE28-4A3990740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5384"/>
            <a:ext cx="2857500" cy="9001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6B796F-E08A-4BC0-A6D6-0823940D6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595" y="2721195"/>
            <a:ext cx="1876927" cy="14768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800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270FF-12FB-491D-BF95-0A70EA1E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NVIDIA Virtual Applications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24FBFE-45E5-42E0-A883-BF5C3C1FE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58177"/>
            <a:ext cx="8229600" cy="2899675"/>
          </a:xfrm>
        </p:spPr>
        <p:txBody>
          <a:bodyPr>
            <a:normAutofit/>
          </a:bodyPr>
          <a:lstStyle/>
          <a:p>
            <a:r>
              <a:rPr lang="ru-RU" sz="1600" b="0" i="0" dirty="0" err="1">
                <a:solidFill>
                  <a:srgbClr val="1A1A1A"/>
                </a:solidFill>
                <a:effectLst/>
                <a:latin typeface="Golos Text" panose="020B0503020202020204"/>
              </a:rPr>
              <a:t>vApps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Golos Text" panose="020B0503020202020204"/>
              </a:rPr>
              <a:t> позволяют пользователям получать доступ к любому приложению Windows с полной производительностью на любом устройстве и в любом месте.</a:t>
            </a:r>
            <a:endParaRPr lang="ru-RU" sz="1600" dirty="0">
              <a:latin typeface="Golos Text" panose="020B0503020202020204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9CEB2B-B42D-49B5-AE28-4A3990740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5384"/>
            <a:ext cx="2857500" cy="9001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0BB21C-B9D2-481B-AD9A-CE9B5E460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589" y="2501710"/>
            <a:ext cx="1445052" cy="13208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781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5C2E2-CA29-4C70-8D4F-CEEF6899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sz="2400" dirty="0"/>
              <a:t>Виртуализация рабочих мест (</a:t>
            </a:r>
            <a:r>
              <a:rPr lang="en-US" sz="2400" dirty="0"/>
              <a:t>VDI) 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5961D-3315-4098-AA52-CD2846BCC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133"/>
            <a:ext cx="8229600" cy="289967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b="0" i="0" dirty="0" err="1">
                <a:solidFill>
                  <a:srgbClr val="FF0000"/>
                </a:solidFill>
                <a:effectLst/>
                <a:latin typeface="Golos Text" panose="020B0503020202020204"/>
              </a:rPr>
              <a:t>vSGA</a:t>
            </a:r>
            <a:r>
              <a:rPr lang="ru-RU" sz="1600" b="0" i="0" dirty="0">
                <a:solidFill>
                  <a:srgbClr val="111111"/>
                </a:solidFill>
                <a:effectLst/>
                <a:latin typeface="Golos Text" panose="020B0503020202020204"/>
              </a:rPr>
              <a:t> — это технология VMware, обеспечивающая виртуализацию ресурсов GPU, установленных в сервера под управлением гипервизора VMware </a:t>
            </a:r>
            <a:r>
              <a:rPr lang="ru-RU" sz="1600" b="0" i="0" dirty="0" err="1">
                <a:solidFill>
                  <a:srgbClr val="111111"/>
                </a:solidFill>
                <a:effectLst/>
                <a:latin typeface="Golos Text" panose="020B0503020202020204"/>
              </a:rPr>
              <a:t>ESXi</a:t>
            </a:r>
            <a:r>
              <a:rPr lang="ru-RU" sz="1600" b="0" i="0" dirty="0">
                <a:solidFill>
                  <a:srgbClr val="111111"/>
                </a:solidFill>
                <a:effectLst/>
                <a:latin typeface="Golos Text" panose="020B0503020202020204"/>
              </a:rPr>
              <a:t>, и последующее использование данных GPU для обеспечения 3D ускорения для виртуальных видеокарты, выданных для виртуального сервера.</a:t>
            </a:r>
          </a:p>
          <a:p>
            <a:endParaRPr lang="ru-RU" sz="1600" dirty="0">
              <a:latin typeface="Golos Text" panose="020B0503020202020204"/>
            </a:endParaRPr>
          </a:p>
        </p:txBody>
      </p:sp>
      <p:pic>
        <p:nvPicPr>
          <p:cNvPr id="4098" name="Picture 2" descr="Новые возможности в vSphere 6.5 | Xelent">
            <a:extLst>
              <a:ext uri="{FF2B5EF4-FFF2-40B4-BE49-F238E27FC236}">
                <a16:creationId xmlns:a16="http://schemas.microsoft.com/office/drawing/2014/main" id="{1C2DD9C3-00FA-4DF5-9F0E-CEAF5369B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238" y="3529371"/>
            <a:ext cx="1825417" cy="120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B69A6-0206-49A8-8DB9-9F18EAB02CDC}"/>
              </a:ext>
            </a:extLst>
          </p:cNvPr>
          <p:cNvSpPr txBox="1"/>
          <p:nvPr/>
        </p:nvSpPr>
        <p:spPr>
          <a:xfrm>
            <a:off x="628650" y="3000971"/>
            <a:ext cx="5527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FF0000"/>
                </a:solidFill>
                <a:latin typeface="Golos Text" panose="020B0503020202020204"/>
              </a:rPr>
              <a:t>vDGA</a:t>
            </a:r>
            <a:r>
              <a:rPr lang="ru-RU" sz="1600" dirty="0">
                <a:solidFill>
                  <a:srgbClr val="111111"/>
                </a:solidFill>
                <a:latin typeface="Golos Text" panose="020B0503020202020204"/>
              </a:rPr>
              <a:t> — это название, используемое VMware для обозначения проброса физической видеокарты в виртуальную машину</a:t>
            </a:r>
            <a:endParaRPr lang="ru-RU" sz="1600" dirty="0">
              <a:latin typeface="Golos Text" panose="020B0503020202020204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0D7254-8E80-459B-98FD-63F0369D0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23609"/>
            <a:ext cx="2857500" cy="9001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85B123A-3728-4680-838F-5DEB08EA4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94" y="3470044"/>
            <a:ext cx="2092112" cy="12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684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7233168" y="4468762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belozubov@itmo.ru</a:t>
            </a:r>
            <a:endParaRPr lang="ru-RU" dirty="0">
              <a:solidFill>
                <a:schemeClr val="bg1"/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Шаблон презентации_ИТМО_на русском языке.pptx" id="{85F0BBDA-0704-4635-B287-849C331F0611}" vid="{9E2FF4F4-DCCE-497E-860B-B78F32DBBA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7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8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9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0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1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2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3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4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5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6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7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8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19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0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1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2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3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4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5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6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7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8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9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0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1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2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3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4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5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6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7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8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39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0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1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2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3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4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5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6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7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8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49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0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1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2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3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4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5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6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7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8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59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0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1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2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3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4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5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6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7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8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69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70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71.xml><?xml version="1.0" encoding="utf-8"?>
<a:themeOverride xmlns:a="http://schemas.openxmlformats.org/drawingml/2006/main">
  <a:clrScheme name="Другая 1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EC0B43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5377</TotalTime>
  <Words>5387</Words>
  <Application>Microsoft Office PowerPoint</Application>
  <PresentationFormat>Экран (16:9)</PresentationFormat>
  <Paragraphs>431</Paragraphs>
  <Slides>73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73</vt:i4>
      </vt:variant>
    </vt:vector>
  </HeadingPairs>
  <TitlesOfParts>
    <vt:vector size="88" baseType="lpstr">
      <vt:lpstr>ALS Gorizont Bold Expanded</vt:lpstr>
      <vt:lpstr>-apple-system</vt:lpstr>
      <vt:lpstr>Arial</vt:lpstr>
      <vt:lpstr>Arial</vt:lpstr>
      <vt:lpstr>Calibri</vt:lpstr>
      <vt:lpstr>Courier New</vt:lpstr>
      <vt:lpstr>DINPro</vt:lpstr>
      <vt:lpstr>Golos Text</vt:lpstr>
      <vt:lpstr>Golos Text DemiBold</vt:lpstr>
      <vt:lpstr>Open Sans</vt:lpstr>
      <vt:lpstr>ProximaNova</vt:lpstr>
      <vt:lpstr>Roboto</vt:lpstr>
      <vt:lpstr>Times New Roman</vt:lpstr>
      <vt:lpstr>Wingdings</vt:lpstr>
      <vt:lpstr>Тема1</vt:lpstr>
      <vt:lpstr>[X]aaS  или  Anything-as-a-service</vt:lpstr>
      <vt:lpstr>Облачное хранилище  Cloud storage)</vt:lpstr>
      <vt:lpstr>Облачные вычисления  Cloud Computing)</vt:lpstr>
      <vt:lpstr>Cloud storage VS Cloud Computing</vt:lpstr>
      <vt:lpstr>Характеристики облака</vt:lpstr>
      <vt:lpstr>Типы Облачных вычислений</vt:lpstr>
      <vt:lpstr>Публичное (Public cloud)</vt:lpstr>
      <vt:lpstr>Что делает облако общедоступным?</vt:lpstr>
      <vt:lpstr>Частное (Private cloud)</vt:lpstr>
      <vt:lpstr>Гибридное (Hybrid cloud)</vt:lpstr>
      <vt:lpstr>Как работают гибридные облака?</vt:lpstr>
      <vt:lpstr>Мультиоблака (Multicloud)</vt:lpstr>
      <vt:lpstr>Защищенное облако ФЗ-152</vt:lpstr>
      <vt:lpstr>Особенности сервиса ФЗ-152</vt:lpstr>
      <vt:lpstr>Облачные сервисы</vt:lpstr>
      <vt:lpstr>Облачные сервисы</vt:lpstr>
      <vt:lpstr>SaaS – Программное обеспечение как сервис</vt:lpstr>
      <vt:lpstr>Проблемы и недостатки SaaS</vt:lpstr>
      <vt:lpstr>IaaS – Инфраструктура как сервис</vt:lpstr>
      <vt:lpstr>PaaS – Платформа как услуга</vt:lpstr>
      <vt:lpstr>Облачные сервисы</vt:lpstr>
      <vt:lpstr>Облачные сервисы - Car-as-a-service</vt:lpstr>
      <vt:lpstr>CaaS и CaaS</vt:lpstr>
      <vt:lpstr>BaaS – Backup-as-a-service</vt:lpstr>
      <vt:lpstr>BaaS – Backend-as-a-Service</vt:lpstr>
      <vt:lpstr>MaaS – Monitoring-as-a-service</vt:lpstr>
      <vt:lpstr>DaaS – Desktop-as-a-service</vt:lpstr>
      <vt:lpstr>Dbaas – Database-as-a-service</vt:lpstr>
      <vt:lpstr>DRaaS – Disaster Recovery-as-a-Service</vt:lpstr>
      <vt:lpstr>NaaS – Network-as-a-service</vt:lpstr>
      <vt:lpstr>STaaS – Storage-as-a-service</vt:lpstr>
      <vt:lpstr>CaaS – Container-as-a-Service</vt:lpstr>
      <vt:lpstr>Лидеры российского рынка</vt:lpstr>
      <vt:lpstr>OpenStack</vt:lpstr>
      <vt:lpstr>Компоненты OpenStack</vt:lpstr>
      <vt:lpstr>Компоненты OpenStack</vt:lpstr>
      <vt:lpstr>Apache CloudStack</vt:lpstr>
      <vt:lpstr>Apache CloudStack</vt:lpstr>
      <vt:lpstr>VMware vCloud</vt:lpstr>
      <vt:lpstr>Презентация PowerPoint</vt:lpstr>
      <vt:lpstr>Свойства облачной инфраструктуры</vt:lpstr>
      <vt:lpstr>Балансировка нагрузки</vt:lpstr>
      <vt:lpstr>Алгоритмы балансировки нагрузки</vt:lpstr>
      <vt:lpstr>Алгоритмы балансировки нагрузки</vt:lpstr>
      <vt:lpstr>Алгоритмы балансировки нагрузки</vt:lpstr>
      <vt:lpstr>Алгоритмы балансировки нагрузки</vt:lpstr>
      <vt:lpstr>Алгоритмы балансировки нагрузки</vt:lpstr>
      <vt:lpstr>Балансировка нагрузки – устоявшиеся походы</vt:lpstr>
      <vt:lpstr>Масштабируемость &amp; Эластичность</vt:lpstr>
      <vt:lpstr>Подходы к масштабированию</vt:lpstr>
      <vt:lpstr>Размещение</vt:lpstr>
      <vt:lpstr>Резервное копирование</vt:lpstr>
      <vt:lpstr>Мониторинг</vt:lpstr>
      <vt:lpstr>Программно-конфигурируемые сети</vt:lpstr>
      <vt:lpstr>Серверы высокой плотности</vt:lpstr>
      <vt:lpstr>Блейд-серверы</vt:lpstr>
      <vt:lpstr>Преимущества блейд-серверов</vt:lpstr>
      <vt:lpstr>Недостатки блейд-серверов</vt:lpstr>
      <vt:lpstr>Twin-серверы</vt:lpstr>
      <vt:lpstr>Преимущества twin-серверов</vt:lpstr>
      <vt:lpstr>Недостатки twin-серверов</vt:lpstr>
      <vt:lpstr>Микросерверы</vt:lpstr>
      <vt:lpstr>Технологии NVIDIA CUDA</vt:lpstr>
      <vt:lpstr>Технологии NVIDIA GRID</vt:lpstr>
      <vt:lpstr>АРХИТЕКТУРА NVIDIA AMPERE</vt:lpstr>
      <vt:lpstr>АРХИТЕКТУРА NVIDIA AMPERE</vt:lpstr>
      <vt:lpstr>NVIDIA virtual GPU (vGPU)</vt:lpstr>
      <vt:lpstr>NVIDIA Virtual Compute Server</vt:lpstr>
      <vt:lpstr>NVIDIA RTX Virtual Workstation</vt:lpstr>
      <vt:lpstr>NVIDIA Virtual PC</vt:lpstr>
      <vt:lpstr>NVIDIA Virtual Applications</vt:lpstr>
      <vt:lpstr>Виртуализация рабочих мест (VDI)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Белозубов Александр Владимирович</cp:lastModifiedBy>
  <cp:revision>107</cp:revision>
  <dcterms:created xsi:type="dcterms:W3CDTF">2014-06-27T12:30:22Z</dcterms:created>
  <dcterms:modified xsi:type="dcterms:W3CDTF">2022-10-25T08:21:58Z</dcterms:modified>
</cp:coreProperties>
</file>